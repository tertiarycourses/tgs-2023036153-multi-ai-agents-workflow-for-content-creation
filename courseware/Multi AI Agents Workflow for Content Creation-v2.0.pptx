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326" r:id="rId73"/>
    <p:sldId id="327" r:id="rId60"/>
    <p:sldId id="328" r:id="rId59"/>
    <p:sldId id="329" r:id="rId77"/>
    <p:sldId id="330" r:id="rId78"/>
    <p:sldId id="331" r:id="rId79"/>
    <p:sldId id="332" r:id="rId80"/>
    <p:sldId id="264" r:id="rId10"/>
    <p:sldId id="265" r:id="rId11"/>
    <p:sldId id="266" r:id="rId12"/>
    <p:sldId id="318" r:id="rId64"/>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317" r:id="rId63"/>
    <p:sldId id="456" r:id="rId20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A Kanban board makes agent work visible and durable: every hand-off is a row anyone can read, and a blocked card is a person's turn.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2.0  ·  8 October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multi-agent content workflows with Claude, Codex and Hermes Agent.</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141</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One Firm, One Content Studio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 independent financial planners in Singapore since 2010. Goal: 40 booked free chats a month by March 2027.</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team of Cowork sub-agents: market, numbers, competitors, recommendation.</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Build</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Codex builds and publishes the website every post points to.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Ideas, storyboard, personas, cadence and shared skills.</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Claude agent teams write social posts, the newsletter and a video.</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agent bots on a Kanban board, measured and governed.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website — the reference build for Lab 2. Every post, email and video in this course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3" name="Rectangle 12"/>
          <p:cNvSpPr/>
          <p:nvPr/>
        </p:nvSpPr>
        <p:spPr>
          <a:xfrm>
            <a:off x="7161580"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300983"/>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5" name="TextBox 14"/>
          <p:cNvSpPr txBox="1"/>
          <p:nvPr/>
        </p:nvSpPr>
        <p:spPr>
          <a:xfrm>
            <a:off x="7362748" y="3630167"/>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6" name="Rectangle 15"/>
          <p:cNvSpPr/>
          <p:nvPr/>
        </p:nvSpPr>
        <p:spPr>
          <a:xfrm>
            <a:off x="7161580"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4714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8" name="TextBox 17"/>
          <p:cNvSpPr txBox="1"/>
          <p:nvPr/>
        </p:nvSpPr>
        <p:spPr>
          <a:xfrm>
            <a:off x="7362748" y="48006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Right Tool for Each Job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tools, one studio. Pick by the job, not by habit.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296265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 FOR</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Cowork</a:t>
            </a:r>
          </a:p>
        </p:txBody>
      </p:sp>
      <p:sp>
        <p:nvSpPr>
          <p:cNvPr id="14" name="TextBox 13"/>
          <p:cNvSpPr txBox="1"/>
          <p:nvPr/>
        </p:nvSpPr>
        <p:spPr>
          <a:xfrm>
            <a:off x="296265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work on your files and apps: research, analysis, skills, email drafts</a:t>
            </a:r>
          </a:p>
        </p:txBody>
      </p:sp>
      <p:sp>
        <p:nvSpPr>
          <p:cNvPr id="15" name="TextBox 14"/>
          <p:cNvSpPr txBox="1"/>
          <p:nvPr/>
        </p:nvSpPr>
        <p:spPr>
          <a:xfrm>
            <a:off x="8052206" y="2560320"/>
            <a:ext cx="348752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4–7, 10, 14</a:t>
            </a:r>
          </a:p>
        </p:txBody>
      </p:sp>
      <p:sp>
        <p:nvSpPr>
          <p:cNvPr id="16" name="TextBox 15"/>
          <p:cNvSpPr txBox="1"/>
          <p:nvPr/>
        </p:nvSpPr>
        <p:spPr>
          <a:xfrm>
            <a:off x="749808" y="3273552"/>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296265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Building software: the website, scripts, the approval gate, the video</a:t>
            </a:r>
          </a:p>
        </p:txBody>
      </p:sp>
      <p:sp>
        <p:nvSpPr>
          <p:cNvPr id="18" name="TextBox 17"/>
          <p:cNvSpPr txBox="1"/>
          <p:nvPr/>
        </p:nvSpPr>
        <p:spPr>
          <a:xfrm>
            <a:off x="8052206" y="3273552"/>
            <a:ext cx="348752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2–3, 8, 11</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21" name="TextBox 20"/>
          <p:cNvSpPr txBox="1"/>
          <p:nvPr/>
        </p:nvSpPr>
        <p:spPr>
          <a:xfrm>
            <a:off x="296265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Subagent definitions and agent teams that write and review together</a:t>
            </a:r>
          </a:p>
        </p:txBody>
      </p:sp>
      <p:sp>
        <p:nvSpPr>
          <p:cNvPr id="22" name="TextBox 21"/>
          <p:cNvSpPr txBox="1"/>
          <p:nvPr/>
        </p:nvSpPr>
        <p:spPr>
          <a:xfrm>
            <a:off x="8052206" y="3986784"/>
            <a:ext cx="348752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9–11</a:t>
            </a:r>
          </a:p>
        </p:txBody>
      </p:sp>
      <p:sp>
        <p:nvSpPr>
          <p:cNvPr id="23" name="TextBox 22"/>
          <p:cNvSpPr txBox="1"/>
          <p:nvPr/>
        </p:nvSpPr>
        <p:spPr>
          <a:xfrm>
            <a:off x="749808" y="4700016"/>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Agent</a:t>
            </a:r>
          </a:p>
        </p:txBody>
      </p:sp>
      <p:sp>
        <p:nvSpPr>
          <p:cNvPr id="24" name="TextBox 23"/>
          <p:cNvSpPr txBox="1"/>
          <p:nvPr/>
        </p:nvSpPr>
        <p:spPr>
          <a:xfrm>
            <a:off x="296265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Open-source agent bots on any model, a Kanban board, schedules and chat apps</a:t>
            </a:r>
          </a:p>
        </p:txBody>
      </p:sp>
      <p:sp>
        <p:nvSpPr>
          <p:cNvPr id="25" name="TextBox 24"/>
          <p:cNvSpPr txBox="1"/>
          <p:nvPr/>
        </p:nvSpPr>
        <p:spPr>
          <a:xfrm>
            <a:off x="8052206" y="4700016"/>
            <a:ext cx="348752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12–13</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Every topic ends in labs that move Horizon forward.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Research sub-agents, the website, a compliance subagent, the storyboard. Labs 1–4.</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studio skills. Labs 5–7.</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Approval gate; social, newsletter and video agent teams. Labs 8–11.</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bots and Kanban, always-on delivery, measure and govern. Labs 12–14.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Fourteen labs, each in its own folder with a README, prompts (MD and PDF), assets and an evidence checklist.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658550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Research team · 2 Build the site · 3 Compliance + publish</a:t>
            </a:r>
          </a:p>
        </p:txBody>
      </p:sp>
      <p:sp>
        <p:nvSpPr>
          <p:cNvPr id="15" name="TextBox 14"/>
          <p:cNvSpPr txBox="1"/>
          <p:nvPr/>
        </p:nvSpPr>
        <p:spPr>
          <a:xfrm>
            <a:off x="8716060" y="2560320"/>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Cowork, Codex</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 Ideas + storyboard · 5 Personas · 6 Cadence · 7 Skills</a:t>
            </a:r>
          </a:p>
        </p:txBody>
      </p:sp>
      <p:sp>
        <p:nvSpPr>
          <p:cNvPr id="18" name="TextBox 17"/>
          <p:cNvSpPr txBox="1"/>
          <p:nvPr/>
        </p:nvSpPr>
        <p:spPr>
          <a:xfrm>
            <a:off x="8716060" y="3189427"/>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Cowork</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1" name="TextBox 20"/>
          <p:cNvSpPr txBox="1"/>
          <p:nvPr/>
        </p:nvSpPr>
        <p:spPr>
          <a:xfrm>
            <a:off x="1856232" y="3818534"/>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Approval gate · 9 Social team · 10 Newsletter team</a:t>
            </a:r>
          </a:p>
        </p:txBody>
      </p:sp>
      <p:sp>
        <p:nvSpPr>
          <p:cNvPr id="22" name="TextBox 21"/>
          <p:cNvSpPr txBox="1"/>
          <p:nvPr/>
        </p:nvSpPr>
        <p:spPr>
          <a:xfrm>
            <a:off x="8716060" y="3818534"/>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Claude Code, Cowork</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 Video team · 12 Hermes Kanban · 13 Telegram bot</a:t>
            </a:r>
          </a:p>
        </p:txBody>
      </p:sp>
      <p:sp>
        <p:nvSpPr>
          <p:cNvPr id="25" name="TextBox 24"/>
          <p:cNvSpPr txBox="1"/>
          <p:nvPr/>
        </p:nvSpPr>
        <p:spPr>
          <a:xfrm>
            <a:off x="8716060" y="4447641"/>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 Code, Codex, Hermes</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14 Measure, govern, playbook</a:t>
            </a:r>
          </a:p>
        </p:txBody>
      </p:sp>
      <p:sp>
        <p:nvSpPr>
          <p:cNvPr id="29" name="TextBox 28"/>
          <p:cNvSpPr txBox="1"/>
          <p:nvPr/>
        </p:nvSpPr>
        <p:spPr>
          <a:xfrm>
            <a:off x="8716060" y="5076748"/>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Cowork</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Labs build on each other: one horizon-studio folder from Lab 1 to Lab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RESEARCH, BUILD, PLAN</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CREATE, DISTRIBUTE, GOVERN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9:00–10:45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9:00–10:45  Topic 3 · Labs 8–9</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10:55–12:40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10:55–12:30  Labs 10–11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13:25–15:25  Lab 4 · Topic 2 · Lab 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13:15–14:50  Topic 4 · Labs 12–13</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15:35–18:00  Labs 6–7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15:00–16:00 Lab 14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one chatbot to teams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Claude Cowork, Codex, Claude Code and Hermes — and the agent loop</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Research with sub-agents; build and check the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Ideas from parallel agents, then a five-beat storyboard</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OVERVIEW</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Prompts to Agent Teams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7" name="Rectangle 6"/>
          <p:cNvSpPr/>
          <p:nvPr/>
        </p:nvSpPr>
        <p:spPr>
          <a:xfrm>
            <a:off x="1655064" y="3657600"/>
            <a:ext cx="8851392"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Prompt Engineering</a:t>
            </a:r>
          </a:p>
        </p:txBody>
      </p:sp>
      <p:sp>
        <p:nvSpPr>
          <p:cNvPr id="9" name="Oval 8"/>
          <p:cNvSpPr/>
          <p:nvPr/>
        </p:nvSpPr>
        <p:spPr>
          <a:xfrm>
            <a:off x="1271016"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Craft the wording of one prompt.</a:t>
            </a:r>
          </a:p>
        </p:txBody>
      </p:sp>
      <p:sp>
        <p:nvSpPr>
          <p:cNvPr id="11" name="TextBox 10"/>
          <p:cNvSpPr txBox="1"/>
          <p:nvPr/>
        </p:nvSpPr>
        <p:spPr>
          <a:xfrm>
            <a:off x="2807208"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Tools and MCP</a:t>
            </a:r>
          </a:p>
        </p:txBody>
      </p:sp>
      <p:sp>
        <p:nvSpPr>
          <p:cNvPr id="12" name="Oval 11"/>
          <p:cNvSpPr/>
          <p:nvPr/>
        </p:nvSpPr>
        <p:spPr>
          <a:xfrm>
            <a:off x="3483864"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2834640"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2024).</a:t>
            </a:r>
          </a:p>
        </p:txBody>
      </p:sp>
      <p:sp>
        <p:nvSpPr>
          <p:cNvPr id="14" name="TextBox 13"/>
          <p:cNvSpPr txBox="1"/>
          <p:nvPr/>
        </p:nvSpPr>
        <p:spPr>
          <a:xfrm>
            <a:off x="5020055"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Context Engineering</a:t>
            </a:r>
          </a:p>
        </p:txBody>
      </p:sp>
      <p:sp>
        <p:nvSpPr>
          <p:cNvPr id="15" name="Oval 14"/>
          <p:cNvSpPr/>
          <p:nvPr/>
        </p:nvSpPr>
        <p:spPr>
          <a:xfrm>
            <a:off x="5696712"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6" name="TextBox 15"/>
          <p:cNvSpPr txBox="1"/>
          <p:nvPr/>
        </p:nvSpPr>
        <p:spPr>
          <a:xfrm>
            <a:off x="5047488"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Fill the context with exactly what the next step needs: files, memory, retrieval, skills.</a:t>
            </a:r>
          </a:p>
        </p:txBody>
      </p:sp>
      <p:sp>
        <p:nvSpPr>
          <p:cNvPr id="17" name="TextBox 16"/>
          <p:cNvSpPr txBox="1"/>
          <p:nvPr/>
        </p:nvSpPr>
        <p:spPr>
          <a:xfrm>
            <a:off x="7232903"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Harness Engineering</a:t>
            </a:r>
          </a:p>
        </p:txBody>
      </p:sp>
      <p:sp>
        <p:nvSpPr>
          <p:cNvPr id="18" name="Oval 17"/>
          <p:cNvSpPr/>
          <p:nvPr/>
        </p:nvSpPr>
        <p:spPr>
          <a:xfrm>
            <a:off x="7909559"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9" name="TextBox 18"/>
          <p:cNvSpPr txBox="1"/>
          <p:nvPr/>
        </p:nvSpPr>
        <p:spPr>
          <a:xfrm>
            <a:off x="7260336"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Agents ship inside a harness — Claude Code, Codex. The loop, tools and checks around the model.</a:t>
            </a:r>
          </a:p>
        </p:txBody>
      </p:sp>
      <p:sp>
        <p:nvSpPr>
          <p:cNvPr id="20" name="TextBox 19"/>
          <p:cNvSpPr txBox="1"/>
          <p:nvPr/>
        </p:nvSpPr>
        <p:spPr>
          <a:xfrm>
            <a:off x="9445752"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Agent Teams</a:t>
            </a:r>
          </a:p>
        </p:txBody>
      </p:sp>
      <p:sp>
        <p:nvSpPr>
          <p:cNvPr id="21" name="Oval 20"/>
          <p:cNvSpPr/>
          <p:nvPr/>
        </p:nvSpPr>
        <p:spPr>
          <a:xfrm>
            <a:off x="10122408"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22" name="TextBox 21"/>
          <p:cNvSpPr txBox="1"/>
          <p:nvPr/>
        </p:nvSpPr>
        <p:spPr>
          <a:xfrm>
            <a:off x="9473184"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Many agents with their own roles: Claude Code agent teams, Codex subagents, Hermes Agent and its Kanban.</a:t>
            </a:r>
          </a:p>
        </p:txBody>
      </p:sp>
      <p:sp>
        <p:nvSpPr>
          <p:cNvPr id="23" name="TextBox 22"/>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Years show when each practice took hold; the names came later. One agent is a helper. A team with a reviewer and a human gate is a studio.</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MULTI-AGENT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for sub-agents and the main agent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website</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posts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video</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review</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Market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Numbers</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Competitors</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Reviewer</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only</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Independent research runs at the same time, not one after another.</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 no context full of other people's work.</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role, tools, model and rules.</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 reviewer that did not write the post checks it.</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tool in this course runs the same loop. Sub-agents and teams are more loops, running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Context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your prompt, the project rules,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searches the web, writes a file, runs a script,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test, a count, a reviewer.</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Until the goal is met — then reports what changed and how it was checked.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Four Tools, One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All four run agents. They differ in what they are built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In the Claude desktop app. Works on a folder and your connected apps; builds Live Artefacts; runs sub-agents in parallel.</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In the ChatGPT desktop app. Builds software in a project: /plan, AGENTS.md, subagents, hooks.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Terminal, IDE or desktop. Subagent files in .claude/agents/ and agent teams with a shared task list.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Hermes Agent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Open source (MIT) from Nous Research. Any model; profiles as bots; a Kanban board; cron; Telegram.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the labs tell you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Cowork (and Claude Code) — Pro plan or above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ChatGPT desktop</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Codex — chatgpt.com/download</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needs a Pro, Max, Team, Enterprise or Console account.</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 Cowork is in the sidebar.</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CLI  </a:t>
            </a:r>
            <a:r>
              <a:rPr sz="1350">
                <a:solidFill>
                  <a:srgbClr val="6B6862"/>
                </a:solidFill>
                <a:latin typeface="Calibri"/>
              </a:rPr>
              <a:t>curl -fsSL https://claude.ai/install.sh | bash (Windows: irm https://claude.ai/install.ps1 | iex).</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ChatGPT desktop  </a:t>
            </a:r>
            <a:r>
              <a:rPr sz="1350">
                <a:solidFill>
                  <a:srgbClr val="6B6862"/>
                </a:solidFill>
                <a:latin typeface="Calibri"/>
              </a:rPr>
              <a:t>For Codex. Sign in on a plan that includes Codex.</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Hermes Agent  </a:t>
            </a:r>
            <a:r>
              <a:rPr sz="1350">
                <a:solidFill>
                  <a:srgbClr val="6B6862"/>
                </a:solidFill>
                <a:latin typeface="Calibri"/>
              </a:rPr>
              <a:t>Lab 12 — installed in class with the trainer's API key.</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Git  </a:t>
            </a:r>
            <a:r>
              <a:rPr sz="1350">
                <a:solidFill>
                  <a:srgbClr val="6B6862"/>
                </a:solidFill>
                <a:latin typeface="Calibri"/>
              </a:rPr>
              <a:t>For the scripts, the video and GitHub Pages.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COWORK</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Cowork and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Cowork brings Claude's agent loop to everyday business work.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Point it at a folder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Cowork reads and writes the files in horizon-studio, and asks before it changes anything important.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for sub-agents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Say "use sub-agents, one per role, in parallel". Each works in its own context; only results come back.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Get a file, not a chat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Reports, CSVs, Live Artefacts and email drafts — saved where the next lab can use them.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RESEARCH</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Research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 four specialists, three in parallel, one to decide what it means.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Market researcher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Who looks for planning, on which channels, why now. Web, cited.</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Business analyst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funnel: visits → enquiries → chats → plans. Counts.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Competitive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Six named competitors: offer, pricing model, content.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Strategy advisor</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all three; writes the recommendation.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 it, challenge it, change it. It is your call.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RESEARCH</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Research You Can Trust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Agents write plausible numbers fluently. Make them prove each one.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Cite or say UNKNOWN</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Every figure needs a source and a date. A gap marked UNKNOWN beats a confident guess.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internal data internal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services.csv has INTERNAL fee columns for analysis. They never appear in anything public.</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 the sources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Open two of the links yourself. If a source does not say it, the report does not either.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wants 40 booked chats a month by March. Before she spends a dollar, her partners want three answers: who to reach, what the funnel needs, and what competitors already publish.</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research/: market research, business analysis, competitive analysis and a recommendation, every figure cited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sub-agents in parallel · market research · business analysis · competitive analysis · a recommendation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Make the studio folder  </a:t>
            </a:r>
            <a:r>
              <a:rPr sz="1300">
                <a:solidFill>
                  <a:srgbClr val="6B6862"/>
                </a:solidFill>
                <a:latin typeface="Calibri"/>
              </a:rPr>
              <a:t>Create horizon-studio with a data/ folder. Copy this lab's assets into data/.</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Open Cowork  </a:t>
            </a:r>
            <a:r>
              <a:rPr sz="1300">
                <a:solidFill>
                  <a:srgbClr val="6B6862"/>
                </a:solidFill>
                <a:latin typeface="Calibri"/>
              </a:rPr>
              <a:t>In the Claude desktop app choose Cowork, then point it at the horizon-studio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team  </a:t>
            </a:r>
            <a:r>
              <a:rPr sz="1300">
                <a:solidFill>
                  <a:srgbClr val="6B6862"/>
                </a:solidFill>
                <a:latin typeface="Calibri"/>
              </a:rPr>
              <a:t>Paste Prompt A. Cowork confirms the four roles and the plan — correct anything before it starts.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them in parallel  </a:t>
            </a:r>
            <a:r>
              <a:rPr sz="1300">
                <a:solidFill>
                  <a:srgbClr val="6B6862"/>
                </a:solidFill>
                <a:latin typeface="Calibri"/>
              </a:rPr>
              <a:t>Paste Prompt B. Watch three sub-agents work at once in the progress panel.</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Audit the sources  </a:t>
            </a:r>
            <a:r>
              <a:rPr sz="1300">
                <a:solidFill>
                  <a:srgbClr val="6B6862"/>
                </a:solidFill>
                <a:latin typeface="Calibri"/>
              </a:rPr>
              <a:t>Open competitive-analysis.md. Every figure needs a source and a date; gaps say UNKNOWN.</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recommendation.md. Change one thing you disagree with — it is your recommendation now.</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7" name="Rounded Rectangle 6"/>
          <p:cNvSpPr/>
          <p:nvPr/>
        </p:nvSpPr>
        <p:spPr>
          <a:xfrm>
            <a:off x="548640" y="1783080"/>
            <a:ext cx="11064240" cy="429981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brief the team</a:t>
            </a:r>
          </a:p>
        </p:txBody>
      </p:sp>
      <p:sp>
        <p:nvSpPr>
          <p:cNvPr id="9" name="TextBox 8"/>
          <p:cNvSpPr txBox="1"/>
          <p:nvPr/>
        </p:nvSpPr>
        <p:spPr>
          <a:xfrm>
            <a:off x="822960" y="2313432"/>
            <a:ext cx="10515600" cy="355000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I'm the marketing lead at Horizon Wealth Planning, an independent financial-planning firm in Singapore. Read data/business-brief.md and data/research-agents-spec.md.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We will run a research team of four sub-agents:</a:t>
            </a:r>
          </a:p>
          <a:p>
            <a:pPr>
              <a:lnSpc>
                <a:spcPct val="110000"/>
              </a:lnSpc>
              <a:defRPr sz="1700" b="0">
                <a:solidFill>
                  <a:srgbClr val="21201C"/>
                </a:solidFill>
                <a:latin typeface="Calibri"/>
              </a:defRPr>
            </a:pPr>
            <a:r>
              <a:t>1. market-researcher — Singapore demand for financial planning: who, which channels, why now.</a:t>
            </a:r>
          </a:p>
          <a:p>
            <a:pPr>
              <a:lnSpc>
                <a:spcPct val="110000"/>
              </a:lnSpc>
              <a:defRPr sz="1700" b="0">
                <a:solidFill>
                  <a:srgbClr val="21201C"/>
                </a:solidFill>
                <a:latin typeface="Calibri"/>
              </a:defRPr>
            </a:pPr>
            <a:r>
              <a:t>2. business-analyst — our funnel from data/firm-metrics.csv: what 40 chats a month needs.</a:t>
            </a:r>
          </a:p>
          <a:p>
            <a:pPr>
              <a:lnSpc>
                <a:spcPct val="110000"/>
              </a:lnSpc>
              <a:defRPr sz="1700" b="0">
                <a:solidFill>
                  <a:srgbClr val="21201C"/>
                </a:solidFill>
                <a:latin typeface="Calibri"/>
              </a:defRPr>
            </a:pPr>
            <a:r>
              <a:t>3. competitive-analyst — six named competitors:</a:t>
            </a:r>
          </a:p>
          <a:p>
            <a:pPr>
              <a:lnSpc>
                <a:spcPct val="110000"/>
              </a:lnSpc>
              <a:defRPr sz="1700" b="0">
                <a:solidFill>
                  <a:srgbClr val="21201C"/>
                </a:solidFill>
                <a:latin typeface="Calibri"/>
              </a:defRPr>
            </a:pPr>
            <a:r>
              <a:t>   offer, pricing model, channels, content themes.</a:t>
            </a:r>
          </a:p>
          <a:p>
            <a:pPr>
              <a:lnSpc>
                <a:spcPct val="110000"/>
              </a:lnSpc>
              <a:defRPr sz="1700" b="0">
                <a:solidFill>
                  <a:srgbClr val="21201C"/>
                </a:solidFill>
                <a:latin typeface="Calibri"/>
              </a:defRPr>
            </a:pPr>
            <a:r>
              <a:t>4. strategy-advisor — reads the other three and writes the recommendation.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Rules for all: cite every figure with source and date, or write UNKNOWN. Never publish the INTERNAL columns. Confirm each role in one line and show me your plan. Do not start yet.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run the team</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research team now, using sub-agents.</a:t>
            </a:r>
          </a:p>
          <a:p>
            <a:pPr>
              <a:lnSpc>
                <a:spcPct val="110000"/>
              </a:lnSpc>
              <a:defRPr sz="1700" b="0">
                <a:solidFill>
                  <a:srgbClr val="21201C"/>
                </a:solidFill>
                <a:latin typeface="Calibri"/>
              </a:defRPr>
            </a:pPr>
            <a:r>
              <a:t>- Start market-researcher, business-analyst and competitive-analyst in parallel, each as its own sub-agent, each saving its report to research/.</a:t>
            </a:r>
          </a:p>
          <a:p>
            <a:pPr>
              <a:lnSpc>
                <a:spcPct val="110000"/>
              </a:lnSpc>
              <a:defRPr sz="1700" b="0">
                <a:solidFill>
                  <a:srgbClr val="21201C"/>
                </a:solidFill>
                <a:latin typeface="Calibri"/>
              </a:defRPr>
            </a:pPr>
            <a:r>
              <a:t>- When all three are done, the strategy-advisor writes research/recommendation.md exactly as research-agents-spec.md describes. Then give me a five-line summary and a list of everything marked UNKNOWN.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sub-agent does its research in its own context and hands back only the result. Your main conversation stays clear for the decision.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Cowork confirmed all four roles before starting.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research sub-agents ran at the same time.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research/ holds market-research, business-analysis, competitive-analysis and recommendation.</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competitive analysis names six real competitors, each with a source and a date.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business analysis shows conversion rates and the visits needed for 40 chats a month.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uncited figure; no INTERNAL fee anywhere in the reports.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Code: Plan Before You Build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habit in Claude: plan first, build from the brief, keep the rules in CLAUDE.md.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Plan mode first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Press Shift+Tab until the mode reads plan. Claude reads the brief and proposes the steps — nothing changes until you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Build from the brief</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Point it at site-brief.md, brand.md and the CSVs. Ask it to list what it could not determine before it writes a line.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/init drafts the project memory. Add @AGENTS.md to it so Claude and Codex follow the same rules file.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CODEX</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Codex: Plan Before You Build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Create a local project, add the horizon-studio folder, then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/plan first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reads the brief and asks what it cannot determine. Every question is a guess it was about to make.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Build from the brief</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site-brief.md, brand.md and the CSVs — not the model's idea of a financial website.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AGENTS.md</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/init drafts the project rules. Trim to What this is, Commands, Conventions, Boundaries.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WHAT YOU WILL BUILD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Retirement Calculator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acceptance test: age 30, retire 62, S$20,000, S$800 a month, 4% → S$693,138.</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ectangle 7"/>
          <p:cNvSpPr/>
          <p:nvPr/>
        </p:nvSpPr>
        <p:spPr>
          <a:xfrm>
            <a:off x="512064" y="2048255"/>
            <a:ext cx="5516000"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calculator.png"/>
          <p:cNvPicPr>
            <a:picLocks noChangeAspect="1"/>
          </p:cNvPicPr>
          <p:nvPr/>
        </p:nvPicPr>
        <p:blipFill>
          <a:blip r:embed="rId2"/>
          <a:stretch>
            <a:fillRect/>
          </a:stretch>
        </p:blipFill>
        <p:spPr>
          <a:xfrm>
            <a:off x="548640" y="2084831"/>
            <a:ext cx="5442848" cy="3904487"/>
          </a:xfrm>
          <a:prstGeom prst="rect">
            <a:avLst/>
          </a:prstGeom>
        </p:spPr>
      </p:pic>
      <p:sp>
        <p:nvSpPr>
          <p:cNvPr id="10" name="Rectangle 9"/>
          <p:cNvSpPr/>
          <p:nvPr/>
        </p:nvSpPr>
        <p:spPr>
          <a:xfrm>
            <a:off x="6357248"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8416" y="2130551"/>
            <a:ext cx="5054463"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Monthly compounding</a:t>
            </a:r>
          </a:p>
        </p:txBody>
      </p:sp>
      <p:sp>
        <p:nvSpPr>
          <p:cNvPr id="12" name="TextBox 11"/>
          <p:cNvSpPr txBox="1"/>
          <p:nvPr/>
        </p:nvSpPr>
        <p:spPr>
          <a:xfrm>
            <a:off x="6558416" y="2459735"/>
            <a:ext cx="5054463"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Rate ÷ 12, years × 12. The test number proves the maths.</a:t>
            </a:r>
          </a:p>
        </p:txBody>
      </p:sp>
      <p:sp>
        <p:nvSpPr>
          <p:cNvPr id="13" name="Rectangle 12"/>
          <p:cNvSpPr/>
          <p:nvPr/>
        </p:nvSpPr>
        <p:spPr>
          <a:xfrm>
            <a:off x="6357248"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8416" y="3300983"/>
            <a:ext cx="5054463"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Labelled</a:t>
            </a:r>
          </a:p>
        </p:txBody>
      </p:sp>
      <p:sp>
        <p:nvSpPr>
          <p:cNvPr id="15" name="TextBox 14"/>
          <p:cNvSpPr txBox="1"/>
          <p:nvPr/>
        </p:nvSpPr>
        <p:spPr>
          <a:xfrm>
            <a:off x="6558416" y="3630167"/>
            <a:ext cx="5054463"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"Illustration only … not guaranteed … not financial advice." Word for word.</a:t>
            </a:r>
          </a:p>
        </p:txBody>
      </p:sp>
      <p:sp>
        <p:nvSpPr>
          <p:cNvPr id="16" name="Rectangle 15"/>
          <p:cNvSpPr/>
          <p:nvPr/>
        </p:nvSpPr>
        <p:spPr>
          <a:xfrm>
            <a:off x="6357248"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58416" y="4471416"/>
            <a:ext cx="5054463"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Private</a:t>
            </a:r>
          </a:p>
        </p:txBody>
      </p:sp>
      <p:sp>
        <p:nvSpPr>
          <p:cNvPr id="18" name="TextBox 17"/>
          <p:cNvSpPr txBox="1"/>
          <p:nvPr/>
        </p:nvSpPr>
        <p:spPr>
          <a:xfrm>
            <a:off x="6558416" y="4800600"/>
            <a:ext cx="5054463"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Nothing typed leaves the browser.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WHAT YOU WILL BUILD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Checklist and Contact Form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two places a visitor becomes a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ectangle 7"/>
          <p:cNvSpPr/>
          <p:nvPr/>
        </p:nvSpPr>
        <p:spPr>
          <a:xfrm>
            <a:off x="512064" y="2048255"/>
            <a:ext cx="6484169"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checklist.png"/>
          <p:cNvPicPr>
            <a:picLocks noChangeAspect="1"/>
          </p:cNvPicPr>
          <p:nvPr/>
        </p:nvPicPr>
        <p:blipFill>
          <a:blip r:embed="rId2"/>
          <a:stretch>
            <a:fillRect/>
          </a:stretch>
        </p:blipFill>
        <p:spPr>
          <a:xfrm>
            <a:off x="548640" y="2084831"/>
            <a:ext cx="6411017" cy="3904487"/>
          </a:xfrm>
          <a:prstGeom prst="rect">
            <a:avLst/>
          </a:prstGeom>
        </p:spPr>
      </p:pic>
      <p:sp>
        <p:nvSpPr>
          <p:cNvPr id="10" name="Rectangle 9"/>
          <p:cNvSpPr/>
          <p:nvPr/>
        </p:nvSpPr>
        <p:spPr>
          <a:xfrm>
            <a:off x="7325417"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6585" y="2130551"/>
            <a:ext cx="4086294"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A lead magnet</a:t>
            </a:r>
          </a:p>
        </p:txBody>
      </p:sp>
      <p:sp>
        <p:nvSpPr>
          <p:cNvPr id="12" name="TextBox 11"/>
          <p:cNvSpPr txBox="1"/>
          <p:nvPr/>
        </p:nvSpPr>
        <p:spPr>
          <a:xfrm>
            <a:off x="7526585" y="2459735"/>
            <a:ext cx="4086294"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The 10-item Money Check-up, unlocked with an email.</a:t>
            </a:r>
          </a:p>
        </p:txBody>
      </p:sp>
      <p:sp>
        <p:nvSpPr>
          <p:cNvPr id="13" name="Rectangle 12"/>
          <p:cNvSpPr/>
          <p:nvPr/>
        </p:nvSpPr>
        <p:spPr>
          <a:xfrm>
            <a:off x="7325417"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26585" y="3300983"/>
            <a:ext cx="4086294"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Consent</a:t>
            </a:r>
          </a:p>
        </p:txBody>
      </p:sp>
      <p:sp>
        <p:nvSpPr>
          <p:cNvPr id="15" name="TextBox 14"/>
          <p:cNvSpPr txBox="1"/>
          <p:nvPr/>
        </p:nvSpPr>
        <p:spPr>
          <a:xfrm>
            <a:off x="7526585" y="3630167"/>
            <a:ext cx="4086294"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The contact form will not submit without the PDPA consent box.</a:t>
            </a:r>
          </a:p>
        </p:txBody>
      </p:sp>
      <p:sp>
        <p:nvSpPr>
          <p:cNvPr id="16" name="Rectangle 15"/>
          <p:cNvSpPr/>
          <p:nvPr/>
        </p:nvSpPr>
        <p:spPr>
          <a:xfrm>
            <a:off x="7325417"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26585" y="4471416"/>
            <a:ext cx="4086294"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No backend</a:t>
            </a:r>
          </a:p>
        </p:txBody>
      </p:sp>
      <p:sp>
        <p:nvSpPr>
          <p:cNvPr id="18" name="TextBox 17"/>
          <p:cNvSpPr txBox="1"/>
          <p:nvPr/>
        </p:nvSpPr>
        <p:spPr>
          <a:xfrm>
            <a:off x="7526585" y="4800600"/>
            <a:ext cx="4086294"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A thank-you message in class; a form service in production.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and Build the Horizon Website with Codex</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research is back: mid-career families and pre-retirees, on LinkedIn, Facebook and email. Every post will point to the website — and the current one is out of date. Rachel wants a new site this week, built from the brief so nothing is invented.</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docs/index.html: hero, services, retirement calculator, checklist, reviews, FAQ, contact form with PDPA consent</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Add a folder · /plan · AGENTS.md (/init) · build from data, not memory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and Build the Horizon Website with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Codex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brief  </a:t>
            </a:r>
            <a:r>
              <a:rPr sz="1300">
                <a:solidFill>
                  <a:srgbClr val="6B6862"/>
                </a:solidFill>
                <a:latin typeface="Calibri"/>
              </a:rPr>
              <a:t>Copy the assets into horizon-studio/data/. No Lab 1 recommendation? Copy recommendation-sample.md to research/recommendation.md.</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Open it in Codex  </a:t>
            </a:r>
            <a:r>
              <a:rPr sz="1300">
                <a:solidFill>
                  <a:srgbClr val="6B6862"/>
                </a:solidFill>
                <a:latin typeface="Calibri"/>
              </a:rPr>
              <a:t>In the ChatGPT desktop app open Codex, create a local project and add the horizon-studio folder. Run git init if it is not a repo yet.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first  </a:t>
            </a:r>
            <a:r>
              <a:rPr sz="1300">
                <a:solidFill>
                  <a:srgbClr val="6B6862"/>
                </a:solidFill>
                <a:latin typeface="Calibri"/>
              </a:rPr>
              <a:t>Type /plan, then paste the prompt. Read every question Codex asks.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Answer and narrow  </a:t>
            </a:r>
            <a:r>
              <a:rPr sz="1300">
                <a:solidFill>
                  <a:srgbClr val="6B6862"/>
                </a:solidFill>
                <a:latin typeface="Calibri"/>
              </a:rPr>
              <a:t>Answer the questions. Cut one step you did not ask for, then approve.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Serve it  </a:t>
            </a:r>
            <a:r>
              <a:rPr sz="1300">
                <a:solidFill>
                  <a:srgbClr val="6B6862"/>
                </a:solidFill>
                <a:latin typeface="Calibri"/>
              </a:rPr>
              <a:t>Run python3 -m http.server 8080 --directory docs and open http://localhost:8080.</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it  </a:t>
            </a:r>
            <a:r>
              <a:rPr sz="1300">
                <a:solidFill>
                  <a:srgbClr val="6B6862"/>
                </a:solidFill>
                <a:latin typeface="Calibri"/>
              </a:rPr>
              <a:t>Calculator: 30, 62, S$20,000, S$800, 4% must show S$693,138. Try it at 375px wide.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rules  </a:t>
            </a:r>
            <a:r>
              <a:rPr sz="1300">
                <a:solidFill>
                  <a:srgbClr val="6B6862"/>
                </a:solidFill>
                <a:latin typeface="Calibri"/>
              </a:rPr>
              <a:t>Run /init. Trim AGENTS.md to What this is, Commands, Conventions, Boundaries — under 60 lines.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and Build the Horizon Website with Codex</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Codex, after /plan</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100" b="0">
                <a:solidFill>
                  <a:srgbClr val="21201C"/>
                </a:solidFill>
                <a:latin typeface="Calibri"/>
              </a:defRPr>
            </a:pPr>
            <a:r>
              <a:t>Build the Horizon Wealth Planning website in docs/index.html (GitHub Pages will serve docs/). Read data/site-brief.md, data/brand.md, data/services.csv, data/faq.md, data/testimonials.csv, data/checklist-items.md and research/recommendation.md first.</a:t>
            </a:r>
          </a:p>
          <a:p>
            <a:pPr>
              <a:lnSpc>
                <a:spcPct val="110000"/>
              </a:lnSpc>
              <a:defRPr sz="1100" b="0">
                <a:solidFill>
                  <a:srgbClr val="21201C"/>
                </a:solidFill>
                <a:latin typeface="Calibri"/>
              </a:defRPr>
            </a:pPr>
          </a:p>
          <a:p>
            <a:pPr>
              <a:lnSpc>
                <a:spcPct val="110000"/>
              </a:lnSpc>
              <a:defRPr sz="1100" b="0">
                <a:solidFill>
                  <a:srgbClr val="21201C"/>
                </a:solidFill>
                <a:latin typeface="Calibri"/>
              </a:defRPr>
            </a:pPr>
            <a:r>
              <a:t>MUST HAVE</a:t>
            </a:r>
          </a:p>
          <a:p>
            <a:pPr>
              <a:lnSpc>
                <a:spcPct val="110000"/>
              </a:lnSpc>
              <a:defRPr sz="1100" b="0">
                <a:solidFill>
                  <a:srgbClr val="21201C"/>
                </a:solidFill>
                <a:latin typeface="Calibri"/>
              </a:defRPr>
            </a:pPr>
            <a:r>
              <a:t>- Every section in site-brief.md, in that order.</a:t>
            </a:r>
          </a:p>
          <a:p>
            <a:pPr>
              <a:lnSpc>
                <a:spcPct val="110000"/>
              </a:lnSpc>
              <a:defRPr sz="1100" b="0">
                <a:solidFill>
                  <a:srgbClr val="21201C"/>
                </a:solidFill>
                <a:latin typeface="Calibri"/>
              </a:defRPr>
            </a:pPr>
            <a:r>
              <a:t>- Six service cards — never the INTERNAL columns.</a:t>
            </a:r>
          </a:p>
          <a:p>
            <a:pPr>
              <a:lnSpc>
                <a:spcPct val="110000"/>
              </a:lnSpc>
              <a:defRPr sz="1100" b="0">
                <a:solidFill>
                  <a:srgbClr val="21201C"/>
                </a:solidFill>
                <a:latin typeface="Calibri"/>
              </a:defRPr>
            </a:pPr>
            <a:r>
              <a:t>- A retirement calculator with monthly compounding and the illustration note word for word.</a:t>
            </a:r>
          </a:p>
          <a:p>
            <a:pPr>
              <a:lnSpc>
                <a:spcPct val="110000"/>
              </a:lnSpc>
              <a:defRPr sz="1100" b="0">
                <a:solidFill>
                  <a:srgbClr val="21201C"/>
                </a:solidFill>
                <a:latin typeface="Calibri"/>
              </a:defRPr>
            </a:pPr>
            <a:r>
              <a:t>- The checklist unlocked by email; contact form with a REQUIRED PDPA consent box; no backend.</a:t>
            </a:r>
          </a:p>
          <a:p>
            <a:pPr>
              <a:lnSpc>
                <a:spcPct val="110000"/>
              </a:lnSpc>
              <a:defRPr sz="1100" b="0">
                <a:solidFill>
                  <a:srgbClr val="21201C"/>
                </a:solidFill>
                <a:latin typeface="Calibri"/>
              </a:defRPr>
            </a:pPr>
            <a:r>
              <a:t>- The footer disclaimer word for word.</a:t>
            </a:r>
          </a:p>
          <a:p>
            <a:pPr>
              <a:lnSpc>
                <a:spcPct val="110000"/>
              </a:lnSpc>
              <a:defRPr sz="1100" b="0">
                <a:solidFill>
                  <a:srgbClr val="21201C"/>
                </a:solidFill>
                <a:latin typeface="Calibri"/>
              </a:defRPr>
            </a:pPr>
          </a:p>
          <a:p>
            <a:pPr>
              <a:lnSpc>
                <a:spcPct val="110000"/>
              </a:lnSpc>
              <a:defRPr sz="1100" b="0">
                <a:solidFill>
                  <a:srgbClr val="21201C"/>
                </a:solidFill>
                <a:latin typeface="Calibri"/>
              </a:defRPr>
            </a:pPr>
            <a:r>
              <a:t>CONSTRAINTS</a:t>
            </a:r>
          </a:p>
          <a:p>
            <a:pPr>
              <a:lnSpc>
                <a:spcPct val="110000"/>
              </a:lnSpc>
              <a:defRPr sz="1100" b="0">
                <a:solidFill>
                  <a:srgbClr val="21201C"/>
                </a:solidFill>
                <a:latin typeface="Calibri"/>
              </a:defRPr>
            </a:pPr>
            <a:r>
              <a:t>- One HTML file, inline CSS and JS, no framework.</a:t>
            </a:r>
          </a:p>
          <a:p>
            <a:pPr>
              <a:lnSpc>
                <a:spcPct val="110000"/>
              </a:lnSpc>
              <a:defRPr sz="1100" b="0">
                <a:solidFill>
                  <a:srgbClr val="21201C"/>
                </a:solidFill>
                <a:latin typeface="Calibri"/>
              </a:defRPr>
            </a:pPr>
            <a:r>
              <a:t>- Accessible: labels, alt text, focus, contrast.</a:t>
            </a:r>
          </a:p>
          <a:p>
            <a:pPr>
              <a:lnSpc>
                <a:spcPct val="110000"/>
              </a:lnSpc>
              <a:defRPr sz="1100" b="0">
                <a:solidFill>
                  <a:srgbClr val="21201C"/>
                </a:solidFill>
                <a:latin typeface="Calibri"/>
              </a:defRPr>
            </a:pPr>
          </a:p>
          <a:p>
            <a:pPr>
              <a:lnSpc>
                <a:spcPct val="110000"/>
              </a:lnSpc>
              <a:defRPr sz="1100" b="0">
                <a:solidFill>
                  <a:srgbClr val="21201C"/>
                </a:solidFill>
                <a:latin typeface="Calibri"/>
              </a:defRPr>
            </a:pPr>
            <a:r>
              <a:t>DONE WHEN</a:t>
            </a:r>
          </a:p>
          <a:p>
            <a:pPr>
              <a:lnSpc>
                <a:spcPct val="110000"/>
              </a:lnSpc>
              <a:defRPr sz="1100" b="0">
                <a:solidFill>
                  <a:srgbClr val="21201C"/>
                </a:solidFill>
                <a:latin typeface="Calibri"/>
              </a:defRPr>
            </a:pPr>
            <a:r>
              <a:t>- The calculator test gives S$693,138.</a:t>
            </a:r>
          </a:p>
          <a:p>
            <a:pPr>
              <a:lnSpc>
                <a:spcPct val="110000"/>
              </a:lnSpc>
              <a:defRPr sz="1100" b="0">
                <a:solidFill>
                  <a:srgbClr val="21201C"/>
                </a:solidFill>
                <a:latin typeface="Calibri"/>
              </a:defRPr>
            </a:pPr>
            <a:r>
              <a:t>- No horizontal scroll at 375px.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Build from the brief, not from memory. The model knows what a financial website looks like; only the brief knows what Horizon is allowed to say.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and Build the Horizon Website with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Plan mode showed steps AND questions before any edit.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answered its questions instead of letting it guess.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calculator test shows S$693,138 with its illustration note.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Six service cards; no INTERNAL fee or hours anywhere.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contact form will not submit without consent.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horizontal scroll at 375px; AGENTS.md is under 60 lines.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Twelve rules every Horizon page, post, email and video must pass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REVIEW</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Reviewer That Only Reports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3: Codex starts a compliance reviewer as a subagent.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The writer (main agent)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Built the page and wants it to pass</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Can edit every file</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Fixes what the reviewer reports</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Re-runs the reviewer until PASS</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The reviewer (subagent)</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Did not write the page</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Reads only — never edits</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Table: words, rule, severity, fix</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PASS only with no Critical or High issue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site looks great. Then Rachel's partner reads the 'How it works' intro she drafted — '8% a year … guaranteed' — and goes pale. Before the site goes live, a reviewer that did not write it must check it.</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review/site-compliance.md (FAIL, then PASS) and the site live on GitHub Pages</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 GitHub Pages</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reviewer subagent that only reports · the compliance checklist · GitHub Pages from /docs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Codex → GitHub Pages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rules  </a:t>
            </a:r>
            <a:r>
              <a:rPr sz="1300">
                <a:solidFill>
                  <a:srgbClr val="6B6862"/>
                </a:solidFill>
                <a:latin typeface="Calibri"/>
              </a:rPr>
              <a:t>Copy compliance-checklist.md and facts-2026.md into data/.</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reviewer  </a:t>
            </a:r>
            <a:r>
              <a:rPr sz="1300">
                <a:solidFill>
                  <a:srgbClr val="6B6862"/>
                </a:solidFill>
                <a:latin typeface="Calibri"/>
              </a:rPr>
              <a:t>Paste Prompt A. Codex starts the reviewer as a subagent — watch it in the Subagents panel.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report  </a:t>
            </a:r>
            <a:r>
              <a:rPr sz="1300">
                <a:solidFill>
                  <a:srgbClr val="6B6862"/>
                </a:solidFill>
                <a:latin typeface="Calibri"/>
              </a:rPr>
              <a:t>It must flag Rachel's "8% a year … guaranteed" line as Critical. Note anything else it found.</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Fix and re-check  </a:t>
            </a:r>
            <a:r>
              <a:rPr sz="1300">
                <a:solidFill>
                  <a:srgbClr val="6B6862"/>
                </a:solidFill>
                <a:latin typeface="Calibri"/>
              </a:rPr>
              <a:t>Paste Prompt B. The main agent fixes; the reviewer checks again until PASS.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Create the horizon-studio repo on GitHub, then Settings → Pages → Deploy from a branch → main, /docs.</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on a phone  </a:t>
            </a:r>
            <a:r>
              <a:rPr sz="1300">
                <a:solidFill>
                  <a:srgbClr val="6B6862"/>
                </a:solidFill>
                <a:latin typeface="Calibri"/>
              </a:rPr>
              <a:t>Open the Pages URL on your phone and try the calculator and the contact form.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reviewer</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a subagent as our compliance reviewer. Its job: check docs/index.html against data/compliance-checklist.md and data/facts-2026.md. It reports; it never edits a file.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Output a table — where, the exact words, the rule (C1-C12), severity (Critical / High / Low), the fix — and end with PASS or FAIL. FAIL if any Critical or High issue remains. Save the report to review/site-compliance.md.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fix, re-check, ship</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Fix every Critical and High issue in review/site-compliance.md, then run the compliance reviewer subagent again. Repeat until it says PASS.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commit and push to GitHub. Before committing, list every file you will add and confirm there is no .env, key or token among them. Give me the Pages URL: https://&lt;your-user&gt;.github.io/horizon-studio/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The writer should never mark its own homework. A reviewer that cannot edit has no reason to go easy on the draft.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ran as a subagent and edited nothing.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first report flagged the "8% … guaranteed" line as Critical (C2, C5).</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final report says PASS.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footer disclaimer and calculator note are word for word.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Codex listed the files before committing; no secret among them.</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Pages URL works on your phone.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IDEATION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Objective to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Agents diverge; a person decides; agents make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Objective</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"Know Your Number": 40 chats a month by March.</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Diverge</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Three ideators in parallel, one per audience.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Score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rubric: fit, evidence, path to a chat, effort, risk.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Decide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 choose — 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Five beats, then a variant per channel.</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site is live. Now the campaign: 'Know Your Number', November to January. Rachel wants ideas for three very different audiences — and a storyboard so LinkedIn, Facebook and YouTube tell the same story.</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strategy/ideas.md (15 scored ideas), strategy/storyboard.md and an interactive storyboard Live Artefact</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 (sub-agents, Live Artefact)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ideators in parallel · rubric scoring · a human concept checkpoint · a five-beat storyboard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(sub-agents, Live Artefact)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brief  </a:t>
            </a:r>
            <a:r>
              <a:rPr sz="1300">
                <a:solidFill>
                  <a:srgbClr val="6B6862"/>
                </a:solidFill>
                <a:latin typeface="Calibri"/>
              </a:rPr>
              <a:t>Copy the assets into data/ and open Cowork on horizon-studio.</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Diverge  </a:t>
            </a:r>
            <a:r>
              <a:rPr sz="1300">
                <a:solidFill>
                  <a:srgbClr val="6B6862"/>
                </a:solidFill>
                <a:latin typeface="Calibri"/>
              </a:rPr>
              <a:t>Paste Prompt A — three ideator sub-agents in parallel, five ideas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Score  </a:t>
            </a:r>
            <a:r>
              <a:rPr sz="1300">
                <a:solidFill>
                  <a:srgbClr val="6B6862"/>
                </a:solidFill>
                <a:latin typeface="Calibri"/>
              </a:rPr>
              <a:t>Cowork merges and scores the 15 ideas with the rubric and stops at the top five.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You pick the campaign idea — the human concept checkpoint. Say why in one line.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it  </a:t>
            </a:r>
            <a:r>
              <a:rPr sz="1300">
                <a:solidFill>
                  <a:srgbClr val="6B6862"/>
                </a:solidFill>
                <a:latin typeface="Calibri"/>
              </a:rPr>
              <a:t>Paste Prompt B with your choice.</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claims  </a:t>
            </a:r>
            <a:r>
              <a:rPr sz="1300">
                <a:solidFill>
                  <a:srgbClr val="6B6862"/>
                </a:solidFill>
                <a:latin typeface="Calibri"/>
              </a:rPr>
              <a:t>Every beat's claim must have a source in facts-2026.md.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three ideators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data/campaign-objective.md, data/idea-rubric.md and research/recommendation.md.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Use three ideator sub-agents in parallel, one per audience: young professionals (25-34), mid-career families (35-49), pre-retirees (50-62). Each proposes 5 content ideas as records: title, hook, format, channel, the proof it needs, call to action.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merge the 15: remove duplicates, keep who proposed each, score them with the rubric and save strategy/ideas.md. Show me the top five as a table and stop — I will choose.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the storyboard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Storyboard it with data/storyboard-template.md:</a:t>
            </a:r>
          </a:p>
          <a:p>
            <a:pPr>
              <a:lnSpc>
                <a:spcPct val="110000"/>
              </a:lnSpc>
              <a:defRPr sz="1700" b="0">
                <a:solidFill>
                  <a:srgbClr val="21201C"/>
                </a:solidFill>
                <a:latin typeface="Calibri"/>
              </a:defRPr>
            </a:pPr>
            <a:r>
              <a:t>five beats — hook, tension, proof, resolution, action. For each: visual, words on screen, voice-over, the claim and its source in data/facts-2026.md.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Add three channel variants that keep the same claims: LinkedIn post, Facebook post, 60-second YouTube video. Save strategy/storyboard.md and build it as a Live Artefact I can click through.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people decide. The concept checkpoint is where the campaign becomes yours.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ideator sub-agents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strategy/ideas.md holds 15 ideas, each with its author and score.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variants keep the same claims.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Live Artefact is saved in your sidebar.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research is done, the site is live and the campaign has a story. But who exactly is it for — and how often should it run?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Researched  ·  Lab 1</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Four sub-agents, a cited recommendation you made your own.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Built and checked  ·  Labs 2–3</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site from the brief, a compliance subagent, live on Pages.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Storyboarded  ·  Lab 4</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Fifteen scored ideas, your choice, five beats, three variants.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Personas from evidence, not instinct</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Skills: the studio's know-how, written once</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5 builds personas the way an analyst would — then labels what is guesswork.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DATA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Data Agents Must Count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that "reads" a CSV estimates. A sub-agent that runs code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file per sub-agent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Survey, enquiries, checklists — three analysts in parallel, each with its own context.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Show the code's output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Numbers that change between runs were estimated. Ask for the counts the code printed.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Requirements, with evidence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Questions, channels, formats, length, tone, proof, CTA, never-say — each tied to a count.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drafted personas from instinct: 'busy young parents who love TikTok'. Rachel is not convinced. There are 150 survey answers, 60 enquiries and 200 checklists — what do they really say?</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strategy/personas.md (three personas with evidence) and strategy/content-spec.md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 (sub-agents)</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analyst sub-agent per data source · counts, not impressions · confidence labels · content requirements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(sub-agents)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Add the data  </a:t>
            </a:r>
            <a:r>
              <a:rPr sz="1550">
                <a:solidFill>
                  <a:srgbClr val="6B6862"/>
                </a:solidFill>
                <a:latin typeface="Calibri"/>
              </a:rPr>
              <a:t>Copy the three CSVs and two templates into data/.</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Analyse in parallel  </a:t>
            </a:r>
            <a:r>
              <a:rPr sz="1550">
                <a:solidFill>
                  <a:srgbClr val="6B6862"/>
                </a:solidFill>
                <a:latin typeface="Calibri"/>
              </a:rPr>
              <a:t>Paste Prompt A — one analyst sub-agent per data file.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Build personas  </a:t>
            </a:r>
            <a:r>
              <a:rPr sz="1550">
                <a:solidFill>
                  <a:srgbClr val="6B6862"/>
                </a:solidFill>
                <a:latin typeface="Calibri"/>
              </a:rPr>
              <a:t>Cowork combines the findings into three personas with counts and confidence.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Challenge one claim  </a:t>
            </a:r>
            <a:r>
              <a:rPr sz="1550">
                <a:solidFill>
                  <a:srgbClr val="6B6862"/>
                </a:solidFill>
                <a:latin typeface="Calibri"/>
              </a:rPr>
              <a:t>Pick one persona statement and ask: "which rows show that?"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requirements  </a:t>
            </a:r>
            <a:r>
              <a:rPr sz="1550">
                <a:solidFill>
                  <a:srgbClr val="6B6862"/>
                </a:solidFill>
                <a:latin typeface="Calibri"/>
              </a:rPr>
              <a:t>Paste Prompt B for the content spec.</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the analysts</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analyst sub-agents in parallel, one per file: data/survey-responses.csv, data/enquiries.csv, data/checklist-results.csv. Each one COUNTS with code — no estimating — and reports: top worries, channels, formats, trust drivers or checklist gaps, by age band, with 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build three personas with data/persona-template.md. Label anything the data does not show directly as INFERENCE, and any group under 20 people as LOW CONFIDENCE. Quote enquiries verbatim with their ids. Save strategy/personas.md.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requirements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From strategy/personas.md, write strategy/content-spec.md with data/content-spec-template.md: for each persona the top 3 questions to answer, channels in order, formats, length, tone, proof required, call to action and what never to say — each with the evidence (file and count) behind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 — label it.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marked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named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content-spec.md has every field for every persona.</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lets twelve weeks of data set how often each channel runs.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Last quarter they posted when they had time. How often should each channel run — and what goes out when?</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strategy/cadence.md and strategy/calendar.csv (four weeks from 2 November 2026)</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Add the data  </a:t>
            </a:r>
            <a:r>
              <a:rPr sz="1550">
                <a:solidFill>
                  <a:srgbClr val="6B6862"/>
                </a:solidFill>
                <a:latin typeface="Calibri"/>
              </a:rPr>
              <a:t>Copy the assets into data/.</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Find the sweet spot  </a:t>
            </a:r>
            <a:r>
              <a:rPr sz="1550">
                <a:solidFill>
                  <a:srgbClr val="6B6862"/>
                </a:solidFill>
                <a:latin typeface="Calibri"/>
              </a:rPr>
              <a:t>Paste Prompt A. Read where an extra post stops paying off on each channel.</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Question it  </a:t>
            </a:r>
            <a:r>
              <a:rPr sz="1550">
                <a:solidFill>
                  <a:srgbClr val="6B6862"/>
                </a:solidFill>
                <a:latin typeface="Calibri"/>
              </a:rPr>
              <a:t>Ask why the newsletter is not weekly — the answer is in the unsubscribes.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four weeks  </a:t>
            </a:r>
            <a:r>
              <a:rPr sz="1550">
                <a:solidFill>
                  <a:srgbClr val="6B6862"/>
                </a:solidFill>
                <a:latin typeface="Calibri"/>
              </a:rPr>
              <a:t>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buffers  </a:t>
            </a:r>
            <a:r>
              <a:rPr sz="1550">
                <a:solidFill>
                  <a:srgbClr val="6B6862"/>
                </a:solidFill>
                <a:latin typeface="Calibri"/>
              </a:rPr>
              <a:t>Every item's review date must be two business days before it goes out, and no holiday posts.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cadence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data/channel-benchmarks.csv and data/team-capacity.md, recommend how often to publish on LinkedIn, Facebook, the newsletter and YouTube. For each channel compare: the extra clicks from one more post, the unfollows or unsubscribes it costs, and the hours it takes. Show the numbers and the point where more posts stop paying off. Save strategy/cadence.md.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the calendar</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Build a four-week editorial calendar from Monday 2 November 2026 in strategy/calendar.csv, in the columns of data/calendar-format.csv. Use the cadence, strategy/storyboard.md and strategy/content-spec.md.</a:t>
            </a:r>
          </a:p>
          <a:p>
            <a:pPr>
              <a:lnSpc>
                <a:spcPct val="110000"/>
              </a:lnSpc>
              <a:defRPr sz="1700" b="0">
                <a:solidFill>
                  <a:srgbClr val="21201C"/>
                </a:solidFill>
                <a:latin typeface="Calibri"/>
              </a:defRPr>
            </a:pPr>
            <a:r>
              <a:t>- Every item has review_by two business days before its date; nothing on a public holiday.</a:t>
            </a:r>
          </a:p>
          <a:p>
            <a:pPr>
              <a:lnSpc>
                <a:spcPct val="110000"/>
              </a:lnSpc>
              <a:defRPr sz="1700" b="0">
                <a:solidFill>
                  <a:srgbClr val="21201C"/>
                </a:solidFill>
                <a:latin typeface="Calibri"/>
              </a:defRPr>
            </a:pPr>
            <a:r>
              <a:t>- No week exceeds the team's hours. Then show me a week-by-week summary with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cadence.md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shows 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newsletter unsubscribe jump at weekly sends.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calendar.csv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the team's 12 hours.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Skills vs Project Rules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are Markdown instructions. The difference is when they load.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CLAUDE.md / AGENTS.md</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Read at the start of EVERY session</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Describes the project: commands, conventions, limits</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Keep it short — it costs context every turn</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Drafted with /init</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SKILL.md</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Loaded ON DEMAND, when the task matches</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One procedure, step by step</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Can be long — free until it triggers</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Created with /skill-creator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One Skill Set for Every Tool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SKILL.md is an open format. Lab 7 writes four skills once and copies the folders to each tool.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626510"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 SKILLS LIVE</a:t>
            </a:r>
          </a:p>
        </p:txBody>
      </p:sp>
      <p:sp>
        <p:nvSpPr>
          <p:cNvPr id="11" name="TextBox 10"/>
          <p:cNvSpPr txBox="1"/>
          <p:nvPr/>
        </p:nvSpPr>
        <p:spPr>
          <a:xfrm>
            <a:off x="8273491"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Cowork</a:t>
            </a:r>
          </a:p>
        </p:txBody>
      </p:sp>
      <p:sp>
        <p:nvSpPr>
          <p:cNvPr id="14" name="TextBox 13"/>
          <p:cNvSpPr txBox="1"/>
          <p:nvPr/>
        </p:nvSpPr>
        <p:spPr>
          <a:xfrm>
            <a:off x="3626510"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Customize → Skills (via /skill-creator)</a:t>
            </a:r>
          </a:p>
        </p:txBody>
      </p:sp>
      <p:sp>
        <p:nvSpPr>
          <p:cNvPr id="15" name="TextBox 14"/>
          <p:cNvSpPr txBox="1"/>
          <p:nvPr/>
        </p:nvSpPr>
        <p:spPr>
          <a:xfrm>
            <a:off x="8273491" y="2560320"/>
            <a:ext cx="326623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7, 10, 14</a:t>
            </a:r>
          </a:p>
        </p:txBody>
      </p:sp>
      <p:sp>
        <p:nvSpPr>
          <p:cNvPr id="16" name="TextBox 15"/>
          <p:cNvSpPr txBox="1"/>
          <p:nvPr/>
        </p:nvSpPr>
        <p:spPr>
          <a:xfrm>
            <a:off x="749808" y="3273552"/>
            <a:ext cx="260238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7" name="TextBox 16"/>
          <p:cNvSpPr txBox="1"/>
          <p:nvPr/>
        </p:nvSpPr>
        <p:spPr>
          <a:xfrm>
            <a:off x="3626510"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.claude/skills/&lt;name&gt;/SKILL.md</a:t>
            </a:r>
          </a:p>
        </p:txBody>
      </p:sp>
      <p:sp>
        <p:nvSpPr>
          <p:cNvPr id="18" name="TextBox 17"/>
          <p:cNvSpPr txBox="1"/>
          <p:nvPr/>
        </p:nvSpPr>
        <p:spPr>
          <a:xfrm>
            <a:off x="8273491" y="3273552"/>
            <a:ext cx="326623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9–11 (teammates load them)</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60238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21" name="TextBox 20"/>
          <p:cNvSpPr txBox="1"/>
          <p:nvPr/>
        </p:nvSpPr>
        <p:spPr>
          <a:xfrm>
            <a:off x="3626510"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.agents/skills/&lt;name&gt;/SKILL.md</a:t>
            </a:r>
          </a:p>
        </p:txBody>
      </p:sp>
      <p:sp>
        <p:nvSpPr>
          <p:cNvPr id="22" name="TextBox 21"/>
          <p:cNvSpPr txBox="1"/>
          <p:nvPr/>
        </p:nvSpPr>
        <p:spPr>
          <a:xfrm>
            <a:off x="8273491" y="3986784"/>
            <a:ext cx="326623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8, 11</a:t>
            </a:r>
          </a:p>
        </p:txBody>
      </p:sp>
      <p:sp>
        <p:nvSpPr>
          <p:cNvPr id="23" name="TextBox 22"/>
          <p:cNvSpPr txBox="1"/>
          <p:nvPr/>
        </p:nvSpPr>
        <p:spPr>
          <a:xfrm>
            <a:off x="749808" y="4700016"/>
            <a:ext cx="260238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Agent</a:t>
            </a:r>
          </a:p>
        </p:txBody>
      </p:sp>
      <p:sp>
        <p:nvSpPr>
          <p:cNvPr id="24" name="TextBox 23"/>
          <p:cNvSpPr txBox="1"/>
          <p:nvPr/>
        </p:nvSpPr>
        <p:spPr>
          <a:xfrm>
            <a:off x="3626510"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~/.hermes/profiles/&lt;profile&gt;/skills/</a:t>
            </a:r>
          </a:p>
        </p:txBody>
      </p:sp>
      <p:sp>
        <p:nvSpPr>
          <p:cNvPr id="25" name="TextBox 24"/>
          <p:cNvSpPr txBox="1"/>
          <p:nvPr/>
        </p:nvSpPr>
        <p:spPr>
          <a:xfrm>
            <a:off x="8273491" y="4700016"/>
            <a:ext cx="326623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12–13</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Do it once by hand, check it, then save it — never write a skill from a blank page.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Four Studio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every agent on Day 2 needs to know about Horizon.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sunny-voice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Plain English, banned words, the sign-off. Used for anything Horizon publishes.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fact-check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Every number matched to facts-2026.md: VERIFIED or UNVERIFIED. Never fixed from memory.</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fin-compliance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Rules C1–C12, a table of issues, PASS or FAIL, and the right disclaimer.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channel-formats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LinkedIn, Facebook, newsletter and YouTube shapes, UTM links and the content-file frontmatter.</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Tomorrow a dozen agents will write for Horizon. Each one needs the same voice, the same facts and the same compliance rules — written once, used everywhere, and never pasted into a prompt again.</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Four skills — sunny-voice, fact-check, fin-compliance, channel-formats — in skills/, .claude/skills/ and .agents/skills/</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 (/skill-creator) → every tool</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/skill-creator · SKILL.md · one skill set shared by Cowork, Claude Code, Codex and Hermes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(/skill-creator) → every tool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Do it once  </a:t>
            </a:r>
            <a:r>
              <a:rPr sz="1550">
                <a:solidFill>
                  <a:srgbClr val="6B6862"/>
                </a:solidFill>
                <a:latin typeface="Calibri"/>
              </a:rPr>
              <a:t>Paste Prompt A: Cowork writes one LinkedIn post by hand with you. Refine it until it is right.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Save the skills  </a:t>
            </a:r>
            <a:r>
              <a:rPr sz="1550">
                <a:solidFill>
                  <a:srgbClr val="6B6862"/>
                </a:solidFill>
                <a:latin typeface="Calibri"/>
              </a:rPr>
              <a:t>Type /skill-creator and paste Prompt B.</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them to the project  </a:t>
            </a:r>
            <a:r>
              <a:rPr sz="1550">
                <a:solidFill>
                  <a:srgbClr val="6B6862"/>
                </a:solidFill>
                <a:latin typeface="Calibri"/>
              </a:rPr>
              <a:t>Cowork saves each skill folder in horizon-studio/skills/ as well.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Share them  </a:t>
            </a:r>
            <a:r>
              <a:rPr sz="1550">
                <a:solidFill>
                  <a:srgbClr val="6B6862"/>
                </a:solidFill>
                <a:latin typeface="Calibri"/>
              </a:rPr>
              <a:t>Copy skills/* into .claude/skills/ (Claude Code) and .agents/skills/ (Codex).</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Test without naming them  </a:t>
            </a:r>
            <a:r>
              <a:rPr sz="1550">
                <a:solidFill>
                  <a:srgbClr val="6B6862"/>
                </a:solidFill>
                <a:latin typeface="Calibri"/>
              </a:rPr>
              <a:t>In a new Cowork task: "Write a Facebook post on SRS for young families." Ask which skills it used.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do it once</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one LinkedIn post for Horizon on "Know your retirement number in 30 minutes", using data/brand.md, data/channel-formats.md and only facts in data/facts-2026.md. Then check it against data/compliance-checklist.md and show me a table of the checks. I will tell you what to change.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/skill-creator: save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Turn what we just did into four skills, as data/skills-spec.md describes:</a:t>
            </a:r>
          </a:p>
          <a:p>
            <a:pPr>
              <a:lnSpc>
                <a:spcPct val="110000"/>
              </a:lnSpc>
              <a:defRPr sz="1700" b="0">
                <a:solidFill>
                  <a:srgbClr val="21201C"/>
                </a:solidFill>
                <a:latin typeface="Calibri"/>
              </a:defRPr>
            </a:pPr>
            <a:r>
              <a:t>sunny-voice, fact-check, fin-compliance and channel-formats. Each has a "Use when..." description and stays under 80 lines. Also write each skill folder into horizon-studio/skills/&lt;name&gt;/SKILL.md so other tools can use the same files.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CLAUDE.md and AGENTS.md are read every time — keep them short; put procedures in skills.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Four skills appear under Customize → Skills in Cowork.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skills/ holds four folders, each with a SKILL.md.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same folders are in .claude/skills/ and .agents/skills/.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description starts "Use when…".</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new task picked the skills without being told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fact-check marked a figure not on the facts sheet UNVERIFIED.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Research, Build and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content teams need tomorrow is ready.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Researched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Cited research and a recommendation (Lab 1).</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Live</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checked website on GitHub Pages (Labs 2–3).</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Storyboarded</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campaign story, three variants (Lab 4).</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Specified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requirements, cadence, calendar (5–6).</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Equipped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skills every agent can load (Lab 7).</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Social, newsletter and video teams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Researcher</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facts</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Writer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posts</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Reviewer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report</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Researcher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sends facts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Writer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fixes on request</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Reviewer</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messages writer</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caller</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main agent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Write ↔ review loops that need a conversation</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the studio</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3, 4, 5, 14</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9, 10, 11</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turn them on with CLAUDE_CODE_EXPERIMENTAL_AGENT_TEAMS=1.</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SUBAGENTS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Subagent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 teammate's agent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.claude/agents/compliance-reviewer.md</a:t>
            </a:r>
          </a:p>
        </p:txBody>
      </p:sp>
      <p:sp>
        <p:nvSpPr>
          <p:cNvPr id="11" name="TextBox 10"/>
          <p:cNvSpPr txBox="1"/>
          <p:nvPr/>
        </p:nvSpPr>
        <p:spPr>
          <a:xfrm>
            <a:off x="822959" y="2724911"/>
            <a:ext cx="10515600" cy="3619656"/>
          </a:xfrm>
          <a:prstGeom prst="rect">
            <a:avLst/>
          </a:prstGeom>
          <a:noFill/>
        </p:spPr>
        <p:txBody>
          <a:bodyPr wrap="square" lIns="18288" rIns="18288" tIns="9144" bIns="9144">
            <a:spAutoFit/>
          </a:bodyPr>
          <a:lstStyle/>
          <a:p>
            <a:pPr>
              <a:lnSpc>
                <a:spcPct val="114000"/>
              </a:lnSpc>
              <a:defRPr sz="1180" b="0">
                <a:solidFill>
                  <a:srgbClr val="E8E5DE"/>
                </a:solidFill>
                <a:latin typeface="Courier New"/>
              </a:defRPr>
            </a:pPr>
            <a:r>
              <a:t>---</a:t>
            </a:r>
          </a:p>
          <a:p>
            <a:pPr>
              <a:lnSpc>
                <a:spcPct val="114000"/>
              </a:lnSpc>
              <a:defRPr sz="1180" b="0">
                <a:solidFill>
                  <a:srgbClr val="E8E5DE"/>
                </a:solidFill>
                <a:latin typeface="Courier New"/>
              </a:defRPr>
            </a:pPr>
            <a:r>
              <a:t>name: compliance-reviewer</a:t>
            </a:r>
          </a:p>
          <a:p>
            <a:pPr>
              <a:lnSpc>
                <a:spcPct val="114000"/>
              </a:lnSpc>
              <a:defRPr sz="1180" b="0">
                <a:solidFill>
                  <a:srgbClr val="E8E5DE"/>
                </a:solidFill>
                <a:latin typeface="Courier New"/>
              </a:defRPr>
            </a:pPr>
            <a:r>
              <a:t>description: Use before any Horizon content reaches a</a:t>
            </a:r>
          </a:p>
          <a:p>
            <a:pPr>
              <a:lnSpc>
                <a:spcPct val="114000"/>
              </a:lnSpc>
              <a:defRPr sz="1180" b="0">
                <a:solidFill>
                  <a:srgbClr val="E8E5DE"/>
                </a:solidFill>
                <a:latin typeface="Courier New"/>
              </a:defRPr>
            </a:pPr>
            <a:r>
              <a:t>  person. Checks facts and compliance, messages the</a:t>
            </a:r>
          </a:p>
          <a:p>
            <a:pPr>
              <a:lnSpc>
                <a:spcPct val="114000"/>
              </a:lnSpc>
              <a:defRPr sz="1180" b="0">
                <a:solidFill>
                  <a:srgbClr val="E8E5DE"/>
                </a:solidFill>
                <a:latin typeface="Courier New"/>
              </a:defRPr>
            </a:pPr>
            <a:r>
              <a:t>  writer, passes only when no Critical or High issue</a:t>
            </a:r>
          </a:p>
          <a:p>
            <a:pPr>
              <a:lnSpc>
                <a:spcPct val="114000"/>
              </a:lnSpc>
              <a:defRPr sz="1180" b="0">
                <a:solidFill>
                  <a:srgbClr val="E8E5DE"/>
                </a:solidFill>
                <a:latin typeface="Courier New"/>
              </a:defRPr>
            </a:pPr>
            <a:r>
              <a:t>  remains. Never edits.</a:t>
            </a:r>
          </a:p>
          <a:p>
            <a:pPr>
              <a:lnSpc>
                <a:spcPct val="114000"/>
              </a:lnSpc>
              <a:defRPr sz="1180" b="0">
                <a:solidFill>
                  <a:srgbClr val="E8E5DE"/>
                </a:solidFill>
                <a:latin typeface="Courier New"/>
              </a:defRPr>
            </a:pPr>
            <a:r>
              <a:t>tools: Read, Grep, Glob, SendMessage</a:t>
            </a:r>
          </a:p>
          <a:p>
            <a:pPr>
              <a:lnSpc>
                <a:spcPct val="114000"/>
              </a:lnSpc>
              <a:defRPr sz="1180" b="0">
                <a:solidFill>
                  <a:srgbClr val="E8E5DE"/>
                </a:solidFill>
                <a:latin typeface="Courier New"/>
              </a:defRPr>
            </a:pPr>
            <a:r>
              <a:t>model: opus</a:t>
            </a:r>
          </a:p>
          <a:p>
            <a:pPr>
              <a:lnSpc>
                <a:spcPct val="114000"/>
              </a:lnSpc>
              <a:defRPr sz="1180" b="0">
                <a:solidFill>
                  <a:srgbClr val="E8E5DE"/>
                </a:solidFill>
                <a:latin typeface="Courier New"/>
              </a:defRPr>
            </a:pPr>
            <a:r>
              <a:t>skills:</a:t>
            </a:r>
          </a:p>
          <a:p>
            <a:pPr>
              <a:lnSpc>
                <a:spcPct val="114000"/>
              </a:lnSpc>
              <a:defRPr sz="1180" b="0">
                <a:solidFill>
                  <a:srgbClr val="E8E5DE"/>
                </a:solidFill>
                <a:latin typeface="Courier New"/>
              </a:defRPr>
            </a:pPr>
            <a:r>
              <a:t>  - fact-check</a:t>
            </a:r>
          </a:p>
          <a:p>
            <a:pPr>
              <a:lnSpc>
                <a:spcPct val="114000"/>
              </a:lnSpc>
              <a:defRPr sz="1180" b="0">
                <a:solidFill>
                  <a:srgbClr val="E8E5DE"/>
                </a:solidFill>
                <a:latin typeface="Courier New"/>
              </a:defRPr>
            </a:pPr>
            <a:r>
              <a:t>  - fin-compliance</a:t>
            </a:r>
          </a:p>
          <a:p>
            <a:pPr>
              <a:lnSpc>
                <a:spcPct val="114000"/>
              </a:lnSpc>
              <a:defRPr sz="1180" b="0">
                <a:solidFill>
                  <a:srgbClr val="E8E5DE"/>
                </a:solidFill>
                <a:latin typeface="Courier New"/>
              </a:defRPr>
            </a:pPr>
            <a:r>
              <a:t>---</a:t>
            </a:r>
          </a:p>
          <a:p>
            <a:pPr>
              <a:lnSpc>
                <a:spcPct val="114000"/>
              </a:lnSpc>
              <a:defRPr sz="1180" b="0">
                <a:solidFill>
                  <a:srgbClr val="E8E5DE"/>
                </a:solidFill>
                <a:latin typeface="Courier New"/>
              </a:defRPr>
            </a:pPr>
            <a:r>
              <a:t>You are Horizon's compliance reviewer. You did not</a:t>
            </a:r>
          </a:p>
          <a:p>
            <a:pPr>
              <a:lnSpc>
                <a:spcPct val="114000"/>
              </a:lnSpc>
              <a:defRPr sz="1180" b="0">
                <a:solidFill>
                  <a:srgbClr val="E8E5DE"/>
                </a:solidFill>
                <a:latin typeface="Courier New"/>
              </a:defRPr>
            </a:pPr>
            <a:r>
              <a:t>write the content and you do not edit it. Send the</a:t>
            </a:r>
          </a:p>
          <a:p>
            <a:pPr>
              <a:lnSpc>
                <a:spcPct val="114000"/>
              </a:lnSpc>
              <a:defRPr sz="1180" b="0">
                <a:solidFill>
                  <a:srgbClr val="E8E5DE"/>
                </a:solidFill>
                <a:latin typeface="Courier New"/>
              </a:defRPr>
            </a:pPr>
            <a:r>
              <a:t>writer a table: words, rule, severity, fix.</a:t>
            </a:r>
          </a:p>
          <a:p>
            <a:pPr>
              <a:lnSpc>
                <a:spcPct val="114000"/>
              </a:lnSpc>
              <a:defRPr sz="1180" b="0">
                <a:solidFill>
                  <a:srgbClr val="E8E5DE"/>
                </a:solidFill>
                <a:latin typeface="Courier New"/>
              </a:defRPr>
            </a:pPr>
            <a:r>
              <a:t>Reply PASS only when no Critical or High issue</a:t>
            </a:r>
          </a:p>
          <a:p>
            <a:pPr>
              <a:lnSpc>
                <a:spcPct val="114000"/>
              </a:lnSpc>
              <a:defRPr sz="1180" b="0">
                <a:solidFill>
                  <a:srgbClr val="E8E5DE"/>
                </a:solidFill>
                <a:latin typeface="Courier New"/>
              </a:defRPr>
            </a:pPr>
            <a:r>
              <a:t>remains.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in a terminal.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Turn it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"env": {"CLAUDE_CODE_EXPERIMENTAL_AGENT_TEAMS": "1"} in .claude/settings.json; restart.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Describe the team</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three teammates using the agent types researcher, social-writer…"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the work is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team per session. Teammates load CLAUDE.md, skills and MCP — but not the lead's conversation.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Lab 8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editing approvals.csv or publishing unapproved items.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runs it before every Bash, Edit or Write. Exit code 2 blocks the call and tells the agent why.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8" name="Rounded Rectangle 7"/>
          <p:cNvSpPr/>
          <p:nvPr/>
        </p:nvSpPr>
        <p:spPr>
          <a:xfrm>
            <a:off x="548640" y="2084831"/>
            <a:ext cx="11064240" cy="3614988"/>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.claude/settings.json</a:t>
            </a:r>
          </a:p>
        </p:txBody>
      </p:sp>
      <p:sp>
        <p:nvSpPr>
          <p:cNvPr id="11" name="TextBox 10"/>
          <p:cNvSpPr txBox="1"/>
          <p:nvPr/>
        </p:nvSpPr>
        <p:spPr>
          <a:xfrm>
            <a:off x="822959" y="2724911"/>
            <a:ext cx="10515600" cy="2846892"/>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"env": { "CLAUDE_CODE_EXPERIMENTAL_AGENT_TEAMS": "1" },</a:t>
            </a:r>
          </a:p>
          <a:p>
            <a:pPr>
              <a:lnSpc>
                <a:spcPct val="114000"/>
              </a:lnSpc>
              <a:defRPr sz="1300" b="0">
                <a:solidFill>
                  <a:srgbClr val="E8E5DE"/>
                </a:solidFill>
                <a:latin typeface="Courier New"/>
              </a:defRPr>
            </a:pPr>
            <a:r>
              <a:t>  "hooks": {</a:t>
            </a:r>
          </a:p>
          <a:p>
            <a:pPr>
              <a:lnSpc>
                <a:spcPct val="114000"/>
              </a:lnSpc>
              <a:defRPr sz="1300" b="0">
                <a:solidFill>
                  <a:srgbClr val="E8E5DE"/>
                </a:solidFill>
                <a:latin typeface="Courier New"/>
              </a:defRPr>
            </a:pPr>
            <a:r>
              <a:t>    "PreToolUse": [{</a:t>
            </a:r>
          </a:p>
          <a:p>
            <a:pPr>
              <a:lnSpc>
                <a:spcPct val="114000"/>
              </a:lnSpc>
              <a:defRPr sz="1300" b="0">
                <a:solidFill>
                  <a:srgbClr val="E8E5DE"/>
                </a:solidFill>
                <a:latin typeface="Courier New"/>
              </a:defRPr>
            </a:pPr>
            <a:r>
              <a:t>      "matcher": "Bash|Edit|Write|MultiEdit",</a:t>
            </a:r>
          </a:p>
          <a:p>
            <a:pPr>
              <a:lnSpc>
                <a:spcPct val="114000"/>
              </a:lnSpc>
              <a:defRPr sz="1300" b="0">
                <a:solidFill>
                  <a:srgbClr val="E8E5DE"/>
                </a:solidFill>
                <a:latin typeface="Courier New"/>
              </a:defRPr>
            </a:pPr>
            <a:r>
              <a:t>      "hooks": [{</a:t>
            </a:r>
          </a:p>
          <a:p>
            <a:pPr>
              <a:lnSpc>
                <a:spcPct val="114000"/>
              </a:lnSpc>
              <a:defRPr sz="1300" b="0">
                <a:solidFill>
                  <a:srgbClr val="E8E5DE"/>
                </a:solidFill>
                <a:latin typeface="Courier New"/>
              </a:defRPr>
            </a:pPr>
            <a:r>
              <a:t>        "type": "command",</a:t>
            </a:r>
          </a:p>
          <a:p>
            <a:pPr>
              <a:lnSpc>
                <a:spcPct val="114000"/>
              </a:lnSpc>
              <a:defRPr sz="1300" b="0">
                <a:solidFill>
                  <a:srgbClr val="E8E5DE"/>
                </a:solidFill>
                <a:latin typeface="Courier New"/>
              </a:defRPr>
            </a:pPr>
            <a:r>
              <a:t>        "command": "node \"$CLAUDE_PROJECT_DIR/scripts/gate-hook.mjs\""</a:t>
            </a:r>
          </a:p>
          <a:p>
            <a:pPr>
              <a:lnSpc>
                <a:spcPct val="114000"/>
              </a:lnSpc>
              <a:defRPr sz="1300" b="0">
                <a:solidFill>
                  <a:srgbClr val="E8E5DE"/>
                </a:solidFill>
                <a:latin typeface="Courier New"/>
              </a:defRPr>
            </a:pPr>
            <a:r>
              <a:t>      }]</a:t>
            </a:r>
          </a:p>
          <a:p>
            <a:pPr>
              <a:lnSpc>
                <a:spcPct val="114000"/>
              </a:lnSpc>
              <a:defRPr sz="1300" b="0">
                <a:solidFill>
                  <a:srgbClr val="E8E5DE"/>
                </a:solidFill>
                <a:latin typeface="Courier New"/>
              </a:defRPr>
            </a:pPr>
            <a:r>
              <a:t>    }]</a:t>
            </a:r>
          </a:p>
          <a:p>
            <a:pPr>
              <a:lnSpc>
                <a:spcPct val="114000"/>
              </a:lnSpc>
              <a:defRPr sz="1300" b="0">
                <a:solidFill>
                  <a:srgbClr val="E8E5DE"/>
                </a:solidFill>
                <a:latin typeface="Courier New"/>
              </a:defRPr>
            </a:pPr>
            <a:r>
              <a:t>  }</a:t>
            </a:r>
          </a:p>
          <a:p>
            <a:pPr>
              <a:lnSpc>
                <a:spcPct val="114000"/>
              </a:lnSpc>
              <a:defRPr sz="1300" b="0">
                <a:solidFill>
                  <a:srgbClr val="E8E5DE"/>
                </a:solidFill>
                <a:latin typeface="Courier New"/>
              </a:defRPr>
            </a:pPr>
            <a:r>
              <a: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Agent teams are about to write for LinkedIn, Facebook and YouTube. Rachel's one condition: nothing goes out unless a person approved that exact version. Build the gate before the teams start.</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scripts/submit.mjs, approve.mjs, publish.mjs, gate-hook.mjs, the hook in .claude/settings.json, and review/approvals.csv</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approve.mjs (people only) · publish.mjs (dry run by default) · a hook that blocks agents · LinkedIn, Facebook and YouTube APIs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Codex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spec  </a:t>
            </a:r>
            <a:r>
              <a:rPr sz="1300">
                <a:solidFill>
                  <a:srgbClr val="6B6862"/>
                </a:solidFill>
                <a:latin typeface="Calibri"/>
              </a:rPr>
              <a:t>Copy the assets into data/. Copy env.example to .env and add .env to .gitignore.</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Build the gate  </a:t>
            </a:r>
            <a:r>
              <a:rPr sz="1300">
                <a:solidFill>
                  <a:srgbClr val="6B6862"/>
                </a:solidFill>
                <a:latin typeface="Calibri"/>
              </a:rPr>
              <a:t>Paste Prompt A in Codex.</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Try to cheat  </a:t>
            </a:r>
            <a:r>
              <a:rPr sz="1300">
                <a:solidFill>
                  <a:srgbClr val="6B6862"/>
                </a:solidFill>
                <a:latin typeface="Calibri"/>
              </a:rPr>
              <a:t>Ask Codex to approve the test item itself. approve.mjs must refuse — it needs a person at a terminal.</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it yourself  </a:t>
            </a:r>
            <a:r>
              <a:rPr sz="1300">
                <a:solidFill>
                  <a:srgbClr val="6B6862"/>
                </a:solidFill>
                <a:latin typeface="Calibri"/>
              </a:rPr>
              <a:t>In your own terminal: node scripts/approve.mjs test-001 --by "Your Name".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Dry run  </a:t>
            </a:r>
            <a:r>
              <a:rPr sz="1300">
                <a:solidFill>
                  <a:srgbClr val="6B6862"/>
                </a:solidFill>
                <a:latin typeface="Calibri"/>
              </a:rPr>
              <a:t>Paste Prompt B. Read the exact request it would send.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Connect accounts (optional)  </a:t>
            </a:r>
            <a:r>
              <a:rPr sz="1300">
                <a:solidFill>
                  <a:srgbClr val="6B6862"/>
                </a:solidFill>
                <a:latin typeface="Calibri"/>
              </a:rPr>
              <a:t>Follow connect-accounts.md to post for real later. Tokens go in .env only.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build the gate</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Build the publishing gate in data/publishing-spec.md, in Node 22 with no packages:</a:t>
            </a:r>
          </a:p>
          <a:p>
            <a:pPr>
              <a:lnSpc>
                <a:spcPct val="110000"/>
              </a:lnSpc>
              <a:defRPr sz="1700" b="0">
                <a:solidFill>
                  <a:srgbClr val="21201C"/>
                </a:solidFill>
                <a:latin typeface="Calibri"/>
              </a:defRPr>
            </a:pPr>
            <a:r>
              <a:t>scripts/submit.mjs, scripts/approve.mjs, scripts/publish.mjs and scripts/gate-hook.mjs, plus review/approvals.csv with the header in data/approvals-format.csv.</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 approve.mjs refuses to run without an interactive terminal: only a person approves.</a:t>
            </a:r>
          </a:p>
          <a:p>
            <a:pPr>
              <a:lnSpc>
                <a:spcPct val="110000"/>
              </a:lnSpc>
              <a:defRPr sz="1700" b="0">
                <a:solidFill>
                  <a:srgbClr val="21201C"/>
                </a:solidFill>
                <a:latin typeface="Calibri"/>
              </a:defRPr>
            </a:pPr>
            <a:r>
              <a:t>- publish.mjs is a dry run unless --live; live needs an approved row whose hash still matches, and never posts the same id twice.</a:t>
            </a:r>
          </a:p>
          <a:p>
            <a:pPr>
              <a:lnSpc>
                <a:spcPct val="110000"/>
              </a:lnSpc>
              <a:defRPr sz="1700" b="0">
                <a:solidFill>
                  <a:srgbClr val="21201C"/>
                </a:solidFill>
                <a:latin typeface="Calibri"/>
              </a:defRPr>
            </a:pPr>
            <a:r>
              <a:t>- Add the PreToolUse hook to .claude/settings.json exactly as the spec says.</a:t>
            </a:r>
          </a:p>
          <a:p>
            <a:pPr>
              <a:lnSpc>
                <a:spcPct val="110000"/>
              </a:lnSpc>
              <a:defRPr sz="1700" b="0">
                <a:solidFill>
                  <a:srgbClr val="21201C"/>
                </a:solidFill>
                <a:latin typeface="Calibri"/>
              </a:defRPr>
            </a:pPr>
            <a:r>
              <a:t>- Read tokens only from .env; never print one. Then create a test item content/social/test/test-001.md and submit it.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dry run</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node scripts/publish.mjs test-001 and show me the request it would send, with the token masked. Then edit one word in test-001.md and run it with</a:t>
            </a:r>
          </a:p>
          <a:p>
            <a:pPr>
              <a:lnSpc>
                <a:spcPct val="110000"/>
              </a:lnSpc>
              <a:defRPr sz="1700" b="0">
                <a:solidFill>
                  <a:srgbClr val="21201C"/>
                </a:solidFill>
                <a:latin typeface="Calibri"/>
              </a:defRPr>
            </a:pPr>
            <a:r>
              <a:t>--live. It must refuse because the content changed after approval. Explain the result in two lines.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Rules in a prompt persuade; a gate enforces. The hook stops agents, approve.mjs needs a person, and the hash makes sure the approved words are the published words.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Codex could not approve: approve.mjs refused without a terminal.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test-001 in your own terminal; the row shows your name, time and hash.</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dry run printed the request with the token masked.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After you edited the post, --live refused: hash changed.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.claude/settings.json has the PreToolUse hook on Bash, Edit and Write.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.env is git-ignored and holds no token you pasted into a chat.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SOCIAL</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three teammates, five posts, one person deciding.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Researcher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Sends the writer a fact sheet per post.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Social writer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2 LinkedIn + 3 Facebook posts, one file each.</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Compliance reviewer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Messages the writer until each post passes.</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 every post; approve in your own terminal.</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Publisher</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Dry run, then --live when you say go.</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two LinkedIn posts, three Facebook posts. A researcher, a writer and a reviewer must agree on every word — and then a person decides.</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content/social/week-01/: 2 LinkedIn and 3 Facebook posts, reviewed, approved by you and posted (or dry-run)</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 agent teams)</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subagent definitions in .claude/agents/ · an agent team with a shared task list · teammates message each other · human review → auto-post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(subagents + agent teams)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Turn on agent teams  </a:t>
            </a:r>
            <a:r>
              <a:rPr sz="1300">
                <a:solidFill>
                  <a:srgbClr val="6B6862"/>
                </a:solidFill>
                <a:latin typeface="Calibri"/>
              </a:rPr>
              <a:t>Paste Prompt A in Claude Code (claude in a terminal in horizon-studio), then restart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Define the roles  </a:t>
            </a:r>
            <a:r>
              <a:rPr sz="1300">
                <a:solidFill>
                  <a:srgbClr val="6B6862"/>
                </a:solidFill>
                <a:latin typeface="Calibri"/>
              </a:rPr>
              <a:t>Claude writes three subagent files in .claude/agents/ from team-roles.md. Read one.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Paste Prompt B. Three teammates appear in the panel under the prompt.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and steer  </a:t>
            </a:r>
            <a:r>
              <a:rPr sz="1300">
                <a:solidFill>
                  <a:srgbClr val="6B6862"/>
                </a:solidFill>
                <a:latin typeface="Calibri"/>
              </a:rPr>
              <a:t>Use ↑ ↓ and Enter to open a teammate; Ctrl+T shows the shared task list. Message the writer once.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as a person  </a:t>
            </a:r>
            <a:r>
              <a:rPr sz="1300">
                <a:solidFill>
                  <a:srgbClr val="6B6862"/>
                </a:solidFill>
                <a:latin typeface="Calibri"/>
              </a:rPr>
              <a:t>Read each post in content/social/week-01/. Approve the good ones in your own terminal with approve.mjs.</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Paste Prompt C. Dry run first; say "go" for --live only if your accounts are connected.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Ask the lead to shut the teammates down.</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setup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"CLAUDE_CODE_EXPERIMENTAL_AGENT_TEAMS": "1" under "env" in .claude/settings.json without changing the hooks. Then create three project subagents in .claude/agents/ from data/team-roles.md: researcher, social-writer and compliance-reviewer — name, description, tools and model as the file says.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Week 1 social content from data/social-brief.md (and strategy/calendar.csv if it exists). Spawn three teammates using the agent types researcher, social-writer and compliance-reviewer.</a:t>
            </a:r>
          </a:p>
          <a:p>
            <a:pPr>
              <a:lnSpc>
                <a:spcPct val="110000"/>
              </a:lnSpc>
              <a:defRPr sz="1700" b="0">
                <a:solidFill>
                  <a:srgbClr val="21201C"/>
                </a:solidFill>
                <a:latin typeface="Calibri"/>
              </a:defRPr>
            </a:pPr>
            <a:r>
              <a:t>- researcher sends the writer a fact sheet per post, from data/facts-2026.md only.</a:t>
            </a:r>
          </a:p>
          <a:p>
            <a:pPr>
              <a:lnSpc>
                <a:spcPct val="110000"/>
              </a:lnSpc>
              <a:defRPr sz="1700" b="0">
                <a:solidFill>
                  <a:srgbClr val="21201C"/>
                </a:solidFill>
                <a:latin typeface="Calibri"/>
              </a:defRPr>
            </a:pPr>
            <a:r>
              <a:t>- social-writer writes 2 LinkedIn and 3 Facebook posts, one file each in content/social/week-01/, with the frontmatter in data/publishing-spec.md.</a:t>
            </a:r>
          </a:p>
          <a:p>
            <a:pPr>
              <a:lnSpc>
                <a:spcPct val="110000"/>
              </a:lnSpc>
              <a:defRPr sz="1700" b="0">
                <a:solidFill>
                  <a:srgbClr val="21201C"/>
                </a:solidFill>
                <a:latin typeface="Calibri"/>
              </a:defRPr>
            </a:pPr>
            <a:r>
              <a:t>- compliance-reviewer checks every post and messages the writer about each problem until it passes. A post is done only when the reviewer passes it; then run scripts/submit.mjs on it. Publish nothing.</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that is approved in review/approvals.csv, run node scripts/publish.mjs &lt;id&gt; as a dry run and show me each request. Wait for me to say "go" before running any of them with --live.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Use a team when the work needs a conversation — like a writer and a reviewer going back and forth.</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subagent files exist, each with tools and a model.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teammates appeared; the task list showed their tasks.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messaged the writer at least once, and the fix landed.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posts with frontmatter and UTM links; all pending in approvals.csv.</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an agent attempt was blocked.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live posts appear only if you said go.</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NEWSLETTER</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task that waits for a person, then a list filtered by consent.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and review</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researcher, a writer and the compliance reviewer agree on issue.md.</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Wait for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builder's task depends on your approval. The lead keeps it blocked until you approve.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Consent decides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Only consent = yes and unsubscribed = no: 31 of 40. Every email carries unsubscribe, address and disclaimer.</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is the one channel that books chats reliably. November's issue needs the 2026 CPF figures exactly right — and must reach only the 31 people who opted in.</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content/newsletter/2026-11/: issue.md, newsletter.html, newsletter.txt, recipients.csv, excluded.csv, and Gmail drafts</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Cowork (Gmail)</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agent team with a task that waits for a person · consent filtering · HTML and text email · Gmail drafts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(agent team) → Claude Cowork (Gmail)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Paste Prompt A in Claude Code. Four teammates; the builder's task waits for your approval.</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the issue  </a:t>
            </a:r>
            <a:r>
              <a:rPr sz="1300">
                <a:solidFill>
                  <a:srgbClr val="6B6862"/>
                </a:solidFill>
                <a:latin typeface="Calibri"/>
              </a:rPr>
              <a:t>Read content/newsletter/2026-11/issue.md. Approve it in your own terminal: approve.mjs nl-2026-11.</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Release the builder  </a:t>
            </a:r>
            <a:r>
              <a:rPr sz="1300">
                <a:solidFill>
                  <a:srgbClr val="6B6862"/>
                </a:solidFill>
                <a:latin typeface="Calibri"/>
              </a:rPr>
              <a:t>Tell the lead it is approved. The builder makes the HTML, text and lists.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recipients.csv must hold only consent = yes and unsubscribed = no.</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In Cowork with the Gmail connector,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the draft addressed to yourself only, and read it on your phone.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the November Sunny Sunday email from data/newsletter-brief.md and data/newsletter-spec.md. Spawn four teammates:</a:t>
            </a:r>
          </a:p>
          <a:p>
            <a:pPr>
              <a:lnSpc>
                <a:spcPct val="110000"/>
              </a:lnSpc>
              <a:defRPr sz="1700" b="0">
                <a:solidFill>
                  <a:srgbClr val="21201C"/>
                </a:solidFill>
                <a:latin typeface="Calibri"/>
              </a:defRPr>
            </a:pPr>
            <a:r>
              <a:t>- researcher (agent type researcher): the facts.</a:t>
            </a:r>
          </a:p>
          <a:p>
            <a:pPr>
              <a:lnSpc>
                <a:spcPct val="110000"/>
              </a:lnSpc>
              <a:defRPr sz="1700" b="0">
                <a:solidFill>
                  <a:srgbClr val="21201C"/>
                </a:solidFill>
                <a:latin typeface="Calibri"/>
              </a:defRPr>
            </a:pPr>
            <a:r>
              <a:t>- newsletter-writer: writes issue.md (id nl-2026-11) in our skills, then submit.mjs.</a:t>
            </a:r>
          </a:p>
          <a:p>
            <a:pPr>
              <a:lnSpc>
                <a:spcPct val="110000"/>
              </a:lnSpc>
              <a:defRPr sz="1700" b="0">
                <a:solidFill>
                  <a:srgbClr val="21201C"/>
                </a:solidFill>
                <a:latin typeface="Calibri"/>
              </a:defRPr>
            </a:pPr>
            <a:r>
              <a:t>- compliance-reviewer (agent type compliance-reviewer): reviews until it passes.</a:t>
            </a:r>
          </a:p>
          <a:p>
            <a:pPr>
              <a:lnSpc>
                <a:spcPct val="110000"/>
              </a:lnSpc>
              <a:defRPr sz="1700" b="0">
                <a:solidFill>
                  <a:srgbClr val="21201C"/>
                </a:solidFill>
                <a:latin typeface="Calibri"/>
              </a:defRPr>
            </a:pPr>
            <a:r>
              <a:t>- newsletter-builder: builds newsletter.html, newsletter.txt, recipients.csv and excluded.csv from data/subscribers.csv. The builder's task depends on a person approving nl-2026-11 in review/approvals.csv. It waits until I tell you it is approved and the hash matches.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Gmail drafts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the newsletter in content/newsletter/2026-11/ newsletter.html for each address in recipients.csv, subject and preview from issue.md. Then one more draft addressed to me only. Do not send anything. Tell me how many drafts you made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Four teammates; the builder waited for your approval.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passed issue.md; you approved it in your terminal.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newsletter.html has unsubscribe, address and disclaimer; newsletter.txt matches.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recipients.csv holds 31 people; excluded.csv lists 9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Cowork made drafts only; nothing was sent to the list.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test email reads well on a phone.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VIDEO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a team writes the script; Codex makes the video.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Script as a team</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Scenes with seconds, words on screen and voice-over — reviewed like any post.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Render with Codex</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Branded title cards joined with ffmpeg; an optional voice-over. Approve the words AND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 disclose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upload is private. Say in the description that AI tools made the visuals; set YouTube's disclosure.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60 seconds on the CPF retirement sums, uploaded privately until she has seen it.</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content/video/ep01/: scenes.json, ep01.mp4, ep01.md, and a private YouTube upload (or dry run)</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Codex (render, upload)</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agent team for the script · approval of script and video · ffmpeg render · private YouTube upload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(agent team) → Codex (render, upload)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Paste Prompt A in Claude Code.</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scenes.json and ep01.md, then approve yt-ep01-script in your own terminal.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In Codex, paste Prompt B. Watch the result.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Run submit.mjs on ep01.md, watch ep01.mp4 to the end, then approve yt-ep01.</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Paste Prompt C. It goes up as private.</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set the altered or synthetic content answer correctly before you make it public.</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script team</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researcher (agent type researcher), a video-scriptwriter and compliance-reviewer (agent type compliance-reviewer). The scriptwriter writes content/video/ep01/ scenes.json (5-7 scenes: seconds, title, text) and ep01.md (id yt-ep01, channel youtube, title, tags, video content/video/ep01/ep01.mp4; the body is the description with chapters and the disclosure). Submit the script as yt-ep01-script once the reviewer passes it. Publish nothing.</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render</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Following data/video-spec.md, write scripts/render-video.py and run it on the approved content/video/ep01/scenes.json to make content/video/ep01/ep01.mp4. Use ffmpeg and Pillow. Check the result with ffprobe: 1920x1080, under 90 seconds, every scene present. Do not change the approved words.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upload</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node scripts/publish.mjs yt-ep01 as a dry run and show me the request. If I say "go", run it with</a:t>
            </a:r>
          </a:p>
          <a:p>
            <a:pPr>
              <a:lnSpc>
                <a:spcPct val="110000"/>
              </a:lnSpc>
              <a:defRPr sz="1700" b="0">
                <a:solidFill>
                  <a:srgbClr val="21201C"/>
                </a:solidFill>
                <a:latin typeface="Calibri"/>
              </a:defRPr>
            </a:pPr>
            <a:r>
              <a:t>--live: it uploads the video as PRIVATE. Give me the video id and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passed the script; you approved yt-ep01-script.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facts-2026.md.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UTM link, disclaimer and AI disclosure.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yt-ep01 after watching it to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a dry run printed the request).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agent teams produce reviewed content and a person approves every piece. But the studio still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8</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blocks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Teams  ·  Labs 9–11</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newsletter and video — research, write, review, approve.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runs every week on any model, and a way to govern it. That is Topic 4.</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Hermes Agent: open-source agent bots on any model</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Kanban board for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Always-on delivery: schedules and chat bots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govern and write the playbook</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HERMES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Hermes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Nous Research's open-source (MIT) agent. Your model, your machine, your rules.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HERMES AGENT  ·  OPEN SOURCE</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MODEL</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Your model</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Claude · GPT · open models</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Any provider: Anthropic API, OpenRouter, Nous Portal or your own endpoint.</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Profiles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Separate agents — own model, memory, skills and bot.</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Kanban</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 shared board: tasks, parents, review, block.</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The same SKILL.md folders as Claude and Codex.</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Gateway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Telegram, Discord, Slack, WhatsApp, Signal, email.</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Cron</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Jobs in plain words: "every Monday 8am".</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Delegation</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delegate_task runs subagents in parallel.</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A Claude subscription does not cover Hermes — use an API key with a spend limit.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Hermes Kanban 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task is a row anyone can read; every hand-off is visible.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triage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rough idea; the planner breaks it down.</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todo → ready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Ready when its parent tasks are done.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running</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dispatcher starts the assigned profile.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blocked / 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person's turn: unblock or request changes.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done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Finished, with a summary for the next task.</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dispatcher runs inside hermes gateway start. hermes dashboard shows the board in a browser.</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Role Pipeline on the 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researcher → writer → reviewer, linked by parents.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Rounded Rectangle 7"/>
          <p:cNvSpPr/>
          <p:nvPr/>
        </p:nvSpPr>
        <p:spPr>
          <a:xfrm>
            <a:off x="548640" y="2084831"/>
            <a:ext cx="11064240" cy="3614988"/>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terminal</a:t>
            </a:r>
          </a:p>
        </p:txBody>
      </p:sp>
      <p:sp>
        <p:nvSpPr>
          <p:cNvPr id="11" name="TextBox 10"/>
          <p:cNvSpPr txBox="1"/>
          <p:nvPr/>
        </p:nvSpPr>
        <p:spPr>
          <a:xfrm>
            <a:off x="822959" y="2724911"/>
            <a:ext cx="10515600" cy="2846892"/>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hermes profile create researcher --description "Gathers facts."</a:t>
            </a:r>
          </a:p>
          <a:p>
            <a:pPr>
              <a:lnSpc>
                <a:spcPct val="114000"/>
              </a:lnSpc>
              <a:defRPr sz="1300" b="0">
                <a:solidFill>
                  <a:srgbClr val="E8E5DE"/>
                </a:solidFill>
                <a:latin typeface="Courier New"/>
              </a:defRPr>
            </a:pPr>
            <a:r>
              <a:t>hermes profile create writer --description "Writes in sunny-voice."</a:t>
            </a:r>
          </a:p>
          <a:p>
            <a:pPr>
              <a:lnSpc>
                <a:spcPct val="114000"/>
              </a:lnSpc>
              <a:defRPr sz="1300" b="0">
                <a:solidFill>
                  <a:srgbClr val="E8E5DE"/>
                </a:solidFill>
                <a:latin typeface="Courier New"/>
              </a:defRPr>
            </a:pPr>
            <a:r>
              <a:t>hermes profile create reviewer --description "Checks; blocks for a person."</a:t>
            </a:r>
          </a:p>
          <a:p>
            <a:pPr>
              <a:lnSpc>
                <a:spcPct val="114000"/>
              </a:lnSpc>
              <a:defRPr sz="1300" b="0">
                <a:solidFill>
                  <a:srgbClr val="E8E5DE"/>
                </a:solidFill>
                <a:latin typeface="Courier New"/>
              </a:defRPr>
            </a:pPr>
            <a:r>
              <a:t>hermes kanban init</a:t>
            </a:r>
          </a:p>
          <a:p>
            <a:pPr>
              <a:lnSpc>
                <a:spcPct val="114000"/>
              </a:lnSpc>
              <a:defRPr sz="1300" b="0">
                <a:solidFill>
                  <a:srgbClr val="E8E5DE"/>
                </a:solidFill>
                <a:latin typeface="Courier New"/>
              </a:defRPr>
            </a:pPr>
            <a:r>
              <a:t>hermes gateway start                      # runs the dispatcher</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hermes kanban create "Facts for Week 2" --assignee researcher --json</a:t>
            </a:r>
          </a:p>
          <a:p>
            <a:pPr>
              <a:lnSpc>
                <a:spcPct val="114000"/>
              </a:lnSpc>
              <a:defRPr sz="1300" b="0">
                <a:solidFill>
                  <a:srgbClr val="E8E5DE"/>
                </a:solidFill>
                <a:latin typeface="Courier New"/>
              </a:defRPr>
            </a:pPr>
            <a:r>
              <a:t>hermes kanban create "Write Week 2" --assignee writer --parent &lt;research-id&gt;</a:t>
            </a:r>
          </a:p>
          <a:p>
            <a:pPr>
              <a:lnSpc>
                <a:spcPct val="114000"/>
              </a:lnSpc>
              <a:defRPr sz="1300" b="0">
                <a:solidFill>
                  <a:srgbClr val="E8E5DE"/>
                </a:solidFill>
                <a:latin typeface="Courier New"/>
              </a:defRPr>
            </a:pPr>
            <a:r>
              <a:t>hermes kanban create "Review Week 2" --assignee reviewer --parent &lt;write-id&gt;</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hermes kanban watch                       # or: hermes dashboard</a:t>
            </a:r>
          </a:p>
          <a:p>
            <a:pPr>
              <a:lnSpc>
                <a:spcPct val="114000"/>
              </a:lnSpc>
              <a:defRPr sz="1300" b="0">
                <a:solidFill>
                  <a:srgbClr val="E8E5DE"/>
                </a:solidFill>
                <a:latin typeface="Courier New"/>
              </a:defRPr>
            </a:pPr>
            <a:r>
              <a:t>hermes kanban unblock &lt;review-id&gt;         # your decision</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COMPARE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Agent Teams or Hermes Kanban?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ways to run a team. Choose by how long the work lives.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Claude Code agent team</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One session; the team ends with it</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Teammates message each other in real time</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Shared task list, kept while the session lasts</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Best for: a burst of collaborative work</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Hermes Kanban</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 durable board shared by every profile</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Hand-offs through tasks, parents and comments</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Any model per profile; runs as a service</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Best for: weekly, always-on pipelines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Rachel's IT adviser asks what happens if the studio's AI provider changes its prices or its rules. Try the same team on Hermes — open source, any model — with every hand-off on a Kanban board.</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Hermes profiles, a researcher → writer → reviewer pipeline on the board, and Week 2 content approved by you</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Hermes Agent (profiles, Kanban)</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open-source Hermes Agent · one profile per role · a Kanban role pipeline · review and human unblock · the same skills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Agent (profiles, Kanban)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Hermes  </a:t>
            </a:r>
            <a:r>
              <a:rPr sz="1300">
                <a:solidFill>
                  <a:srgbClr val="6B6862"/>
                </a:solidFill>
                <a:latin typeface="Calibri"/>
              </a:rPr>
              <a:t>Follow hermes-setup.md; hermes setup with the API key your trainer gives you.</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bots  </a:t>
            </a:r>
            <a:r>
              <a:rPr sz="1300">
                <a:solidFill>
                  <a:srgbClr val="6B6862"/>
                </a:solidFill>
                <a:latin typeface="Calibri"/>
              </a:rPr>
              <a:t>Run the three hermes profile create commands in hermes-roles.md, then copy skills/ into each profile.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board  </a:t>
            </a:r>
            <a:r>
              <a:rPr sz="1300">
                <a:solidFill>
                  <a:srgbClr val="6B6862"/>
                </a:solidFill>
                <a:latin typeface="Calibri"/>
              </a:rPr>
              <a:t>hermes kanban init, then hermes gateway start in a second terminal — it runs the dispatcher.</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Build the pipeline  </a:t>
            </a:r>
            <a:r>
              <a:rPr sz="1300">
                <a:solidFill>
                  <a:srgbClr val="6B6862"/>
                </a:solidFill>
                <a:latin typeface="Calibri"/>
              </a:rPr>
              <a:t>Paste the prompt into hermes (or run kanban-pipeline.sh).</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it  </a:t>
            </a:r>
            <a:r>
              <a:rPr sz="1300">
                <a:solidFill>
                  <a:srgbClr val="6B6862"/>
                </a:solidFill>
                <a:latin typeface="Calibri"/>
              </a:rPr>
              <a:t>hermes kanban watch, or hermes dashboard for the board in your browser.</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Be the gate  </a:t>
            </a:r>
            <a:r>
              <a:rPr sz="1300">
                <a:solidFill>
                  <a:srgbClr val="6B6862"/>
                </a:solidFill>
                <a:latin typeface="Calibri"/>
              </a:rPr>
              <a:t>The reviewer blocks for you. Read the output, then hermes kanban unblock &lt;id&gt; — or request changes.</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Hand it to the gate  </a:t>
            </a:r>
            <a:r>
              <a:rPr sz="1300">
                <a:solidFill>
                  <a:srgbClr val="6B6862"/>
                </a:solidFill>
                <a:latin typeface="Calibri"/>
              </a:rPr>
              <a:t>Save the approved post as content/social/week-02/li-w02-01.md and submit it.</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Hermes: the planner</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planner for Horizon Wealth Planning. Create a Kanban pipeline for Week 2 content, with dependencies:</a:t>
            </a:r>
          </a:p>
          <a:p>
            <a:pPr>
              <a:lnSpc>
                <a:spcPct val="110000"/>
              </a:lnSpc>
              <a:defRPr sz="1700" b="0">
                <a:solidFill>
                  <a:srgbClr val="21201C"/>
                </a:solidFill>
                <a:latin typeface="Calibri"/>
              </a:defRPr>
            </a:pPr>
            <a:r>
              <a:t>1. researcher: facts for a LinkedIn post and a newsletter tip on CPF cash top-ups, from facts-2026.md only.</a:t>
            </a:r>
          </a:p>
          <a:p>
            <a:pPr>
              <a:lnSpc>
                <a:spcPct val="110000"/>
              </a:lnSpc>
              <a:defRPr sz="1700" b="0">
                <a:solidFill>
                  <a:srgbClr val="21201C"/>
                </a:solidFill>
                <a:latin typeface="Calibri"/>
              </a:defRPr>
            </a:pPr>
            <a:r>
              <a:t>2. writer (parent: 1): write both in the sunny-voice skill.</a:t>
            </a:r>
          </a:p>
          <a:p>
            <a:pPr>
              <a:lnSpc>
                <a:spcPct val="110000"/>
              </a:lnSpc>
              <a:defRPr sz="1700" b="0">
                <a:solidFill>
                  <a:srgbClr val="21201C"/>
                </a:solidFill>
                <a:latin typeface="Calibri"/>
              </a:defRPr>
            </a:pPr>
            <a:r>
              <a:t>3. reviewer (parent: 2): check with fact-check and fin-compliance; request changes until it passes, then block the task with the reason "Needs approval from a person". Work in ~/horizon-studio/hermes. Show me the task ids and the board.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7" name="Rounded Rectangle 6"/>
          <p:cNvSpPr/>
          <p:nvPr/>
        </p:nvSpPr>
        <p:spPr>
          <a:xfrm>
            <a:off x="548640" y="1783080"/>
            <a:ext cx="11064240" cy="2696504"/>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002536"/>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terminal</a:t>
            </a:r>
          </a:p>
        </p:txBody>
      </p:sp>
      <p:sp>
        <p:nvSpPr>
          <p:cNvPr id="10" name="TextBox 9"/>
          <p:cNvSpPr txBox="1"/>
          <p:nvPr/>
        </p:nvSpPr>
        <p:spPr>
          <a:xfrm>
            <a:off x="822959" y="2423160"/>
            <a:ext cx="10515600" cy="1928408"/>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hermes profile create researcher --description "Gathers and checks facts for Horizon content."</a:t>
            </a:r>
          </a:p>
          <a:p>
            <a:pPr>
              <a:lnSpc>
                <a:spcPct val="114000"/>
              </a:lnSpc>
              <a:defRPr sz="1300" b="0">
                <a:solidFill>
                  <a:srgbClr val="E8E5DE"/>
                </a:solidFill>
                <a:latin typeface="Courier New"/>
              </a:defRPr>
            </a:pPr>
            <a:r>
              <a:t>hermes profile create writer --description "Writes Horizon posts in the sunny-voice skill."</a:t>
            </a:r>
          </a:p>
          <a:p>
            <a:pPr>
              <a:lnSpc>
                <a:spcPct val="114000"/>
              </a:lnSpc>
              <a:defRPr sz="1300" b="0">
                <a:solidFill>
                  <a:srgbClr val="E8E5DE"/>
                </a:solidFill>
                <a:latin typeface="Courier New"/>
              </a:defRPr>
            </a:pPr>
            <a:r>
              <a:t>hermes profile create reviewer --description "Checks Horizon content; blocks for human approval."</a:t>
            </a:r>
          </a:p>
          <a:p>
            <a:pPr>
              <a:lnSpc>
                <a:spcPct val="114000"/>
              </a:lnSpc>
              <a:defRPr sz="1300" b="0">
                <a:solidFill>
                  <a:srgbClr val="E8E5DE"/>
                </a:solidFill>
                <a:latin typeface="Courier New"/>
              </a:defRPr>
            </a:pPr>
            <a:r>
              <a:t>for p in researcher writer reviewer; do cp -R skills/* ~/.hermes/profiles/$p/skills/; done</a:t>
            </a:r>
          </a:p>
          <a:p>
            <a:pPr>
              <a:lnSpc>
                <a:spcPct val="114000"/>
              </a:lnSpc>
              <a:defRPr sz="1300" b="0">
                <a:solidFill>
                  <a:srgbClr val="E8E5DE"/>
                </a:solidFill>
                <a:latin typeface="Courier New"/>
              </a:defRPr>
            </a:pPr>
            <a:r>
              <a:t>hermes kanban init</a:t>
            </a:r>
          </a:p>
          <a:p>
            <a:pPr>
              <a:lnSpc>
                <a:spcPct val="114000"/>
              </a:lnSpc>
              <a:defRPr sz="1300" b="0">
                <a:solidFill>
                  <a:srgbClr val="E8E5DE"/>
                </a:solidFill>
                <a:latin typeface="Courier New"/>
              </a:defRPr>
            </a:pPr>
            <a:r>
              <a:t>hermes gateway start          # in a second terminal</a:t>
            </a:r>
          </a:p>
          <a:p>
            <a:pPr>
              <a:lnSpc>
                <a:spcPct val="114000"/>
              </a:lnSpc>
              <a:defRPr sz="1300" b="0">
                <a:solidFill>
                  <a:srgbClr val="E8E5DE"/>
                </a:solidFill>
                <a:latin typeface="Courier New"/>
              </a:defRPr>
            </a:pPr>
            <a:r>
              <a:t>hermes kanban watch           # or: hermes dashboard</a:t>
            </a:r>
          </a:p>
          <a:p>
            <a:pPr>
              <a:lnSpc>
                <a:spcPct val="114000"/>
              </a:lnSpc>
              <a:defRPr sz="1300" b="0">
                <a:solidFill>
                  <a:srgbClr val="E8E5DE"/>
                </a:solidFill>
                <a:latin typeface="Courier New"/>
              </a:defRPr>
            </a:pPr>
            <a:r>
              <a:t>hermes kanban unblock &lt;task-id&gt;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hermes profile list shows researcher, writer and reviewer.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profile has the four studio skills.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board shows three tasks linked by parents.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writer started only after the researcher finished.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requested changes at least once, then blocked for you.</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unblocked it; the post is submitted to approvals.csv.</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Always-On Delivery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Hermes prepares, a person decides — from a phone.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bot that answers only you</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hermes gateway setup connects Telegram. Allow only your own user id.</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Schedules in plain words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"Every Monday at 8am…" becomes a cron job. hermes cron list · run · pause.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Delivery targets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telegram, slack, email or local files. The gateway must be running for jobs to fire.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 On: a Telegram Bot That Asks Before It Acts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studio must run every week, not just in class. Rachel lives on her phone. Have Hermes prepare the Monday brief on a schedule and send it to her — and wait for her answer.</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Telegram bot, a Monday 8am content-brief job, and one approved brief from your phone</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Hermes Agent (gateway bot, cron)</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Telegram bot · scheduled jobs in plain words · delivery targets · approve from your phone · pause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 On: a Telegram Bot That Asks Before It Acts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Agent (gateway bot, cron)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Make the bot  </a:t>
            </a:r>
            <a:r>
              <a:rPr sz="1300">
                <a:solidFill>
                  <a:srgbClr val="6B6862"/>
                </a:solidFill>
                <a:latin typeface="Calibri"/>
              </a:rPr>
              <a:t>Follow telegram-bot-setup.md with @BotFather.</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Connect it  </a:t>
            </a:r>
            <a:r>
              <a:rPr sz="1300">
                <a:solidFill>
                  <a:srgbClr val="6B6862"/>
                </a:solidFill>
                <a:latin typeface="Calibri"/>
              </a:rPr>
              <a:t>hermes gateway setup → Telegram; allow only your own user id. Restart the gateway.</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Say hello  </a:t>
            </a:r>
            <a:r>
              <a:rPr sz="1300">
                <a:solidFill>
                  <a:srgbClr val="6B6862"/>
                </a:solidFill>
                <a:latin typeface="Calibri"/>
              </a:rPr>
              <a:t>Message the bot. Hermes answers.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the brief  </a:t>
            </a:r>
            <a:r>
              <a:rPr sz="1300">
                <a:solidFill>
                  <a:srgbClr val="6B6862"/>
                </a:solidFill>
                <a:latin typeface="Calibri"/>
              </a:rPr>
              <a:t>Paste the prompt into Hermes.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hermes cron list, then hermes cron run &lt;id&gt;.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from your phone  </a:t>
            </a:r>
            <a:r>
              <a:rPr sz="1300">
                <a:solidFill>
                  <a:srgbClr val="6B6862"/>
                </a:solidFill>
                <a:latin typeface="Calibri"/>
              </a:rPr>
              <a:t>Reply APPROVE, or ask for a change.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hermes cron pause &lt;id&gt;.</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 On: a Telegram Bot That Asks Before It Acts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Hermes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Every Monday at 8am, prepare Horizon's weekly content brief as data/cron-brief.md describes, from ~/horizon-studio/strategy/calendar.csv, ~/horizon-studio/data/facts-2026.md and ~/horizon-studio/review/approvals.csv. Send it to me on Telegram and wait for my reply. Never publish, approve or send anything to anyone else.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your inbox; you still press the button.</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 On: a Telegram Bot That Asks Before It Acts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bot answers only you.</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hermes cron list shows the Monday 8am job.</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delivered the brief to Telegram.</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brief lists the week's items, facts and pending approvals.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reply was understood, and nothing was published.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job is paused after class.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reviewer agents;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7, 9–12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7</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8</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recipients filtered on consent and unsubscribe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Runaway automation</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Bot answers only you; jobs paused</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agents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Clicks are vanity. Spend ÷ chats booked shows which channel works.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catches mistakes before review saves the reviewer's time.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workflow, approval matrix, rules, incidents, review — so the studio runs without you.</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two questions: which channels actually booked chats, and how does the team run this safely after you leave? Answer with numbers, then with a playbook.</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results dashboard (Live Artefact), reports/agent-comparison.md and strategy/content-strategy-playbook.md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 (sub-agents, Live Artefact)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analyst sub-agents · cost per chat · comparing agent patterns · responsible-AI controls · the execution playbook</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(sub-agents, Live Artefact)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Add the data  </a:t>
            </a:r>
            <a:r>
              <a:rPr sz="1550">
                <a:solidFill>
                  <a:srgbClr val="6B6862"/>
                </a:solidFill>
                <a:latin typeface="Calibri"/>
              </a:rPr>
              <a:t>Copy the assets into data/.</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Analyse in parallel  </a:t>
            </a:r>
            <a:r>
              <a:rPr sz="1550">
                <a:solidFill>
                  <a:srgbClr val="6B6862"/>
                </a:solidFill>
                <a:latin typeface="Calibri"/>
              </a:rPr>
              <a:t>Paste Prompt A — two sub-agents.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the dashboard  </a:t>
            </a:r>
            <a:r>
              <a:rPr sz="1550">
                <a:solidFill>
                  <a:srgbClr val="6B6862"/>
                </a:solidFill>
                <a:latin typeface="Calibri"/>
              </a:rPr>
              <a:t>Which channel books a chat most cheaply? Where should next month's S$4,000 go?</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Ask the compliance reviewer to check it, then add one rule of your own.</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the analysts</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two sub-agents in parallel.</a:t>
            </a:r>
          </a:p>
          <a:p>
            <a:pPr>
              <a:lnSpc>
                <a:spcPct val="110000"/>
              </a:lnSpc>
              <a:defRPr sz="1700" b="0">
                <a:solidFill>
                  <a:srgbClr val="21201C"/>
                </a:solidFill>
                <a:latin typeface="Calibri"/>
              </a:defRPr>
            </a:pPr>
            <a:r>
              <a:t>1. performance-analyst: from data/campaign-results.csv, per channel — clicks, checklist downloads, chats booked and cost per chat. Which channel books chats most cheaply, and how should next month's S$4,000 be split? Build a Live Artefact dashboard.</a:t>
            </a:r>
          </a:p>
          <a:p>
            <a:pPr>
              <a:lnSpc>
                <a:spcPct val="110000"/>
              </a:lnSpc>
              <a:defRPr sz="1700" b="0">
                <a:solidFill>
                  <a:srgbClr val="21201C"/>
                </a:solidFill>
                <a:latin typeface="Calibri"/>
              </a:defRPr>
            </a:pPr>
            <a:r>
              <a:t>2. agent-analyst: from data/run-log.csv, compare Cowork sub-agents, Codex subagents, Claude Code agent teams and Hermes Kanban on minutes, tokens, defects caught before a person, and human edits. Save reports/agent-comparison.md.</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the playbook</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strategy/content-strategy-playbook.md with data/playbook-outline.md, using everything in research/, strategy/, review/ and reports/. Include the agent roster (job, tool, model, what it may never do), the approval matrix by risk, the rules in data/responsible-ai-checklist.md, and what to do when a wrong post goes out. Keep it to what a new team member can follow on their first day.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get for them: defects caught before a person, and fewer human edits.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dashboard shows cost per chat for every channel.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budget split follows the numbers, with reasons.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agent-comparison.md shows the baseline caught 0 defects before a person.</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playbook names every agent and bot, with its limits.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 is in it.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to run many agents.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main agent starts them when you ask — or when a task matches a subagent's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Cowork · Codex · .claude/agents/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three</a:t>
            </a:r>
          </a:p>
          <a:p>
            <a:pPr>
              <a:lnSpc>
                <a:spcPct val="100000"/>
              </a:lnSpc>
              <a:defRPr sz="1050" b="0">
                <a:solidFill>
                  <a:srgbClr val="21201C"/>
                </a:solidFill>
                <a:latin typeface="Courier New"/>
              </a:defRPr>
            </a:pPr>
            <a:r>
              <a:t>teammates…"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Every tool, same SKILL.md</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BOARD /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Kanban + cron</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A task runs when its parents finish; a job runs on its schedule.</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every monday 8am</a:t>
            </a:r>
          </a:p>
          <a:p>
            <a:pPr>
              <a:lnSpc>
                <a:spcPct val="100000"/>
              </a:lnSpc>
              <a:defRPr sz="1050" b="0">
                <a:solidFill>
                  <a:srgbClr val="21201C"/>
                </a:solidFill>
                <a:latin typeface="Courier New"/>
              </a:defRPr>
            </a:pPr>
            <a:r>
              <a:t>--parent &lt;id&gt;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Hermes gateway</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the board and the clock</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Research to an Always-On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four tools, one regulated business.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Cowork sub-agents: a cited recommendation.</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Build</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Codex: a checked website, live on Pages.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Storyboard, personas, cadence and shared skills.</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Agent teams for social, email and video, gated.</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bots on Kanban, measured and governed.</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138</a:t>
            </a:r>
            <a:endParaRPr lang="en-US" sz="9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Rectangle 7"/>
          <p:cNvSpPr/>
          <p:nvPr/>
        </p:nvSpPr>
        <p:spPr>
          <a:xfrm>
            <a:off x="512064" y="2048255"/>
            <a:ext cx="588448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p:cNvPicPr>
            <a:picLocks noChangeAspect="1"/>
          </p:cNvPicPr>
          <p:nvPr/>
        </p:nvPicPr>
        <p:blipFill>
          <a:blip r:embed="rId2"/>
          <a:stretch>
            <a:fillRect/>
          </a:stretch>
        </p:blipFill>
        <p:spPr>
          <a:xfrm>
            <a:off x="548640" y="2084831"/>
            <a:ext cx="5811330" cy="3904487"/>
          </a:xfrm>
          <a:prstGeom prst="rect">
            <a:avLst/>
          </a:prstGeom>
        </p:spPr>
      </p:pic>
      <p:sp>
        <p:nvSpPr>
          <p:cNvPr id="10" name="Rectangle 9"/>
          <p:cNvSpPr/>
          <p:nvPr/>
        </p:nvSpPr>
        <p:spPr>
          <a:xfrm>
            <a:off x="672573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26898" y="2130551"/>
            <a:ext cx="468598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2" name="TextBox 11"/>
          <p:cNvSpPr txBox="1"/>
          <p:nvPr/>
        </p:nvSpPr>
        <p:spPr>
          <a:xfrm>
            <a:off x="6926898" y="2459735"/>
            <a:ext cx="468598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 — the Cowork side of this course.</a:t>
            </a:r>
          </a:p>
        </p:txBody>
      </p:sp>
      <p:sp>
        <p:nvSpPr>
          <p:cNvPr id="13" name="Rectangle 12"/>
          <p:cNvSpPr/>
          <p:nvPr/>
        </p:nvSpPr>
        <p:spPr>
          <a:xfrm>
            <a:off x="6725730"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26898" y="3300983"/>
            <a:ext cx="468598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5" name="TextBox 14"/>
          <p:cNvSpPr txBox="1"/>
          <p:nvPr/>
        </p:nvSpPr>
        <p:spPr>
          <a:xfrm>
            <a:off x="6926898" y="3630167"/>
            <a:ext cx="468598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6" name="Rectangle 15"/>
          <p:cNvSpPr/>
          <p:nvPr/>
        </p:nvSpPr>
        <p:spPr>
          <a:xfrm>
            <a:off x="6725730"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26898" y="4471416"/>
            <a:ext cx="468598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8" name="TextBox 17"/>
          <p:cNvSpPr txBox="1"/>
          <p:nvPr/>
        </p:nvSpPr>
        <p:spPr>
          <a:xfrm>
            <a:off x="6926898" y="4800600"/>
            <a:ext cx="468598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140</a:t>
            </a:r>
            <a:endParaRPr lang="en-US" sz="9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2.0 — 8 October 2026</dc:description>
</cp:coreProperties>
</file>