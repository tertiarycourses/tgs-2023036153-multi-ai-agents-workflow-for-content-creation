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supported claim rate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67</c:v>
                </c:pt>
                <c:pt idx="2">
                  <c:v>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beat-to-objective coverage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71</c:v>
                </c:pt>
                <c:pt idx="2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duplicate and conflict count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46</c:v>
                </c:pt>
                <c:pt idx="2">
                  <c:v>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segment evidence coverage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67</c:v>
                </c:pt>
                <c:pt idx="2">
                  <c:v>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intent-CTA fit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71</c:v>
                </c:pt>
                <c:pt idx="2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interpretability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75</c:v>
                </c:pt>
                <c:pt idx="2">
                  <c:v>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schema pass rate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67</c:v>
                </c:pt>
                <c:pt idx="2">
                  <c:v>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rubric agreement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71</c:v>
                </c:pt>
                <c:pt idx="2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rights record coverage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75</c:v>
                </c:pt>
                <c:pt idx="2">
                  <c:v>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blocked dependency count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54</c:v>
                </c:pt>
                <c:pt idx="2">
                  <c:v>22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rights coverage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71</c:v>
                </c:pt>
                <c:pt idx="2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approved asset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75</c:v>
                </c:pt>
                <c:pt idx="2">
                  <c:v>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ulti-agent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0"/>
            <a:ext cx="725119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2578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75488"/>
            <a:ext cx="658368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1481328"/>
            <a:ext cx="429768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08B8B"/>
                </a:solidFill>
                <a:latin typeface="Aptos"/>
              </a:defRPr>
            </a:pPr>
            <a:r>
              <a:t>WSQ  ·  CONTENT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38528"/>
            <a:ext cx="443484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600" b="1">
                <a:solidFill>
                  <a:srgbClr val="182840"/>
                </a:solidFill>
                <a:latin typeface="Aptos"/>
              </a:defRPr>
            </a:pPr>
            <a:r>
              <a:t>Multi AI Agents Workflow for Content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187952"/>
            <a:ext cx="42062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1D2A37"/>
                </a:solidFill>
                <a:latin typeface="Aptos"/>
              </a:defRPr>
            </a:pPr>
            <a:r>
              <a:t>TGS-2023036153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718304"/>
            <a:ext cx="42976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536570"/>
                </a:solidFill>
                <a:latin typeface="Aptos"/>
              </a:defRPr>
            </a:pPr>
            <a:r>
              <a:t>Tertiary Infotech Academy Pte Ltd ·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998464"/>
            <a:ext cx="429768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v1.0  ·  13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TRAQOM · BEFORE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Scan the trainer-provided QR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second session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assessment attendance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LMS-TMS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Download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COURSE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Open your enrolled course in LMS-TMS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LEARNER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Use the Learner Guide folder and slide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LABS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Open the matching numbered lab folder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PROFILE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Your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01952"/>
            <a:ext cx="4709160" cy="3977639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901952"/>
            <a:ext cx="91440" cy="3977639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66544"/>
            <a:ext cx="42519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TRAINER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251960" cy="32644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[Trainer name]</a:t>
            </a:r>
            <a:br/>
            <a:r>
              <a:t>Content strategy and digital marketing facilitator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901952"/>
            <a:ext cx="5961888" cy="3977639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32120" y="1901952"/>
            <a:ext cx="91440" cy="3977639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066544"/>
            <a:ext cx="550468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CLASS CONTACT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514600"/>
            <a:ext cx="5504688" cy="32644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[Trainer email]</a:t>
            </a:r>
            <a:br/>
            <a:r>
              <a:t>Ask for review of the evidence packet before treating a draft as approved.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01952"/>
            <a:ext cx="4709160" cy="3977639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901952"/>
            <a:ext cx="91440" cy="3977639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66544"/>
            <a:ext cx="42519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COURSE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251960" cy="32644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 Alfred Ang</a:t>
            </a:r>
            <a:br/>
            <a:r>
              <a:t>Tertiary Infotech Academy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901952"/>
            <a:ext cx="5961888" cy="3977639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32120" y="1901952"/>
            <a:ext cx="91440" cy="3977639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066544"/>
            <a:ext cx="550468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LEARNING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514600"/>
            <a:ext cx="5504688" cy="32644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Human oversight, evidence-led content strategy and practical multi-agent orchestration.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COURSE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Learning outcomes and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1682496"/>
            <a:ext cx="5358384" cy="193852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1682496"/>
            <a:ext cx="91440" cy="19385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47088"/>
            <a:ext cx="490118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295144"/>
            <a:ext cx="4901184" cy="12252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LO1: Conceptualize content ideas to meet marketing objectives and map out digital storyboards as part of a content strategy.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682496"/>
            <a:ext cx="5358384" cy="193852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17336" y="1682496"/>
            <a:ext cx="91440" cy="1938528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847088"/>
            <a:ext cx="490118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295144"/>
            <a:ext cx="4901184" cy="12252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LO2: Identify content requirements from customer preferences and determine the frequency of marketing content.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" y="3822191"/>
            <a:ext cx="5358384" cy="193852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4632" y="3822191"/>
            <a:ext cx="91440" cy="19385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986783"/>
            <a:ext cx="490118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434840"/>
            <a:ext cx="4901184" cy="12252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LO3: Determine content types and styles and decide on modes and processes for distributing content.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17336" y="3822191"/>
            <a:ext cx="5358384" cy="193852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17336" y="3822191"/>
            <a:ext cx="91440" cy="1938528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3986783"/>
            <a:ext cx="490118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LO4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4434840"/>
            <a:ext cx="4901184" cy="12252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LO4: Develop guidelines for content strategy execution using appropriate delivery modes and responsible AI practices.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CONTENT PRODUCTION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Agent operating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Human owner approves brief and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PRODUCE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Specialist agents create typed artifacts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Human reviews evidence and authorizes release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LO1 · ICT-SNM-4004-1.1 CONTENT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12648"/>
            <a:ext cx="11109960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rPr sz="2300"/>
              <a:t>Topic 1: Multi-AI-Agent Content Ideation and Digital Storyboarding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66420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008</a:t>
            </a:r>
          </a:p>
        </p:txBody>
      </p:sp>
      <p:pic>
        <p:nvPicPr>
          <p:cNvPr id="9" name="Picture 8" descr="storyboard-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56231"/>
            <a:ext cx="6675120" cy="42428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856231"/>
            <a:ext cx="4187952" cy="4242816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304288"/>
            <a:ext cx="3547872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82840"/>
                </a:solidFill>
                <a:latin typeface="Aptos"/>
              </a:defRPr>
            </a:pPr>
            <a:r>
              <a:t>LO1: Conceptualize content ideas to meet marketing objectives and map out digital storyboards as part of a content strategy.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404104"/>
            <a:ext cx="3566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08B8B"/>
                </a:solidFill>
                <a:latin typeface="Aptos"/>
              </a:defRPr>
            </a:pPr>
            <a:r>
              <a:t>14 mechanisms · 3 labs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Campaign objective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marketing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translate objective into measurable audience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goal sheet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choose one primary conversion 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Campaign objective contract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approved marketing brief</a:t>
            </a:r>
            <a:br/>
            <a:r>
              <a:t>Agent action: translate objective into measurable audience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goal sheet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choose one primary conversion 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Campaign objective contract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vague awareness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goal and event IDs present.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Campaign objective contract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marketing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goal 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goal and event IDs present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Audience promise and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product facts and objections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pair each promise with verifiable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claim ledger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reject unsupported benefit claims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Audience promise and proof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product facts and objections</a:t>
            </a:r>
            <a:br/>
            <a:r>
              <a:t>Agent action: pair each promise with verifiable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claim ledger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reject unsupported benefit claims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Audience promise and proof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invented product proof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supported claim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Audience promise and proof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016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supported claim rate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Content idea scoring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idea backlog and audience 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score relevance, evidence, effort and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ranked idea 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advance ideas above agreed rubric threshold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Content idea scoring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idea backlog and audience needs</a:t>
            </a:r>
            <a:br/>
            <a:r>
              <a:t>Agent action: score relevance, evidence, effort and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ranked idea board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advance ideas above agreed rubric threshold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Content idea scoring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novelty without audience fit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rubric score by idea.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Content idea scoring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idea backlog and audience 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ranked idea 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rubric score by idea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Agent role decomposition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 brief and work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separate researcher, strategist, writer, designer and reviewer duties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role charter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one accountable owner for each output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Agent role decomposition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campaign brief and work units</a:t>
            </a:r>
            <a:br/>
            <a:r>
              <a:t>Agent action: separate researcher, strategist, writer, designer and reviewer duties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role charter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one accountable owner for each output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Agent role decomposition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overlapping agent authority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unowned task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Agent role decomposition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 brief and work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role charter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unowned task 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Research-to-strategy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source cards with URLs and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condense findings into claims and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research packet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accept only attributable findings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Research-to-strategy handoff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source cards with URLs and dates</a:t>
            </a:r>
            <a:br/>
            <a:r>
              <a:t>Agent action: condense findings into claims and constraints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research packet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accept only attributable findings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Research-to-strategy handoff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citation laundering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traceable claim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Research-to-strategy handoff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source cards with URLs and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research packet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traceable claim 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beat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message and CTA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map hook, tension, proof, resolution and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five-beat storyboard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each beat advances the objective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beat architecture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approved message and CTA</a:t>
            </a:r>
            <a:br/>
            <a:r>
              <a:t>Agent action: map hook, tension, proof, resolution and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five-beat storyboard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each beat advances the objective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beat architecture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beautiful scenes without narrative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beat-to-objective coverage.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beat architecture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032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beat-to-objective coverage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Scene-level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storyboard panels and product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attach visual, voice, claim and source to each scene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scene sheet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flag scenes with unsupported claims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Scene-level evidence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storyboard panels and product facts</a:t>
            </a:r>
            <a:br/>
            <a:r>
              <a:t>Agent action: attach visual, voice, claim and source to each scene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scene sheet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flag scenes with unsupported claims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Scene-level evidence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fabricated testimonial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evidence per claim.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Scene-level evidence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storyboard panels and product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scene 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evidence per claim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Channel-aware story variants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master storyboard and channel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retain core story while changing length and visual grammar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variant 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same claim, adapted format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Channel-aware story variants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master storyboard and channel brief</a:t>
            </a:r>
            <a:br/>
            <a:r>
              <a:t>Agent action: retain core story while changing length and visual grammar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variant board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same claim, adapted format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Channel-aware story variants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message drift across channels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message consistency score.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Channel-aware story variants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master storyboard and channel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variant 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message consistency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Prompt contract for ideation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brand voice, audience, goal and exclusions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specify role, inputs, output schema and refusal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ideation prompt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require structured idea records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Prompt contract for ideation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brand voice, audience, goal and exclusions</a:t>
            </a:r>
            <a:br/>
            <a:r>
              <a:t>Agent action: specify role, inputs, output schema and refusal conditions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ideation prompt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require structured idea records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Prompt contract for ideation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generic idea spam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schema-valid output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Prompt contract for ideation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brand voice, audience, goal and exclusions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ideation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schema-valid output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Parallel ideation and merge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three independent agent proposals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deduplicate then rank without losing source provenance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merged shortlist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retain evidence and dissent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Parallel ideation and merge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three independent agent proposals</a:t>
            </a:r>
            <a:br/>
            <a:r>
              <a:t>Agent action: deduplicate then rank without losing source provenance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merged shortlist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retain evidence and dissent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Parallel ideation and merge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majority vote on false claim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duplicate and conflict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Parallel ideation and merge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048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duplicate and conflict count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concept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shortlist and brand criteria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approve, revise or reject with reasons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decision record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human owns campaign direction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concept checkpoint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shortlist and brand criteria</a:t>
            </a:r>
            <a:br/>
            <a:r>
              <a:t>Agent action: approve, revise or reject with reasons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decision record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human owns campaign direction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concept checkpoint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automatic campaign launch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approval trace completeness.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concept checkpoint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shortlist and brand criteria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decision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approval trace completeness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QA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scene sheet and approval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test claim, continuity, CTA and accessibility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storyboard QA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block any critical defect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QA gate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scene sheet and approval record</a:t>
            </a:r>
            <a:br/>
            <a:r>
              <a:t>Agent action: test claim, continuity, CTA and accessibility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storyboard QA report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block any critical defect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QA gate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unchecked scene transition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critical defect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QA gate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scene sheet and approval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storyboard QA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critical defect 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CREATE prompt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 role, request and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specify Character, Request, Examples, Adjustments, Type and Extras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structured content prompt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output must include a cited storyboard proposal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CREATE prompt framework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campaign role, request and examples</a:t>
            </a:r>
            <a:br/>
            <a:r>
              <a:t>Agent action: specify Character, Request, Examples, Adjustments, Type and Extras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structured content prompt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output must include a cited storyboard proposal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CREATE prompt framework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ambiguous prompt brief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framework field coverage.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CREATE prompt framework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 role, request and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structured content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framework field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System, user and assistant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policy and campaign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separate durable constraints from task input and model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role-scoped transcript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system constraints outrank untrusted source text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System, user and assistant roles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approved policy and campaign request</a:t>
            </a:r>
            <a:br/>
            <a:r>
              <a:t>Agent action: separate durable constraints from task input and model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role-scoped transcript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system constraints outrank untrusted source text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System, user and assistant roles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prompt-injection through source material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role-boundary violations.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System, user and assistant roles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policy and campaign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role-scoped transcript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role-boundary violations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PRACTICE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Topic 1 · lab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 objective and role charter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LAB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Research packet and idea 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LAB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Five-beat storyboard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LO2 · ICT-SNM-4004-1.1 CONTENT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12648"/>
            <a:ext cx="11109960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rPr sz="2300"/>
              <a:t>Topic 2: Audience Research and Content Requirement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66420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066</a:t>
            </a:r>
          </a:p>
        </p:txBody>
      </p:sp>
      <p:pic>
        <p:nvPicPr>
          <p:cNvPr id="9" name="Picture 8" descr="storyboard-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56231"/>
            <a:ext cx="6675120" cy="42428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856231"/>
            <a:ext cx="4187952" cy="4242816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304288"/>
            <a:ext cx="3547872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82840"/>
                </a:solidFill>
                <a:latin typeface="Aptos"/>
              </a:defRPr>
            </a:pPr>
            <a:r>
              <a:t>LO2: Identify content requirements from customer preferences and determine the frequency of marketing content.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404104"/>
            <a:ext cx="3566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08B8B"/>
                </a:solidFill>
                <a:latin typeface="Aptos"/>
              </a:defRPr>
            </a:pPr>
            <a:r>
              <a:t>14 mechanisms · 3 labs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Preference evidence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interviews, analytics and CRM extracts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rank direct behaviour above unsupported persona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evidence register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label evidence age and sample size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Preference evidence hierarchy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interviews, analytics and CRM extracts</a:t>
            </a:r>
            <a:br/>
            <a:r>
              <a:t>Agent action: rank direct behaviour above unsupported persona assumptions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evidence register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label evidence age and sample size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Preference evidence hierarchy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treating guesses as 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source confidence.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Preference evidence hierarchy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interviews, analytics and CRM extracts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evidence 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source confidence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Segment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consented customer attributes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cluster by need, intent and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segment cards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avoid sensitive proxy targeting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Segment definition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consented customer attributes</a:t>
            </a:r>
            <a:br/>
            <a:r>
              <a:t>Agent action: cluster by need, intent and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segment cards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avoid sensitive proxy targeting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Segment definition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demographic stereotyping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segment evidence coverage.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Segment definition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074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segment evidence coverage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Persona jobs and objections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segment cards and transcripts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extract jobs-to-be-done, barriers and triggers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persona matrix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keep verbatim evidence separate from inference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Persona jobs and objections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076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segment cards and transcripts</a:t>
            </a:r>
            <a:br/>
            <a:r>
              <a:t>Agent action: extract jobs-to-be-done, barriers and triggers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persona matrix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keep verbatim evidence separate from inference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Persona jobs and objections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invented quotes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quote traceability.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Persona jobs and objections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segment cards and transcripts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persona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quote traceability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Journey stage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search queries and purchase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map problem, consideration, decision and retention needs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journey grid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select one job per content asset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Journey stage mapping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search queries and purchase path</a:t>
            </a:r>
            <a:br/>
            <a:r>
              <a:t>Agent action: map problem, consideration, decision and retention needs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journey grid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select one job per content asset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Journey stage mapping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same message at every stage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journey fit score.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Journey stage mapping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search queries and purchase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journey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journey fit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Competitor content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competitor URLs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compare questions answered, proof and 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gap table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seek unmet audience question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Competitor content gap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approved competitor URLs</a:t>
            </a:r>
            <a:br/>
            <a:r>
              <a:t>Agent action: compare questions answered, proof and format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gap table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seek unmet audience question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Competitor content gap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copying competitor wording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originality and gap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Competitor content gap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competitor URLs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gap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originality and gap 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Search intent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keyword list with page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label informational, comparison and transactional 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intent 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match CTA to intent stage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Search intent classification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keyword list with page evidence</a:t>
            </a:r>
            <a:br/>
            <a:r>
              <a:t>Agent action: label informational, comparison and transactional intent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intent map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match CTA to intent stage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Search intent classification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sales CTA on learning 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intent-CTA fit.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Search intent classification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090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intent-CTA fit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Content requirements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persona, objective and channel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length, voice, proof, format, CTA and exclusions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content specification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reject missing mandatory fields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Content requirements schema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persona, objective and channel constraints</a:t>
            </a:r>
            <a:br/>
            <a:r>
              <a:t>Agent action: record length, voice, proof, format, CTA and exclusions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content specification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reject missing mandatory fields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Content requirements schema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093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brief lost in handoff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spec completeness.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Content requirements schema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persona, objective and channel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content specification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spec completeness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Frequency from response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engagement, unsubscribe and capacity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compare marginal value with fatigue and production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cadence proposal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reduce frequency when fatigue rises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Frequency from response data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engagement, unsubscribe and capacity data</a:t>
            </a:r>
            <a:br/>
            <a:r>
              <a:t>Agent action: compare marginal value with fatigue and production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cadence proposal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reduce frequency when fatigue rises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Frequency from response data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over-posting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engagement per send.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Frequency from response data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engagement, unsubscribe and capacity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cadence 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engagement per send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Editorial calendar capacity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099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asset dependencies and staff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allocate publish slots and review buffers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four-week calendar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never schedule before QA sign-off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Editorial calendar capacity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asset dependencies and staff capacity</a:t>
            </a:r>
            <a:br/>
            <a:r>
              <a:t>Agent action: allocate publish slots and review buffers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four-week calendar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never schedule before QA sign-off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Editorial calendar capacity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unreviewed slot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on-time approved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Editorial calendar capacity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asset dependencies and staff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four-week calendar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on-time approved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Feedback loop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 performance and qualitative comments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hypotheses, tests and observed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learning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change one variable per test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Feedback loop design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campaign performance and qualitative comments</a:t>
            </a:r>
            <a:br/>
            <a:r>
              <a:t>Agent action: record hypotheses, tests and observed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learning log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change one variable per test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Feedback loop design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post-hoc storytelling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test interpretability.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Feedback loop design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test interpretability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Research agent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sources and data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limit tools, time window and 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researcher charter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escalate inaccessible or conflicting evidence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Research agent boundaries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approved sources and data policy</a:t>
            </a:r>
            <a:br/>
            <a:r>
              <a:t>Agent action: limit tools, time window and claims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researcher charter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escalate inaccessible or conflicting evidence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Research agent boundaries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web summary without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source coverage.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Research agent boundaries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sources and data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researcher charter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source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Audience analyst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research packet and segment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produce segment needs, confidence and exclusions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audience brief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flag low-confidence segments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Audience analyst handoff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research packet and segment matrix</a:t>
            </a:r>
            <a:br/>
            <a:r>
              <a:t>Agent action: produce segment needs, confidence and exclusions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audience brief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flag low-confidence segments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Audience analyst handoff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false precision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confidence annotation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Audience analyst handoff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research packet and segment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audience brief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confidence annotation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RICCE audience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role, intent, context, constraints and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bind persona work to evidence rather than invented demographics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RICCE brief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reject ungrounded preference claims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RICCE audience brief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role, intent, context, constraints and examples</a:t>
            </a:r>
            <a:br/>
            <a:r>
              <a:t>Agent action: bind persona work to evidence rather than invented demographics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RICCE brief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reject ungrounded preference claims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RICCE audience brief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persona hallucination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brief field completeness.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RICCE audience brief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role, intent, context, constraints and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RICCE brief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brief field completeness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Few-shot preference extraction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labelled customer comments and extraction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show two positive and one ambiguous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structured preference records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retain ambiguous cases for human review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Few-shot preference extraction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labelled customer comments and extraction schema</a:t>
            </a:r>
            <a:br/>
            <a:r>
              <a:t>Agent action: show two positive and one ambiguous example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structured preference records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retain ambiguous cases for human review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Few-shot preference extraction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overfitting to examples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label agreement.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Few-shot preference extraction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labelled customer comments and extraction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structured preference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label agreement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PRACTICE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Topic 2 · lab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LAB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Audience evidence and personas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LAB 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Requirements and cadence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LAB 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Research-agent handoff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LO3 · ICT-SNM-4004-1.1 CONTENT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12648"/>
            <a:ext cx="11109960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rPr sz="2300"/>
              <a:t>Topic 3: Multi-Channel Content Creation and Agent Workflow Coordination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66420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124</a:t>
            </a:r>
          </a:p>
        </p:txBody>
      </p:sp>
      <p:pic>
        <p:nvPicPr>
          <p:cNvPr id="9" name="Picture 8" descr="storyboard-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56231"/>
            <a:ext cx="6675120" cy="42428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856231"/>
            <a:ext cx="4187952" cy="4242816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304288"/>
            <a:ext cx="3547872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82840"/>
                </a:solidFill>
                <a:latin typeface="Aptos"/>
              </a:defRPr>
            </a:pPr>
            <a:r>
              <a:t>LO3: Determine content types and styles and decide on modes and processes for distributing content.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404104"/>
            <a:ext cx="3566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08B8B"/>
                </a:solidFill>
                <a:latin typeface="Aptos"/>
              </a:defRPr>
            </a:pPr>
            <a:r>
              <a:t>14 mechanisms · 3 labs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Orchestration state machine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brief and task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move tasks through planned, drafting, review, approved and blocked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task ledger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publish only from approved state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Orchestration state machine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approved brief and task queue</a:t>
            </a:r>
            <a:br/>
            <a:r>
              <a:t>Agent action: move tasks through planned, drafting, review, approved and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task ledger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publish only from approved state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Orchestration state machine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lost handoff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state transition validity.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Orchestration state machine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brief and task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task ledger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state transition validity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Handoff JSON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agent output and schema 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validate fields, sources, confidence and 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typed handoff packet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reject malformed payload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Handoff JSON contract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agent output and schema version</a:t>
            </a:r>
            <a:br/>
            <a:r>
              <a:t>Agent action: validate fields, sources, confidence and owner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typed handoff packet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reject malformed payload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Handoff JSON contract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free-text ambiguity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schema pass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Handoff JSON contract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schema pass rate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Researcher-writer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verified claim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pass evidence IDs and prohibited claims to writer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drafting packet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writer may not invent citations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Researcher-writer boundary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verified claim ledger</a:t>
            </a:r>
            <a:br/>
            <a:r>
              <a:t>Agent action: pass evidence IDs and prohibited claims to writer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drafting packet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writer may not invent citations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Researcher-writer boundary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citation fabrication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claim-to-source match.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Researcher-writer boundary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verified claim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drafting packet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claim-to-source match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Writer-editor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draft and brand rubric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revise only failed criteria with change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edited draft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cap iterations and escalate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Writer-editor loop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draft and brand rubric</a:t>
            </a:r>
            <a:br/>
            <a:r>
              <a:t>Agent action: revise only failed criteria with change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edited draft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cap iterations and escalate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Writer-editor loop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infinite rewrite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revision gain per cycle.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Writer-editor loop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draft and brand rubric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edited 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revision gain per cycle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Fact-check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draft claims and source snapshots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classify supported, disputed or unverified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fact-check matrix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block disputed high-impact claims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Fact-check agent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draft claims and source snapshots</a:t>
            </a:r>
            <a:br/>
            <a:r>
              <a:t>Agent action: classify supported, disputed or unverified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fact-check matrix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block disputed high-impact claims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Fact-check agent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plausible falsehood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verified claim share.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Fact-check agent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draft claims and source snapshots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fact-check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verified claim share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Brand voice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voice examples and exclusions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score tone, terminology and promise consistency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brand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human resolves borderline calls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Brand voice gate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approved voice examples and exclusions</a:t>
            </a:r>
            <a:br/>
            <a:r>
              <a:t>Agent action: score tone, terminology and promise consistency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brand review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human resolves borderline calls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Brand voice gate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robotic generic voice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rubric agreement.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Brand voice gate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rubric agreement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SEO brief to article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search intent, keyword cluster and source pack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structure answer, headings and internal link opportunities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SEO draft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prioritize reader task over keyword repetition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SEO brief to article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search intent, keyword cluster and source pack</a:t>
            </a:r>
            <a:br/>
            <a:r>
              <a:t>Agent action: structure answer, headings and internal link opportunities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SEO draft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prioritize reader task over keyword repetition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SEO brief to article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keyword stuffing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intent coverage.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SEO brief to article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search intent, keyword cluster and source pack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SEO 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intent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Email adaptation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master narrative and consented segment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shorten to subject, preheader, body and single CTA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email variant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check preference and unsubscribe handling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Email adaptation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master narrative and consented segment</a:t>
            </a:r>
            <a:br/>
            <a:r>
              <a:t>Agent action: shorten to subject, preheader, body and single CTA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email variant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check preference and unsubscribe handling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Email adaptation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non-consented send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CTA clarity.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Email adaptation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master narrative and consented segment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email 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CTA clarity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Social adaptation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master claim and platform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choose hook, visual, caption and link treatment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social post pack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validate current platform limits before publishing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Social adaptation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master claim and platform constraints</a:t>
            </a:r>
            <a:br/>
            <a:r>
              <a:t>Agent action: choose hook, visual, caption and link treatment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social post pack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validate current platform limits before publishing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Social adaptation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truncated post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format validity.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Social adaptation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master claim and platform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social post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format validity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Visual asset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storyboard, brand kit and rights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specify subject, crop, alt text and licensing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designer brief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reject imagery implying false evidence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Visual asset brief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storyboard, brand kit and rights register</a:t>
            </a:r>
            <a:br/>
            <a:r>
              <a:t>Agent action: specify subject, crop, alt text and licensing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designer brief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reject imagery implying false evidence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Visual asset brief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misleading generated photo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rights record coverage.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Visual asset brief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rights record coverage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Multimodal consistency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copy, image and video 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cross-check claim, depiction and accessibility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multimodal QA sheet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same offer and disclaimer across formats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Multimodal consistency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copy, image and video script</a:t>
            </a:r>
            <a:br/>
            <a:r>
              <a:t>Agent action: cross-check claim, depiction and accessibility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multimodal QA sheet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same offer and disclaimer across formats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Multimodal consistency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visual-text contradiction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cross-format consistency.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Multimodal consistency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copy, image and video 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multimodal QA 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cross-format consistency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Error and retry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agent failure log and task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retry transient faults; block validation/auth failures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recovery record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bounded retries with human escalation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Error and retry policy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agent failure log and task state</a:t>
            </a:r>
            <a:br/>
            <a:r>
              <a:t>Agent action: retry transient faults; block validation/auth failures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recovery record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bounded retries with human escalation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Error and retry policy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silent partial publish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recoverable task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Error and retry policy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agent failure log and task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recovery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recoverable task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Tool routing by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tool inventory and data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route research, drafting, image and review tasks to bounded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tool assignment matrix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no private data sent to a public tool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Tool routing by role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approved tool inventory and data class</a:t>
            </a:r>
            <a:br/>
            <a:r>
              <a:t>Agent action: route research, drafting, image and review tasks to bounded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tool assignment matrix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no private data sent to a public tool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Tool routing by role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tool sprawl and data leak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routing compliance.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Tool routing by role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tool inventory and data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tool assignment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routing compliance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Self-critique editor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draft, rubric and source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identify a specific defect then revise against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revision diff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stop after two loops and escalate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Self-critique editor loop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draft, rubric and source ledger</a:t>
            </a:r>
            <a:br/>
            <a:r>
              <a:t>Agent action: identify a specific defect then revise against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revision diff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stop after two loops and escalate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Self-critique editor loop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endless cosmetic rewrites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defect closure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Self-critique editor loop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draft, rubric and source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revision diff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defect closure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PRACTICE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Topic 3 · lab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LAB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Agent workflow state 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LAB 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Draft, edit and fact-check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LAB 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Multi-channel asset pack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LO4 · ICT-SNM-4004-1.1 CONTENT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12648"/>
            <a:ext cx="11109960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rPr sz="2300"/>
              <a:t>Topic 4: Content Distribution, Strategy Guidelines and Responsible AI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66420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182</a:t>
            </a:r>
          </a:p>
        </p:txBody>
      </p:sp>
      <p:pic>
        <p:nvPicPr>
          <p:cNvPr id="9" name="Picture 8" descr="storyboard-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56231"/>
            <a:ext cx="6675120" cy="42428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856231"/>
            <a:ext cx="4187952" cy="4242816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304288"/>
            <a:ext cx="3547872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82840"/>
                </a:solidFill>
                <a:latin typeface="Aptos"/>
              </a:defRPr>
            </a:pPr>
            <a:r>
              <a:t>LO4: Develop guidelines for content strategy execution using appropriate delivery modes and responsible AI practices.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404104"/>
            <a:ext cx="3566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08B8B"/>
                </a:solidFill>
                <a:latin typeface="Aptos"/>
              </a:defRPr>
            </a:pPr>
            <a:r>
              <a:t>14 mechanisms · 3 labs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Channel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segment preference and content specs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score reach, fit, effort, privacy and measurability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channel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pick channels with observable objective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Channel decision matrix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segment preference and content specs</a:t>
            </a:r>
            <a:br/>
            <a:r>
              <a:t>Agent action: score reach, fit, effort, privacy and measurability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channel plan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pick channels with observable objective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Channel decision matrix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channel sprawl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weighted fit score.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Channel decision matrix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segment preference and content specs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channel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weighted fit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Distribution dependency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assets and 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link review, legal, creative and publishing prerequisites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release graph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no node runs before dependencies pass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Distribution dependency graph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approved assets and calendar</a:t>
            </a:r>
            <a:br/>
            <a:r>
              <a:t>Agent action: link review, legal, creative and publishing prerequisites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release graph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no node runs before dependencies pass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Distribution dependency graph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premature release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blocked dependency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t>Distribution dependency graph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blocked dependency count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Publish approval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QA packet and named approver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decision, version, time and exceptions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release authorization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human approval required for external publish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Publish approval gate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QA packet and named approver</a:t>
            </a:r>
            <a:br/>
            <a:r>
              <a:t>Agent action: record decision, version, time and exceptions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release authorization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human approval required for external publish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Publish approval gate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agent self-approval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approval audit completeness.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Publish approval gate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QA packet and named approver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release authorization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approval audit completeness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Scheduling and idempotency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post IDs and channel slots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use unique campaign key and retry-safe publish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schedule ledger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duplicate key prevents duplicate post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Scheduling and idempotency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approved post IDs and channel slots</a:t>
            </a:r>
            <a:br/>
            <a:r>
              <a:t>Agent action: use unique campaign key and retry-safe publish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schedule ledger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duplicate key prevents duplicate post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Scheduling and idempotency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double publication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duplicate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Scheduling and idempotency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post IDs and channel slots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schedule ledger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duplicate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Localization and accessibility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master and audience locale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language, captions, alt text and contrast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accessible variant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retain claim and CTA meaning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Localization and accessibility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approved master and audience locale</a:t>
            </a:r>
            <a:br/>
            <a:r>
              <a:t>Agent action: check language, captions, alt text and contrast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accessible variant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retain claim and CTA meaning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Localization and accessibility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untranslated disclaimer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accessibility pass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Localization and accessibility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master and audience locale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accessible 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accessibility pass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Copyright and asset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source files and license 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creator, permission, allowed use and attribution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rights ledger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hold asset with unknown rights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Copyright and asset provenance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source files and license notes</a:t>
            </a:r>
            <a:br/>
            <a:r>
              <a:t>Agent action: record creator, permission, allowed use and attribution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rights ledger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hold asset with unknown rights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Copyright and asset provenance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unlicensed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rights coverage.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t>Copyright and asset provenance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rights coverage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Privacy-safe customer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CRM extract and consent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minimize, pseudonymize and restrict agent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safe audience dataset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exclude identifiers not needed for task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Privacy-safe customer data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CRM extract and consent register</a:t>
            </a:r>
            <a:br/>
            <a:r>
              <a:t>Agent action: minimize, pseudonymize and restrict agent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safe audience dataset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exclude identifiers not needed for task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Privacy-safe customer data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PII in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PII leakage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Privacy-safe customer data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CRM extract and consent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safe audience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PII leakage 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Synthetic content disclosure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generated image and campaign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decide disclosure and avoid deceptive realism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disclosure record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escalate misleading depictions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Synthetic content disclosure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generated image and campaign context</a:t>
            </a:r>
            <a:br/>
            <a:r>
              <a:t>Agent action: decide disclosure and avoid deceptive realism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disclosure record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escalate misleading depictions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Synthetic content disclosure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fake testimonial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disclosure decision trace.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Synthetic content disclosure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generated image and campaign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disclosure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disclosure decision trace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Claim and hallucination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draft and source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require source-backed factual claims and abstention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claim QA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no publication with unverified claim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Claim and hallucination control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draft and source ledger</a:t>
            </a:r>
            <a:br/>
            <a:r>
              <a:t>Agent action: require source-backed factual claims and abstention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claim QA report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no publication with unverified claim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Claim and hallucination control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confident fabricated statistic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unsupported claim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Claim and hallucination control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draft and source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claim QA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unsupported claim 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Operational observability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task ledger, token costs and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measure latency, cost, retries and QA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run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pause deteriorating workflow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Operational observability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task ledger, token costs and errors</a:t>
            </a:r>
            <a:br/>
            <a:r>
              <a:t>Agent action: measure latency, cost, retries and QA outcome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run dashboard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pause deteriorating workflow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Operational observability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hidden failure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cost per approved asset.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Operational observability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222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cost per approved asset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Experiment and learning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baseline campaign and hypothesis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define variant, metric, guardrail and review 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test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stop test on safety breach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Experiment and learning plan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baseline campaign and hypothesis</a:t>
            </a:r>
            <a:br/>
            <a:r>
              <a:t>Agent action: define variant, metric, guardrail and review 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test plan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stop test on safety breach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Experiment and learning plan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optimizing vanity metric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valid experiment share.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Experiment and learning plan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baseline campaign and hypothesis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test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valid experiment share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Strategy governance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all approved contracts and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set roles, cadence, escalation and revision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execution guideline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quarterly human review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Strategy governance playbook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all approved contracts and logs</a:t>
            </a:r>
            <a:br/>
            <a:r>
              <a:t>Agent action: set roles, cadence, escalation and revision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execution guideline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quarterly human review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Strategy governance playbook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orphaned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policy review completion.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Strategy governance playbook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all approved contracts and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execution guideline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policy review completion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Provider data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data classification and current tool 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choose retention and training controls before 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data-control record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block confidential inputs on unapproved accounts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Provider data controls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approved data classification and current tool settings</a:t>
            </a:r>
            <a:br/>
            <a:r>
              <a:t>Agent action: choose retention and training controls before upload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data-control record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block confidential inputs on unapproved accounts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Provider data controls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private data in chat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control attestation.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Provider data controls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data classification and current tool 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data-control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control attestation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Synthetic-media authenticity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generated photo or voice and usage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consent, provenance, disclosure and deceptive impression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media authenticity record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hold impersonation or false documentary depiction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Synthetic-media authenticity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GREENLEAF CAFÉ · CAMPAIGN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Campaign: Weekday lunch discovery</a:t>
            </a:r>
            <a:br/>
            <a:r>
              <a:t>Audience: Singapore working professionals</a:t>
            </a:r>
            <a:br/>
            <a:r>
              <a:t>Input: generated photo or voice and usage context</a:t>
            </a:r>
            <a:br/>
            <a:r>
              <a:t>Agent action: check consent, provenance, disclosure and deceptive impression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artifact_type: media authenticity record</a:t>
            </a:r>
            <a:br/>
            <a:r>
              <a:t>claim_ids: GL-01, GL-02</a:t>
            </a:r>
            <a:br/>
            <a:r>
              <a:t>review_owner: human strategist</a:t>
            </a:r>
            <a:br/>
            <a:r>
              <a:t>accept_if: hold impersonation or false documentary depiction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Synthetic-media authenticity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deepfake-style deception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authenticity pass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Synthetic-media authenticity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generated photo or voice and usage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media authenticity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authenticity pass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Handoff record: campaign_id · artifact_version · source_ids · owner · confidence · approval_status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PRACTICE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Topic 4 · lab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LAB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Distribution 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LAB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Rights, privacy and disclosure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LAB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Run evaluation and governance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ASSESSMENT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Written and practical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WA · 60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Six open-ended questions cover K1–K6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PP · 120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Four tasks cover A1–A7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Upload candidate papers through LMS-TMS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Assessment evidence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Knowledge evidence K1–K6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Practical evidence A1–A7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SIGN-OFF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Assessor reviews and records C / NYC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TRAQOM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Scan the trainer-provided QR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second session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assessment attendance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TGS-2023036153 · Multi AI Agents Workflow for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1088136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600" b="1">
                <a:solidFill>
                  <a:srgbClr val="182840"/>
                </a:solidFill>
                <a:latin typeface="Aptos"/>
              </a:defRPr>
            </a:pPr>
            <a:r>
              <a:t>Take the approved workflow into your next campaign.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100" b="0">
                <a:solidFill>
                  <a:srgbClr val="008B8B"/>
                </a:solidFill>
                <a:latin typeface="Aptos"/>
              </a:defRPr>
            </a:pPr>
            <a:r>
              <a:t>enquiry@tertiaryinfotech.com  ·  +65 6100 0613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