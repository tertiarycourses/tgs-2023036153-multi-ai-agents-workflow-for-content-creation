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326" r:id="rId73"/>
    <p:sldId id="327" r:id="rId60"/>
    <p:sldId id="328" r:id="rId59"/>
    <p:sldId id="329" r:id="rId77"/>
    <p:sldId id="330" r:id="rId78"/>
    <p:sldId id="331" r:id="rId79"/>
    <p:sldId id="332" r:id="rId80"/>
    <p:sldId id="333" r:id="rId81"/>
    <p:sldId id="334" r:id="rId82"/>
    <p:sldId id="264" r:id="rId10"/>
    <p:sldId id="265" r:id="rId11"/>
    <p:sldId id="266" r:id="rId12"/>
    <p:sldId id="318" r:id="rId64"/>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317" r:id="rId63"/>
    <p:sldId id="448" r:id="rId196"/>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claude.ai/artifact/J82VCbzFoqYps2vep8UYhL" TargetMode="External"/><Relationship Id="rId4" Type="http://schemas.openxmlformats.org/officeDocument/2006/relationships/hyperlink" Target="https://tertiarycourses.github.io/TGS-2023036153-Multi-AI-Agents-Workflow-for-Content-Creation/"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ai/artifact/J82VCbzFoqYps2vep8UYhL" TargetMode="External"/><Relationship Id="rId3" Type="http://schemas.openxmlformats.org/officeDocument/2006/relationships/hyperlink" Target="https://tertiarycourses.github.io/TGS-2023036153-Multi-AI-Agents-Workflow-for-Content-Creation/"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s://exams.tertiaryinfotech.com/practice-exams/anthropic/anthropic-ccao-foundations"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CLAUDE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3.1  ·  9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Claude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133</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 the team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specialists: instructions, skills, connectors (Labs 1–4).</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1</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Research, ideas and a storyboard (Lab 5).</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Know the audience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requirements, cadence (Labs 6–7).</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Campaigns 2–4</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 (Labs 8–10).</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5</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Always on: the weekly report; the playbook (11–12).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ectangle 7"/>
          <p:cNvSpPr/>
          <p:nvPr/>
        </p:nvSpPr>
        <p:spPr>
          <a:xfrm>
            <a:off x="512064" y="2048255"/>
            <a:ext cx="5266944" cy="331927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193792" cy="3246119"/>
          </a:xfrm>
          <a:prstGeom prst="rect">
            <a:avLst/>
          </a:prstGeom>
        </p:spPr>
      </p:pic>
      <p:sp>
        <p:nvSpPr>
          <p:cNvPr id="10" name="TextBox 9"/>
          <p:cNvSpPr txBox="1"/>
          <p:nvPr/>
        </p:nvSpPr>
        <p:spPr>
          <a:xfrm>
            <a:off x="548640" y="547725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claude.ai/artifact/J82VCbzFoqYps2vep8UYhL</a:t>
            </a:r>
          </a:p>
        </p:txBody>
      </p:sp>
      <p:sp>
        <p:nvSpPr>
          <p:cNvPr id="11" name="TextBox 10"/>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BACKUP   </a:t>
            </a:r>
            <a:r>
              <a:rPr sz="1000" b="0">
                <a:solidFill>
                  <a:srgbClr val="21201C"/>
                </a:solidFill>
                <a:latin typeface="Calibri"/>
                <a:hlinkClick r:id="rId4"/>
              </a:rPr>
              <a:t>tertiarycourses.github.io/TGS-2023036153-Multi-AI-Agents-Workflow-for-Content-Creation</a:t>
            </a:r>
          </a:p>
        </p:txBody>
      </p:sp>
      <p:sp>
        <p:nvSpPr>
          <p:cNvPr id="12" name="Rectangle 11"/>
          <p:cNvSpPr/>
          <p:nvPr/>
        </p:nvSpPr>
        <p:spPr>
          <a:xfrm>
            <a:off x="6108192"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2130551"/>
            <a:ext cx="5303520"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4" name="TextBox 13"/>
          <p:cNvSpPr txBox="1"/>
          <p:nvPr/>
        </p:nvSpPr>
        <p:spPr>
          <a:xfrm>
            <a:off x="6309359" y="2459735"/>
            <a:ext cx="5303520"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5" name="Rectangle 14"/>
          <p:cNvSpPr/>
          <p:nvPr/>
        </p:nvSpPr>
        <p:spPr>
          <a:xfrm>
            <a:off x="6108192"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59" y="3300983"/>
            <a:ext cx="5303520"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7" name="TextBox 16"/>
          <p:cNvSpPr txBox="1"/>
          <p:nvPr/>
        </p:nvSpPr>
        <p:spPr>
          <a:xfrm>
            <a:off x="6309359" y="3630167"/>
            <a:ext cx="5303520"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8" name="Rectangle 17"/>
          <p:cNvSpPr/>
          <p:nvPr/>
        </p:nvSpPr>
        <p:spPr>
          <a:xfrm>
            <a:off x="6108192"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4471416"/>
            <a:ext cx="5303520"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20" name="TextBox 19"/>
          <p:cNvSpPr txBox="1"/>
          <p:nvPr/>
        </p:nvSpPr>
        <p:spPr>
          <a:xfrm>
            <a:off x="6309359" y="4800600"/>
            <a:ext cx="5303520"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two skills and its own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96265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6724497"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962656" y="2560320"/>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6724497" y="2560320"/>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158630" y="2560320"/>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962656" y="3084575"/>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6724497" y="3084575"/>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a:t>
            </a:r>
          </a:p>
        </p:txBody>
      </p:sp>
      <p:sp>
        <p:nvSpPr>
          <p:cNvPr id="21" name="TextBox 20"/>
          <p:cNvSpPr txBox="1"/>
          <p:nvPr/>
        </p:nvSpPr>
        <p:spPr>
          <a:xfrm>
            <a:off x="9158630" y="3084575"/>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and fetch,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962656" y="3608831"/>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6724497" y="3608831"/>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channel-formats</a:t>
            </a:r>
          </a:p>
        </p:txBody>
      </p:sp>
      <p:sp>
        <p:nvSpPr>
          <p:cNvPr id="26" name="TextBox 25"/>
          <p:cNvSpPr txBox="1"/>
          <p:nvPr/>
        </p:nvSpPr>
        <p:spPr>
          <a:xfrm>
            <a:off x="9158630" y="3608831"/>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962656" y="4133087"/>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6724497" y="4133087"/>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158630" y="4133087"/>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Canva, Bash for Pillow and ffmpeg</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962656" y="4657344"/>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6724497" y="4657344"/>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landing-page, page-qa</a:t>
            </a:r>
          </a:p>
        </p:txBody>
      </p:sp>
      <p:sp>
        <p:nvSpPr>
          <p:cNvPr id="35" name="TextBox 34"/>
          <p:cNvSpPr txBox="1"/>
          <p:nvPr/>
        </p:nvSpPr>
        <p:spPr>
          <a:xfrm>
            <a:off x="9158630" y="4657344"/>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Playwright MCP (browser check)</a:t>
            </a:r>
          </a:p>
        </p:txBody>
      </p:sp>
      <p:sp>
        <p:nvSpPr>
          <p:cNvPr id="36" name="TextBox 35"/>
          <p:cNvSpPr txBox="1"/>
          <p:nvPr/>
        </p:nvSpPr>
        <p:spPr>
          <a:xfrm>
            <a:off x="749808" y="5181599"/>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962656" y="5181599"/>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6724497" y="5181599"/>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158630" y="5181599"/>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Edition: two Claude products, one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Lead's session; subagent files; agent teams; skills; hooks; publishing artifacts</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1–10, 12</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Canva), skills, scheduled tasks</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4, 11</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Horizon's public website (given) and the campaign landing page, shared by link</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9</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Agent</a:t>
            </a:r>
          </a:p>
        </p:txBody>
      </p:sp>
      <p:sp>
        <p:nvSpPr>
          <p:cNvPr id="24" name="TextBox 23"/>
          <p:cNvSpPr txBox="1"/>
          <p:nvPr/>
        </p:nvSpPr>
        <p:spPr>
          <a:xfrm>
            <a:off x="3183940" y="4700016"/>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 demo: the team on an open-source agent</a:t>
            </a:r>
          </a:p>
        </p:txBody>
      </p:sp>
      <p:sp>
        <p:nvSpPr>
          <p:cNvPr id="25" name="TextBox 24"/>
          <p:cNvSpPr txBox="1"/>
          <p:nvPr/>
        </p:nvSpPr>
        <p:spPr>
          <a:xfrm>
            <a:off x="8494776" y="4700016"/>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 (optional)</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Labs 6–7.</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 — behind a human gate. Labs 8–10.</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optional demo. Labs 11–13.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Thirteen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Studio + website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Social week · 9 Newsletter + landing page · 10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 Weekly report · 12 Playbook · 13 Optional demo</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12 — the team keeps what it learns.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9:00–10:10  Topic 3 · Lab 8</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10:20–12:05  Labs 9–10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12:50–14:30  Topic 4 · Labs 11–12</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6–7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14:40–16:00 Demo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one chatbot to a team of agents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OVERVIEW</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Prompts to Agent Teams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7" name="Rectangle 6"/>
          <p:cNvSpPr/>
          <p:nvPr/>
        </p:nvSpPr>
        <p:spPr>
          <a:xfrm>
            <a:off x="1655064" y="3657600"/>
            <a:ext cx="8851392"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Prompt Engineering</a:t>
            </a:r>
          </a:p>
        </p:txBody>
      </p:sp>
      <p:sp>
        <p:nvSpPr>
          <p:cNvPr id="9" name="Oval 8"/>
          <p:cNvSpPr/>
          <p:nvPr/>
        </p:nvSpPr>
        <p:spPr>
          <a:xfrm>
            <a:off x="1271016"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Craft the wording of one prompt.</a:t>
            </a:r>
          </a:p>
        </p:txBody>
      </p:sp>
      <p:sp>
        <p:nvSpPr>
          <p:cNvPr id="11" name="TextBox 10"/>
          <p:cNvSpPr txBox="1"/>
          <p:nvPr/>
        </p:nvSpPr>
        <p:spPr>
          <a:xfrm>
            <a:off x="2807208"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Tools and MCP</a:t>
            </a:r>
          </a:p>
        </p:txBody>
      </p:sp>
      <p:sp>
        <p:nvSpPr>
          <p:cNvPr id="12" name="Oval 11"/>
          <p:cNvSpPr/>
          <p:nvPr/>
        </p:nvSpPr>
        <p:spPr>
          <a:xfrm>
            <a:off x="3483864"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2834640"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2024).</a:t>
            </a:r>
          </a:p>
        </p:txBody>
      </p:sp>
      <p:sp>
        <p:nvSpPr>
          <p:cNvPr id="14" name="TextBox 13"/>
          <p:cNvSpPr txBox="1"/>
          <p:nvPr/>
        </p:nvSpPr>
        <p:spPr>
          <a:xfrm>
            <a:off x="5020055"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Context Engineering</a:t>
            </a:r>
          </a:p>
        </p:txBody>
      </p:sp>
      <p:sp>
        <p:nvSpPr>
          <p:cNvPr id="15" name="Oval 14"/>
          <p:cNvSpPr/>
          <p:nvPr/>
        </p:nvSpPr>
        <p:spPr>
          <a:xfrm>
            <a:off x="5696712"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6" name="TextBox 15"/>
          <p:cNvSpPr txBox="1"/>
          <p:nvPr/>
        </p:nvSpPr>
        <p:spPr>
          <a:xfrm>
            <a:off x="5047488"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Fill the context with exactly what the next step needs: files, memory, retrieval, skills.</a:t>
            </a:r>
          </a:p>
        </p:txBody>
      </p:sp>
      <p:sp>
        <p:nvSpPr>
          <p:cNvPr id="17" name="TextBox 16"/>
          <p:cNvSpPr txBox="1"/>
          <p:nvPr/>
        </p:nvSpPr>
        <p:spPr>
          <a:xfrm>
            <a:off x="7232903"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Harness Engineering</a:t>
            </a:r>
          </a:p>
        </p:txBody>
      </p:sp>
      <p:sp>
        <p:nvSpPr>
          <p:cNvPr id="18" name="Oval 17"/>
          <p:cNvSpPr/>
          <p:nvPr/>
        </p:nvSpPr>
        <p:spPr>
          <a:xfrm>
            <a:off x="7909559"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9" name="TextBox 18"/>
          <p:cNvSpPr txBox="1"/>
          <p:nvPr/>
        </p:nvSpPr>
        <p:spPr>
          <a:xfrm>
            <a:off x="7260336"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Agents ship inside a harness — Claude Code, Codex: the loop, tools and checks around the model.</a:t>
            </a:r>
          </a:p>
        </p:txBody>
      </p:sp>
      <p:sp>
        <p:nvSpPr>
          <p:cNvPr id="20" name="TextBox 19"/>
          <p:cNvSpPr txBox="1"/>
          <p:nvPr/>
        </p:nvSpPr>
        <p:spPr>
          <a:xfrm>
            <a:off x="9445752"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Agent Teams</a:t>
            </a:r>
          </a:p>
        </p:txBody>
      </p:sp>
      <p:sp>
        <p:nvSpPr>
          <p:cNvPr id="21" name="Oval 20"/>
          <p:cNvSpPr/>
          <p:nvPr/>
        </p:nvSpPr>
        <p:spPr>
          <a:xfrm>
            <a:off x="10122408"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22" name="TextBox 21"/>
          <p:cNvSpPr txBox="1"/>
          <p:nvPr/>
        </p:nvSpPr>
        <p:spPr>
          <a:xfrm>
            <a:off x="9473184"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Claude Code subagents and agent teams; open-source Hermes Agent.</a:t>
            </a:r>
          </a:p>
        </p:txBody>
      </p:sp>
      <p:sp>
        <p:nvSpPr>
          <p:cNvPr id="23" name="TextBox 22"/>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One agent is a helper. A team with roles, a reviewer and a human gate is a marketing department.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and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family, two ways in. Chat and Cowork are now one product: Claude.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 — the team's home</a:t>
            </a:r>
          </a:p>
        </p:txBody>
      </p:sp>
      <p:sp>
        <p:nvSpPr>
          <p:cNvPr id="11" name="TextBox 10"/>
          <p:cNvSpPr txBox="1"/>
          <p:nvPr/>
        </p:nvSpPr>
        <p:spPr>
          <a:xfrm>
            <a:off x="786384"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Terminal, VS Code or the desktop Code tab. The Lead's session; subagent files; agent teams; skills; hooks; artifacts.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 the team's apps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Desktop and web. Connectors (Drive, Gmail, Canva), skills, scheduled tasks, artifacts.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Hermes Agent · optional</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Open source (MIT). The same roles on any model and a Kanban board. A demo at the end.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Plans and Pricing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is included in every paid plan. Prices in US dollars, checked 8 Oct 2026.</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PLAN</a:t>
            </a: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PRICE</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FOR THIS COURSE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Free</a:t>
            </a:r>
          </a:p>
        </p:txBody>
      </p:sp>
      <p:sp>
        <p:nvSpPr>
          <p:cNvPr id="14" name="TextBox 13"/>
          <p:cNvSpPr txBox="1"/>
          <p:nvPr/>
        </p:nvSpPr>
        <p:spPr>
          <a:xfrm>
            <a:off x="2962656"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$0</a:t>
            </a:r>
          </a:p>
        </p:txBody>
      </p:sp>
      <p:sp>
        <p:nvSpPr>
          <p:cNvPr id="15" name="TextBox 14"/>
          <p:cNvSpPr txBox="1"/>
          <p:nvPr/>
        </p:nvSpPr>
        <p:spPr>
          <a:xfrm>
            <a:off x="738835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Chat only — no Claude Code, no artifact publishing</a:t>
            </a:r>
          </a:p>
        </p:txBody>
      </p:sp>
      <p:sp>
        <p:nvSpPr>
          <p:cNvPr id="16" name="TextBox 15"/>
          <p:cNvSpPr txBox="1"/>
          <p:nvPr/>
        </p:nvSpPr>
        <p:spPr>
          <a:xfrm>
            <a:off x="749808" y="3084575"/>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Pro</a:t>
            </a:r>
          </a:p>
        </p:txBody>
      </p:sp>
      <p:sp>
        <p:nvSpPr>
          <p:cNvPr id="17" name="TextBox 16"/>
          <p:cNvSpPr txBox="1"/>
          <p:nvPr/>
        </p:nvSpPr>
        <p:spPr>
          <a:xfrm>
            <a:off x="2962656"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$17/month billed annually · $20 monthly</a:t>
            </a:r>
          </a:p>
        </p:txBody>
      </p:sp>
      <p:sp>
        <p:nvSpPr>
          <p:cNvPr id="18" name="TextBox 17"/>
          <p:cNvSpPr txBox="1"/>
          <p:nvPr/>
        </p:nvSpPr>
        <p:spPr>
          <a:xfrm>
            <a:off x="738835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Enough for every lab</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Max</a:t>
            </a:r>
          </a:p>
        </p:txBody>
      </p:sp>
      <p:sp>
        <p:nvSpPr>
          <p:cNvPr id="21" name="TextBox 20"/>
          <p:cNvSpPr txBox="1"/>
          <p:nvPr/>
        </p:nvSpPr>
        <p:spPr>
          <a:xfrm>
            <a:off x="2962656"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From $100/month — 5× or 20× Pro usage</a:t>
            </a:r>
          </a:p>
        </p:txBody>
      </p:sp>
      <p:sp>
        <p:nvSpPr>
          <p:cNvPr id="22" name="TextBox 21"/>
          <p:cNvSpPr txBox="1"/>
          <p:nvPr/>
        </p:nvSpPr>
        <p:spPr>
          <a:xfrm>
            <a:off x="738835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Heavy daily use of agent teams</a:t>
            </a:r>
          </a:p>
        </p:txBody>
      </p:sp>
      <p:sp>
        <p:nvSpPr>
          <p:cNvPr id="23" name="TextBox 22"/>
          <p:cNvSpPr txBox="1"/>
          <p:nvPr/>
        </p:nvSpPr>
        <p:spPr>
          <a:xfrm>
            <a:off x="749808" y="4133087"/>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a:t>
            </a:r>
          </a:p>
        </p:txBody>
      </p:sp>
      <p:sp>
        <p:nvSpPr>
          <p:cNvPr id="24" name="TextBox 23"/>
          <p:cNvSpPr txBox="1"/>
          <p:nvPr/>
        </p:nvSpPr>
        <p:spPr>
          <a:xfrm>
            <a:off x="2962656"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Standard $20/seat/month annual ($25 monthly) · Premium $100 ($125)</a:t>
            </a:r>
          </a:p>
        </p:txBody>
      </p:sp>
      <p:sp>
        <p:nvSpPr>
          <p:cNvPr id="25" name="TextBox 24"/>
          <p:cNvSpPr txBox="1"/>
          <p:nvPr/>
        </p:nvSpPr>
        <p:spPr>
          <a:xfrm>
            <a:off x="738835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marketing team sharing skills and artifacts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Enterprise</a:t>
            </a:r>
          </a:p>
        </p:txBody>
      </p:sp>
      <p:sp>
        <p:nvSpPr>
          <p:cNvPr id="28" name="TextBox 27"/>
          <p:cNvSpPr txBox="1"/>
          <p:nvPr/>
        </p:nvSpPr>
        <p:spPr>
          <a:xfrm>
            <a:off x="2962656"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$20/seat/month + usage at API rates</a:t>
            </a:r>
          </a:p>
        </p:txBody>
      </p:sp>
      <p:sp>
        <p:nvSpPr>
          <p:cNvPr id="29" name="TextBox 28"/>
          <p:cNvSpPr txBox="1"/>
          <p:nvPr/>
        </p:nvSpPr>
        <p:spPr>
          <a:xfrm>
            <a:off x="738835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Admin controls, retention, sharing policy</a:t>
            </a:r>
          </a:p>
        </p:txBody>
      </p:sp>
      <p:sp>
        <p:nvSpPr>
          <p:cNvPr id="30" name="TextBox 29"/>
          <p:cNvSpPr txBox="1"/>
          <p:nvPr/>
        </p:nvSpPr>
        <p:spPr>
          <a:xfrm>
            <a:off x="749808" y="5181599"/>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API</a:t>
            </a:r>
          </a:p>
        </p:txBody>
      </p:sp>
      <p:sp>
        <p:nvSpPr>
          <p:cNvPr id="31" name="TextBox 30"/>
          <p:cNvSpPr txBox="1"/>
          <p:nvPr/>
        </p:nvSpPr>
        <p:spPr>
          <a:xfrm>
            <a:off x="2962656"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 million tokens in/out: Opus 5.5 $4/$20 · Sonnet 5.5 $2/$10 · Fable 5.1 $10/$50</a:t>
            </a:r>
          </a:p>
        </p:txBody>
      </p:sp>
      <p:sp>
        <p:nvSpPr>
          <p:cNvPr id="32" name="TextBox 31"/>
          <p:cNvSpPr txBox="1"/>
          <p:nvPr/>
        </p:nvSpPr>
        <p:spPr>
          <a:xfrm>
            <a:off x="738835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Pay as you go — e.g. Hermes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use many more tokens than one session. Check current prices at claude.com/pricing.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macOS and Windows — Claude and Claude Code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Code CLI</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For agent teams in a terminal</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CLI  </a:t>
            </a:r>
            <a:r>
              <a:rPr sz="1350">
                <a:solidFill>
                  <a:srgbClr val="6B6862"/>
                </a:solidFill>
                <a:latin typeface="Calibri"/>
              </a:rPr>
              <a:t>curl -fsSL https://claude.ai/install.sh | bash (Windows: irm https://claude.ai/install.ps1 | iex).</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/login  </a:t>
            </a:r>
            <a:r>
              <a:rPr sz="1350">
                <a:solidFill>
                  <a:srgbClr val="6B6862"/>
                </a:solidFill>
                <a:latin typeface="Calibri"/>
              </a:rPr>
              <a:t>Artifacts need your claude.ai account,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ffmpeg  </a:t>
            </a:r>
            <a:r>
              <a:rPr sz="1350">
                <a:solidFill>
                  <a:srgbClr val="6B6862"/>
                </a:solidFill>
                <a:latin typeface="Calibri"/>
              </a:rPr>
              <a:t>For the publisher kit and the video (Pillow for Python).</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one public link every learner opens, with a GitHub Pages backup if artifacts or Sites are blocked.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put the website online.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 local copy of the site, and the public site link in the charter</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Horizon's public website</a:t>
            </a:r>
          </a:p>
        </p:txBody>
      </p:sp>
      <p:sp>
        <p:nvSpPr>
          <p:cNvPr id="18" name="TextBox 17"/>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2"/>
              </a:rPr>
              <a:t>claude.ai/artifact/J82VCbzFoqYps2vep8UYhL</a:t>
            </a:r>
            <a:r>
              <a:rPr sz="1000" b="1">
                <a:solidFill>
                  <a:srgbClr val="D97757"/>
                </a:solidFill>
                <a:latin typeface="Calibri"/>
              </a:rPr>
              <a:t>      BACKUP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the folder  </a:t>
            </a:r>
            <a:r>
              <a:rPr sz="1300">
                <a:solidFill>
                  <a:srgbClr val="6B6862"/>
                </a:solidFill>
                <a:latin typeface="Calibri"/>
              </a:rPr>
              <a:t>In Claude, click Project or folder → Add folder and choose labs_claude/horizon-studio. It is ready-made — do not create one.</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Trust it  </a:t>
            </a:r>
            <a:r>
              <a:rPr sz="1300">
                <a:solidFill>
                  <a:srgbClr val="6B6862"/>
                </a:solidFill>
                <a:latin typeface="Calibri"/>
              </a:rPr>
              <a:t>Sign in with your claude.ai account and trust the folder. (Terminal: run claude in horizon-studio, then /login.)</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Design your team  </a:t>
            </a:r>
            <a:r>
              <a:rPr sz="1300">
                <a:solidFill>
                  <a:srgbClr val="6B6862"/>
                </a:solidFill>
                <a:latin typeface="Calibri"/>
              </a:rPr>
              <a:t>Paste Prompt A and answer as Horizon's owner. Pick your team — keep the six charter roles; the next labs build them.</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charter  </a:t>
            </a:r>
            <a:r>
              <a:rPr sz="1300">
                <a:solidFill>
                  <a:srgbClr val="6B6862"/>
                </a:solidFill>
                <a:latin typeface="Calibri"/>
              </a:rPr>
              <a:t>Paste Prompt B. Read CLAUDE.md — every agent will read it at the start of every session.</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the website  </a:t>
            </a:r>
            <a:r>
              <a:rPr sz="1300">
                <a:solidFill>
                  <a:srgbClr val="6B6862"/>
                </a:solidFill>
                <a:latin typeface="Calibri"/>
              </a:rPr>
              <a:t>Open https://claude.ai/artifact/J82VCbzFoqYps2vep8UYhL — Horizon's public site, shared by everyone; you do not build it.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Know the site  </a:t>
            </a:r>
            <a:r>
              <a:rPr sz="1300">
                <a:solidFill>
                  <a:srgbClr val="6B6862"/>
                </a:solidFill>
                <a:latin typeface="Calibri"/>
              </a:rPr>
              <a:t>Paste Prompt C. Then open the link on your phone and check the calculator shows S$693,138.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design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design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must include:</a:t>
            </a:r>
          </a:p>
          <a:p>
            <a:pPr>
              <a:lnSpc>
                <a:spcPct val="110000"/>
              </a:lnSpc>
              <a:defRPr sz="1700" b="0">
                <a:solidFill>
                  <a:srgbClr val="21201C"/>
                </a:solidFill>
                <a:latin typeface="Calibri"/>
              </a:defRPr>
            </a:pPr>
            <a:r>
              <a:t>every number comes from data/facts-2026.md; every piece passes fact-check and fin-compliance; nothing is published or sent without a person's approval.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know the site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web/site/index.html, the local copy of Horizon's public website. In five bullets: who it is for, the offer, the main call to action, what the calculator does, and the disclaimer. Then add this line to the Files section of CLAUDE.md:</a:t>
            </a:r>
          </a:p>
          <a:p>
            <a:pPr>
              <a:lnSpc>
                <a:spcPct val="110000"/>
              </a:lnSpc>
              <a:defRPr sz="1700" b="0">
                <a:solidFill>
                  <a:srgbClr val="21201C"/>
                </a:solidFill>
                <a:latin typeface="Calibri"/>
              </a:defRPr>
            </a:pPr>
            <a:r>
              <a:t>Public site (link in every post): https://claude.ai/artifact/J82VCbzFoqYps2vep8UYhL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the public site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public site opens on a phone; the calculator shows S$693,138.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619656"/>
          </a:xfrm>
          <a:prstGeom prst="rect">
            <a:avLst/>
          </a:prstGeom>
          <a:noFill/>
        </p:spPr>
        <p:txBody>
          <a:bodyPr wrap="square" lIns="18288" rIns="18288" tIns="9144" bIns="9144">
            <a:spAutoFit/>
          </a:bodyPr>
          <a:lstStyle/>
          <a:p>
            <a:pPr>
              <a:lnSpc>
                <a:spcPct val="114000"/>
              </a:lnSpc>
              <a:defRPr sz="1180" b="0">
                <a:solidFill>
                  <a:srgbClr val="E8E5DE"/>
                </a:solidFill>
                <a:latin typeface="Courier New"/>
              </a:defRPr>
            </a:pPr>
            <a:r>
              <a:t>---</a:t>
            </a:r>
          </a:p>
          <a:p>
            <a:pPr>
              <a:lnSpc>
                <a:spcPct val="114000"/>
              </a:lnSpc>
              <a:defRPr sz="1180" b="0">
                <a:solidFill>
                  <a:srgbClr val="E8E5DE"/>
                </a:solidFill>
                <a:latin typeface="Courier New"/>
              </a:defRPr>
            </a:pPr>
            <a:r>
              <a:t>name: content-creator</a:t>
            </a:r>
          </a:p>
          <a:p>
            <a:pPr>
              <a:lnSpc>
                <a:spcPct val="114000"/>
              </a:lnSpc>
              <a:defRPr sz="1180" b="0">
                <a:solidFill>
                  <a:srgbClr val="E8E5DE"/>
                </a:solidFill>
                <a:latin typeface="Courier New"/>
              </a:defRPr>
            </a:pPr>
            <a:r>
              <a:t>description: Use for Horizon copy — posts, newsletter,</a:t>
            </a:r>
          </a:p>
          <a:p>
            <a:pPr>
              <a:lnSpc>
                <a:spcPct val="114000"/>
              </a:lnSpc>
              <a:defRPr sz="1180" b="0">
                <a:solidFill>
                  <a:srgbClr val="E8E5DE"/>
                </a:solidFill>
                <a:latin typeface="Courier New"/>
              </a:defRPr>
            </a:pPr>
            <a:r>
              <a:t>  video scripts and page copy, in the Sunny voice.</a:t>
            </a:r>
          </a:p>
          <a:p>
            <a:pPr>
              <a:lnSpc>
                <a:spcPct val="114000"/>
              </a:lnSpc>
              <a:defRPr sz="1180" b="0">
                <a:solidFill>
                  <a:srgbClr val="E8E5DE"/>
                </a:solidFill>
                <a:latin typeface="Courier New"/>
              </a:defRPr>
            </a:pPr>
            <a:r>
              <a:t>tools: Read, Write, Edit, Grep, Glob</a:t>
            </a:r>
          </a:p>
          <a:p>
            <a:pPr>
              <a:lnSpc>
                <a:spcPct val="114000"/>
              </a:lnSpc>
              <a:defRPr sz="1180" b="0">
                <a:solidFill>
                  <a:srgbClr val="E8E5DE"/>
                </a:solidFill>
                <a:latin typeface="Courier New"/>
              </a:defRPr>
            </a:pPr>
            <a:r>
              <a:t>model: sonnet</a:t>
            </a:r>
          </a:p>
          <a:p>
            <a:pPr>
              <a:lnSpc>
                <a:spcPct val="114000"/>
              </a:lnSpc>
              <a:defRPr sz="1180" b="0">
                <a:solidFill>
                  <a:srgbClr val="E8E5DE"/>
                </a:solidFill>
                <a:latin typeface="Courier New"/>
              </a:defRPr>
            </a:pPr>
            <a:r>
              <a:t>skills:</a:t>
            </a:r>
          </a:p>
          <a:p>
            <a:pPr>
              <a:lnSpc>
                <a:spcPct val="114000"/>
              </a:lnSpc>
              <a:defRPr sz="1180" b="0">
                <a:solidFill>
                  <a:srgbClr val="E8E5DE"/>
                </a:solidFill>
                <a:latin typeface="Courier New"/>
              </a:defRPr>
            </a:pPr>
            <a:r>
              <a:t>  - sunny-voice</a:t>
            </a:r>
          </a:p>
          <a:p>
            <a:pPr>
              <a:lnSpc>
                <a:spcPct val="114000"/>
              </a:lnSpc>
              <a:defRPr sz="1180" b="0">
                <a:solidFill>
                  <a:srgbClr val="E8E5DE"/>
                </a:solidFill>
                <a:latin typeface="Courier New"/>
              </a:defRPr>
            </a:pPr>
            <a:r>
              <a:t>  - channel-formats</a:t>
            </a:r>
          </a:p>
          <a:p>
            <a:pPr>
              <a:lnSpc>
                <a:spcPct val="114000"/>
              </a:lnSpc>
              <a:defRPr sz="1180" b="0">
                <a:solidFill>
                  <a:srgbClr val="E8E5DE"/>
                </a:solidFill>
                <a:latin typeface="Courier New"/>
              </a:defRPr>
            </a:pPr>
            <a:r>
              <a:t>---</a:t>
            </a:r>
          </a:p>
          <a:p>
            <a:pPr>
              <a:lnSpc>
                <a:spcPct val="114000"/>
              </a:lnSpc>
              <a:defRPr sz="1180" b="0">
                <a:solidFill>
                  <a:srgbClr val="E8E5DE"/>
                </a:solidFill>
                <a:latin typeface="Courier New"/>
              </a:defRPr>
            </a:pPr>
            <a:r>
              <a:t>You are Horizon Wealth Planning's Content Creator.</a:t>
            </a:r>
          </a:p>
          <a:p>
            <a:pPr>
              <a:lnSpc>
                <a:spcPct val="114000"/>
              </a:lnSpc>
              <a:defRPr sz="1180" b="0">
                <a:solidFill>
                  <a:srgbClr val="E8E5DE"/>
                </a:solidFill>
                <a:latin typeface="Courier New"/>
              </a:defRPr>
            </a:pPr>
            <a:r>
              <a:t>## What you read   the brief, facts-2026.md, brand.md</a:t>
            </a:r>
          </a:p>
          <a:p>
            <a:pPr>
              <a:lnSpc>
                <a:spcPct val="114000"/>
              </a:lnSpc>
              <a:defRPr sz="1180" b="0">
                <a:solidFill>
                  <a:srgbClr val="E8E5DE"/>
                </a:solidFill>
                <a:latin typeface="Courier New"/>
              </a:defRPr>
            </a:pPr>
            <a:r>
              <a:t>## What you deliver   content files, ready for review</a:t>
            </a:r>
          </a:p>
          <a:p>
            <a:pPr>
              <a:lnSpc>
                <a:spcPct val="114000"/>
              </a:lnSpc>
              <a:defRPr sz="1180" b="0">
                <a:solidFill>
                  <a:srgbClr val="E8E5DE"/>
                </a:solidFill>
                <a:latin typeface="Courier New"/>
              </a:defRPr>
            </a:pPr>
            <a:r>
              <a:t>## Connectors   Google Drive (docs), Gmail (drafts only)</a:t>
            </a:r>
          </a:p>
          <a:p>
            <a:pPr>
              <a:lnSpc>
                <a:spcPct val="114000"/>
              </a:lnSpc>
              <a:defRPr sz="1180" b="0">
                <a:solidFill>
                  <a:srgbClr val="E8E5DE"/>
                </a:solidFill>
                <a:latin typeface="Courier New"/>
              </a:defRPr>
            </a:pPr>
            <a:r>
              <a:t>## Never   add a number not on the facts sheet; send;</a:t>
            </a:r>
          </a:p>
          <a:p>
            <a:pPr>
              <a:lnSpc>
                <a:spcPct val="114000"/>
              </a:lnSpc>
              <a:defRPr sz="1180" b="0">
                <a:solidFill>
                  <a:srgbClr val="E8E5DE"/>
                </a:solidFill>
                <a:latin typeface="Courier New"/>
              </a:defRPr>
            </a:pPr>
            <a:r>
              <a:t>           run approve.mjs or publish --live</a:t>
            </a:r>
          </a:p>
          <a:p>
            <a:pPr>
              <a:lnSpc>
                <a:spcPct val="114000"/>
              </a:lnSpc>
              <a:defRPr sz="1180" b="0">
                <a:solidFill>
                  <a:srgbClr val="E8E5DE"/>
                </a:solidFill>
                <a:latin typeface="Courier New"/>
              </a:defRPr>
            </a:pPr>
            <a:r>
              <a:t>## Report back   what, where, anything unverified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(subagent files)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the roles  </a:t>
            </a:r>
            <a:r>
              <a:rPr sz="1550">
                <a:solidFill>
                  <a:srgbClr val="6B6862"/>
                </a:solidFill>
                <a:latin typeface="Calibri"/>
              </a:rPr>
              <a:t>Open role-specs.md: one Lead and five specialists, each with a job, skills, connectors and limits.</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instructions  </a:t>
            </a:r>
            <a:r>
              <a:rPr sz="1550">
                <a:solidFill>
                  <a:srgbClr val="6B6862"/>
                </a:solidFill>
                <a:latin typeface="Calibri"/>
              </a:rPr>
              <a:t>Paste Prompt A.</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one closely  </a:t>
            </a:r>
            <a:r>
              <a:rPr sz="1550">
                <a:solidFill>
                  <a:srgbClr val="6B6862"/>
                </a:solidFill>
                <a:latin typeface="Calibri"/>
              </a:rPr>
              <a:t>Open .claude/agents/content-creator.md. Is the "Never" section strict enough for a regulated firm?</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Meet the team  </a:t>
            </a:r>
            <a:r>
              <a:rPr sz="1550">
                <a:solidFill>
                  <a:srgbClr val="6B6862"/>
                </a:solidFill>
                <a:latin typeface="Calibri"/>
              </a:rPr>
              <a:t>Paste Prompt B. Each agent introduces itself in one line — in its own context.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Tighten one  </a:t>
            </a:r>
            <a:r>
              <a:rPr sz="1550">
                <a:solidFill>
                  <a:srgbClr val="6B6862"/>
                </a:solidFill>
                <a:latin typeface="Calibri"/>
              </a:rPr>
              <a:t>Change one instruction you disagree with and save it. It is your team.</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Twelve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381944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 1</a:t>
            </a:r>
          </a:p>
        </p:txBody>
      </p:sp>
      <p:sp>
        <p:nvSpPr>
          <p:cNvPr id="11" name="TextBox 10"/>
          <p:cNvSpPr txBox="1"/>
          <p:nvPr/>
        </p:nvSpPr>
        <p:spPr>
          <a:xfrm>
            <a:off x="7720279" y="2203703"/>
            <a:ext cx="381944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 2</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a:t>
            </a:r>
          </a:p>
        </p:txBody>
      </p:sp>
      <p:sp>
        <p:nvSpPr>
          <p:cNvPr id="15" name="TextBox 14"/>
          <p:cNvSpPr txBox="1"/>
          <p:nvPr/>
        </p:nvSpPr>
        <p:spPr>
          <a:xfrm>
            <a:off x="7720279" y="2560320"/>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a:t>
            </a:r>
          </a:p>
        </p:txBody>
      </p:sp>
      <p:sp>
        <p:nvSpPr>
          <p:cNvPr id="18" name="TextBox 17"/>
          <p:cNvSpPr txBox="1"/>
          <p:nvPr/>
        </p:nvSpPr>
        <p:spPr>
          <a:xfrm>
            <a:off x="7720279" y="3084575"/>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campaign-brief</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a:t>
            </a:r>
          </a:p>
        </p:txBody>
      </p:sp>
      <p:sp>
        <p:nvSpPr>
          <p:cNvPr id="22" name="TextBox 21"/>
          <p:cNvSpPr txBox="1"/>
          <p:nvPr/>
        </p:nvSpPr>
        <p:spPr>
          <a:xfrm>
            <a:off x="7720279" y="3608831"/>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channel-formats</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a:t>
            </a:r>
          </a:p>
        </p:txBody>
      </p:sp>
      <p:sp>
        <p:nvSpPr>
          <p:cNvPr id="25" name="TextBox 24"/>
          <p:cNvSpPr txBox="1"/>
          <p:nvPr/>
        </p:nvSpPr>
        <p:spPr>
          <a:xfrm>
            <a:off x="7720279" y="4133087"/>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video-render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landing-page</a:t>
            </a:r>
          </a:p>
        </p:txBody>
      </p:sp>
      <p:sp>
        <p:nvSpPr>
          <p:cNvPr id="29" name="TextBox 28"/>
          <p:cNvSpPr txBox="1"/>
          <p:nvPr/>
        </p:nvSpPr>
        <p:spPr>
          <a:xfrm>
            <a:off x="7720279" y="4657344"/>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page-qa</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a:t>
            </a:r>
          </a:p>
        </p:txBody>
      </p:sp>
      <p:sp>
        <p:nvSpPr>
          <p:cNvPr id="32" name="TextBox 31"/>
          <p:cNvSpPr txBox="1"/>
          <p:nvPr/>
        </p:nvSpPr>
        <p:spPr>
          <a:xfrm>
            <a:off x="7720279" y="5181599"/>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campaign-report</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for Claude Code; Customize → Skills for Claude.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twelve skills in .claude/skills/, wired to the agents that own them</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 → Claude</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twelve skills: two per specialist, two for the Lead · SKILL.md · the "Use when" trigger · test without naming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(.claude/skills/) → Claude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twelve skills and who owns each.</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Paste Prompt B — each agent now knows its two skills; the Lead knows fact-check and fin-compliance.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Share with Claude  </a:t>
            </a:r>
            <a:r>
              <a:rPr sz="1300">
                <a:solidFill>
                  <a:srgbClr val="6B6862"/>
                </a:solidFill>
                <a:latin typeface="Calibri"/>
              </a:rPr>
              <a:t>Upload sunny-voice, channel-formats and fin-compliance under Customize → Skills in Claude too.</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twelve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twelve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two skills from data/skills-spec.md. Add to CLAUDE.md that the Lead (this session) runs fact-check and fin-compliance on everything before showing it to me.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Twelve folders in .claude/skills/, each with a SKILL.md.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two skills.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channel-formats.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skills also appear in Claude under Customize → Skills.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Connect once in claude.ai; Claude Code picks them up (/mcp).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and fetch,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Canva, Bash for Pillow and ffmpeg</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Playwright MCP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claude.ai connectors → Claude Code (/mcp)</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Google Drive · Gmail (drafts) · Canva · Playwright MCP · least privilege per agent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claude.ai connectors → Claude Code (/mcp)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Connect in claude.ai  </a:t>
            </a:r>
            <a:r>
              <a:rPr sz="1300">
                <a:solidFill>
                  <a:srgbClr val="6B6862"/>
                </a:solidFill>
                <a:latin typeface="Calibri"/>
              </a:rPr>
              <a:t>Settings → Connectors: Google Drive, Gmail and Canva. Use your personal account.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in Claude Code  </a:t>
            </a:r>
            <a:r>
              <a:rPr sz="1300">
                <a:solidFill>
                  <a:srgbClr val="6B6862"/>
                </a:solidFill>
                <a:latin typeface="Calibri"/>
              </a:rPr>
              <a:t>Run /mcp. The claude.ai connectors appear in the list.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a browser  </a:t>
            </a:r>
            <a:r>
              <a:rPr sz="1300">
                <a:solidFill>
                  <a:srgbClr val="6B6862"/>
                </a:solidFill>
                <a:latin typeface="Calibri"/>
              </a:rPr>
              <a:t>Run: claude mcp add playwright -s project -- npx -y @playwright/mcp@latest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data/ to a Drive folder named Horizon Studio.</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Paste Prompt A — one small job per agent, each on its own connector.</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limits  </a:t>
            </a:r>
            <a:r>
              <a:rPr sz="1300">
                <a:solidFill>
                  <a:srgbClr val="6B6862"/>
                </a:solidFill>
                <a:latin typeface="Calibri"/>
              </a:rPr>
              <a:t>Paste Prompt B.</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test each agent</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these five checks, each by its own subagent:</a:t>
            </a:r>
          </a:p>
          <a:p>
            <a:pPr>
              <a:lnSpc>
                <a:spcPct val="110000"/>
              </a:lnSpc>
              <a:defRPr sz="1700" b="0">
                <a:solidFill>
                  <a:srgbClr val="21201C"/>
                </a:solidFill>
                <a:latin typeface="Calibri"/>
              </a:defRPr>
            </a:pPr>
            <a:r>
              <a:t>1. growth-strategist: web search — one 2026 news item about financial planning in Singapore, cited.</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Canva — list my designs, or create a 1080x1080 test design in Horizon colours.</a:t>
            </a:r>
          </a:p>
          <a:p>
            <a:pPr>
              <a:lnSpc>
                <a:spcPct val="110000"/>
              </a:lnSpc>
              <a:defRPr sz="1700" b="0">
                <a:solidFill>
                  <a:srgbClr val="21201C"/>
                </a:solidFill>
                <a:latin typeface="Calibri"/>
              </a:defRPr>
            </a:pPr>
            <a:r>
              <a:t>5. website-designer: Playwright — open Horizon's public site at 375px wide and report any problem. Report each result in one line.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least privilege</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Update the "Connectors" section of each subagent in .claude/agents/ to match data/connectors-setup.md: what it may use, and that Gmail is drafts-only. Tighten each tools line so no agent has a tool its job does not need.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Canva and Playwright.</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instructions list only the tools its job needs.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research/ (competitors, funnel), strategy/ideas.md, strategy/storyboard.md with three channel variants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(subagents in parallel)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Paste Prompt A. Watch the strategist and the analyst run at the same time.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The Lead stops for you.</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and say why — the human concept checkpoint.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Paste Prompt B with your choice.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claims  </a:t>
            </a:r>
            <a:r>
              <a:rPr sz="1300">
                <a:solidFill>
                  <a:srgbClr val="6B6862"/>
                </a:solidFill>
                <a:latin typeface="Calibri"/>
              </a:rPr>
              <a:t>Every beat's claim must have a source in facts-2026.md.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 strategy/ideas.md. Show me the top five and stop — I will choose.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and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research/ has the competitor analysis and the funnel, cited.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strategy/ideas.md holds nine scored ideas with their authors.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Lead's fact-check and fin-compliance report came back.</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strategy/personas.md and strategy/content-spec.md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(analyst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(analyst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CSVs and templates are already in data/. Open one and skim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Analyse in parallel  </a:t>
            </a:r>
            <a:r>
              <a:rPr sz="1550">
                <a:solidFill>
                  <a:srgbClr val="6B6862"/>
                </a:solidFill>
                <a:latin typeface="Calibri"/>
              </a:rPr>
              <a:t>Paste Prompt A — three analyst subagents, one per file.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Challenge a claim  </a:t>
            </a:r>
            <a:r>
              <a:rPr sz="1550">
                <a:solidFill>
                  <a:srgbClr val="6B6862"/>
                </a:solidFill>
                <a:latin typeface="Calibri"/>
              </a:rPr>
              <a:t>Pick one persona statement and ask: "which rows show that?"</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requirements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gaps  </a:t>
            </a:r>
            <a:r>
              <a:rPr sz="1550">
                <a:solidFill>
                  <a:srgbClr val="6B6862"/>
                </a:solidFill>
                <a:latin typeface="Calibri"/>
              </a:rPr>
              <a:t>The 60+ group must be LOW CONFIDENCE.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strategy/content-spec.md with data/content-spec-template.md: for each persona the top 3 questions, channels, formats, length, tone, proof, call to action and never-say — each with the evidence (file and count) behind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content-spec.md has every field for every persona.</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strategy/cadence.md and strategy/calendar.csv</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Find the sweet spot  </a:t>
            </a:r>
            <a:r>
              <a:rPr sz="1550">
                <a:solidFill>
                  <a:srgbClr val="6B6862"/>
                </a:solidFill>
                <a:latin typeface="Calibri"/>
              </a:rPr>
              <a:t>Paste Prompt A.</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Question it  </a:t>
            </a:r>
            <a:r>
              <a:rPr sz="1550">
                <a:solidFill>
                  <a:srgbClr val="6B6862"/>
                </a:solidFill>
                <a:latin typeface="Calibri"/>
              </a:rPr>
              <a:t>Why is the newsletter not weekly? The answer is in the unsubscribes.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four weeks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buffers  </a:t>
            </a:r>
            <a:r>
              <a:rPr sz="1550">
                <a:solidFill>
                  <a:srgbClr val="6B6862"/>
                </a:solidFill>
                <a:latin typeface="Calibri"/>
              </a:rPr>
              <a:t>Every review date is two business days ahead; nothing on a holiday.</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Show the numbers → strategy/cadence.md.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Show a week-by-week summary with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cadence.md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calendar.csv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Home</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Shared rules and facts; Horizon's public website (Lab 1).</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Team</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Six agents: instructions, skills, connectors (Labs 2–4).</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1</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Research, ideas and a storyboard (Lab 5).</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Audience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and requirements from evidence (Lab 6).</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Cadence and a four-week calendar (Lab 7).</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5, 6, 7, 12</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8, 9, 10</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turn them on with CLAUDE_CODE_EXPERIMENTAL_AGENT_TEAMS=1.</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in a terminal.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Turn it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"env": {"CLAUDE_CODE_EXPERIMENTAL_AGENT_TEAMS": "1"} in .claude/settings.json; restart.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or publishing unapproved items.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runs it before every Bash, Edit or Write. Exit code 2 blocks the call and tells the agent why.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ounded Rectangle 7"/>
          <p:cNvSpPr/>
          <p:nvPr/>
        </p:nvSpPr>
        <p:spPr>
          <a:xfrm>
            <a:off x="548640" y="2084831"/>
            <a:ext cx="11064240" cy="3614988"/>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.claude/settings.json</a:t>
            </a:r>
          </a:p>
        </p:txBody>
      </p:sp>
      <p:sp>
        <p:nvSpPr>
          <p:cNvPr id="11" name="TextBox 10"/>
          <p:cNvSpPr txBox="1"/>
          <p:nvPr/>
        </p:nvSpPr>
        <p:spPr>
          <a:xfrm>
            <a:off x="822959" y="2724911"/>
            <a:ext cx="10515600" cy="2846892"/>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"env": { "CLAUDE_CODE_EXPERIMENTAL_AGENT_TEAMS": "1" },</a:t>
            </a:r>
          </a:p>
          <a:p>
            <a:pPr>
              <a:lnSpc>
                <a:spcPct val="114000"/>
              </a:lnSpc>
              <a:defRPr sz="1300" b="0">
                <a:solidFill>
                  <a:srgbClr val="E8E5DE"/>
                </a:solidFill>
                <a:latin typeface="Courier New"/>
              </a:defRPr>
            </a:pPr>
            <a:r>
              <a:t>  "hooks": {</a:t>
            </a:r>
          </a:p>
          <a:p>
            <a:pPr>
              <a:lnSpc>
                <a:spcPct val="114000"/>
              </a:lnSpc>
              <a:defRPr sz="1300" b="0">
                <a:solidFill>
                  <a:srgbClr val="E8E5DE"/>
                </a:solidFill>
                <a:latin typeface="Courier New"/>
              </a:defRPr>
            </a:pPr>
            <a:r>
              <a:t>    "PreToolUse": [{</a:t>
            </a:r>
          </a:p>
          <a:p>
            <a:pPr>
              <a:lnSpc>
                <a:spcPct val="114000"/>
              </a:lnSpc>
              <a:defRPr sz="1300" b="0">
                <a:solidFill>
                  <a:srgbClr val="E8E5DE"/>
                </a:solidFill>
                <a:latin typeface="Courier New"/>
              </a:defRPr>
            </a:pPr>
            <a:r>
              <a:t>      "matcher": "Bash|Edit|Write|MultiEdit",</a:t>
            </a:r>
          </a:p>
          <a:p>
            <a:pPr>
              <a:lnSpc>
                <a:spcPct val="114000"/>
              </a:lnSpc>
              <a:defRPr sz="1300" b="0">
                <a:solidFill>
                  <a:srgbClr val="E8E5DE"/>
                </a:solidFill>
                <a:latin typeface="Courier New"/>
              </a:defRPr>
            </a:pPr>
            <a:r>
              <a:t>      "hooks": [{</a:t>
            </a:r>
          </a:p>
          <a:p>
            <a:pPr>
              <a:lnSpc>
                <a:spcPct val="114000"/>
              </a:lnSpc>
              <a:defRPr sz="1300" b="0">
                <a:solidFill>
                  <a:srgbClr val="E8E5DE"/>
                </a:solidFill>
                <a:latin typeface="Courier New"/>
              </a:defRPr>
            </a:pPr>
            <a:r>
              <a:t>        "type": "command",</a:t>
            </a:r>
          </a:p>
          <a:p>
            <a:pPr>
              <a:lnSpc>
                <a:spcPct val="114000"/>
              </a:lnSpc>
              <a:defRPr sz="1300" b="0">
                <a:solidFill>
                  <a:srgbClr val="E8E5DE"/>
                </a:solidFill>
                <a:latin typeface="Courier New"/>
              </a:defRPr>
            </a:pPr>
            <a:r>
              <a:t>        "command": "node \"$CLAUDE_PROJECT_DIR/scripts/gate-hook.mjs\""</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two LinkedIn and three Facebook posts,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Five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in your own terminal; dry run, then go.</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Week 1 of the campaign starts Monday: two LinkedIn posts and three Facebook posts, each with a visual — and Rachel's one rule: nothing goes out unless a person approved that exact version.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content/social/week-01/: five posts with images, reviewed, approved by you and posted (or dry-run)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post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(agent team) → LinkedIn, Facebook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kit  </a:t>
            </a:r>
            <a:r>
              <a:rPr sz="1300">
                <a:solidFill>
                  <a:srgbClr val="6B6862"/>
                </a:solidFill>
                <a:latin typeface="Calibri"/>
              </a:rPr>
              <a:t>Copy publisher-kit/scripts into scripts/ and merge its settings.json into .claude/settings.json (agent teams on, the approval hook). Restart Claude Code.</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Claude to run approve.mjs on anything. The hook must block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Paste Prompt A. Teammates appear in the panel; ↑ ↓ and Enter open one; Ctrl+T shows the task list.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them talk  </a:t>
            </a:r>
            <a:r>
              <a:rPr sz="1300">
                <a:solidFill>
                  <a:srgbClr val="6B6862"/>
                </a:solidFill>
                <a:latin typeface="Calibri"/>
              </a:rPr>
              <a:t>The designer asks the creator for each post's hook; the Lead sends fixes back.</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each post and image. In your own terminal: node scripts/approve.mjs &lt;id&gt; --by "Your Name".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Paste Prompt B. Dry run first; --live only if your accounts are connected.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social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700" b="0">
                <a:solidFill>
                  <a:srgbClr val="21201C"/>
                </a:solidFill>
                <a:latin typeface="Calibri"/>
              </a:defRPr>
            </a:pPr>
            <a:r>
              <a:t>- content-creator: 2 LinkedIn + 3 Facebook posts, one file each in content/social/week-01/, with the frontmatter in data/publishing-spec.md.</a:t>
            </a:r>
          </a:p>
          <a:p>
            <a:pPr>
              <a:lnSpc>
                <a:spcPct val="110000"/>
              </a:lnSpc>
              <a:defRPr sz="1700" b="0">
                <a:solidFill>
                  <a:srgbClr val="21201C"/>
                </a:solidFill>
                <a:latin typeface="Calibri"/>
              </a:defRPr>
            </a:pPr>
            <a:r>
              <a:t>- creative-designer: one image per post (Canva or a rendered card) with alt text; message the creator for each post's hook before designing.</a:t>
            </a:r>
          </a:p>
          <a:p>
            <a:pPr>
              <a:lnSpc>
                <a:spcPct val="110000"/>
              </a:lnSpc>
              <a:defRPr sz="1700" b="0">
                <a:solidFill>
                  <a:srgbClr val="21201C"/>
                </a:solidFill>
                <a:latin typeface="Calibri"/>
              </a:defRPr>
            </a:pPr>
            <a:r>
              <a:t>- You: fact-check and fin-compliance on every post; message fixes to the teammate who owns it. When a post passes, run node scripts/submit.mjs on it. Publish nothing.</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approved in review/approvals.csv, run node scripts/publish.mjs &lt;id&gt; as a dry run and show me each request. Wait for me to say "go" before any --live run.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hook (or approve.mjs) stopped the agent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task list showed their tasks.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designer and the creator messaged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posts with images, alt text, frontmatter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nothing went live unless you said go.</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content/newsletter/2026-11/ (issue, HTML, text, recipients, excluded), web/checklist/ published, Gmail drafts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(agent team) → Claude artifact, Gmail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Paste Prompt 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Read issue.md and the page copy; approve nl-2026-11 in your own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recipients.csv: only consent = yes and unsubscribed = no.</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700" b="0">
                <a:solidFill>
                  <a:srgbClr val="21201C"/>
                </a:solidFill>
                <a:latin typeface="Calibri"/>
              </a:defRPr>
            </a:pPr>
            <a:r>
              <a:t>content-creator, website-designer and growth-analyst.</a:t>
            </a:r>
          </a:p>
          <a:p>
            <a:pPr>
              <a:lnSpc>
                <a:spcPct val="110000"/>
              </a:lnSpc>
              <a:defRPr sz="1700" b="0">
                <a:solidFill>
                  <a:srgbClr val="21201C"/>
                </a:solidFill>
                <a:latin typeface="Calibri"/>
              </a:defRPr>
            </a:pPr>
            <a:r>
              <a:t>- content-creator: issue.md (id nl-2026-11) and the landing-page copy.</a:t>
            </a:r>
          </a:p>
          <a:p>
            <a:pPr>
              <a:lnSpc>
                <a:spcPct val="110000"/>
              </a:lnSpc>
              <a:defRPr sz="1700" b="0">
                <a:solidFill>
                  <a:srgbClr val="21201C"/>
                </a:solidFill>
                <a:latin typeface="Calibri"/>
              </a:defRPr>
            </a:pPr>
            <a:r>
              <a:t>- website-designer: web/checklist/index.html with landing-page from the approved copy; page-qa.</a:t>
            </a:r>
          </a:p>
          <a:p>
            <a:pPr>
              <a:lnSpc>
                <a:spcPct val="110000"/>
              </a:lnSpc>
              <a:defRPr sz="1700" b="0">
                <a:solidFill>
                  <a:srgbClr val="21201C"/>
                </a:solidFill>
                <a:latin typeface="Calibri"/>
              </a:defRPr>
            </a:pPr>
            <a:r>
              <a:t>- growth-analyst: recipients.csv and excluded.csv from data/subscribers.csv. You check everything, then submit nl-2026-11. Build newsletter.html and .txt, and publish the page as an artifact, only after I approve.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Report how many drafts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nl-2026-11 in your own terminal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recipients.csv holds 31 people; excluded.csv lists 9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content/video/ep01/: scenes.json, thumbnail, ep01.mp4, ep01.md, and a private YouTube upload (or dry 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(agent team, render, upload)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Paste Prompt 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scenes.json and ep01.md; approve yt-ep01-script in your own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Paste Prompt B. The designer runs video-render.</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Submit ep01.md, watch ep01.mp4 to the end, then approve yt-ep01.</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Paste Prompt C. It goes up as private.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 with ffprobe. Do not change approved words.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Run node scripts/publish.mjs yt-ep01 as a dry run. If I say "go", run it with --live: it uploads as PRIVATE. Give me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facts-2026.md.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8</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8–10</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Optional demo: the team on Hermes Agent</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(skill, scheduled task, Drive, Gmail)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(skill, scheduled task, Drive, Gmail)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campaign-results.csv to the Horizon Studio folder.</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Bring the skill  </a:t>
            </a:r>
            <a:r>
              <a:rPr sz="1300">
                <a:solidFill>
                  <a:srgbClr val="6B6862"/>
                </a:solidFill>
                <a:latin typeface="Calibri"/>
              </a:rPr>
              <a:t>Upload the campaign-report skill folder under Customize → Skills in Claude.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Create a scheduled task for Mondays at 8am and paste scheduled-task-instructions.md into its Instructions.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Run the task once and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scheduled task.</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do it once</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campaign-report skill is available in Claude.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8–10</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8–10</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8</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9</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reports/agent-comparison.md and strategy/team-playbook.md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Paste Prompt A.</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Paste Prompt B.</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agent-comparison.md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HERMES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Hermes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Nous Research's open-source (MIT) agent — the same team on any model. A demo, not assessed.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HERMES AGENT  ·  OPEN SOURCE</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MODEL</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Your model</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Claude · GPT · open models</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Any provider: Anthropic API, OpenRouter, Nous Portal or your own endpoint.</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Profiles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Separate agents — own model, memory, skills and bot.</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Kanban</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 shared board: tasks, parents, review, block.</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The same SKILL.md folders you wrote in Lab 3.</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Gateway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Telegram, Discord, Slack, WhatsApp, Signal, email.</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Cron</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Jobs in plain words: "every Monday 8am".</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Delegation</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delegate_task runs subagents in parallel.</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A Claude subscription does not cover Hermes — it needs an API key with a spend limit.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Hermes Kanban 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task is a row anyone can read; every hand-off is visible.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triage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rough idea; the planner breaks it down.</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todo → ready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Ready when its parent tasks are done.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running</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dispatcher starts the assigned profile.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blocked / 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person's turn: unblock or request changes.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done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Finished, with a summary for the next task.</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dispatcher runs inside hermes gateway start.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the Team on Hermes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~25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Optional. Rachel's IT adviser asks what happens if the AI provider changes its prices. The trainer runs the same pipeline on open-source Hermes Agent.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Hermes profiles and a pipeline on the board, with the review task blocked for a person (demo)</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Hermes Agent (profiles, Kanban) — trainer demo</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open-source Hermes Agent · one profile per role · a Kanban pipeline · a task blocked for a person · the same skills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the Team on Hermes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Agent (profiles, Kanban) — trainer demo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Install Hermes  </a:t>
            </a:r>
            <a:r>
              <a:rPr sz="1550">
                <a:solidFill>
                  <a:srgbClr val="6B6862"/>
                </a:solidFill>
                <a:latin typeface="Calibri"/>
              </a:rPr>
              <a:t>Follow hermes-setup.md with an API key (a Claude subscription does not cover Hermes).</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Create the bots  </a:t>
            </a:r>
            <a:r>
              <a:rPr sz="1550">
                <a:solidFill>
                  <a:srgbClr val="6B6862"/>
                </a:solidFill>
                <a:latin typeface="Calibri"/>
              </a:rPr>
              <a:t>Create the profiles in hermes-roles.md and copy skills/ into each.</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Start the board  </a:t>
            </a:r>
            <a:r>
              <a:rPr sz="1550">
                <a:solidFill>
                  <a:srgbClr val="6B6862"/>
                </a:solidFill>
                <a:latin typeface="Calibri"/>
              </a:rPr>
              <a:t>hermes kanban init, then hermes gateway start in a second terminal.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Build the pipeline  </a:t>
            </a:r>
            <a:r>
              <a:rPr sz="1550">
                <a:solidFill>
                  <a:srgbClr val="6B6862"/>
                </a:solidFill>
                <a:latin typeface="Calibri"/>
              </a:rPr>
              <a:t>Paste the prompt into hermes, or run kanban-pipeline.sh.</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Be the gate  </a:t>
            </a:r>
            <a:r>
              <a:rPr sz="1550">
                <a:solidFill>
                  <a:srgbClr val="6B6862"/>
                </a:solidFill>
                <a:latin typeface="Calibri"/>
              </a:rPr>
              <a:t>The Lead blocks for a person: unblock it with hermes kanban unblock &lt;id&gt;.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the Team on Hermes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Hermes: the planner</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Horizon's Marketing Team Lead. Create a Kanban pipeline with dependencies:</a:t>
            </a:r>
          </a:p>
          <a:p>
            <a:pPr>
              <a:lnSpc>
                <a:spcPct val="110000"/>
              </a:lnSpc>
              <a:defRPr sz="1700" b="0">
                <a:solidFill>
                  <a:srgbClr val="21201C"/>
                </a:solidFill>
                <a:latin typeface="Calibri"/>
              </a:defRPr>
            </a:pPr>
            <a:r>
              <a:t>1. strategist: the angle and facts for a LinkedIn post on CPF cash top-ups, from facts-2026.md.</a:t>
            </a:r>
          </a:p>
          <a:p>
            <a:pPr>
              <a:lnSpc>
                <a:spcPct val="110000"/>
              </a:lnSpc>
              <a:defRPr sz="1700" b="0">
                <a:solidFill>
                  <a:srgbClr val="21201C"/>
                </a:solidFill>
                <a:latin typeface="Calibri"/>
              </a:defRPr>
            </a:pPr>
            <a:r>
              <a:t>2. creator (parent 1): write it with sunny-voice.</a:t>
            </a:r>
          </a:p>
          <a:p>
            <a:pPr>
              <a:lnSpc>
                <a:spcPct val="110000"/>
              </a:lnSpc>
              <a:defRPr sz="1700" b="0">
                <a:solidFill>
                  <a:srgbClr val="21201C"/>
                </a:solidFill>
                <a:latin typeface="Calibri"/>
              </a:defRPr>
            </a:pPr>
            <a:r>
              <a:t>3. lead (parent 2): fact-check and fin-compliance; then block the task with the reason "Needs approval from a person". Show me the task ids and the board.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Optional, not assessed. The pattern carries over: roles, skills and a human gate work on an open-source agent too.</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the Team on Hermes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hermes profile list shows the three profiles.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board shows three tasks linked by parents.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 task is blocked for a person.</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Unblocking finished the pipeline.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Claude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130</a:t>
            </a:r>
            <a:endParaRPr lang="en-US" sz="900" dirty="0"/>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132</a:t>
            </a:r>
            <a:endParaRPr lang="en-US" sz="900" dirty="0"/>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(Claude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3.1 — Claude Edition — 9 October 2026</dc:description>
</cp:coreProperties>
</file>