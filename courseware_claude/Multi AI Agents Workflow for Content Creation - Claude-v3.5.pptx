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274" r:id="rId20"/>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483" r:id="rId231"/>
    <p:sldId id="317" r:id="rId63"/>
    <p:sldId id="484" r:id="rId232"/>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20" Type="http://schemas.openxmlformats.org/officeDocument/2006/relationships/slide" Target="slides/slide21.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tertiarycourses.github.io/TGS-2023036153-Multi-AI-Agents-Workflow-for-Content-Creation/"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hyperlink" Target="https://exams.tertiaryinfotech.com/practice-exams/anthropic/anthropic-ccao-foundations" TargetMode="Externa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CLAUDE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Claude and Claude Code.</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OVERVIEW · PRICING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Claude Plans and Pricing</a:t>
            </a:r>
            <a:endParaRPr lang="en-US" sz="3000" dirty="0"/>
          </a:p>
        </p:txBody>
      </p:sp>
      <p:sp>
        <p:nvSpPr>
          <p:cNvPr id="4" name="Text 2"/>
          <p:cNvSpPr/>
          <p:nvPr/>
        </p:nvSpPr>
        <p:spPr>
          <a:xfrm>
            <a:off x="548640" y="1645920"/>
            <a:ext cx="11064240" cy="45720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Claude and Claude Code are included in every paid plan (from Pro up). The API is pay-as-you-go. Prices in US dollars.</a:t>
            </a:r>
            <a:endParaRPr lang="en-US" sz="1500" dirty="0"/>
          </a:p>
        </p:txBody>
      </p:sp>
      <p:sp>
        <p:nvSpPr>
          <p:cNvPr id="5" name="Shape 3"/>
          <p:cNvSpPr/>
          <p:nvPr/>
        </p:nvSpPr>
        <p:spPr>
          <a:xfrm>
            <a:off x="548640"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22960"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60120" y="2606040"/>
            <a:ext cx="292608" cy="292608"/>
          </a:xfrm>
          <a:prstGeom prst="rect">
            <a:avLst/>
          </a:prstGeom>
        </p:spPr>
      </p:pic>
      <p:sp>
        <p:nvSpPr>
          <p:cNvPr id="8" name="Text 5"/>
          <p:cNvSpPr/>
          <p:nvPr/>
        </p:nvSpPr>
        <p:spPr>
          <a:xfrm>
            <a:off x="822960"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Pro</a:t>
            </a:r>
            <a:endParaRPr lang="en-US" sz="1600" dirty="0"/>
          </a:p>
        </p:txBody>
      </p:sp>
      <p:sp>
        <p:nvSpPr>
          <p:cNvPr id="9" name="Text 6"/>
          <p:cNvSpPr/>
          <p:nvPr/>
        </p:nvSpPr>
        <p:spPr>
          <a:xfrm>
            <a:off x="822960"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$17/mo (annual) · $20 monthly. Enough for every lab.</a:t>
            </a:r>
            <a:endParaRPr lang="en-US" sz="1250" dirty="0"/>
          </a:p>
        </p:txBody>
      </p:sp>
      <p:sp>
        <p:nvSpPr>
          <p:cNvPr id="10" name="Shape 7"/>
          <p:cNvSpPr/>
          <p:nvPr/>
        </p:nvSpPr>
        <p:spPr>
          <a:xfrm>
            <a:off x="3367278"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3641598"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3778758" y="2606040"/>
            <a:ext cx="292608" cy="292608"/>
          </a:xfrm>
          <a:prstGeom prst="rect">
            <a:avLst/>
          </a:prstGeom>
        </p:spPr>
      </p:pic>
      <p:sp>
        <p:nvSpPr>
          <p:cNvPr id="13" name="Text 9"/>
          <p:cNvSpPr/>
          <p:nvPr/>
        </p:nvSpPr>
        <p:spPr>
          <a:xfrm>
            <a:off x="3641598"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Max</a:t>
            </a:r>
            <a:endParaRPr lang="en-US" sz="1600" dirty="0"/>
          </a:p>
        </p:txBody>
      </p:sp>
      <p:sp>
        <p:nvSpPr>
          <p:cNvPr id="14" name="Text 10"/>
          <p:cNvSpPr/>
          <p:nvPr/>
        </p:nvSpPr>
        <p:spPr>
          <a:xfrm>
            <a:off x="3641598"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From $100/mo — 5× or 20× more usage than Pro.</a:t>
            </a:r>
            <a:endParaRPr lang="en-US" sz="1250" dirty="0"/>
          </a:p>
        </p:txBody>
      </p:sp>
      <p:sp>
        <p:nvSpPr>
          <p:cNvPr id="15" name="Shape 11"/>
          <p:cNvSpPr/>
          <p:nvPr/>
        </p:nvSpPr>
        <p:spPr>
          <a:xfrm>
            <a:off x="6185916"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6" name="Shape 12"/>
          <p:cNvSpPr/>
          <p:nvPr/>
        </p:nvSpPr>
        <p:spPr>
          <a:xfrm>
            <a:off x="6460236"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7" name="Image 2" descr="preencoded.png">    </p:cNvPr>
          <p:cNvPicPr>
            <a:picLocks noChangeAspect="1"/>
          </p:cNvPicPr>
          <p:nvPr/>
        </p:nvPicPr>
        <p:blipFill>
          <a:blip r:embed="rId3"/>
          <a:stretch>
            <a:fillRect/>
          </a:stretch>
        </p:blipFill>
        <p:spPr>
          <a:xfrm>
            <a:off x="6597396" y="2606040"/>
            <a:ext cx="292608" cy="292608"/>
          </a:xfrm>
          <a:prstGeom prst="rect">
            <a:avLst/>
          </a:prstGeom>
        </p:spPr>
      </p:pic>
      <p:sp>
        <p:nvSpPr>
          <p:cNvPr id="18" name="Text 13"/>
          <p:cNvSpPr/>
          <p:nvPr/>
        </p:nvSpPr>
        <p:spPr>
          <a:xfrm>
            <a:off x="6460236"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Team</a:t>
            </a:r>
            <a:endParaRPr lang="en-US" sz="1600" dirty="0"/>
          </a:p>
        </p:txBody>
      </p:sp>
      <p:sp>
        <p:nvSpPr>
          <p:cNvPr id="19" name="Text 14"/>
          <p:cNvSpPr/>
          <p:nvPr/>
        </p:nvSpPr>
        <p:spPr>
          <a:xfrm>
            <a:off x="6460236"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standard · $100/seat premium (annual; $25 / $125 monthly).</a:t>
            </a:r>
            <a:endParaRPr lang="en-US" sz="1250" dirty="0"/>
          </a:p>
        </p:txBody>
      </p:sp>
      <p:sp>
        <p:nvSpPr>
          <p:cNvPr id="20" name="Shape 15"/>
          <p:cNvSpPr/>
          <p:nvPr/>
        </p:nvSpPr>
        <p:spPr>
          <a:xfrm>
            <a:off x="9004554"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1" name="Shape 16"/>
          <p:cNvSpPr/>
          <p:nvPr/>
        </p:nvSpPr>
        <p:spPr>
          <a:xfrm>
            <a:off x="9278874"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3" descr="preencoded.png">    </p:cNvPr>
          <p:cNvPicPr>
            <a:picLocks noChangeAspect="1"/>
          </p:cNvPicPr>
          <p:nvPr/>
        </p:nvPicPr>
        <p:blipFill>
          <a:blip r:embed="rId4"/>
          <a:stretch>
            <a:fillRect/>
          </a:stretch>
        </p:blipFill>
        <p:spPr>
          <a:xfrm>
            <a:off x="9416034" y="2606040"/>
            <a:ext cx="292608" cy="292608"/>
          </a:xfrm>
          <a:prstGeom prst="rect">
            <a:avLst/>
          </a:prstGeom>
        </p:spPr>
      </p:pic>
      <p:sp>
        <p:nvSpPr>
          <p:cNvPr id="23" name="Text 17"/>
          <p:cNvSpPr/>
          <p:nvPr/>
        </p:nvSpPr>
        <p:spPr>
          <a:xfrm>
            <a:off x="9278874"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Enterprise</a:t>
            </a:r>
            <a:endParaRPr lang="en-US" sz="1600" dirty="0"/>
          </a:p>
        </p:txBody>
      </p:sp>
      <p:sp>
        <p:nvSpPr>
          <p:cNvPr id="24" name="Text 18"/>
          <p:cNvSpPr/>
          <p:nvPr/>
        </p:nvSpPr>
        <p:spPr>
          <a:xfrm>
            <a:off x="9278874"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 usage at API rates. Contact sales.</a:t>
            </a:r>
            <a:endParaRPr lang="en-US" sz="1250" dirty="0"/>
          </a:p>
        </p:txBody>
      </p:sp>
      <p:sp>
        <p:nvSpPr>
          <p:cNvPr id="25" name="Shape 19"/>
          <p:cNvSpPr/>
          <p:nvPr/>
        </p:nvSpPr>
        <p:spPr>
          <a:xfrm>
            <a:off x="548640" y="4892040"/>
            <a:ext cx="11064240" cy="777240"/>
          </a:xfrm>
          <a:prstGeom prst="roundRect">
            <a:avLst>
              <a:gd name="adj" fmla="val 9412"/>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6" name="Text 20"/>
          <p:cNvSpPr/>
          <p:nvPr/>
        </p:nvSpPr>
        <p:spPr>
          <a:xfrm>
            <a:off x="822960" y="4892040"/>
            <a:ext cx="10515600" cy="7772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API per million tokens (in/out):  </a:t>
            </a:r>
            <a:pPr indent="0" marL="0">
              <a:buNone/>
            </a:pPr>
            <a:r>
              <a:rPr lang="en-US" sz="1400" dirty="0">
                <a:solidFill>
                  <a:srgbClr val="E8E5DE"/>
                </a:solidFill>
                <a:latin typeface="Calibri" pitchFamily="34" charset="0"/>
                <a:ea typeface="Calibri" pitchFamily="34" charset="-122"/>
                <a:cs typeface="Calibri" pitchFamily="34" charset="-120"/>
              </a:rPr>
              <a:t>Fable 5.1 $10/$50  ·  Opus 5.5 $4/$20  ·  Sonnet 5.5 $2/$10  ·  Haiku 5.5 from $0.10/$0.50</a:t>
            </a:r>
            <a:endParaRPr lang="en-US" sz="1400" dirty="0"/>
          </a:p>
        </p:txBody>
      </p:sp>
      <p:sp>
        <p:nvSpPr>
          <p:cNvPr id="27" name="Text 21"/>
          <p:cNvSpPr/>
          <p:nvPr/>
        </p:nvSpPr>
        <p:spPr>
          <a:xfrm>
            <a:off x="548640" y="58064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Free plan: chat only, no Claude Code. Prices as of 8 Oct 2026 — verify at claude.com/pricing.</a:t>
            </a:r>
            <a:endParaRPr lang="en-US" sz="1300" dirty="0"/>
          </a:p>
        </p:txBody>
      </p:sp>
      <p:sp>
        <p:nvSpPr>
          <p:cNvPr id="28" name="Text 22"/>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9" name="Text 23"/>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0" name="Text 2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170</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Claude Suite of Products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Anthropic's products all run on the same Claude models — they differ in where they run and who they are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Chat and Cowork, now one app — web, desktop and mobile. Ask, write, analyse; work on a folder of files.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agentic tool for building: terminal, VS Code, the desktop Code tab and the web.</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Design</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Polished UI, prototypes and front-end designs from a prompt.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apps such as Excel, PowerPoint and Outlook.</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browser agent that reads pages, clicks and fills forms in your own Chrome.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Speeds up research workflows for scientists and labs.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(Chat + Cowork)?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 and Cowork are now one product: Claude, in the desktop app on a paid plan. In this course every lab runs in Code mode instead, so your folder is always in 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Ask, draft, analyse and research with web search; projects keep shared files and instructions.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Cowork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Works on a folder on your computer: plans and runs multi-step tasks, and runs sub-agents in parallel when asked.</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Connectors and skills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Google Drive, Gmail, Calendar, Microsoft 365; build your own skills with /skill-creator.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Artifacts and scheduled tasks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and documents shared by link; tasks that run on a schedule from an Instructions field.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 agentic tool: describe a goal in plain English and Claude plans, writes, runs and checks the work — editing files, running commands and using tools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Runs where you 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terminal, VS Code, the Claude desktop Code tab and the web.</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multi-step tasks and acts on them — not just answers or autocompletes.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Tool-using</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Reads and writes files, runs commands, calls MCP connectors and publishes artifacts.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Extensible — the team's home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CLAUDE.md, subagents, agent teams, skills and hooks. You build Horizon's team here (Labs 1–5, 10–12).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for Microsoft, Chrome and Science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Claude models, working inside the apps you already use. Not needed for the labs — good to know.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 Excel, PowerPoint, Word and Outlook — working on the file you have open.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extension that lets Claude navigate, click, type and fill forms in your browser, with your sign-ins. You approve sensitive actions.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for researchers and labs: literature review, data analysis and connections to scientific tools and databases.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Chatbots</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The skill: prompt engineering.</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Tools and MCP</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The skill: context engineering.</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Agentic AI</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Claude Code and Codex: agents plan, act and check their own work. The skill: harness engineering.</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 Teams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Cowork merges into Claude; Claude Code agent teams — agents that share a task list and talk to each other.</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whole system around the model — and now, teams of agents.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Code and Claude in class; also Codex, Gemini CLI and OpenClaw.</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CLAUDE.md,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Claude Code session running a campaign (Labs 1–5, 10–12).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Claude</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CLAUDE.md and an agent file.</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Edition: two Claude products, one studio.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 in Code mode: agent and skill files, subagents, agent teams, the approval gate, routines, the video</a:t>
            </a:r>
          </a:p>
        </p:txBody>
      </p:sp>
      <p:sp>
        <p:nvSpPr>
          <p:cNvPr id="15" name="TextBox 14"/>
          <p:cNvSpPr txBox="1"/>
          <p:nvPr/>
        </p:nvSpPr>
        <p:spPr>
          <a:xfrm>
            <a:off x="8494776" y="2560320"/>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1–15</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artifacts</a:t>
            </a:r>
          </a:p>
        </p:txBody>
      </p:sp>
      <p:sp>
        <p:nvSpPr>
          <p:cNvPr id="17" name="TextBox 16"/>
          <p:cNvSpPr txBox="1"/>
          <p:nvPr/>
        </p:nvSpPr>
        <p:spPr>
          <a:xfrm>
            <a:off x="3183940" y="3273552"/>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result from Lab 5 on; Horizon's website (given), your blog post and the landing page</a:t>
            </a:r>
          </a:p>
        </p:txBody>
      </p:sp>
      <p:sp>
        <p:nvSpPr>
          <p:cNvPr id="18" name="TextBox 17"/>
          <p:cNvSpPr txBox="1"/>
          <p:nvPr/>
        </p:nvSpPr>
        <p:spPr>
          <a:xfrm>
            <a:off x="8494776" y="3273552"/>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5–15</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Customize</a:t>
            </a:r>
          </a:p>
        </p:txBody>
      </p:sp>
      <p:sp>
        <p:nvSpPr>
          <p:cNvPr id="21" name="TextBox 20"/>
          <p:cNvSpPr txBox="1"/>
          <p:nvPr/>
        </p:nvSpPr>
        <p:spPr>
          <a:xfrm>
            <a:off x="3183940" y="3986784"/>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Connectors (Drive, Gmail, Calendar, Firecrawl) and the Marketing plugin — added once, used by both</a:t>
            </a:r>
          </a:p>
        </p:txBody>
      </p:sp>
      <p:sp>
        <p:nvSpPr>
          <p:cNvPr id="22" name="TextBox 21"/>
          <p:cNvSpPr txBox="1"/>
          <p:nvPr/>
        </p:nvSpPr>
        <p:spPr>
          <a:xfrm>
            <a:off x="8494776" y="3986784"/>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Rounded Rectangle 2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agent teams at work. Labs 13–15.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Agent teams: debate + QA loop</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15 — the team keeps what it learns.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Code Mode, Every Lab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desktop app in Code mode (&lt;/&gt;), in your horizon-studio folder — every lab. You type plain English, never code.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260238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1, 2, 3, 4, 5, 6, 7, 8, 9, 10, 11, 12, 13, 14, 15</a:t>
            </a:r>
          </a:p>
        </p:txBody>
      </p:sp>
      <p:sp>
        <p:nvSpPr>
          <p:cNvPr id="15" name="TextBox 14"/>
          <p:cNvSpPr txBox="1"/>
          <p:nvPr/>
        </p:nvSpPr>
        <p:spPr>
          <a:xfrm>
            <a:off x="6060643" y="2560320"/>
            <a:ext cx="5479084"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the team's folder, agents, skills, connectors, artifacts and routines. Each lab starts a new session named after the lab.</a:t>
            </a:r>
          </a:p>
        </p:txBody>
      </p:sp>
      <p:sp>
        <p:nvSpPr>
          <p:cNvPr id="16" name="Rounded Rectangle 1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Everything the team makes is saved in horizon-studio, so the next lab's session picks up where the last one stopped.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Agent teams lab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Claude and Claude Code in one app</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No commands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The trainer readies Claude Code</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and artifacts need a Pro, Max, Team or Enterprise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a:t>
            </a:r>
            <a:r>
              <a:rPr sz="1350">
                <a:solidFill>
                  <a:srgbClr val="6B6862"/>
                </a:solidFill>
                <a:latin typeface="Calibri"/>
              </a:rPr>
              <a:t>Open it from the desktop app; the trainer has set it up before class.</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with your claude.ai account  </a:t>
            </a:r>
            <a:r>
              <a:rPr sz="1350">
                <a:solidFill>
                  <a:srgbClr val="6B6862"/>
                </a:solidFill>
                <a:latin typeface="Calibri"/>
              </a:rPr>
              <a:t>Connectors, plugins and artifacts need it — not an API key.</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Already installed for you  </a:t>
            </a:r>
            <a:r>
              <a:rPr sz="1350">
                <a:solidFill>
                  <a:srgbClr val="6B6862"/>
                </a:solidFill>
                <a:latin typeface="Calibri"/>
              </a:rPr>
              <a:t>The helpers behind the approval gate and the video. You never run them yourself.</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team charter every agent reads at the start of every session. Under 60 lines.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horizon-studio/ with CLAUDE.md, the shared data, a local copy of the site, and the public site link in the charter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CLAUDE.md as the team charter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PUBLIC SITE   </a:t>
            </a:r>
            <a:r>
              <a:rPr sz="1000" b="0">
                <a:solidFill>
                  <a:srgbClr val="21201C"/>
                </a:solidFill>
                <a:latin typeface="Calibri"/>
                <a:hlinkClick r:id="rId2"/>
              </a:rPr>
              <a:t>tertiarycourses.github.io/TGS-2023036153-Multi-AI-Agents-Workflow-for-Content-Creation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Code mode and the folder  </a:t>
            </a:r>
            <a:r>
              <a:rPr sz="1550">
                <a:solidFill>
                  <a:srgbClr val="6B6862"/>
                </a:solidFill>
                <a:latin typeface="Calibri"/>
              </a:rPr>
              <a:t>In the Claude desktop app switch to Code mode (the &lt;/&gt; button at the top), not Work mode — Code shows every file and opens artifacts beside the chat. Under Project or folder choose Add folder (not New project) and pick the ready-made labs_claude/horizon-studio.</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Trust it  </a:t>
            </a:r>
            <a:r>
              <a:rPr sz="1550">
                <a:solidFill>
                  <a:srgbClr val="6B6862"/>
                </a:solidFill>
                <a:latin typeface="Calibri"/>
              </a:rPr>
              <a:t>Sign in with your claude.ai account and trust the folder. Click the session title at the top and rename it "Lab 1" — every lab gets its own session.</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Copy and paste Prompt A.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Claude saves data/team-design.md, copy and paste Prompt B. Open CLAUDE.md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"Open web/site/index.html in my web browser." This is your own copy of Horizon's website; Labs 8 and 9 add to it, and the public site never changes. Check the calculator shows S$693,138.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charter</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CLAUDE.md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and preview:</a:t>
            </a:r>
          </a:p>
          <a:p>
            <a:pPr>
              <a:lnSpc>
                <a:spcPct val="110000"/>
              </a:lnSpc>
              <a:defRPr sz="1700" b="0">
                <a:solidFill>
                  <a:srgbClr val="21201C"/>
                </a:solidFill>
                <a:latin typeface="Calibri"/>
              </a:defRPr>
            </a:pPr>
            <a:r>
              <a:t>  web/site/index.html</a:t>
            </a:r>
          </a:p>
          <a:p>
            <a:pPr>
              <a:lnSpc>
                <a:spcPct val="110000"/>
              </a:lnSpc>
              <a:defRPr sz="1700" b="0">
                <a:solidFill>
                  <a:srgbClr val="21201C"/>
                </a:solidFill>
                <a:latin typeface="Calibri"/>
              </a:defRPr>
            </a:pPr>
            <a:r>
              <a:t>- Public site, the link every post points to (it never changes): https://tertiarycourses.github.io/TGS-2023036153-Multi-AI-Agents-Workflow-for-Content-Creation/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 shows horizon-studio as the chosen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names your copy of the site and the public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own copy of the website opens in your browser; the calculator shows S$693,138.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an agent-team teammate.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.claude/agents/content-creator.md</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name: content-creator</a:t>
            </a:r>
          </a:p>
          <a:p>
            <a:pPr>
              <a:lnSpc>
                <a:spcPct val="114000"/>
              </a:lnSpc>
              <a:defRPr sz="900" b="0">
                <a:solidFill>
                  <a:srgbClr val="E8E5DE"/>
                </a:solidFill>
                <a:latin typeface="Courier New"/>
              </a:defRPr>
            </a:pPr>
            <a:r>
              <a:t>description: Use for Horizon copy — posts, newsletter,</a:t>
            </a:r>
          </a:p>
          <a:p>
            <a:pPr>
              <a:lnSpc>
                <a:spcPct val="114000"/>
              </a:lnSpc>
              <a:defRPr sz="900" b="0">
                <a:solidFill>
                  <a:srgbClr val="E8E5DE"/>
                </a:solidFill>
                <a:latin typeface="Courier New"/>
              </a:defRPr>
            </a:pPr>
            <a:r>
              <a:t>  video scripts and page copy, in the Sunny voice.</a:t>
            </a:r>
          </a:p>
          <a:p>
            <a:pPr>
              <a:lnSpc>
                <a:spcPct val="114000"/>
              </a:lnSpc>
              <a:defRPr sz="900" b="0">
                <a:solidFill>
                  <a:srgbClr val="E8E5DE"/>
                </a:solidFill>
                <a:latin typeface="Courier New"/>
              </a:defRPr>
            </a:pPr>
            <a:r>
              <a:t>tools: Read, Write, Edit, Grep, Glob</a:t>
            </a:r>
          </a:p>
          <a:p>
            <a:pPr>
              <a:lnSpc>
                <a:spcPct val="114000"/>
              </a:lnSpc>
              <a:defRPr sz="900" b="0">
                <a:solidFill>
                  <a:srgbClr val="E8E5DE"/>
                </a:solidFill>
                <a:latin typeface="Courier New"/>
              </a:defRPr>
            </a:pPr>
            <a:r>
              <a:t>model: sonnet</a:t>
            </a:r>
          </a:p>
          <a:p>
            <a:pPr>
              <a:lnSpc>
                <a:spcPct val="114000"/>
              </a:lnSpc>
              <a:defRPr sz="900" b="0">
                <a:solidFill>
                  <a:srgbClr val="E8E5DE"/>
                </a:solidFill>
                <a:latin typeface="Courier New"/>
              </a:defRPr>
            </a:pPr>
            <a:r>
              <a:t>skills:</a:t>
            </a:r>
          </a:p>
          <a:p>
            <a:pPr>
              <a:lnSpc>
                <a:spcPct val="114000"/>
              </a:lnSpc>
              <a:defRPr sz="900" b="0">
                <a:solidFill>
                  <a:srgbClr val="E8E5DE"/>
                </a:solidFill>
                <a:latin typeface="Courier New"/>
              </a:defRPr>
            </a:pPr>
            <a:r>
              <a:t>  - sunny-voice</a:t>
            </a:r>
          </a:p>
          <a:p>
            <a:pPr>
              <a:lnSpc>
                <a:spcPct val="114000"/>
              </a:lnSpc>
              <a:defRPr sz="900" b="0">
                <a:solidFill>
                  <a:srgbClr val="E8E5DE"/>
                </a:solidFill>
                <a:latin typeface="Courier New"/>
              </a:defRPr>
            </a:pPr>
            <a:r>
              <a:t>  - copywriting</a:t>
            </a:r>
          </a:p>
          <a:p>
            <a:pPr>
              <a:lnSpc>
                <a:spcPct val="114000"/>
              </a:lnSpc>
              <a:defRPr sz="900" b="0">
                <a:solidFill>
                  <a:srgbClr val="E8E5DE"/>
                </a:solidFill>
                <a:latin typeface="Courier New"/>
              </a:defRPr>
            </a:pPr>
            <a:r>
              <a:t>  - channel-formats</a:t>
            </a:r>
          </a:p>
          <a:p>
            <a:pPr>
              <a:lnSpc>
                <a:spcPct val="114000"/>
              </a:lnSpc>
              <a:defRPr sz="900" b="0">
                <a:solidFill>
                  <a:srgbClr val="E8E5DE"/>
                </a:solidFill>
                <a:latin typeface="Courier New"/>
              </a:defRPr>
            </a:pPr>
            <a:r>
              <a:t>  - linkedin-post</a:t>
            </a:r>
          </a:p>
          <a:p>
            <a:pPr>
              <a:lnSpc>
                <a:spcPct val="114000"/>
              </a:lnSpc>
              <a:defRPr sz="900" b="0">
                <a:solidFill>
                  <a:srgbClr val="E8E5DE"/>
                </a:solidFill>
                <a:latin typeface="Courier New"/>
              </a:defRPr>
            </a:pPr>
            <a:r>
              <a:t>  - facebook-post</a:t>
            </a:r>
          </a:p>
          <a:p>
            <a:pPr>
              <a:lnSpc>
                <a:spcPct val="114000"/>
              </a:lnSpc>
              <a:defRPr sz="900" b="0">
                <a:solidFill>
                  <a:srgbClr val="E8E5DE"/>
                </a:solidFill>
                <a:latin typeface="Courier New"/>
              </a:defRPr>
            </a:pPr>
            <a:r>
              <a:t>  - blog-post</a:t>
            </a:r>
          </a:p>
          <a:p>
            <a:pPr>
              <a:lnSpc>
                <a:spcPct val="114000"/>
              </a:lnSpc>
              <a:defRPr sz="900" b="0">
                <a:solidFill>
                  <a:srgbClr val="E8E5DE"/>
                </a:solidFill>
                <a:latin typeface="Courier New"/>
              </a:defRPr>
            </a:pPr>
            <a:r>
              <a:t>  - newsletter</a:t>
            </a:r>
          </a:p>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You are Horizon Wealth Planning's Content Creator.</a:t>
            </a:r>
          </a:p>
          <a:p>
            <a:pPr>
              <a:lnSpc>
                <a:spcPct val="114000"/>
              </a:lnSpc>
              <a:defRPr sz="900" b="0">
                <a:solidFill>
                  <a:srgbClr val="E8E5DE"/>
                </a:solidFill>
                <a:latin typeface="Courier New"/>
              </a:defRPr>
            </a:pPr>
            <a:r>
              <a:t>## What you read   the brief, facts-2026.md, brand.md</a:t>
            </a:r>
          </a:p>
          <a:p>
            <a:pPr>
              <a:lnSpc>
                <a:spcPct val="114000"/>
              </a:lnSpc>
              <a:defRPr sz="900" b="0">
                <a:solidFill>
                  <a:srgbClr val="E8E5DE"/>
                </a:solidFill>
                <a:latin typeface="Courier New"/>
              </a:defRPr>
            </a:pPr>
            <a:r>
              <a:t>## What you deliver   content files, ready for review</a:t>
            </a:r>
          </a:p>
          <a:p>
            <a:pPr>
              <a:lnSpc>
                <a:spcPct val="114000"/>
              </a:lnSpc>
              <a:defRPr sz="900" b="0">
                <a:solidFill>
                  <a:srgbClr val="E8E5DE"/>
                </a:solidFill>
                <a:latin typeface="Courier New"/>
              </a:defRPr>
            </a:pPr>
            <a:r>
              <a:t>## Connectors   Google Drive (docs), Gmail (drafts only)</a:t>
            </a:r>
          </a:p>
          <a:p>
            <a:pPr>
              <a:lnSpc>
                <a:spcPct val="114000"/>
              </a:lnSpc>
              <a:defRPr sz="900" b="0">
                <a:solidFill>
                  <a:srgbClr val="E8E5DE"/>
                </a:solidFill>
                <a:latin typeface="Courier New"/>
              </a:defRPr>
            </a:pPr>
            <a:r>
              <a:t>## Never   add a number not on the facts sheet; send;</a:t>
            </a:r>
          </a:p>
          <a:p>
            <a:pPr>
              <a:lnSpc>
                <a:spcPct val="114000"/>
              </a:lnSpc>
              <a:defRPr sz="900" b="0">
                <a:solidFill>
                  <a:srgbClr val="E8E5DE"/>
                </a:solidFill>
                <a:latin typeface="Courier New"/>
              </a:defRPr>
            </a:pPr>
            <a:r>
              <a:t>           approve or publish for real</a:t>
            </a:r>
          </a:p>
          <a:p>
            <a:pPr>
              <a:lnSpc>
                <a:spcPct val="114000"/>
              </a:lnSpc>
              <a:defRPr sz="900" b="0">
                <a:solidFill>
                  <a:srgbClr val="E8E5DE"/>
                </a:solidFill>
                <a:latin typeface="Courier New"/>
              </a:defRPr>
            </a:pPr>
            <a:r>
              <a:t>## Report back   what, where, anything unverified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description decides when Claude delegates to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.claude/agents/: growth-strategist, content-creator, creative-designer, website-designer, growth-analyst</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 files)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subagent files in .claude/agents/ · name, description, tools, model · the Lead is your session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.claude/agents/,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.claude/agents/content-creator.md.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five subagents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project subagents in .claude/agents/ — growth-strategist, content-creator, creative-designer, website-designer and growth-analyst. Each file has:</a:t>
            </a:r>
          </a:p>
          <a:p>
            <a:pPr>
              <a:lnSpc>
                <a:spcPct val="110000"/>
              </a:lnSpc>
              <a:defRPr sz="1700" b="0">
                <a:solidFill>
                  <a:srgbClr val="21201C"/>
                </a:solidFill>
                <a:latin typeface="Calibri"/>
              </a:defRPr>
            </a:pPr>
            <a:r>
              <a:t>- frontmatter: name; a description that says when to use it; tools; model (opus for the strategist, sonnet for the others)</a:t>
            </a:r>
          </a:p>
          <a:p>
            <a:pPr>
              <a:lnSpc>
                <a:spcPct val="110000"/>
              </a:lnSpc>
              <a:defRPr sz="1700" b="0">
                <a:solidFill>
                  <a:srgbClr val="21201C"/>
                </a:solidFill>
                <a:latin typeface="Calibri"/>
              </a:defRPr>
            </a:pPr>
            <a:r>
              <a:t>- a body with: the job, what it reads, what it delivers, the connectors it may use, what it must never do, and how it reports back. No skills line yet — we add skills in Lab 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see the team</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subagents in .claude/agents/. For each, show the file name, the name, the one-line description and the model, in a table. Then confirm there are five, and that none of them is the Marketing Team Lead — the Lead is this session. If any other file is there, list it and ask me before moving it to _archive/.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each of the five subagents once, in parallel.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.claude/agents/,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has a name, a "use when" description, tools and a model.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session acts as the Marketing Team Lead.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.claude/skills/ — Claude Code reads them from your folder.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.claude/skills/,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(.claude/skills/)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.claude/skills/, copy and paste Prompt B, then C to list every skill. The Lead's two go in CLAUDE.md, not a file.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data/skills-spec.md. Create the twenty skills in .claude/skills/&lt;name&gt;/SKILL.md. Each has frontmatter (name, and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list to each subagent in .claude/agents/ with its skills from data/skills-spec.md. Leave any other agent file as it is. Add to CLAUDE.md that the Lead (this session) runs fact-check and fin-compliance on everything before showing it to me.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.claude/skills/. Show each skill, its owner (a subagent, or the Lead) and its "Use when" line in a table. Confirm there are twenty, that each specialist has the skills the spec gives it, and that fact-check and fin-compliance belong to the Lead (this session).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(CLAUDE.md) short and put procedures in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.claude/skills/, each with a SKILL.md.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Connectors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Add once in the desktop app: Customize → Connectors, and the Marketing plugin.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tools line removes what it does not need.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desktop app (Customize → Connectors),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Customize → Connectors: Google Drive · Gmail (drafts) · Google Calendar · Firecrawl · /plugin: Marketing (by Anthropic) · built-in browser · least privilege per agent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connectors  </a:t>
            </a:r>
            <a:r>
              <a:rPr sz="1300">
                <a:solidFill>
                  <a:srgbClr val="6B6862"/>
                </a:solidFill>
                <a:latin typeface="Calibri"/>
              </a:rPr>
              <a:t>Desktop app: Customize → Connectors → Discover. Add (+) Google Drive, Gmail, Google Calendar and Firecrawl; sign in to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plugin  </a:t>
            </a:r>
            <a:r>
              <a:rPr sz="1300">
                <a:solidFill>
                  <a:srgbClr val="6B6862"/>
                </a:solidFill>
                <a:latin typeface="Calibri"/>
              </a:rPr>
              <a:t>In the chat type /plugin marketplace add anthropics/knowledge-work-plugins, then /plugin install marketing@knowledge-work-plugins.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a:t>
            </a:r>
            <a:r>
              <a:rPr sz="1300">
                <a:solidFill>
                  <a:srgbClr val="6B6862"/>
                </a:solidFill>
                <a:latin typeface="Calibri"/>
              </a:rPr>
              <a:t>Start a new session. Type /mcp: the four connectors are listed. Type /plugin: Marketing is installed.</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Give each agent its connectors  </a:t>
            </a:r>
            <a:r>
              <a:rPr sz="1300">
                <a:solidFill>
                  <a:srgbClr val="6B6862"/>
                </a:solidFill>
                <a:latin typeface="Calibri"/>
              </a:rPr>
              <a:t>Copy and paste Prompt A, then start a new session so the agents reload.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After the new session opens, copy and paste Prompt B — one small job per agent, each on its own connector.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give each agent its connectors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data/connectors-setup.md. For each subagent in .claude/agents/, replace its tools line with the one given there, add the disallowedTools line where one is given, and update its "Connectors" section: what it may use, and that Gmail is drafts only. Change nothing else.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test each agent</a:t>
            </a:r>
          </a:p>
        </p:txBody>
      </p:sp>
      <p:sp>
        <p:nvSpPr>
          <p:cNvPr id="9" name="TextBox 8"/>
          <p:cNvSpPr txBox="1"/>
          <p:nvPr/>
        </p:nvSpPr>
        <p:spPr>
          <a:xfrm>
            <a:off x="822960" y="2313432"/>
            <a:ext cx="10515600" cy="3166529"/>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First tell me which connectors and plugins you can use. Then run these five checks, each by its own subagent:</a:t>
            </a:r>
          </a:p>
          <a:p>
            <a:pPr>
              <a:lnSpc>
                <a:spcPct val="110000"/>
              </a:lnSpc>
              <a:defRPr sz="1650" b="0">
                <a:solidFill>
                  <a:srgbClr val="21201C"/>
                </a:solidFill>
                <a:latin typeface="Calibri"/>
              </a:defRPr>
            </a:pPr>
            <a:r>
              <a:t>1. growth-strategist: Firecrawl — search for one 2026 news item about financial planning in Singapore, scrape it and cite it.</a:t>
            </a:r>
          </a:p>
          <a:p>
            <a:pPr>
              <a:lnSpc>
                <a:spcPct val="110000"/>
              </a:lnSpc>
              <a:defRPr sz="1650" b="0">
                <a:solidFill>
                  <a:srgbClr val="21201C"/>
                </a:solidFill>
                <a:latin typeface="Calibri"/>
              </a:defRPr>
            </a:pPr>
            <a:r>
              <a:t>2. growth-analyst: Google Drive — read firm-metrics.csv from Horizon Studio; report average monthly enquiries.</a:t>
            </a:r>
          </a:p>
          <a:p>
            <a:pPr>
              <a:lnSpc>
                <a:spcPct val="110000"/>
              </a:lnSpc>
              <a:defRPr sz="1650" b="0">
                <a:solidFill>
                  <a:srgbClr val="21201C"/>
                </a:solidFill>
                <a:latin typeface="Calibri"/>
              </a:defRPr>
            </a:pPr>
            <a:r>
              <a:t>3. content-creator: Gmail — a DRAFT to me with the subject "Connector test". Do not send.</a:t>
            </a:r>
          </a:p>
          <a:p>
            <a:pPr>
              <a:lnSpc>
                <a:spcPct val="110000"/>
              </a:lnSpc>
              <a:defRPr sz="1650" b="0">
                <a:solidFill>
                  <a:srgbClr val="21201C"/>
                </a:solidFill>
                <a:latin typeface="Calibri"/>
              </a:defRPr>
            </a:pPr>
            <a:r>
              <a:t>4. creative-designer: render a 1080x1080 test card in Horizon colours and save it in content/test/.</a:t>
            </a:r>
          </a:p>
          <a:p>
            <a:pPr>
              <a:lnSpc>
                <a:spcPct val="110000"/>
              </a:lnSpc>
              <a:defRPr sz="1650" b="0">
                <a:solidFill>
                  <a:srgbClr val="21201C"/>
                </a:solidFill>
                <a:latin typeface="Calibri"/>
              </a:defRPr>
            </a:pPr>
            <a:r>
              <a:t>5. website-designer: built-in browser — open our own copy of the site (web/site/index.html) at 375px wide and report any problem. Report each result in one line. If a check fails, say which tool was missing.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/mcp lists Google Drive, Gmail, Google Calendar and Firecrawl; /plugin shows Marketing.</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 the top five open as an artifact beside the chat.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in the artifact's Ideas tab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research and ideas</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Publish the top five as an artifact — one card per idea with its score, persona and funnel stage — and a box at the top that tells me what to do next. Then stop.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storyboard</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Publish the brief and the storyboard as an artifact with a tab for the brief (goal, audience, message, call to action); a tab for the five beats side by side, each with its claim and source, and the three variants below; and the issues in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and publish it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(three analyst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 cards appear,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three analysts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Publish the personas as an artifact: one card each, with the key counts as small bar charts and the confidence label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requirements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Publish it as an artifact: one card per persona with a one-line summary on top and the answers under plain headings, then one table comparing the three personas side by side.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Publish it as an artifact: a chart per channel of the extra clicks against the unfollows, and the hours. Write for a business owner, in plain English: no codes, IDs, file names or line numbers; start with what it means and what I do next. Save a Word copy (.docx) of each result.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strategist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Publish the four weeks as an artifact: a calendar grid by channel, review dates marked, hours per week.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prompt, the whole job</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draft, fact-check, fix and post — a quick blog in one go. A person still reads it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Straight onto your copy of the site</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article lands on the copy of Horizon's site in your folder, opened in your browser. The public site never changes.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 the voice, the facts and the rules.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and posted on your own copy of Horizon's website, opened in your browser,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(Firecrawl, your Horizon skills) → your copy of Horizon's website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post to the blog on your copy of the website · a person reads it last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and post it  </a:t>
            </a:r>
            <a:r>
              <a:rPr sz="1550">
                <a:solidFill>
                  <a:srgbClr val="6B6862"/>
                </a:solidFill>
                <a:latin typeface="Calibri"/>
              </a:rPr>
              <a:t>Copy and paste the prompt. Claude researches, writes, checks and fixes the article, then posts it to your copy of Horizon's website.</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on the site  </a:t>
            </a:r>
            <a:r>
              <a:rPr sz="1550">
                <a:solidFill>
                  <a:srgbClr val="6B6862"/>
                </a:solidFill>
                <a:latin typeface="Calibri"/>
              </a:rPr>
              <a:t>Your copy of the website opens in your browser: your article is first under "From our blog". Say what to change, if anything.</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Claude Code: a quick blog</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and post it to the website. Use the blog-post, sunny-voice, fact-check and fin-compliance skills.</a:t>
            </a:r>
          </a:p>
          <a:p>
            <a:pPr>
              <a:lnSpc>
                <a:spcPct val="110000"/>
              </a:lnSpc>
              <a:defRPr sz="1700" b="0">
                <a:solidFill>
                  <a:srgbClr val="21201C"/>
                </a:solidFill>
                <a:latin typeface="Calibri"/>
              </a:defRPr>
            </a:pPr>
            <a:r>
              <a:t>1. Pick one topic from strategy/storyboard.md that a Singaporean would search for. Use Firecrawl to find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data/facts-2026.md, one call to action (book a free 30-minute chat) and the full disclaimer → content/blog/&lt;slug&gt;.md.</a:t>
            </a:r>
          </a:p>
          <a:p>
            <a:pPr>
              <a:lnSpc>
                <a:spcPct val="110000"/>
              </a:lnSpc>
              <a:defRPr sz="1700" b="0">
                <a:solidFill>
                  <a:srgbClr val="21201C"/>
                </a:solidFill>
                <a:latin typeface="Calibri"/>
              </a:defRPr>
            </a:pPr>
            <a:r>
              <a:t>3. Run fact-check and fin-compliance; fix every issue and list each fix in one line.</a:t>
            </a:r>
          </a:p>
          <a:p>
            <a:pPr>
              <a:lnSpc>
                <a:spcPct val="110000"/>
              </a:lnSpc>
              <a:defRPr sz="1700" b="0">
                <a:solidFill>
                  <a:srgbClr val="21201C"/>
                </a:solidFill>
                <a:latin typeface="Calibri"/>
              </a:defRPr>
            </a:pPr>
            <a:r>
              <a:t>4. Add it to the blog in web/site/index.html as one new post, built like the posts already there. Change nothing else on the site. Then open web/site/index.html in my web browser.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article is first under "From our blog" on your copy of the website.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or an agent team?</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Artifacts: printable pages, cards and previews.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page (artifact and PDF) and on your copy of Horizon's website, and three welcome emails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(artifact, Gmail drafts, Marketing plugin,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as an artifact · the Marketing plugin's email sequence · newsletter and sunny-voice · drafts only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The checklist opens as an artifact; ask in the chat for any change.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Put it on the website  </a:t>
            </a:r>
            <a:r>
              <a:rPr sz="1550">
                <a:solidFill>
                  <a:srgbClr val="6B6862"/>
                </a:solidFill>
                <a:latin typeface="Calibri"/>
              </a:rPr>
              <a:t>After the checks pass, copy and paste Prompt D. Your copy of the website opens in your browser, with the checklist behind an email box.</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publish it as an artifact. Save a PDF of it in content/lead-magnet/.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welcome emails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Marketing plugin's email sequence to write three welcome emails for people who download the checklist: day 0 (here it is), day 3 (the item most people miss — the retirement number), day 7 (book a free chat). Follow the newsletter and sunny-voice skills → content/email/welcome-sequence.md. Then, using the Gmail connector, create the three emails as DRAFTS in my Gmail, addressed to me. Send nothing. Publish the three emails as an artifact: one tab per email, laid out as it will look in the inbox. Write for a business owner, in plain English: no codes, IDs, file names or line numbers; start with what it means and what I do next. Save a Word copy (.docx) of each result.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check it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Publish the table as an artifact, coloured by severity. Write for a business owner, in plain English: no codes, IDs, file names or line numbers; start with what it means and what I do next. Save a Word copy (.docx) of each result.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Claude Code: put it on the website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the checked Money Check-up Checklist to Horizon's website in web/site/index.html, as a new section before the reviews, in the site's style:</a:t>
            </a:r>
          </a:p>
          <a:p>
            <a:pPr>
              <a:lnSpc>
                <a:spcPct val="110000"/>
              </a:lnSpc>
              <a:defRPr sz="1700" b="0">
                <a:solidFill>
                  <a:srgbClr val="21201C"/>
                </a:solidFill>
                <a:latin typeface="Calibri"/>
              </a:defRPr>
            </a:pPr>
            <a:r>
              <a:t>the title and promise, what's inside, and an email box with a required consent tick box. Once a valid email is entered, show the ten items as tick boxes and a "Print or save as PDF" button. Add "Free checklist" to the menu. Change nothing else on the site. Then open web/site/index.html in my web browser.</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is on your copy of the website: email and consent first, then the ten tick boxes.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brief</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copy</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images</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shares hooks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asks for copy</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flags segments</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Lead</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 ↔ design ↔ review loops</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Campaigns</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(and sub-agents in Claude: Labs 6, 15)</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11, 12</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your studio folder already has them switched on.</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 Claude Code.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Already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studio folder switches agent teams on — nothing to set.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Name the agent types</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teammates using the agent types content-creator and creative-designer."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Teammates load CLAUDE.md, skills and connectors — but not the Lead's conversation. One team per session.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You type "approved &lt;id&gt; by &lt;your name&gt;". The gate reads your own message — an agent cannot write one.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blocks agents from approving, editing the approval records, or publishing unapproved items.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THE GATE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Gate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Already in your studio folder. You never run it — you just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puts a checked piece up for review.</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read</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post, the image, the email or the video.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type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"approved &lt;id&gt; by &lt;your name&gt;" — or "changes &lt;id&gt;: what to fix".</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Recorded</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name, the time and a fingerprint of the exact words.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Only approved, unchanged pieces. Edit one word and it needs you again.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gate is a hook: it reads your own message, and blocks any agent that tries to approve or publish on its own.</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Type "approved &lt;id&gt; by &lt;name&gt;"; dry run, then go.</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(or dry-run)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and its hook · an agent team: creator, designer, Lead · teammates message each other · human approval → post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The gate is on  </a:t>
            </a:r>
            <a:r>
              <a:rPr sz="1300">
                <a:solidFill>
                  <a:srgbClr val="6B6862"/>
                </a:solidFill>
                <a:latin typeface="Calibri"/>
              </a:rPr>
              <a:t>Your studio folder came with the approval gate and agent teams switched on — nothing to install.</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Claude to approve a post itself. The gate must block it.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team  </a:t>
            </a:r>
            <a:r>
              <a:rPr sz="1300">
                <a:solidFill>
                  <a:srgbClr val="6B6862"/>
                </a:solidFill>
                <a:latin typeface="Calibri"/>
              </a:rPr>
              <a:t>Copy and paste Prompt A. Teammates appear in the panel; ↑ ↓ and Enter open one; Ctrl+T shows the task list.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them talk  </a:t>
            </a:r>
            <a:r>
              <a:rPr sz="1300">
                <a:solidFill>
                  <a:srgbClr val="6B6862"/>
                </a:solidFill>
                <a:latin typeface="Calibri"/>
              </a:rPr>
              <a:t>The designer asks the creator for each post's hook; the Lead sends fixes back.</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Review in the artifact (or open the review email and click its link). Click Approve or Request changes, then paste the copied line into the chat.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After you have approved the posts, copy and paste Prompt B. A dry run first; real posting only if your accounts are connected.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social team</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for Week 1 social from data/social-brief.md and strategy/calendar.csv. Spawn two teammates using the agent types content-creator and creative-designer; you are the Lead.</a:t>
            </a:r>
          </a:p>
          <a:p>
            <a:pPr>
              <a:lnSpc>
                <a:spcPct val="110000"/>
              </a:lnSpc>
              <a:defRPr sz="1580" b="0">
                <a:solidFill>
                  <a:srgbClr val="21201C"/>
                </a:solidFill>
                <a:latin typeface="Calibri"/>
              </a:defRPr>
            </a:pPr>
            <a:r>
              <a:t>- content-creator: 1 LinkedIn + 1 Facebook post with linkedin-post, facebook-post and copywriting, one file each in content/social/week-01/, with the frontmatter in data/publishing-spec.md.</a:t>
            </a:r>
          </a:p>
          <a:p>
            <a:pPr>
              <a:lnSpc>
                <a:spcPct val="110000"/>
              </a:lnSpc>
              <a:defRPr sz="1580" b="0">
                <a:solidFill>
                  <a:srgbClr val="21201C"/>
                </a:solidFill>
                <a:latin typeface="Calibri"/>
              </a:defRPr>
            </a:pPr>
            <a:r>
              <a:t>- creative-designer: one image per post (a rendered card in Horizon colours) with alt text; message the creator for each post's hook before designing.</a:t>
            </a:r>
          </a:p>
          <a:p>
            <a:pPr>
              <a:lnSpc>
                <a:spcPct val="110000"/>
              </a:lnSpc>
              <a:defRPr sz="1580" b="0">
                <a:solidFill>
                  <a:srgbClr val="21201C"/>
                </a:solidFill>
                <a:latin typeface="Calibri"/>
              </a:defRPr>
            </a:pPr>
            <a:r>
              <a:t>- You: fact-check and fin-compliance on every post; message fixes to the teammate who owns it. Before you start, ask me how I will review: in the artifact, or by email (then ask for the approver's address). When a post passes, submit it for review with scripts/submit.mjs. Publish the two posts as an artifact, each as it will look in the feed, with its image and alt text; under each post put an Approve button and a Request changes box that copy the exact line for me to paste in the chat. If I chose email, send ONE review email to the approver with Gmail: the artifact link and what passed the checks. Send nothing else;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publish</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approved in review/approvals.csv, do a dry run of publishing it (scripts/publish.mjs) and publish each request as an artifact: one card per post with channel, time and link. Wait for me to say "go" before anything goes live.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A designer who can ask the writer for the hook makes a better image.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gate stopped Claude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teammates ran; the task list showed their tasks.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designer and the creator messaged each other.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alt text, frontmatter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in the artifact or by email and pasted the approval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nothing went live unless you said go.</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a Claude artifact.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artifact,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Review the issue in the artifact (or open the review email and click its link). Click Approve or Request changes, then paste the copied line into the chat.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a Claude artifact.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newsletter team</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for the November Sunny Sunday email (data/newsletter-brief.md, data/newsletter-spec.md) and its landing page (data/landing-page-brief.md). Spawn three teammates:</a:t>
            </a:r>
          </a:p>
          <a:p>
            <a:pPr>
              <a:lnSpc>
                <a:spcPct val="110000"/>
              </a:lnSpc>
              <a:defRPr sz="1580" b="0">
                <a:solidFill>
                  <a:srgbClr val="21201C"/>
                </a:solidFill>
                <a:latin typeface="Calibri"/>
              </a:defRPr>
            </a:pPr>
            <a:r>
              <a:t>content-creator, website-designer and growth-analyst.</a:t>
            </a:r>
          </a:p>
          <a:p>
            <a:pPr>
              <a:lnSpc>
                <a:spcPct val="110000"/>
              </a:lnSpc>
              <a:defRPr sz="1580" b="0">
                <a:solidFill>
                  <a:srgbClr val="21201C"/>
                </a:solidFill>
                <a:latin typeface="Calibri"/>
              </a:defRPr>
            </a:pPr>
            <a:r>
              <a:t>- content-creator: issue.md (id nl-2026-11) with newsletter, and the landing-page copy.</a:t>
            </a:r>
          </a:p>
          <a:p>
            <a:pPr>
              <a:lnSpc>
                <a:spcPct val="110000"/>
              </a:lnSpc>
              <a:defRPr sz="1580" b="0">
                <a:solidFill>
                  <a:srgbClr val="21201C"/>
                </a:solidFill>
                <a:latin typeface="Calibri"/>
              </a:defRPr>
            </a:pPr>
            <a:r>
              <a:t>- website-designer: web/checklist/index.html with lead-magnet, web-design and landing-page from the approved copy; page-qa.</a:t>
            </a:r>
          </a:p>
          <a:p>
            <a:pPr>
              <a:lnSpc>
                <a:spcPct val="110000"/>
              </a:lnSpc>
              <a:defRPr sz="1580" b="0">
                <a:solidFill>
                  <a:srgbClr val="21201C"/>
                </a:solidFill>
                <a:latin typeface="Calibri"/>
              </a:defRPr>
            </a:pPr>
            <a:r>
              <a:t>- growth-analyst: recipients.csv and excluded.csv from data/subscribers.csv. Before you start, ask me how I will review: in the artifact, or by email (then ask for the approver's address). You check everything, then submit nl-2026-11 and publish the issue as an artifact, laid out as the email, with the counts of recipients and excluded, an Approve button and a Request changes box that copy the exact line for me to paste in the chat. If I chose email, send ONE review email to the approver with Gmail: the artifact link and what passed the checks. Only after I approve, build newsletter.html and .txt and publish the page as an artifact. Write for a business owner, in plain English: no codes, IDs, file names or line numbers; start with what it means and what I do next. Save a Word copy (.docx) of each result.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newsletter.html for each address in recipients.csv, plus one draft addressed to me only. Send nothing. Publish a report as an artifact: how many drafts, how many people were excluded, and why,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nl-2026-11 in the artifact or by email and approved it in the chat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in the storyboard artifact; type: approved yt-ep01-script by &lt;your name&gt;.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video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storyboard of the scenes and a thumbnail, using brand-visuals). You fact-check and fin-compliance the script, then submit it as yt-ep01-script. Publish nothing. Publish the storyboard as an artifact: one frame per scene with its words, visual and timing, and the thumbnail. Write for a business owner, in plain English: no codes, IDs, file names or line numbers; start with what it means and what I do next. Save a Word copy (.docx) of each result.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Claude Code: render and upload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its length and size. Do not change approved words. Publish the checks as an artifact: length, size, resolution and every scene, PASS or FAIL.</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Do a dry run of the YouTube upload for yt-ep01 (scripts/publish.mjs). If I say "go", upload it for real — as PRIVATE. Publish the request, then the YouTube Studio link,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Agent teams at work: argue a strategy, then a QA loop</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Pause scheduled tasks you are not using.</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(skill, routine,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into the instructions of a new routine: Routines → New routine → Local, Mondays at 8am.</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Click Run now once, approve any permission prompts, then open the Gmail draft.</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routine.</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do it once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Horizon's Growth Analyst. Using Google Drive, read campaign-results.csv in the Horizon Studio folder. Use the campaign-report skill and data/weekly-report-brief.md. Leave the report as a Gmail DRAFT to me, subject "Horizon weekly growth report" and today's date. Send nothing. Also publish the report as an artifact: cost per chat by channel as a chart, and the budget split. Write for a business owner, in plain English: no codes, IDs, file names or line numbers; start with what it means and what I do next. Save a Word copy (.docx) of each result.</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routine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campaign-report skill as Horizon's Growth Analyst. Read campaign-results.csv in the Horizon Studio folder on Google Drive and follow weekly-report-brief.md. Leave the report as a draft email to me in Gmail with the subject "Horizon weekly growth report" and today's date. Do not send it, and do not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used the campaign-report skill from your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 typed by a person, hash, gate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compare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agent teams and the scheduled task — on minutes, tokens, defects caught before a person and human edits. Which pattern pays off for which job? Save reports/agent-comparison.md. Publish it as an artifact: one chart per measure, comparing the patterns. Write for a business owner, in plain English: no codes, IDs, file names or line numbers; start with what it means and what I do next. Save a Word copy (.docx) of each result.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playbook</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.claude/agents/, its skills, connectors, model and what it may never do; the approval matrix by risk; the rules in data/responsible-ai-checklist.md; and what to do when a wrong post goes out. Then run fin-compliance on it. Publish the playbook as an artifact: the roster as cards, the approval matrix as a table.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an agent team?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Same work, different wiring: who spawns whom, and who talks to whom.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TextBox 7"/>
          <p:cNvSpPr txBox="1"/>
          <p:nvPr/>
        </p:nvSpPr>
        <p:spPr>
          <a:xfrm>
            <a:off x="548640" y="2039112"/>
            <a:ext cx="2743200" cy="256032"/>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SUBAGENTS</a:t>
            </a:r>
          </a:p>
        </p:txBody>
      </p:sp>
      <p:sp>
        <p:nvSpPr>
          <p:cNvPr id="9" name="Rounded Rectangle 8"/>
          <p:cNvSpPr/>
          <p:nvPr/>
        </p:nvSpPr>
        <p:spPr>
          <a:xfrm>
            <a:off x="2308860"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Main Agent</a:t>
            </a:r>
          </a:p>
        </p:txBody>
      </p:sp>
      <p:cxnSp>
        <p:nvCxnSpPr>
          <p:cNvPr id="10" name="Connector 9"/>
          <p:cNvCxnSpPr/>
          <p:nvPr/>
        </p:nvCxnSpPr>
        <p:spPr>
          <a:xfrm flipH="1">
            <a:off x="1879092" y="2816351"/>
            <a:ext cx="1069847"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229868"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2" name="Connector 11"/>
          <p:cNvCxnSpPr/>
          <p:nvPr/>
        </p:nvCxnSpPr>
        <p:spPr>
          <a:xfrm>
            <a:off x="1879092"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24812"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14" name="Oval 13"/>
          <p:cNvSpPr/>
          <p:nvPr/>
        </p:nvSpPr>
        <p:spPr>
          <a:xfrm>
            <a:off x="1376172"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15" name="Connector 14"/>
          <p:cNvCxnSpPr/>
          <p:nvPr/>
        </p:nvCxnSpPr>
        <p:spPr>
          <a:xfrm>
            <a:off x="1879092"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1860" y="2816351"/>
            <a:ext cx="0"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02636"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8" name="Connector 17"/>
          <p:cNvCxnSpPr/>
          <p:nvPr/>
        </p:nvCxnSpPr>
        <p:spPr>
          <a:xfrm>
            <a:off x="3451860"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97580"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0" name="Oval 19"/>
          <p:cNvSpPr/>
          <p:nvPr/>
        </p:nvSpPr>
        <p:spPr>
          <a:xfrm>
            <a:off x="2948940"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1" name="Connector 20"/>
          <p:cNvCxnSpPr/>
          <p:nvPr/>
        </p:nvCxnSpPr>
        <p:spPr>
          <a:xfrm>
            <a:off x="3451860"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54780" y="2816351"/>
            <a:ext cx="1069848"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375404"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24" name="Connector 23"/>
          <p:cNvCxnSpPr/>
          <p:nvPr/>
        </p:nvCxnSpPr>
        <p:spPr>
          <a:xfrm>
            <a:off x="5024628"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0348"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6" name="Oval 25"/>
          <p:cNvSpPr/>
          <p:nvPr/>
        </p:nvSpPr>
        <p:spPr>
          <a:xfrm>
            <a:off x="4521708"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7" name="Connector 26"/>
          <p:cNvCxnSpPr/>
          <p:nvPr/>
        </p:nvCxnSpPr>
        <p:spPr>
          <a:xfrm>
            <a:off x="5024628"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40580" y="2980944"/>
            <a:ext cx="731520" cy="219456"/>
          </a:xfrm>
          <a:prstGeom prst="rect">
            <a:avLst/>
          </a:prstGeom>
          <a:noFill/>
        </p:spPr>
        <p:txBody>
          <a:bodyPr wrap="square" lIns="18288" rIns="18288" tIns="9144" bIns="9144">
            <a:spAutoFit/>
          </a:bodyPr>
          <a:lstStyle/>
          <a:p>
            <a:pPr>
              <a:lnSpc>
                <a:spcPct val="100000"/>
              </a:lnSpc>
              <a:defRPr sz="950" b="1">
                <a:solidFill>
                  <a:srgbClr val="D97757"/>
                </a:solidFill>
                <a:latin typeface="Calibri"/>
              </a:defRPr>
            </a:pPr>
            <a:r>
              <a:t>spawn</a:t>
            </a:r>
          </a:p>
        </p:txBody>
      </p:sp>
      <p:cxnSp>
        <p:nvCxnSpPr>
          <p:cNvPr id="29" name="Connector 28"/>
          <p:cNvCxnSpPr/>
          <p:nvPr/>
        </p:nvCxnSpPr>
        <p:spPr>
          <a:xfrm flipH="1">
            <a:off x="658368" y="4901183"/>
            <a:ext cx="4366260" cy="0"/>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58368" y="2587751"/>
            <a:ext cx="0" cy="2313432"/>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2587751"/>
            <a:ext cx="1650492" cy="0"/>
          </a:xfrm>
          <a:prstGeom prst="line">
            <a:avLst/>
          </a:prstGeom>
          <a:ln w="22225">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6212" y="4937759"/>
            <a:ext cx="4206240" cy="237744"/>
          </a:xfrm>
          <a:prstGeom prst="rect">
            <a:avLst/>
          </a:prstGeom>
          <a:noFill/>
        </p:spPr>
        <p:txBody>
          <a:bodyPr wrap="square" lIns="18288" rIns="18288" tIns="9144" bIns="9144">
            <a:spAutoFit/>
          </a:bodyPr>
          <a:lstStyle/>
          <a:p>
            <a:pPr>
              <a:lnSpc>
                <a:spcPct val="100000"/>
              </a:lnSpc>
              <a:defRPr sz="950" b="1">
                <a:solidFill>
                  <a:srgbClr val="6B6862"/>
                </a:solidFill>
                <a:latin typeface="Calibri"/>
              </a:defRPr>
            </a:pPr>
            <a:r>
              <a:t>report results back — subagents never talk to each other</a:t>
            </a:r>
          </a:p>
        </p:txBody>
      </p:sp>
      <p:cxnSp>
        <p:nvCxnSpPr>
          <p:cNvPr id="33" name="Connector 32"/>
          <p:cNvCxnSpPr/>
          <p:nvPr/>
        </p:nvCxnSpPr>
        <p:spPr>
          <a:xfrm>
            <a:off x="6053328" y="2039112"/>
            <a:ext cx="0" cy="3465576"/>
          </a:xfrm>
          <a:prstGeom prst="line">
            <a:avLst/>
          </a:prstGeom>
          <a:ln w="15875">
            <a:solidFill>
              <a:srgbClr val="DCD8C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63640" y="2039112"/>
            <a:ext cx="2743200" cy="256032"/>
          </a:xfrm>
          <a:prstGeom prst="rect">
            <a:avLst/>
          </a:prstGeom>
          <a:noFill/>
        </p:spPr>
        <p:txBody>
          <a:bodyPr wrap="square" lIns="18288" rIns="18288" tIns="9144" bIns="9144">
            <a:spAutoFit/>
          </a:bodyPr>
          <a:lstStyle/>
          <a:p>
            <a:pPr>
              <a:lnSpc>
                <a:spcPct val="100000"/>
              </a:lnSpc>
              <a:defRPr sz="1200" b="1">
                <a:solidFill>
                  <a:srgbClr val="3A7D7B"/>
                </a:solidFill>
                <a:latin typeface="Calibri"/>
              </a:defRPr>
            </a:pPr>
            <a:r>
              <a:t>AGENT TEAM</a:t>
            </a:r>
          </a:p>
        </p:txBody>
      </p:sp>
      <p:sp>
        <p:nvSpPr>
          <p:cNvPr id="35" name="Rounded Rectangle 34"/>
          <p:cNvSpPr/>
          <p:nvPr/>
        </p:nvSpPr>
        <p:spPr>
          <a:xfrm>
            <a:off x="7795259"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Team Lead</a:t>
            </a:r>
          </a:p>
        </p:txBody>
      </p:sp>
      <p:cxnSp>
        <p:nvCxnSpPr>
          <p:cNvPr id="36" name="Connector 35"/>
          <p:cNvCxnSpPr/>
          <p:nvPr/>
        </p:nvCxnSpPr>
        <p:spPr>
          <a:xfrm>
            <a:off x="8938259" y="2816351"/>
            <a:ext cx="0" cy="41148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11411" y="2907791"/>
            <a:ext cx="2377440" cy="219456"/>
          </a:xfrm>
          <a:prstGeom prst="rect">
            <a:avLst/>
          </a:prstGeom>
          <a:noFill/>
        </p:spPr>
        <p:txBody>
          <a:bodyPr wrap="square" lIns="18288" rIns="18288" tIns="9144" bIns="9144">
            <a:spAutoFit/>
          </a:bodyPr>
          <a:lstStyle/>
          <a:p>
            <a:pPr>
              <a:lnSpc>
                <a:spcPct val="100000"/>
              </a:lnSpc>
              <a:defRPr sz="950" b="1">
                <a:solidFill>
                  <a:srgbClr val="3A7D7B"/>
                </a:solidFill>
                <a:latin typeface="Calibri"/>
              </a:defRPr>
            </a:pPr>
            <a:r>
              <a:t>spawn team &amp; assign tasks</a:t>
            </a:r>
          </a:p>
        </p:txBody>
      </p:sp>
      <p:sp>
        <p:nvSpPr>
          <p:cNvPr id="38" name="Rounded Rectangle 37"/>
          <p:cNvSpPr/>
          <p:nvPr/>
        </p:nvSpPr>
        <p:spPr>
          <a:xfrm>
            <a:off x="6309359" y="3227831"/>
            <a:ext cx="5257800" cy="2103120"/>
          </a:xfrm>
          <a:prstGeom prst="roundRect">
            <a:avLst>
              <a:gd name="adj" fmla="val 6000"/>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37959" y="3392423"/>
            <a:ext cx="4800600" cy="402336"/>
          </a:xfrm>
          <a:prstGeom prst="roundRect">
            <a:avLst>
              <a:gd name="adj" fmla="val 18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250" b="1">
                <a:solidFill>
                  <a:srgbClr val="3A7D7B"/>
                </a:solidFill>
                <a:latin typeface="Calibri"/>
              </a:defRPr>
            </a:pPr>
            <a:r>
              <a:t>Shared Task List</a:t>
            </a:r>
          </a:p>
        </p:txBody>
      </p:sp>
      <p:cxnSp>
        <p:nvCxnSpPr>
          <p:cNvPr id="40" name="Connector 39"/>
          <p:cNvCxnSpPr/>
          <p:nvPr/>
        </p:nvCxnSpPr>
        <p:spPr>
          <a:xfrm>
            <a:off x="7228331"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565392"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2" name="Connector 41"/>
          <p:cNvCxnSpPr/>
          <p:nvPr/>
        </p:nvCxnSpPr>
        <p:spPr>
          <a:xfrm>
            <a:off x="7228331"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274051"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4" name="Connector 43"/>
          <p:cNvCxnSpPr/>
          <p:nvPr/>
        </p:nvCxnSpPr>
        <p:spPr>
          <a:xfrm>
            <a:off x="8938259"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275319"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6" name="Connector 45"/>
          <p:cNvCxnSpPr/>
          <p:nvPr/>
        </p:nvCxnSpPr>
        <p:spPr>
          <a:xfrm>
            <a:off x="7918703" y="4636007"/>
            <a:ext cx="329185"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938259"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983980"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9" name="Connector 48"/>
          <p:cNvCxnSpPr/>
          <p:nvPr/>
        </p:nvCxnSpPr>
        <p:spPr>
          <a:xfrm>
            <a:off x="10648188"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985248"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51" name="Connector 50"/>
          <p:cNvCxnSpPr/>
          <p:nvPr/>
        </p:nvCxnSpPr>
        <p:spPr>
          <a:xfrm>
            <a:off x="9628632" y="4636007"/>
            <a:ext cx="329184"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648188"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693908"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54" name="TextBox 53"/>
          <p:cNvSpPr txBox="1"/>
          <p:nvPr/>
        </p:nvSpPr>
        <p:spPr>
          <a:xfrm>
            <a:off x="7306056" y="3941063"/>
            <a:ext cx="1554480" cy="219456"/>
          </a:xfrm>
          <a:prstGeom prst="rect">
            <a:avLst/>
          </a:prstGeom>
          <a:noFill/>
        </p:spPr>
        <p:txBody>
          <a:bodyPr wrap="square" lIns="18288" rIns="18288" tIns="9144" bIns="9144">
            <a:spAutoFit/>
          </a:bodyPr>
          <a:lstStyle/>
          <a:p>
            <a:pPr algn="ctr">
              <a:lnSpc>
                <a:spcPct val="100000"/>
              </a:lnSpc>
              <a:defRPr sz="950" b="1">
                <a:solidFill>
                  <a:srgbClr val="3A7D7B"/>
                </a:solidFill>
                <a:latin typeface="Calibri"/>
              </a:defRPr>
            </a:pPr>
            <a:r>
              <a:t>claim &amp; update tasks</a:t>
            </a:r>
          </a:p>
        </p:txBody>
      </p:sp>
      <p:sp>
        <p:nvSpPr>
          <p:cNvPr id="55" name="TextBox 54"/>
          <p:cNvSpPr txBox="1"/>
          <p:nvPr/>
        </p:nvSpPr>
        <p:spPr>
          <a:xfrm>
            <a:off x="7306056" y="4983479"/>
            <a:ext cx="1554480" cy="219456"/>
          </a:xfrm>
          <a:prstGeom prst="rect">
            <a:avLst/>
          </a:prstGeom>
          <a:noFill/>
        </p:spPr>
        <p:txBody>
          <a:bodyPr wrap="square" lIns="18288" rIns="18288" tIns="9144" bIns="9144">
            <a:spAutoFit/>
          </a:bodyPr>
          <a:lstStyle/>
          <a:p>
            <a:pPr algn="ctr">
              <a:lnSpc>
                <a:spcPct val="100000"/>
              </a:lnSpc>
              <a:defRPr sz="950" b="1">
                <a:solidFill>
                  <a:srgbClr val="5B4B8A"/>
                </a:solidFill>
                <a:latin typeface="Calibri"/>
              </a:defRPr>
            </a:pPr>
            <a:r>
              <a:t>message each other</a:t>
            </a:r>
          </a:p>
        </p:txBody>
      </p:sp>
      <p:sp>
        <p:nvSpPr>
          <p:cNvPr id="56" name="Rounded Rectangle 55"/>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Subagents report back to one agent. Teammates share a task list and talk to each other.</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Team That Argues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1: test a strategy before Horizon spends on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Advocate · growth-strategist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FOR the "Turning 55" CPF explainer</a:t>
            </a:r>
          </a:p>
        </p:txBody>
      </p:sp>
      <p:sp>
        <p:nvSpPr>
          <p:cNvPr id="13" name="Rectangle 12"/>
          <p:cNvSpPr/>
          <p:nvPr/>
        </p:nvSpPr>
        <p:spPr>
          <a:xfrm>
            <a:off x="804672" y="3898391"/>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Cites results, personas and the facts sheet</a:t>
            </a:r>
          </a:p>
        </p:txBody>
      </p:sp>
      <p:sp>
        <p:nvSpPr>
          <p:cNvPr id="15" name="Rectangle 14"/>
          <p:cNvSpPr/>
          <p:nvPr/>
        </p:nvSpPr>
        <p:spPr>
          <a:xfrm>
            <a:off x="804672" y="478840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Answers the critic directly — two rebuttals</a:t>
            </a:r>
          </a:p>
        </p:txBody>
      </p:sp>
      <p:sp>
        <p:nvSpPr>
          <p:cNvPr id="17" name="Rounded Rectangle 16"/>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Critic · growth-analyst</a:t>
            </a:r>
          </a:p>
        </p:txBody>
      </p:sp>
      <p:sp>
        <p:nvSpPr>
          <p:cNvPr id="20" name="Rectangle 19"/>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3407"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AGAINST it — cost, timing, audience</a:t>
            </a:r>
          </a:p>
        </p:txBody>
      </p:sp>
      <p:sp>
        <p:nvSpPr>
          <p:cNvPr id="22" name="Rectangle 21"/>
          <p:cNvSpPr/>
          <p:nvPr/>
        </p:nvSpPr>
        <p:spPr>
          <a:xfrm>
            <a:off x="6473951" y="3898391"/>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Every point backed by a file, not an opinion</a:t>
            </a:r>
          </a:p>
        </p:txBody>
      </p:sp>
      <p:sp>
        <p:nvSpPr>
          <p:cNvPr id="24" name="Rectangle 23"/>
          <p:cNvSpPr/>
          <p:nvPr/>
        </p:nvSpPr>
        <p:spPr>
          <a:xfrm>
            <a:off x="6473951" y="478840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Lead judges; a person makes the call</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2: a failed audit goes straight back to the writer — not through the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Rounded Rectangle 7"/>
          <p:cNvSpPr/>
          <p:nvPr/>
        </p:nvSpPr>
        <p:spPr>
          <a:xfrm>
            <a:off x="548640" y="2587752"/>
            <a:ext cx="2606040" cy="1097280"/>
          </a:xfrm>
          <a:prstGeom prst="roundRect">
            <a:avLst>
              <a:gd name="adj" fmla="val 6000"/>
            </a:avLst>
          </a:prstGeom>
          <a:solidFill>
            <a:srgbClr val="FFFFFF"/>
          </a:solidFill>
          <a:ln w="222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87752"/>
            <a:ext cx="2606040"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Writer</a:t>
            </a:r>
          </a:p>
        </p:txBody>
      </p:sp>
      <p:sp>
        <p:nvSpPr>
          <p:cNvPr id="11" name="TextBox 10"/>
          <p:cNvSpPr txBox="1"/>
          <p:nvPr/>
        </p:nvSpPr>
        <p:spPr>
          <a:xfrm>
            <a:off x="71323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content-creator: rewrites the intern's draft into an email and a video script.</a:t>
            </a:r>
          </a:p>
        </p:txBody>
      </p:sp>
      <p:sp>
        <p:nvSpPr>
          <p:cNvPr id="12" name="Rounded Rectangle 11"/>
          <p:cNvSpPr/>
          <p:nvPr/>
        </p:nvSpPr>
        <p:spPr>
          <a:xfrm>
            <a:off x="4160520" y="2587752"/>
            <a:ext cx="2606040" cy="1097280"/>
          </a:xfrm>
          <a:prstGeom prst="roundRect">
            <a:avLst>
              <a:gd name="adj" fmla="val 6000"/>
            </a:avLst>
          </a:prstGeom>
          <a:solidFill>
            <a:srgbClr val="FFFFFF"/>
          </a:solid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587752"/>
            <a:ext cx="26060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QA Auditor</a:t>
            </a:r>
          </a:p>
        </p:txBody>
      </p:sp>
      <p:sp>
        <p:nvSpPr>
          <p:cNvPr id="15" name="TextBox 14"/>
          <p:cNvSpPr txBox="1"/>
          <p:nvPr/>
        </p:nvSpPr>
        <p:spPr>
          <a:xfrm>
            <a:off x="432511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fact-check + fin-compliance; PASS or FAIL per check, every round logged.</a:t>
            </a:r>
          </a:p>
        </p:txBody>
      </p:sp>
      <p:cxnSp>
        <p:nvCxnSpPr>
          <p:cNvPr id="16" name="Connector 15"/>
          <p:cNvCxnSpPr/>
          <p:nvPr/>
        </p:nvCxnSpPr>
        <p:spPr>
          <a:xfrm>
            <a:off x="3209544" y="2898648"/>
            <a:ext cx="896112" cy="0"/>
          </a:xfrm>
          <a:prstGeom prst="line">
            <a:avLst/>
          </a:prstGeom>
          <a:ln w="2540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54680" y="2624328"/>
            <a:ext cx="1005839" cy="237744"/>
          </a:xfrm>
          <a:prstGeom prst="rect">
            <a:avLst/>
          </a:prstGeom>
          <a:noFill/>
        </p:spPr>
        <p:txBody>
          <a:bodyPr wrap="square" lIns="18288" rIns="18288" tIns="9144" bIns="9144">
            <a:spAutoFit/>
          </a:bodyPr>
          <a:lstStyle/>
          <a:p>
            <a:pPr algn="ctr">
              <a:lnSpc>
                <a:spcPct val="100000"/>
              </a:lnSpc>
              <a:defRPr sz="1050" b="1">
                <a:solidFill>
                  <a:srgbClr val="5B4B8A"/>
                </a:solidFill>
                <a:latin typeface="Calibri"/>
              </a:defRPr>
            </a:pPr>
            <a:r>
              <a:t>draft</a:t>
            </a:r>
          </a:p>
        </p:txBody>
      </p:sp>
      <p:cxnSp>
        <p:nvCxnSpPr>
          <p:cNvPr id="18" name="Connector 17"/>
          <p:cNvCxnSpPr/>
          <p:nvPr/>
        </p:nvCxnSpPr>
        <p:spPr>
          <a:xfrm flipH="1">
            <a:off x="3209544" y="3374136"/>
            <a:ext cx="896112" cy="0"/>
          </a:xfrm>
          <a:prstGeom prst="line">
            <a:avLst/>
          </a:prstGeom>
          <a:ln w="25400">
            <a:solidFill>
              <a:srgbClr val="D97757"/>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3410712"/>
            <a:ext cx="1005839"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FAIL → fixes</a:t>
            </a:r>
          </a:p>
        </p:txBody>
      </p:sp>
      <p:cxnSp>
        <p:nvCxnSpPr>
          <p:cNvPr id="20" name="Connector 19"/>
          <p:cNvCxnSpPr/>
          <p:nvPr/>
        </p:nvCxnSpPr>
        <p:spPr>
          <a:xfrm>
            <a:off x="6803136" y="3136392"/>
            <a:ext cx="640080" cy="0"/>
          </a:xfrm>
          <a:prstGeom prst="line">
            <a:avLst/>
          </a:prstGeom>
          <a:ln w="2540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84848" y="2843784"/>
            <a:ext cx="640080" cy="237744"/>
          </a:xfrm>
          <a:prstGeom prst="rect">
            <a:avLst/>
          </a:prstGeom>
          <a:noFill/>
        </p:spPr>
        <p:txBody>
          <a:bodyPr wrap="square" lIns="18288" rIns="18288" tIns="9144" bIns="9144">
            <a:spAutoFit/>
          </a:bodyPr>
          <a:lstStyle/>
          <a:p>
            <a:pPr algn="ctr">
              <a:lnSpc>
                <a:spcPct val="100000"/>
              </a:lnSpc>
              <a:defRPr sz="1050" b="1">
                <a:solidFill>
                  <a:srgbClr val="3A7D7B"/>
                </a:solidFill>
                <a:latin typeface="Calibri"/>
              </a:defRPr>
            </a:pPr>
            <a:r>
              <a:t>PASS</a:t>
            </a:r>
          </a:p>
        </p:txBody>
      </p:sp>
      <p:sp>
        <p:nvSpPr>
          <p:cNvPr id="22" name="Rounded Rectangle 21"/>
          <p:cNvSpPr/>
          <p:nvPr/>
        </p:nvSpPr>
        <p:spPr>
          <a:xfrm>
            <a:off x="7516368"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6096"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Designer</a:t>
            </a:r>
          </a:p>
        </p:txBody>
      </p:sp>
      <p:sp>
        <p:nvSpPr>
          <p:cNvPr id="24" name="TextBox 23"/>
          <p:cNvSpPr txBox="1"/>
          <p:nvPr/>
        </p:nvSpPr>
        <p:spPr>
          <a:xfrm>
            <a:off x="7626096"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Asks the writer for the headline; one image.</a:t>
            </a:r>
          </a:p>
        </p:txBody>
      </p:sp>
      <p:sp>
        <p:nvSpPr>
          <p:cNvPr id="25" name="Rounded Rectangle 24"/>
          <p:cNvSpPr/>
          <p:nvPr/>
        </p:nvSpPr>
        <p:spPr>
          <a:xfrm>
            <a:off x="8924544"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Lead</a:t>
            </a:r>
          </a:p>
        </p:txBody>
      </p:sp>
      <p:sp>
        <p:nvSpPr>
          <p:cNvPr id="27" name="TextBox 26"/>
          <p:cNvSpPr txBox="1"/>
          <p:nvPr/>
        </p:nvSpPr>
        <p:spPr>
          <a:xfrm>
            <a:off x="9034272"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Submits for approval; never rewrites.</a:t>
            </a:r>
          </a:p>
        </p:txBody>
      </p:sp>
      <p:cxnSp>
        <p:nvCxnSpPr>
          <p:cNvPr id="28" name="Connector 27"/>
          <p:cNvCxnSpPr/>
          <p:nvPr/>
        </p:nvCxnSpPr>
        <p:spPr>
          <a:xfrm>
            <a:off x="8805672"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332720" y="2587752"/>
            <a:ext cx="1280159" cy="10972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2752344"/>
            <a:ext cx="1060703" cy="310896"/>
          </a:xfrm>
          <a:prstGeom prst="rect">
            <a:avLst/>
          </a:prstGeom>
          <a:noFill/>
        </p:spPr>
        <p:txBody>
          <a:bodyPr wrap="square" lIns="18288" rIns="18288" tIns="9144" bIns="9144">
            <a:spAutoFit/>
          </a:bodyPr>
          <a:lstStyle/>
          <a:p>
            <a:pPr>
              <a:lnSpc>
                <a:spcPct val="100000"/>
              </a:lnSpc>
              <a:defRPr sz="1300" b="1">
                <a:solidFill>
                  <a:srgbClr val="FFFFFF"/>
                </a:solidFill>
                <a:latin typeface="Cambria"/>
              </a:defRPr>
            </a:pPr>
            <a:r>
              <a:t>Person</a:t>
            </a:r>
          </a:p>
        </p:txBody>
      </p:sp>
      <p:sp>
        <p:nvSpPr>
          <p:cNvPr id="31" name="TextBox 30"/>
          <p:cNvSpPr txBox="1"/>
          <p:nvPr/>
        </p:nvSpPr>
        <p:spPr>
          <a:xfrm>
            <a:off x="10442448" y="3099816"/>
            <a:ext cx="1060703" cy="548640"/>
          </a:xfrm>
          <a:prstGeom prst="rect">
            <a:avLst/>
          </a:prstGeom>
          <a:noFill/>
        </p:spPr>
        <p:txBody>
          <a:bodyPr wrap="square" lIns="18288" rIns="18288" tIns="9144" bIns="9144">
            <a:spAutoFit/>
          </a:bodyPr>
          <a:lstStyle/>
          <a:p>
            <a:pPr>
              <a:lnSpc>
                <a:spcPct val="105000"/>
              </a:lnSpc>
              <a:defRPr sz="1050" b="0">
                <a:solidFill>
                  <a:srgbClr val="C9C4B9"/>
                </a:solidFill>
                <a:latin typeface="Calibri"/>
              </a:defRPr>
            </a:pPr>
            <a:r>
              <a:t>Approves the exact version.</a:t>
            </a:r>
          </a:p>
        </p:txBody>
      </p:sp>
      <p:cxnSp>
        <p:nvCxnSpPr>
          <p:cNvPr id="32" name="Connector 31"/>
          <p:cNvCxnSpPr/>
          <p:nvPr/>
        </p:nvCxnSpPr>
        <p:spPr>
          <a:xfrm>
            <a:off x="10213848"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4050792"/>
            <a:ext cx="54864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THE AUDIT FAILS WHEN</a:t>
            </a:r>
          </a:p>
        </p:txBody>
      </p:sp>
      <p:sp>
        <p:nvSpPr>
          <p:cNvPr id="34" name="Oval 33"/>
          <p:cNvSpPr/>
          <p:nvPr/>
        </p:nvSpPr>
        <p:spPr>
          <a:xfrm>
            <a:off x="548640"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1</a:t>
            </a:r>
          </a:p>
        </p:txBody>
      </p:sp>
      <p:sp>
        <p:nvSpPr>
          <p:cNvPr id="35" name="TextBox 34"/>
          <p:cNvSpPr txBox="1"/>
          <p:nvPr/>
        </p:nvSpPr>
        <p:spPr>
          <a:xfrm>
            <a:off x="932688"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figure is not in facts-2026.md</a:t>
            </a:r>
          </a:p>
        </p:txBody>
      </p:sp>
      <p:sp>
        <p:nvSpPr>
          <p:cNvPr id="36" name="Oval 35"/>
          <p:cNvSpPr/>
          <p:nvPr/>
        </p:nvSpPr>
        <p:spPr>
          <a:xfrm>
            <a:off x="548640"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2</a:t>
            </a:r>
          </a:p>
        </p:txBody>
      </p:sp>
      <p:sp>
        <p:nvSpPr>
          <p:cNvPr id="37" name="TextBox 36"/>
          <p:cNvSpPr txBox="1"/>
          <p:nvPr/>
        </p:nvSpPr>
        <p:spPr>
          <a:xfrm>
            <a:off x="932688"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promise of savings or returns</a:t>
            </a:r>
          </a:p>
        </p:txBody>
      </p:sp>
      <p:sp>
        <p:nvSpPr>
          <p:cNvPr id="38" name="Oval 37"/>
          <p:cNvSpPr/>
          <p:nvPr/>
        </p:nvSpPr>
        <p:spPr>
          <a:xfrm>
            <a:off x="6126479"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3</a:t>
            </a:r>
          </a:p>
        </p:txBody>
      </p:sp>
      <p:sp>
        <p:nvSpPr>
          <p:cNvPr id="39" name="TextBox 38"/>
          <p:cNvSpPr txBox="1"/>
          <p:nvPr/>
        </p:nvSpPr>
        <p:spPr>
          <a:xfrm>
            <a:off x="6510527"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Advice ("everyone should…")</a:t>
            </a:r>
          </a:p>
        </p:txBody>
      </p:sp>
      <p:sp>
        <p:nvSpPr>
          <p:cNvPr id="40" name="Oval 39"/>
          <p:cNvSpPr/>
          <p:nvPr/>
        </p:nvSpPr>
        <p:spPr>
          <a:xfrm>
            <a:off x="6126479"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4</a:t>
            </a:r>
          </a:p>
        </p:txBody>
      </p:sp>
      <p:sp>
        <p:nvSpPr>
          <p:cNvPr id="41" name="TextBox 40"/>
          <p:cNvSpPr txBox="1"/>
          <p:nvPr/>
        </p:nvSpPr>
        <p:spPr>
          <a:xfrm>
            <a:off x="6510527"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wrong age or a missing disclaimer</a:t>
            </a:r>
          </a:p>
        </p:txBody>
      </p:sp>
      <p:sp>
        <p:nvSpPr>
          <p:cNvPr id="42" name="Rounded Rectangle 4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Three rounds at most — then the Lead escalates to a person.</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January is for people turning 55. Before Horizon spends on a CPF explainer for them, Rachel wants it argued both ways — and the intern's draft checked until it passes.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decision (pros, cons, verdict), then an email, a video script and a thumbnail that passed QA, submitted for your approval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teams: Lead, teammates, shared task list, direct messages)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advocate and a critic argue the pros and cons · the Lead judges · a writer and a QA Auditor loop until PASS · FAIL goes straight back to the writer · human approval</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1: the debate  </a:t>
            </a:r>
            <a:r>
              <a:rPr sz="1300">
                <a:solidFill>
                  <a:srgbClr val="6B6862"/>
                </a:solidFill>
                <a:latin typeface="Calibri"/>
              </a:rPr>
              <a:t>Copy and paste Prompt A. The advocate and the critic message each other; Ctrl+T shows the task list.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the decision artifact. Reply "go", "go with conditions" or "no-go" — the call is yours.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2: the QA loop  </a:t>
            </a:r>
            <a:r>
              <a:rPr sz="1300">
                <a:solidFill>
                  <a:srgbClr val="6B6862"/>
                </a:solidFill>
                <a:latin typeface="Calibri"/>
              </a:rPr>
              <a:t>After you have made the call, copy and paste Prompt B. The audit fails on round 1; watch the auditor message the writer directly.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Read the pieces and the QA artifact, then type in the chat: approved &lt;id&gt; by &lt;your name&gt; (or: changes &lt;id&gt;: what to fix).</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After you have approved the pieces, copy and paste Prompt C. The Lead stops each teammate and cleans up the team.</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159</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strategy debate</a:t>
            </a:r>
          </a:p>
        </p:txBody>
      </p:sp>
      <p:sp>
        <p:nvSpPr>
          <p:cNvPr id="9" name="TextBox 8"/>
          <p:cNvSpPr txBox="1"/>
          <p:nvPr/>
        </p:nvSpPr>
        <p:spPr>
          <a:xfrm>
            <a:off x="822960" y="2313432"/>
            <a:ext cx="10515600" cy="383974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to test the strategy in data/turning-55-brief.md before we spend on it. You are the Lead and the judge: do not argue. Spawn two teammates:</a:t>
            </a:r>
          </a:p>
          <a:p>
            <a:pPr>
              <a:lnSpc>
                <a:spcPct val="110000"/>
              </a:lnSpc>
              <a:defRPr sz="1700" b="0">
                <a:solidFill>
                  <a:srgbClr val="21201C"/>
                </a:solidFill>
                <a:latin typeface="Calibri"/>
              </a:defRPr>
            </a:pPr>
            <a:r>
              <a:t>- advocate, using the agent type growth-strategist:</a:t>
            </a:r>
          </a:p>
          <a:p>
            <a:pPr>
              <a:lnSpc>
                <a:spcPct val="110000"/>
              </a:lnSpc>
              <a:defRPr sz="1700" b="0">
                <a:solidFill>
                  <a:srgbClr val="21201C"/>
                </a:solidFill>
                <a:latin typeface="Calibri"/>
              </a:defRPr>
            </a:pPr>
            <a:r>
              <a:t>  argue FOR the strategy.</a:t>
            </a:r>
          </a:p>
          <a:p>
            <a:pPr>
              <a:lnSpc>
                <a:spcPct val="110000"/>
              </a:lnSpc>
              <a:defRPr sz="1700" b="0">
                <a:solidFill>
                  <a:srgbClr val="21201C"/>
                </a:solidFill>
                <a:latin typeface="Calibri"/>
              </a:defRPr>
            </a:pPr>
            <a:r>
              <a:t>- critic, using the agent type growth-analyst:</a:t>
            </a:r>
          </a:p>
          <a:p>
            <a:pPr>
              <a:lnSpc>
                <a:spcPct val="110000"/>
              </a:lnSpc>
              <a:defRPr sz="1700" b="0">
                <a:solidFill>
                  <a:srgbClr val="21201C"/>
                </a:solidFill>
                <a:latin typeface="Calibri"/>
              </a:defRPr>
            </a:pPr>
            <a:r>
              <a:t>  argue AGAINST it.</a:t>
            </a:r>
          </a:p>
          <a:p>
            <a:pPr>
              <a:lnSpc>
                <a:spcPct val="110000"/>
              </a:lnSpc>
              <a:defRPr sz="1700" b="0">
                <a:solidFill>
                  <a:srgbClr val="21201C"/>
                </a:solidFill>
                <a:latin typeface="Calibri"/>
              </a:defRPr>
            </a:pPr>
            <a:r>
              <a:t>- Both: cite data/campaign-results.csv, strategy/personas.md, data/facts-2026.md or data/compliance-checklist.md for every point; message each other directly; rebut twice at most.</a:t>
            </a:r>
          </a:p>
          <a:p>
            <a:pPr>
              <a:lnSpc>
                <a:spcPct val="110000"/>
              </a:lnSpc>
              <a:defRPr sz="1700" b="0">
                <a:solidFill>
                  <a:srgbClr val="21201C"/>
                </a:solidFill>
                <a:latin typeface="Calibri"/>
              </a:defRPr>
            </a:pPr>
            <a:r>
              <a:t>- You: write strategy/turning-55-decision.md with the pros, the cons, your verdict (go / go with conditions / no-go) and the conditions. Publish the decision as an artifact with the verdict on top, the pros and cons in two columns, and what I do next. Then wait for my decision. Write for a business owner, in plain English: no codes, IDs, file names or line numbers; start with what it means and what I do next. Save a Word copy (.docx) of each result.</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160</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QA loop</a:t>
            </a:r>
          </a:p>
        </p:txBody>
      </p:sp>
      <p:sp>
        <p:nvSpPr>
          <p:cNvPr id="9" name="TextBox 8"/>
          <p:cNvSpPr txBox="1"/>
          <p:nvPr/>
        </p:nvSpPr>
        <p:spPr>
          <a:xfrm>
            <a:off x="822960" y="2313432"/>
            <a:ext cx="10515600" cy="3728961"/>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Clean up the debate team, then create a new agent team for Part 2 of data/turning-55-brief.md, using my decision. Spawn three teammates:</a:t>
            </a:r>
          </a:p>
          <a:p>
            <a:pPr>
              <a:lnSpc>
                <a:spcPct val="110000"/>
              </a:lnSpc>
              <a:defRPr sz="1650" b="0">
                <a:solidFill>
                  <a:srgbClr val="21201C"/>
                </a:solidFill>
                <a:latin typeface="Calibri"/>
              </a:defRPr>
            </a:pPr>
            <a:r>
              <a:t>- writer, agent type content-creator: rewrite data/turning-55-draft.md into content/turning-55/email.md and content/turning-55/video-script.md.</a:t>
            </a:r>
          </a:p>
          <a:p>
            <a:pPr>
              <a:lnSpc>
                <a:spcPct val="110000"/>
              </a:lnSpc>
              <a:defRPr sz="1650" b="0">
                <a:solidFill>
                  <a:srgbClr val="21201C"/>
                </a:solidFill>
                <a:latin typeface="Calibri"/>
              </a:defRPr>
            </a:pPr>
            <a:r>
              <a:t>- qa-auditor: audit each piece with fact-check and fin-compliance; write review/turning-55-qa.md, one section per round, PASS or FAIL per check. On FAIL, message the writer directly with the lines to fix and audit again. Three rounds at most.</a:t>
            </a:r>
          </a:p>
          <a:p>
            <a:pPr>
              <a:lnSpc>
                <a:spcPct val="110000"/>
              </a:lnSpc>
              <a:defRPr sz="1650" b="0">
                <a:solidFill>
                  <a:srgbClr val="21201C"/>
                </a:solidFill>
                <a:latin typeface="Calibri"/>
              </a:defRPr>
            </a:pPr>
            <a:r>
              <a:t>- designer, agent type creative-designer: once a piece passes, ask the writer for its headline and make one thumbnail with alt text.</a:t>
            </a:r>
          </a:p>
          <a:p>
            <a:pPr>
              <a:lnSpc>
                <a:spcPct val="110000"/>
              </a:lnSpc>
              <a:defRPr sz="1650" b="0">
                <a:solidFill>
                  <a:srgbClr val="21201C"/>
                </a:solidFill>
                <a:latin typeface="Calibri"/>
              </a:defRPr>
            </a:pPr>
            <a:r>
              <a:t>- You, the Lead: never write or fix content. When everything passes, submit each piece with scripts/submit.mjs. Publish nothing. Publish the QA report as an artifact, one row per round, PASS or FAIL per check,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161</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shut down</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Ask every teammate to shut down, then clean up the team. Show me the final task list and how many QA rounds each piece needed. Publish it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Use subagents when only the result matters; use a team when the agents must talk — to argue, or to send work back. Every teammate is its own Claude session, so teams cost more tokens.</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debate: the best point for, the best point against, and your verdict.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failed in the first QA round,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How many rounds did each piece need,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advocate and the critic messaged each other; every point cites a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decision has pros, cons, a verdict — and you made the call.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Round 1 of the QA report FAILED: the FRS figure, CPF LIFE "from 55", the promised payout, the advice and the missing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auditor sent the fixes to the writer directly; a later round PASSED.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by typing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Both teams were shut down and cleaned up.</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164</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teammates</a:t>
            </a:r>
          </a:p>
          <a:p>
            <a:pPr>
              <a:lnSpc>
                <a:spcPct val="100000"/>
              </a:lnSpc>
              <a:defRPr sz="1050" b="0">
                <a:solidFill>
                  <a:srgbClr val="21201C"/>
                </a:solidFill>
                <a:latin typeface="Courier New"/>
              </a:defRPr>
            </a:pPr>
            <a:r>
              <a:t>using agent types…"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Claude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167</a:t>
            </a:r>
            <a:endParaRPr lang="en-US" sz="9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168</a:t>
            </a:r>
          </a:p>
        </p:txBody>
      </p:sp>
      <p:sp>
        <p:nvSpPr>
          <p:cNvPr id="8" name="Rectangle 7"/>
          <p:cNvSpPr/>
          <p:nvPr/>
        </p:nvSpPr>
        <p:spPr>
          <a:xfrm>
            <a:off x="512064" y="2048255"/>
            <a:ext cx="5312876"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a:hlinkClick r:id="rId3"/>
          </p:cNvPr>
          <p:cNvPicPr>
            <a:picLocks noChangeAspect="1"/>
          </p:cNvPicPr>
          <p:nvPr/>
        </p:nvPicPr>
        <p:blipFill>
          <a:blip r:embed="rId2"/>
          <a:stretch>
            <a:fillRect/>
          </a:stretch>
        </p:blipFill>
        <p:spPr>
          <a:xfrm>
            <a:off x="548640" y="2084831"/>
            <a:ext cx="5239724"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PRACTICE EXAM   </a:t>
            </a:r>
            <a:r>
              <a:rPr sz="1000" b="0">
                <a:solidFill>
                  <a:srgbClr val="21201C"/>
                </a:solidFill>
                <a:latin typeface="Calibri"/>
                <a:hlinkClick r:id="rId3"/>
              </a:rPr>
              <a:t>exams.tertiaryinfotech.com/practice-exams/anthropic/anthropic-ccao-foundations</a:t>
            </a:r>
          </a:p>
        </p:txBody>
      </p:sp>
      <p:sp>
        <p:nvSpPr>
          <p:cNvPr id="11" name="Rectangle 10"/>
          <p:cNvSpPr/>
          <p:nvPr/>
        </p:nvSpPr>
        <p:spPr>
          <a:xfrm>
            <a:off x="6154124"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292" y="2130551"/>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3" name="TextBox 12"/>
          <p:cNvSpPr txBox="1"/>
          <p:nvPr/>
        </p:nvSpPr>
        <p:spPr>
          <a:xfrm>
            <a:off x="6355292" y="2459735"/>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a:t>
            </a:r>
          </a:p>
        </p:txBody>
      </p:sp>
      <p:sp>
        <p:nvSpPr>
          <p:cNvPr id="14" name="Rectangle 13"/>
          <p:cNvSpPr/>
          <p:nvPr/>
        </p:nvSpPr>
        <p:spPr>
          <a:xfrm>
            <a:off x="6154124"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292" y="3300983"/>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6" name="TextBox 15"/>
          <p:cNvSpPr txBox="1"/>
          <p:nvPr/>
        </p:nvSpPr>
        <p:spPr>
          <a:xfrm>
            <a:off x="6355292" y="3630167"/>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7" name="Rectangle 16"/>
          <p:cNvSpPr/>
          <p:nvPr/>
        </p:nvSpPr>
        <p:spPr>
          <a:xfrm>
            <a:off x="6154124"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292" y="4471416"/>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9" name="TextBox 18"/>
          <p:cNvSpPr txBox="1"/>
          <p:nvPr/>
        </p:nvSpPr>
        <p:spPr>
          <a:xfrm>
            <a:off x="6355292" y="4800600"/>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169</a:t>
            </a:r>
            <a:endParaRPr lang="en-US" sz="9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(Claude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Claude Edition — 10 October 2026</dc:description>
</cp:coreProperties>
</file>