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4" r:id="rId10"/>
    <p:sldId id="265" r:id="rId11"/>
    <p:sldId id="266" r:id="rId12"/>
    <p:sldId id="318" r:id="rId64"/>
    <p:sldId id="326" r:id="rId73"/>
    <p:sldId id="327" r:id="rId60"/>
    <p:sldId id="328" r:id="rId59"/>
    <p:sldId id="329" r:id="rId77"/>
    <p:sldId id="330" r:id="rId78"/>
    <p:sldId id="331" r:id="rId79"/>
    <p:sldId id="332" r:id="rId80"/>
    <p:sldId id="333" r:id="rId81"/>
    <p:sldId id="334" r:id="rId82"/>
    <p:sldId id="335" r:id="rId83"/>
    <p:sldId id="274" r:id="rId20"/>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8" r:id="rId196"/>
    <p:sldId id="449" r:id="rId197"/>
    <p:sldId id="450" r:id="rId198"/>
    <p:sldId id="451" r:id="rId199"/>
    <p:sldId id="452" r:id="rId200"/>
    <p:sldId id="453" r:id="rId201"/>
    <p:sldId id="454" r:id="rId202"/>
    <p:sldId id="455" r:id="rId203"/>
    <p:sldId id="456" r:id="rId204"/>
    <p:sldId id="457" r:id="rId205"/>
    <p:sldId id="458" r:id="rId206"/>
    <p:sldId id="459" r:id="rId207"/>
    <p:sldId id="460" r:id="rId208"/>
    <p:sldId id="461" r:id="rId209"/>
    <p:sldId id="462" r:id="rId210"/>
    <p:sldId id="463" r:id="rId211"/>
    <p:sldId id="464" r:id="rId212"/>
    <p:sldId id="465" r:id="rId213"/>
    <p:sldId id="466" r:id="rId214"/>
    <p:sldId id="467" r:id="rId215"/>
    <p:sldId id="468" r:id="rId216"/>
    <p:sldId id="469" r:id="rId217"/>
    <p:sldId id="470" r:id="rId218"/>
    <p:sldId id="471" r:id="rId219"/>
    <p:sldId id="472" r:id="rId220"/>
    <p:sldId id="473" r:id="rId221"/>
    <p:sldId id="474" r:id="rId222"/>
    <p:sldId id="475" r:id="rId223"/>
    <p:sldId id="476" r:id="rId224"/>
    <p:sldId id="477" r:id="rId225"/>
    <p:sldId id="478" r:id="rId226"/>
    <p:sldId id="479" r:id="rId227"/>
    <p:sldId id="480" r:id="rId228"/>
    <p:sldId id="481" r:id="rId229"/>
    <p:sldId id="482" r:id="rId230"/>
    <p:sldId id="483" r:id="rId231"/>
    <p:sldId id="484" r:id="rId232"/>
    <p:sldId id="485" r:id="rId233"/>
    <p:sldId id="317" r:id="rId63"/>
    <p:sldId id="486" r:id="rId23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20" Type="http://schemas.openxmlformats.org/officeDocument/2006/relationships/slide" Target="slides/slide21.xml"/><Relationship Id="rId59" Type="http://schemas.openxmlformats.org/officeDocument/2006/relationships/slide" Target="slides/slide70.xml"/><Relationship Id="rId60" Type="http://schemas.openxmlformats.org/officeDocument/2006/relationships/slide" Target="slides/slide69.xml"/><Relationship Id="rId63" Type="http://schemas.openxmlformats.org/officeDocument/2006/relationships/slide" Target="slides/slide65.xml"/><Relationship Id="rId64" Type="http://schemas.openxmlformats.org/officeDocument/2006/relationships/slide" Target="slides/slide66.xml"/><Relationship Id="rId65" Type="http://schemas.openxmlformats.org/officeDocument/2006/relationships/slide" Target="slides/slide67.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Id="rId73" Type="http://schemas.openxmlformats.org/officeDocument/2006/relationships/slide" Target="slides/slide68.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hyperlink" Target="https://www.linkedin.com/in/angchewhoe/" TargetMode="External"/><Relationship Id="rId8" Type="http://schemas.openxmlformats.org/officeDocument/2006/relationships/image" Target="../media/image-4-7.png"/><Relationship Id="rId9" Type="http://schemas.openxmlformats.org/officeDocument/2006/relationships/hyperlink" Target="https://github.com/alfredang" TargetMode="External"/><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 Id="rId6" Type="http://schemas.openxmlformats.org/officeDocument/2006/relationships/image" Target="../media/image-11-4.png"/></Relationships>
</file>

<file path=ppt/slides/_rels/slide21.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65.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image" Target="../media/image-62-6.png"/><Relationship Id="rId7" Type="http://schemas.openxmlformats.org/officeDocument/2006/relationships/image" Target="../media/image-62-7.png"/><Relationship Id="rId8" Type="http://schemas.openxmlformats.org/officeDocument/2006/relationships/image" Target="../media/image-62-8.png"/><Relationship Id="rId9" Type="http://schemas.openxmlformats.org/officeDocument/2006/relationships/image" Target="../media/image-62-9.png"/><Relationship Id="rId10" Type="http://schemas.openxmlformats.org/officeDocument/2006/relationships/slideLayout" Target="../slideLayouts/slideLayout1.xml"/><Relationship Id="rId11"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tertiarycourses.github.io/TGS-2023036153-Multi-AI-Agents-Workflow-for-Content-Creation/"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aude.com/download"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localhost:8080/" TargetMode="External"/><Relationship Id="rId3" Type="http://schemas.openxmlformats.org/officeDocument/2006/relationships/hyperlink" Target="https://tertiarycourses.github.io/TGS-2023036153-Multi-AI-Agents-Workflow-for-Content-Creation/"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3-1.png"/><Relationship Id="rId3" Type="http://schemas.openxmlformats.org/officeDocument/2006/relationships/image" Target="../media/image-63-2.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hyperlink" Target="https://exams.tertiaryinfotech.com/practice-exams/anthropic/anthropic-ccao-foundations" TargetMode="Externa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1.png"/><Relationship Id="rId3" Type="http://schemas.openxmlformats.org/officeDocument/2006/relationships/image" Target="../media/image-10-2.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D97757">
              <a:alpha val="18000"/>
            </a:srgbClr>
          </a:solidFill>
          <a:ln/>
        </p:spPr>
        <p:txBody>
          <a:bodyPr/>
          <a:p/>
        </p:txBody>
      </p:sp>
      <p:sp>
        <p:nvSpPr>
          <p:cNvPr id="3" name="Shape 1"/>
          <p:cNvSpPr/>
          <p:nvPr/>
        </p:nvSpPr>
        <p:spPr>
          <a:xfrm>
            <a:off x="10607040" y="4023360"/>
            <a:ext cx="3108960" cy="3108960"/>
          </a:xfrm>
          <a:prstGeom prst="ellipse">
            <a:avLst/>
          </a:prstGeom>
          <a:solidFill>
            <a:srgbClr val="3A7D7B">
              <a:alpha val="15000"/>
            </a:srgbClr>
          </a:solidFill>
          <a:ln/>
        </p:spPr>
        <p:txBody>
          <a:bodyPr/>
          <a:p/>
        </p:txBody>
      </p:sp>
      <p:sp>
        <p:nvSpPr>
          <p:cNvPr id="4" name="Text 2"/>
          <p:cNvSpPr/>
          <p:nvPr/>
        </p:nvSpPr>
        <p:spPr>
          <a:xfrm>
            <a:off x="822960" y="1371600"/>
            <a:ext cx="91440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WSQ COURSE  •  TGS-2023036153  •  CLAUDE EDITION</a:t>
            </a:r>
            <a:endParaRPr lang="en-US" sz="1400" dirty="0"/>
          </a:p>
        </p:txBody>
      </p:sp>
      <p:sp>
        <p:nvSpPr>
          <p:cNvPr id="5" name="Text 3"/>
          <p:cNvSpPr/>
          <p:nvPr/>
        </p:nvSpPr>
        <p:spPr>
          <a:xfrm>
            <a:off x="777240" y="1828800"/>
            <a:ext cx="10241280" cy="1920240"/>
          </a:xfrm>
          <a:prstGeom prst="rect">
            <a:avLst/>
          </a:prstGeom>
          <a:noFill/>
          <a:ln/>
        </p:spPr>
        <p:txBody>
          <a:bodyPr wrap="square" rtlCol="0" anchor="ctr"/>
          <a:lstStyle/>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Multi AI Agents Workflow</a:t>
            </a:r>
            <a:endParaRPr lang="en-US" sz="5200" dirty="0"/>
          </a:p>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for Content Creation</a:t>
            </a:r>
            <a:endParaRPr lang="en-US" sz="5200" dirty="0"/>
          </a:p>
        </p:txBody>
      </p:sp>
      <p:sp>
        <p:nvSpPr>
          <p:cNvPr id="6" name="Text 4"/>
          <p:cNvSpPr/>
          <p:nvPr/>
        </p:nvSpPr>
        <p:spPr>
          <a:xfrm>
            <a:off x="822960" y="5212080"/>
            <a:ext cx="100584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Tertiary Infotech Academy Pte Ltd</a:t>
            </a:r>
            <a:endParaRPr lang="en-US" sz="1500" dirty="0"/>
          </a:p>
          <a:p>
            <a:pPr indent="0" marL="0">
              <a:buNone/>
            </a:pPr>
            <a:r>
              <a:rPr lang="en-US" sz="1300" dirty="0">
                <a:solidFill>
                  <a:srgbClr val="B9B4A9"/>
                </a:solidFill>
                <a:latin typeface="Calibri" pitchFamily="34" charset="0"/>
                <a:ea typeface="Calibri" pitchFamily="34" charset="-122"/>
                <a:cs typeface="Calibri" pitchFamily="34" charset="-120"/>
              </a:rPr>
              <a:t>UEN: 201200696W</a:t>
            </a:r>
            <a:endParaRPr lang="en-US" sz="1500" dirty="0"/>
          </a:p>
        </p:txBody>
      </p:sp>
      <p:sp>
        <p:nvSpPr>
          <p:cNvPr id="7" name="Text 5"/>
          <p:cNvSpPr/>
          <p:nvPr/>
        </p:nvSpPr>
        <p:spPr>
          <a:xfrm>
            <a:off x="822960" y="6172200"/>
            <a:ext cx="10515600" cy="320040"/>
          </a:xfrm>
          <a:prstGeom prst="rect">
            <a:avLst/>
          </a:prstGeom>
          <a:noFill/>
          <a:ln/>
        </p:spPr>
        <p:txBody>
          <a:bodyPr wrap="square" rtlCol="0" anchor="ctr"/>
          <a:lstStyle/>
          <a:p>
            <a:pPr indent="0" marL="0">
              <a:buNone/>
            </a:pPr>
            <a:r>
              <a:rPr lang="en-US" sz="1200" dirty="0">
                <a:solidFill>
                  <a:srgbClr val="B9B4A9"/>
                </a:solidFill>
                <a:latin typeface="Calibri" pitchFamily="34" charset="0"/>
                <a:ea typeface="Calibri" pitchFamily="34" charset="-122"/>
                <a:cs typeface="Calibri" pitchFamily="34" charset="-120"/>
              </a:rPr>
              <a:t>www.tertiarycourses.com.sg   |   enquiry@tertiaryinfotech.com   |   +65 6100 0613</a:t>
            </a:r>
            <a:endParaRPr lang="en-US" sz="1200" dirty="0"/>
          </a:p>
        </p:txBody>
      </p:sp>
      <p:sp>
        <p:nvSpPr>
          <p:cNvPr id="8" name="Text 6"/>
          <p:cNvSpPr/>
          <p:nvPr/>
        </p:nvSpPr>
        <p:spPr>
          <a:xfrm>
            <a:off x="8778875" y="1371600"/>
            <a:ext cx="2864180" cy="365760"/>
          </a:xfrm>
          <a:prstGeom prst="rect">
            <a:avLst/>
          </a:prstGeom>
          <a:noFill/>
          <a:ln/>
        </p:spPr>
        <p:txBody>
          <a:bodyPr wrap="square" rtlCol="0" anchor="ctr"/>
          <a:lstStyle/>
          <a:p>
            <a:pPr algn="r" indent="0" marL="0">
              <a:buNone/>
            </a:pPr>
            <a:r>
              <a:rPr lang="en-US" sz="1300" dirty="0">
                <a:solidFill>
                  <a:srgbClr val="B9B4A9"/>
                </a:solidFill>
                <a:latin typeface="Calibri" pitchFamily="34" charset="0"/>
                <a:ea typeface="Calibri" pitchFamily="34" charset="-122"/>
                <a:cs typeface="Calibri" pitchFamily="34" charset="-120"/>
              </a:rPr>
              <a:t>Version 3.5  ·  10 Oct 2026</a:t>
            </a:r>
            <a:endParaRPr lang="en-US" sz="1300" dirty="0"/>
          </a:p>
        </p:txBody>
      </p:sp>
      <p:sp>
        <p:nvSpPr>
          <p:cNvPr id="9" name="Text 7"/>
          <p:cNvSpPr/>
          <p:nvPr/>
        </p:nvSpPr>
        <p:spPr>
          <a:xfrm>
            <a:off x="7162495" y="6355080"/>
            <a:ext cx="45720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1"/>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 Trainer Name ]</a:t>
            </a:r>
            <a:endParaRPr lang="en-US" sz="20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 Title / Role ]</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Qualifications:  ____________________________________________</a:t>
            </a:r>
            <a:endParaRPr lang="en-US" sz="1400" dirty="0"/>
          </a:p>
        </p:txBody>
      </p:sp>
      <p:sp>
        <p:nvSpPr>
          <p:cNvPr id="12" name="Shape 8"/>
          <p:cNvSpPr/>
          <p:nvPr/>
        </p:nvSpPr>
        <p:spPr>
          <a:xfrm>
            <a:off x="4206240" y="2670048"/>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93492"/>
            <a:ext cx="256032" cy="256032"/>
          </a:xfrm>
          <a:prstGeom prst="rect">
            <a:avLst/>
          </a:prstGeom>
        </p:spPr>
      </p:pic>
      <p:sp>
        <p:nvSpPr>
          <p:cNvPr id="14" name="Text 9"/>
          <p:cNvSpPr/>
          <p:nvPr/>
        </p:nvSpPr>
        <p:spPr>
          <a:xfrm>
            <a:off x="4892040" y="2624328"/>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Expertise:  _________________________________________________</a:t>
            </a:r>
            <a:endParaRPr lang="en-US" sz="1400" dirty="0"/>
          </a:p>
        </p:txBody>
      </p:sp>
      <p:sp>
        <p:nvSpPr>
          <p:cNvPr id="15" name="Shape 10"/>
          <p:cNvSpPr/>
          <p:nvPr/>
        </p:nvSpPr>
        <p:spPr>
          <a:xfrm>
            <a:off x="4206240" y="351129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634740"/>
            <a:ext cx="256032" cy="256032"/>
          </a:xfrm>
          <a:prstGeom prst="rect">
            <a:avLst/>
          </a:prstGeom>
        </p:spPr>
      </p:pic>
      <p:sp>
        <p:nvSpPr>
          <p:cNvPr id="17" name="Text 11"/>
          <p:cNvSpPr/>
          <p:nvPr/>
        </p:nvSpPr>
        <p:spPr>
          <a:xfrm>
            <a:off x="4892040" y="3465576"/>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Experience:  ________________________________________________</a:t>
            </a:r>
            <a:endParaRPr lang="en-US" sz="1400" dirty="0"/>
          </a:p>
        </p:txBody>
      </p:sp>
      <p:sp>
        <p:nvSpPr>
          <p:cNvPr id="18" name="Shape 12"/>
          <p:cNvSpPr/>
          <p:nvPr/>
        </p:nvSpPr>
        <p:spPr>
          <a:xfrm>
            <a:off x="4206240" y="43525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475988"/>
            <a:ext cx="256032" cy="256032"/>
          </a:xfrm>
          <a:prstGeom prst="rect">
            <a:avLst/>
          </a:prstGeom>
        </p:spPr>
      </p:pic>
      <p:sp>
        <p:nvSpPr>
          <p:cNvPr id="20" name="Text 13"/>
          <p:cNvSpPr/>
          <p:nvPr/>
        </p:nvSpPr>
        <p:spPr>
          <a:xfrm>
            <a:off x="4892040" y="4306824"/>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Contact / Profile:  __________________________________________</a:t>
            </a:r>
            <a:endParaRPr lang="en-US" sz="1400" dirty="0"/>
          </a:p>
        </p:txBody>
      </p:sp>
      <p:sp>
        <p:nvSpPr>
          <p:cNvPr id="21" name="Text 1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2" name="Text 15"/>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3" name="Text 16"/>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Dr. Alfred Ang</a:t>
            </a:r>
            <a:endParaRPr lang="en-US" sz="22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AI Trainer &amp; Engineer</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PhD-qualified trainer specialising in AI, software engineering and developer tooling.</a:t>
            </a:r>
            <a:endParaRPr lang="en-US" sz="1500" dirty="0"/>
          </a:p>
        </p:txBody>
      </p:sp>
      <p:sp>
        <p:nvSpPr>
          <p:cNvPr id="12" name="Shape 8"/>
          <p:cNvSpPr/>
          <p:nvPr/>
        </p:nvSpPr>
        <p:spPr>
          <a:xfrm>
            <a:off x="4206240" y="2633472"/>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56916"/>
            <a:ext cx="256032" cy="256032"/>
          </a:xfrm>
          <a:prstGeom prst="rect">
            <a:avLst/>
          </a:prstGeom>
        </p:spPr>
      </p:pic>
      <p:sp>
        <p:nvSpPr>
          <p:cNvPr id="14" name="Text 9"/>
          <p:cNvSpPr/>
          <p:nvPr/>
        </p:nvSpPr>
        <p:spPr>
          <a:xfrm>
            <a:off x="4892040" y="2587752"/>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Builds AI marketing teams of agents with Claude and Claude Code.</a:t>
            </a:r>
            <a:endParaRPr lang="en-US" sz="1500" dirty="0"/>
          </a:p>
        </p:txBody>
      </p:sp>
      <p:sp>
        <p:nvSpPr>
          <p:cNvPr id="15" name="Shape 10"/>
          <p:cNvSpPr/>
          <p:nvPr/>
        </p:nvSpPr>
        <p:spPr>
          <a:xfrm>
            <a:off x="4206240" y="34381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561588"/>
            <a:ext cx="256032" cy="256032"/>
          </a:xfrm>
          <a:prstGeom prst="rect">
            <a:avLst/>
          </a:prstGeom>
        </p:spPr>
      </p:pic>
      <p:sp>
        <p:nvSpPr>
          <p:cNvPr id="17" name="Text 11"/>
          <p:cNvSpPr/>
          <p:nvPr/>
        </p:nvSpPr>
        <p:spPr>
          <a:xfrm>
            <a:off x="4892040" y="3392424"/>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Trains professionals across Singapore on practical, project-based AI skills.</a:t>
            </a:r>
            <a:endParaRPr lang="en-US" sz="1500" dirty="0"/>
          </a:p>
        </p:txBody>
      </p:sp>
      <p:sp>
        <p:nvSpPr>
          <p:cNvPr id="18" name="Shape 12"/>
          <p:cNvSpPr/>
          <p:nvPr/>
        </p:nvSpPr>
        <p:spPr>
          <a:xfrm>
            <a:off x="4206240" y="424281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366260"/>
            <a:ext cx="256032" cy="256032"/>
          </a:xfrm>
          <a:prstGeom prst="rect">
            <a:avLst/>
          </a:prstGeom>
        </p:spPr>
      </p:pic>
      <p:sp>
        <p:nvSpPr>
          <p:cNvPr id="20" name="Text 13"/>
          <p:cNvSpPr/>
          <p:nvPr/>
        </p:nvSpPr>
        <p:spPr>
          <a:xfrm>
            <a:off x="4892040" y="4197096"/>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Certifications: PMP, AWS, Microsoft, CompTIA, CKA, CKAD.</a:t>
            </a:r>
            <a:endParaRPr lang="en-US" sz="1500" dirty="0"/>
          </a:p>
        </p:txBody>
      </p:sp>
      <p:sp>
        <p:nvSpPr>
          <p:cNvPr id="21" name="Shape 14"/>
          <p:cNvSpPr/>
          <p:nvPr/>
        </p:nvSpPr>
        <p:spPr>
          <a:xfrm>
            <a:off x="420624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5" descr="preencoded.png">    </p:cNvPr>
          <p:cNvPicPr>
            <a:picLocks noChangeAspect="1"/>
          </p:cNvPicPr>
          <p:nvPr/>
        </p:nvPicPr>
        <p:blipFill>
          <a:blip r:embed="rId6"/>
          <a:stretch>
            <a:fillRect/>
          </a:stretch>
        </p:blipFill>
        <p:spPr>
          <a:xfrm>
            <a:off x="4320540" y="5207508"/>
            <a:ext cx="274320" cy="274320"/>
          </a:xfrm>
          <a:prstGeom prst="rect">
            <a:avLst/>
          </a:prstGeom>
        </p:spPr>
      </p:pic>
      <p:sp>
        <p:nvSpPr>
          <p:cNvPr id="23" name="Text 15">
            <a:hlinkClick r:id="rId7" tooltip=""/>
          </p:cNvPr>
          <p:cNvSpPr/>
          <p:nvPr/>
        </p:nvSpPr>
        <p:spPr>
          <a:xfrm>
            <a:off x="4892040" y="5047488"/>
            <a:ext cx="676656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linkedin.com/in/angchewhoe</a:t>
            </a:r>
            <a:endParaRPr lang="en-US" sz="1500" dirty="0"/>
          </a:p>
        </p:txBody>
      </p:sp>
      <p:sp>
        <p:nvSpPr>
          <p:cNvPr id="24" name="Shape 16"/>
          <p:cNvSpPr/>
          <p:nvPr/>
        </p:nvSpPr>
        <p:spPr>
          <a:xfrm>
            <a:off x="822960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5" name="Image 6" descr="preencoded.png">    </p:cNvPr>
          <p:cNvPicPr>
            <a:picLocks noChangeAspect="1"/>
          </p:cNvPicPr>
          <p:nvPr/>
        </p:nvPicPr>
        <p:blipFill>
          <a:blip r:embed="rId8"/>
          <a:stretch>
            <a:fillRect/>
          </a:stretch>
        </p:blipFill>
        <p:spPr>
          <a:xfrm>
            <a:off x="8343900" y="5207508"/>
            <a:ext cx="274320" cy="274320"/>
          </a:xfrm>
          <a:prstGeom prst="rect">
            <a:avLst/>
          </a:prstGeom>
        </p:spPr>
      </p:pic>
      <p:sp>
        <p:nvSpPr>
          <p:cNvPr id="26" name="Text 17">
            <a:hlinkClick r:id="rId9" tooltip=""/>
          </p:cNvPr>
          <p:cNvSpPr/>
          <p:nvPr/>
        </p:nvSpPr>
        <p:spPr>
          <a:xfrm>
            <a:off x="8915400" y="5047488"/>
            <a:ext cx="274320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github.com/alfredang</a:t>
            </a:r>
            <a:endParaRPr lang="en-US" sz="1500" dirty="0"/>
          </a:p>
        </p:txBody>
      </p:sp>
      <p:sp>
        <p:nvSpPr>
          <p:cNvPr id="27" name="Text 1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8" name="Text 19"/>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9" name="Text 20"/>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822960" y="1463040"/>
            <a:ext cx="100584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INTRODUCTION</a:t>
            </a:r>
            <a:endParaRPr lang="en-US" sz="1400" dirty="0"/>
          </a:p>
        </p:txBody>
      </p:sp>
      <p:sp>
        <p:nvSpPr>
          <p:cNvPr id="4" name="Text 2"/>
          <p:cNvSpPr/>
          <p:nvPr/>
        </p:nvSpPr>
        <p:spPr>
          <a:xfrm>
            <a:off x="777240" y="187452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Let's Know Each Other</a:t>
            </a:r>
            <a:endParaRPr lang="en-US" sz="4000" dirty="0"/>
          </a:p>
        </p:txBody>
      </p:sp>
      <p:sp>
        <p:nvSpPr>
          <p:cNvPr id="5" name="Text 3"/>
          <p:cNvSpPr/>
          <p:nvPr/>
        </p:nvSpPr>
        <p:spPr>
          <a:xfrm>
            <a:off x="822960" y="2926080"/>
            <a:ext cx="10058400" cy="457200"/>
          </a:xfrm>
          <a:prstGeom prst="rect">
            <a:avLst/>
          </a:prstGeom>
          <a:noFill/>
          <a:ln/>
        </p:spPr>
        <p:txBody>
          <a:bodyPr wrap="square" rtlCol="0" anchor="ctr"/>
          <a:lstStyle/>
          <a:p>
            <a:pPr indent="0" marL="0">
              <a:buNone/>
            </a:pPr>
            <a:r>
              <a:rPr lang="en-US" sz="1700" dirty="0">
                <a:solidFill>
                  <a:srgbClr val="C9C4B9"/>
                </a:solidFill>
                <a:latin typeface="Calibri" pitchFamily="34" charset="0"/>
                <a:ea typeface="Calibri" pitchFamily="34" charset="-122"/>
                <a:cs typeface="Calibri" pitchFamily="34" charset="-120"/>
              </a:rPr>
              <a:t>Take a minute to introduce yourself to the class:</a:t>
            </a:r>
            <a:endParaRPr lang="en-US" sz="1700" dirty="0"/>
          </a:p>
        </p:txBody>
      </p:sp>
      <p:sp>
        <p:nvSpPr>
          <p:cNvPr id="6" name="Shape 4"/>
          <p:cNvSpPr/>
          <p:nvPr/>
        </p:nvSpPr>
        <p:spPr>
          <a:xfrm>
            <a:off x="822960"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7" name="Shape 5"/>
          <p:cNvSpPr/>
          <p:nvPr/>
        </p:nvSpPr>
        <p:spPr>
          <a:xfrm>
            <a:off x="1851660"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8" name="Image 0" descr="preencoded.png">    </p:cNvPr>
          <p:cNvPicPr>
            <a:picLocks noChangeAspect="1"/>
          </p:cNvPicPr>
          <p:nvPr/>
        </p:nvPicPr>
        <p:blipFill>
          <a:blip r:embed="rId1"/>
          <a:stretch>
            <a:fillRect/>
          </a:stretch>
        </p:blipFill>
        <p:spPr>
          <a:xfrm>
            <a:off x="1988820" y="4023360"/>
            <a:ext cx="274320" cy="274320"/>
          </a:xfrm>
          <a:prstGeom prst="rect">
            <a:avLst/>
          </a:prstGeom>
        </p:spPr>
      </p:pic>
      <p:sp>
        <p:nvSpPr>
          <p:cNvPr id="9" name="Text 6"/>
          <p:cNvSpPr/>
          <p:nvPr/>
        </p:nvSpPr>
        <p:spPr>
          <a:xfrm>
            <a:off x="960120"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name &amp; role</a:t>
            </a:r>
            <a:endParaRPr lang="en-US" sz="1400" dirty="0"/>
          </a:p>
        </p:txBody>
      </p:sp>
      <p:sp>
        <p:nvSpPr>
          <p:cNvPr id="10" name="Shape 7"/>
          <p:cNvSpPr/>
          <p:nvPr/>
        </p:nvSpPr>
        <p:spPr>
          <a:xfrm>
            <a:off x="3593592"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4622292"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4759452" y="4023360"/>
            <a:ext cx="274320" cy="274320"/>
          </a:xfrm>
          <a:prstGeom prst="rect">
            <a:avLst/>
          </a:prstGeom>
        </p:spPr>
      </p:pic>
      <p:sp>
        <p:nvSpPr>
          <p:cNvPr id="13" name="Text 9"/>
          <p:cNvSpPr/>
          <p:nvPr/>
        </p:nvSpPr>
        <p:spPr>
          <a:xfrm>
            <a:off x="3730752"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do day to day</a:t>
            </a:r>
            <a:endParaRPr lang="en-US" sz="1400" dirty="0"/>
          </a:p>
        </p:txBody>
      </p:sp>
      <p:sp>
        <p:nvSpPr>
          <p:cNvPr id="14" name="Shape 10"/>
          <p:cNvSpPr/>
          <p:nvPr/>
        </p:nvSpPr>
        <p:spPr>
          <a:xfrm>
            <a:off x="6364224"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7392924"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7530084" y="4023360"/>
            <a:ext cx="274320" cy="274320"/>
          </a:xfrm>
          <a:prstGeom prst="rect">
            <a:avLst/>
          </a:prstGeom>
        </p:spPr>
      </p:pic>
      <p:sp>
        <p:nvSpPr>
          <p:cNvPr id="17" name="Text 12"/>
          <p:cNvSpPr/>
          <p:nvPr/>
        </p:nvSpPr>
        <p:spPr>
          <a:xfrm>
            <a:off x="6501384"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content work today</a:t>
            </a:r>
            <a:endParaRPr lang="en-US" sz="1400" dirty="0"/>
          </a:p>
        </p:txBody>
      </p:sp>
      <p:sp>
        <p:nvSpPr>
          <p:cNvPr id="18" name="Shape 13"/>
          <p:cNvSpPr/>
          <p:nvPr/>
        </p:nvSpPr>
        <p:spPr>
          <a:xfrm>
            <a:off x="9134856"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9" name="Shape 14"/>
          <p:cNvSpPr/>
          <p:nvPr/>
        </p:nvSpPr>
        <p:spPr>
          <a:xfrm>
            <a:off x="10163556"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0" name="Image 3" descr="preencoded.png">    </p:cNvPr>
          <p:cNvPicPr>
            <a:picLocks noChangeAspect="1"/>
          </p:cNvPicPr>
          <p:nvPr/>
        </p:nvPicPr>
        <p:blipFill>
          <a:blip r:embed="rId4"/>
          <a:stretch>
            <a:fillRect/>
          </a:stretch>
        </p:blipFill>
        <p:spPr>
          <a:xfrm>
            <a:off x="10300716" y="4023360"/>
            <a:ext cx="274320" cy="274320"/>
          </a:xfrm>
          <a:prstGeom prst="rect">
            <a:avLst/>
          </a:prstGeom>
        </p:spPr>
      </p:pic>
      <p:sp>
        <p:nvSpPr>
          <p:cNvPr id="21" name="Text 15"/>
          <p:cNvSpPr/>
          <p:nvPr/>
        </p:nvSpPr>
        <p:spPr>
          <a:xfrm>
            <a:off x="9272016"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want from this course</a:t>
            </a:r>
            <a:endParaRPr lang="en-US" sz="1400" dirty="0"/>
          </a:p>
        </p:txBody>
      </p:sp>
      <p:sp>
        <p:nvSpPr>
          <p:cNvPr id="22" name="Text 1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
        <p:nvSpPr>
          <p:cNvPr id="23" name="Text 1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Multi AI Agents Workflow for Content Creation</a:t>
            </a:r>
            <a:endParaRPr lang="en-US" sz="900" dirty="0"/>
          </a:p>
        </p:txBody>
      </p:sp>
      <p:sp>
        <p:nvSpPr>
          <p:cNvPr id="24" name="Text 1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Ground Rules</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Phones on silent</a:t>
            </a:r>
            <a:endParaRPr lang="en-US" sz="15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Step out quietly for calls or breaks.</a:t>
            </a:r>
            <a:endParaRPr lang="en-US" sz="120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Participate actively</a:t>
            </a:r>
            <a:endParaRPr lang="en-US" sz="15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No question is stupid — ask freely.</a:t>
            </a:r>
            <a:endParaRPr lang="en-US" sz="120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Mutual respect</a:t>
            </a:r>
            <a:endParaRPr lang="en-US" sz="15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Agree to disagree; one conversation at a time.</a:t>
            </a:r>
            <a:endParaRPr lang="en-US" sz="120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Be punctual</a:t>
            </a:r>
            <a:endParaRPr lang="en-US" sz="15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Return from breaks on time.</a:t>
            </a:r>
            <a:endParaRPr lang="en-US" sz="120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75% attendance</a:t>
            </a:r>
            <a:endParaRPr lang="en-US" sz="15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Required for funding eligibility.</a:t>
            </a:r>
            <a:endParaRPr lang="en-US" sz="120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Stay hands-on</a:t>
            </a:r>
            <a:endParaRPr lang="en-US" sz="15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Follow along with every activity.</a:t>
            </a:r>
            <a:endParaRPr lang="en-US" sz="120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Briefing for Assessment</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Clear your space</a:t>
            </a:r>
            <a:endParaRPr lang="en-US" sz="14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Place phones and other materials under the table or on the floor.</a:t>
            </a:r>
            <a:endParaRPr lang="en-US" sz="115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No recording</a:t>
            </a:r>
            <a:endParaRPr lang="en-US" sz="14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No photos or recording of assessment materials.</a:t>
            </a:r>
            <a:endParaRPr lang="en-US" sz="115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Open book</a:t>
            </a:r>
            <a:endParaRPr lang="en-US" sz="14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Only slides, learner guide and approved materials are allowed.</a:t>
            </a:r>
            <a:endParaRPr lang="en-US" sz="115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Work individually</a:t>
            </a:r>
            <a:endParaRPr lang="en-US" sz="14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Complete the assessment on your own; no discussion.</a:t>
            </a:r>
            <a:endParaRPr lang="en-US" sz="115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Manage your time</a:t>
            </a:r>
            <a:endParaRPr lang="en-US" sz="14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Written Assessment then Practical Performance — watch the clock.</a:t>
            </a:r>
            <a:endParaRPr lang="en-US" sz="115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Appeals</a:t>
            </a:r>
            <a:endParaRPr lang="en-US" sz="14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An appeal process is available if you disagree with the outcome.</a:t>
            </a:r>
            <a:endParaRPr lang="en-US" sz="115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6"/>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OVERVIEW · PRICING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Claude Plans and Pricing</a:t>
            </a:r>
            <a:endParaRPr lang="en-US" sz="3000" dirty="0"/>
          </a:p>
        </p:txBody>
      </p:sp>
      <p:sp>
        <p:nvSpPr>
          <p:cNvPr id="4" name="Text 2"/>
          <p:cNvSpPr/>
          <p:nvPr/>
        </p:nvSpPr>
        <p:spPr>
          <a:xfrm>
            <a:off x="548640" y="1645920"/>
            <a:ext cx="11064240" cy="45720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Claude and Claude Code are included in every paid plan (from Pro up). The API is pay-as-you-go. Prices in US dollars.</a:t>
            </a:r>
            <a:endParaRPr lang="en-US" sz="1500" dirty="0"/>
          </a:p>
        </p:txBody>
      </p:sp>
      <p:sp>
        <p:nvSpPr>
          <p:cNvPr id="5" name="Shape 3"/>
          <p:cNvSpPr/>
          <p:nvPr/>
        </p:nvSpPr>
        <p:spPr>
          <a:xfrm>
            <a:off x="548640"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6" name="Shape 4"/>
          <p:cNvSpPr/>
          <p:nvPr/>
        </p:nvSpPr>
        <p:spPr>
          <a:xfrm>
            <a:off x="822960"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7" name="Image 0" descr="preencoded.png">    </p:cNvPr>
          <p:cNvPicPr>
            <a:picLocks noChangeAspect="1"/>
          </p:cNvPicPr>
          <p:nvPr/>
        </p:nvPicPr>
        <p:blipFill>
          <a:blip r:embed="rId1"/>
          <a:stretch>
            <a:fillRect/>
          </a:stretch>
        </p:blipFill>
        <p:spPr>
          <a:xfrm>
            <a:off x="960120" y="2606040"/>
            <a:ext cx="292608" cy="292608"/>
          </a:xfrm>
          <a:prstGeom prst="rect">
            <a:avLst/>
          </a:prstGeom>
        </p:spPr>
      </p:pic>
      <p:sp>
        <p:nvSpPr>
          <p:cNvPr id="8" name="Text 5"/>
          <p:cNvSpPr/>
          <p:nvPr/>
        </p:nvSpPr>
        <p:spPr>
          <a:xfrm>
            <a:off x="822960"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Pro</a:t>
            </a:r>
            <a:endParaRPr lang="en-US" sz="1600" dirty="0"/>
          </a:p>
        </p:txBody>
      </p:sp>
      <p:sp>
        <p:nvSpPr>
          <p:cNvPr id="9" name="Text 6"/>
          <p:cNvSpPr/>
          <p:nvPr/>
        </p:nvSpPr>
        <p:spPr>
          <a:xfrm>
            <a:off x="822960"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$17/mo (annual) · $20 monthly. Enough for every lab.</a:t>
            </a:r>
            <a:endParaRPr lang="en-US" sz="1250" dirty="0"/>
          </a:p>
        </p:txBody>
      </p:sp>
      <p:sp>
        <p:nvSpPr>
          <p:cNvPr id="10" name="Shape 7"/>
          <p:cNvSpPr/>
          <p:nvPr/>
        </p:nvSpPr>
        <p:spPr>
          <a:xfrm>
            <a:off x="3367278"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3641598"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3778758" y="2606040"/>
            <a:ext cx="292608" cy="292608"/>
          </a:xfrm>
          <a:prstGeom prst="rect">
            <a:avLst/>
          </a:prstGeom>
        </p:spPr>
      </p:pic>
      <p:sp>
        <p:nvSpPr>
          <p:cNvPr id="13" name="Text 9"/>
          <p:cNvSpPr/>
          <p:nvPr/>
        </p:nvSpPr>
        <p:spPr>
          <a:xfrm>
            <a:off x="3641598"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Max</a:t>
            </a:r>
            <a:endParaRPr lang="en-US" sz="1600" dirty="0"/>
          </a:p>
        </p:txBody>
      </p:sp>
      <p:sp>
        <p:nvSpPr>
          <p:cNvPr id="14" name="Text 10"/>
          <p:cNvSpPr/>
          <p:nvPr/>
        </p:nvSpPr>
        <p:spPr>
          <a:xfrm>
            <a:off x="3641598"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From $100/mo — 5× or 20× more usage than Pro.</a:t>
            </a:r>
            <a:endParaRPr lang="en-US" sz="1250" dirty="0"/>
          </a:p>
        </p:txBody>
      </p:sp>
      <p:sp>
        <p:nvSpPr>
          <p:cNvPr id="15" name="Shape 11"/>
          <p:cNvSpPr/>
          <p:nvPr/>
        </p:nvSpPr>
        <p:spPr>
          <a:xfrm>
            <a:off x="6185916"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6" name="Shape 12"/>
          <p:cNvSpPr/>
          <p:nvPr/>
        </p:nvSpPr>
        <p:spPr>
          <a:xfrm>
            <a:off x="6460236"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7" name="Image 2" descr="preencoded.png">    </p:cNvPr>
          <p:cNvPicPr>
            <a:picLocks noChangeAspect="1"/>
          </p:cNvPicPr>
          <p:nvPr/>
        </p:nvPicPr>
        <p:blipFill>
          <a:blip r:embed="rId3"/>
          <a:stretch>
            <a:fillRect/>
          </a:stretch>
        </p:blipFill>
        <p:spPr>
          <a:xfrm>
            <a:off x="6597396" y="2606040"/>
            <a:ext cx="292608" cy="292608"/>
          </a:xfrm>
          <a:prstGeom prst="rect">
            <a:avLst/>
          </a:prstGeom>
        </p:spPr>
      </p:pic>
      <p:sp>
        <p:nvSpPr>
          <p:cNvPr id="18" name="Text 13"/>
          <p:cNvSpPr/>
          <p:nvPr/>
        </p:nvSpPr>
        <p:spPr>
          <a:xfrm>
            <a:off x="6460236"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Team</a:t>
            </a:r>
            <a:endParaRPr lang="en-US" sz="1600" dirty="0"/>
          </a:p>
        </p:txBody>
      </p:sp>
      <p:sp>
        <p:nvSpPr>
          <p:cNvPr id="19" name="Text 14"/>
          <p:cNvSpPr/>
          <p:nvPr/>
        </p:nvSpPr>
        <p:spPr>
          <a:xfrm>
            <a:off x="6460236"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$20/seat standard · $100/seat premium (annual; $25 / $125 monthly).</a:t>
            </a:r>
            <a:endParaRPr lang="en-US" sz="1250" dirty="0"/>
          </a:p>
        </p:txBody>
      </p:sp>
      <p:sp>
        <p:nvSpPr>
          <p:cNvPr id="20" name="Shape 15"/>
          <p:cNvSpPr/>
          <p:nvPr/>
        </p:nvSpPr>
        <p:spPr>
          <a:xfrm>
            <a:off x="9004554"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1" name="Shape 16"/>
          <p:cNvSpPr/>
          <p:nvPr/>
        </p:nvSpPr>
        <p:spPr>
          <a:xfrm>
            <a:off x="9278874"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3" descr="preencoded.png">    </p:cNvPr>
          <p:cNvPicPr>
            <a:picLocks noChangeAspect="1"/>
          </p:cNvPicPr>
          <p:nvPr/>
        </p:nvPicPr>
        <p:blipFill>
          <a:blip r:embed="rId4"/>
          <a:stretch>
            <a:fillRect/>
          </a:stretch>
        </p:blipFill>
        <p:spPr>
          <a:xfrm>
            <a:off x="9416034" y="2606040"/>
            <a:ext cx="292608" cy="292608"/>
          </a:xfrm>
          <a:prstGeom prst="rect">
            <a:avLst/>
          </a:prstGeom>
        </p:spPr>
      </p:pic>
      <p:sp>
        <p:nvSpPr>
          <p:cNvPr id="23" name="Text 17"/>
          <p:cNvSpPr/>
          <p:nvPr/>
        </p:nvSpPr>
        <p:spPr>
          <a:xfrm>
            <a:off x="9278874"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Enterprise</a:t>
            </a:r>
            <a:endParaRPr lang="en-US" sz="1600" dirty="0"/>
          </a:p>
        </p:txBody>
      </p:sp>
      <p:sp>
        <p:nvSpPr>
          <p:cNvPr id="24" name="Text 18"/>
          <p:cNvSpPr/>
          <p:nvPr/>
        </p:nvSpPr>
        <p:spPr>
          <a:xfrm>
            <a:off x="9278874"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$20/seat + usage at API rates. Contact sales.</a:t>
            </a:r>
            <a:endParaRPr lang="en-US" sz="1250" dirty="0"/>
          </a:p>
        </p:txBody>
      </p:sp>
      <p:sp>
        <p:nvSpPr>
          <p:cNvPr id="25" name="Shape 19"/>
          <p:cNvSpPr/>
          <p:nvPr/>
        </p:nvSpPr>
        <p:spPr>
          <a:xfrm>
            <a:off x="548640" y="4892040"/>
            <a:ext cx="11064240" cy="777240"/>
          </a:xfrm>
          <a:prstGeom prst="roundRect">
            <a:avLst>
              <a:gd name="adj" fmla="val 9412"/>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26" name="Text 20"/>
          <p:cNvSpPr/>
          <p:nvPr/>
        </p:nvSpPr>
        <p:spPr>
          <a:xfrm>
            <a:off x="822960" y="4892040"/>
            <a:ext cx="10515600" cy="7772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API per million tokens (in/out):  </a:t>
            </a:r>
            <a:pPr indent="0" marL="0">
              <a:buNone/>
            </a:pPr>
            <a:r>
              <a:rPr lang="en-US" sz="1400" dirty="0">
                <a:solidFill>
                  <a:srgbClr val="E8E5DE"/>
                </a:solidFill>
                <a:latin typeface="Calibri" pitchFamily="34" charset="0"/>
                <a:ea typeface="Calibri" pitchFamily="34" charset="-122"/>
                <a:cs typeface="Calibri" pitchFamily="34" charset="-120"/>
              </a:rPr>
              <a:t>Fable 5.1 $10/$50  ·  Opus 5.5 $4/$20  ·  Sonnet 5.5 $2/$10  ·  Haiku 5.5 from $0.10/$0.50</a:t>
            </a:r>
            <a:endParaRPr lang="en-US" sz="1400" dirty="0"/>
          </a:p>
        </p:txBody>
      </p:sp>
      <p:sp>
        <p:nvSpPr>
          <p:cNvPr id="27" name="Text 21"/>
          <p:cNvSpPr/>
          <p:nvPr/>
        </p:nvSpPr>
        <p:spPr>
          <a:xfrm>
            <a:off x="548640" y="5806440"/>
            <a:ext cx="11064240" cy="320040"/>
          </a:xfrm>
          <a:prstGeom prst="rect">
            <a:avLst/>
          </a:prstGeom>
          <a:noFill/>
          <a:ln/>
        </p:spPr>
        <p:txBody>
          <a:bodyPr wrap="square" rtlCol="0" anchor="ctr"/>
          <a:lstStyle/>
          <a:p>
            <a:pPr indent="0" marL="0">
              <a:buNone/>
            </a:pPr>
            <a:r>
              <a:rPr lang="en-US" sz="1300" b="1" i="1" dirty="0">
                <a:solidFill>
                  <a:srgbClr val="D97757"/>
                </a:solidFill>
                <a:latin typeface="Calibri" pitchFamily="34" charset="0"/>
                <a:ea typeface="Calibri" pitchFamily="34" charset="-122"/>
                <a:cs typeface="Calibri" pitchFamily="34" charset="-120"/>
              </a:rPr>
              <a:t>TIP  </a:t>
            </a:r>
            <a:pPr indent="0" marL="0">
              <a:buNone/>
            </a:pPr>
            <a:r>
              <a:rPr lang="en-US" sz="1300" i="1" dirty="0">
                <a:solidFill>
                  <a:srgbClr val="6B6862"/>
                </a:solidFill>
                <a:latin typeface="Calibri" pitchFamily="34" charset="0"/>
                <a:ea typeface="Calibri" pitchFamily="34" charset="-122"/>
                <a:cs typeface="Calibri" pitchFamily="34" charset="-120"/>
              </a:rPr>
              <a:t>Free plan: chat only, no Claude Code. Prices as of 8 Oct 2026 — verify at claude.com/pricing.</a:t>
            </a:r>
            <a:endParaRPr lang="en-US" sz="1300" dirty="0"/>
          </a:p>
        </p:txBody>
      </p:sp>
      <p:sp>
        <p:nvSpPr>
          <p:cNvPr id="28" name="Text 22"/>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9" name="Text 23"/>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0" name="Text 2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Flow</a:t>
            </a:r>
            <a:endParaRPr lang="en-US" sz="3000" dirty="0"/>
          </a:p>
        </p:txBody>
      </p:sp>
      <p:sp>
        <p:nvSpPr>
          <p:cNvPr id="4" name="Text 2"/>
          <p:cNvSpPr/>
          <p:nvPr/>
        </p:nvSpPr>
        <p:spPr>
          <a:xfrm>
            <a:off x="548640" y="1691640"/>
            <a:ext cx="11064240" cy="457200"/>
          </a:xfrm>
          <a:prstGeom prst="rect">
            <a:avLst/>
          </a:prstGeom>
          <a:noFill/>
          <a:ln/>
        </p:spPr>
        <p:txBody>
          <a:bodyPr wrap="square" rtlCol="0" anchor="ctr"/>
          <a:lstStyle/>
          <a:p>
            <a:pPr indent="0" marL="0">
              <a:buNone/>
            </a:pPr>
            <a:r>
              <a:rPr lang="en-US" sz="1600" dirty="0">
                <a:solidFill>
                  <a:srgbClr val="21201C"/>
                </a:solidFill>
                <a:latin typeface="Calibri" pitchFamily="34" charset="0"/>
                <a:ea typeface="Calibri" pitchFamily="34" charset="-122"/>
                <a:cs typeface="Calibri" pitchFamily="34" charset="-120"/>
              </a:rPr>
              <a:t>At the assessment stage, follow these five steps in order.</a:t>
            </a:r>
            <a:endParaRPr lang="en-US" sz="1600" dirty="0"/>
          </a:p>
        </p:txBody>
      </p:sp>
      <p:sp>
        <p:nvSpPr>
          <p:cNvPr id="5" name="Shape 3"/>
          <p:cNvSpPr/>
          <p:nvPr/>
        </p:nvSpPr>
        <p:spPr>
          <a:xfrm>
            <a:off x="548640"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6" name="Shape 4"/>
          <p:cNvSpPr/>
          <p:nvPr/>
        </p:nvSpPr>
        <p:spPr>
          <a:xfrm>
            <a:off x="804672"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7" name="Image 0" descr="preencoded.png">    </p:cNvPr>
          <p:cNvPicPr>
            <a:picLocks noChangeAspect="1"/>
          </p:cNvPicPr>
          <p:nvPr/>
        </p:nvPicPr>
        <p:blipFill>
          <a:blip r:embed="rId1"/>
          <a:stretch>
            <a:fillRect/>
          </a:stretch>
        </p:blipFill>
        <p:spPr>
          <a:xfrm>
            <a:off x="932688" y="2871216"/>
            <a:ext cx="256032" cy="256032"/>
          </a:xfrm>
          <a:prstGeom prst="rect">
            <a:avLst/>
          </a:prstGeom>
        </p:spPr>
      </p:pic>
      <p:sp>
        <p:nvSpPr>
          <p:cNvPr id="8" name="Text 5"/>
          <p:cNvSpPr/>
          <p:nvPr/>
        </p:nvSpPr>
        <p:spPr>
          <a:xfrm>
            <a:off x="804672"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1</a:t>
            </a:r>
            <a:endParaRPr lang="en-US" sz="1000" dirty="0"/>
          </a:p>
        </p:txBody>
      </p:sp>
      <p:sp>
        <p:nvSpPr>
          <p:cNvPr id="9" name="Text 6"/>
          <p:cNvSpPr/>
          <p:nvPr/>
        </p:nvSpPr>
        <p:spPr>
          <a:xfrm>
            <a:off x="804672"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TRAQOM</a:t>
            </a:r>
            <a:endParaRPr lang="en-US" sz="1400" dirty="0"/>
          </a:p>
        </p:txBody>
      </p:sp>
      <p:sp>
        <p:nvSpPr>
          <p:cNvPr id="10" name="Text 7"/>
          <p:cNvSpPr/>
          <p:nvPr/>
        </p:nvSpPr>
        <p:spPr>
          <a:xfrm>
            <a:off x="804672"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Scan the TRAQOM QR code on the LMS and complete the survey.</a:t>
            </a:r>
            <a:endParaRPr lang="en-US" sz="1100" dirty="0"/>
          </a:p>
        </p:txBody>
      </p:sp>
      <p:pic>
        <p:nvPicPr>
          <p:cNvPr id="11" name="Image 1" descr="preencoded.png">    </p:cNvPr>
          <p:cNvPicPr>
            <a:picLocks noChangeAspect="1"/>
          </p:cNvPicPr>
          <p:nvPr/>
        </p:nvPicPr>
        <p:blipFill>
          <a:blip r:embed="rId2"/>
          <a:stretch>
            <a:fillRect/>
          </a:stretch>
        </p:blipFill>
        <p:spPr>
          <a:xfrm>
            <a:off x="2596896" y="3813048"/>
            <a:ext cx="146304" cy="146304"/>
          </a:xfrm>
          <a:prstGeom prst="rect">
            <a:avLst/>
          </a:prstGeom>
        </p:spPr>
      </p:pic>
      <p:sp>
        <p:nvSpPr>
          <p:cNvPr id="12" name="Shape 8"/>
          <p:cNvSpPr/>
          <p:nvPr/>
        </p:nvSpPr>
        <p:spPr>
          <a:xfrm>
            <a:off x="2798064"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3" name="Shape 9"/>
          <p:cNvSpPr/>
          <p:nvPr/>
        </p:nvSpPr>
        <p:spPr>
          <a:xfrm>
            <a:off x="3054096"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3182112" y="2871216"/>
            <a:ext cx="256032" cy="256032"/>
          </a:xfrm>
          <a:prstGeom prst="rect">
            <a:avLst/>
          </a:prstGeom>
        </p:spPr>
      </p:pic>
      <p:sp>
        <p:nvSpPr>
          <p:cNvPr id="15" name="Text 10"/>
          <p:cNvSpPr/>
          <p:nvPr/>
        </p:nvSpPr>
        <p:spPr>
          <a:xfrm>
            <a:off x="3054096"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2</a:t>
            </a:r>
            <a:endParaRPr lang="en-US" sz="1000" dirty="0"/>
          </a:p>
        </p:txBody>
      </p:sp>
      <p:sp>
        <p:nvSpPr>
          <p:cNvPr id="16" name="Text 11"/>
          <p:cNvSpPr/>
          <p:nvPr/>
        </p:nvSpPr>
        <p:spPr>
          <a:xfrm>
            <a:off x="3054096"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Attendance</a:t>
            </a:r>
            <a:endParaRPr lang="en-US" sz="1400" dirty="0"/>
          </a:p>
        </p:txBody>
      </p:sp>
      <p:sp>
        <p:nvSpPr>
          <p:cNvPr id="17" name="Text 12"/>
          <p:cNvSpPr/>
          <p:nvPr/>
        </p:nvSpPr>
        <p:spPr>
          <a:xfrm>
            <a:off x="3054096"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Take the assessment digital attendance.</a:t>
            </a:r>
            <a:endParaRPr lang="en-US" sz="1100" dirty="0"/>
          </a:p>
        </p:txBody>
      </p:sp>
      <p:pic>
        <p:nvPicPr>
          <p:cNvPr id="18" name="Image 3" descr="preencoded.png">    </p:cNvPr>
          <p:cNvPicPr>
            <a:picLocks noChangeAspect="1"/>
          </p:cNvPicPr>
          <p:nvPr/>
        </p:nvPicPr>
        <p:blipFill>
          <a:blip r:embed="rId4"/>
          <a:stretch>
            <a:fillRect/>
          </a:stretch>
        </p:blipFill>
        <p:spPr>
          <a:xfrm>
            <a:off x="4846320" y="3813048"/>
            <a:ext cx="146304" cy="146304"/>
          </a:xfrm>
          <a:prstGeom prst="rect">
            <a:avLst/>
          </a:prstGeom>
        </p:spPr>
      </p:pic>
      <p:sp>
        <p:nvSpPr>
          <p:cNvPr id="19" name="Shape 13"/>
          <p:cNvSpPr/>
          <p:nvPr/>
        </p:nvSpPr>
        <p:spPr>
          <a:xfrm>
            <a:off x="5047488"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4"/>
          <p:cNvSpPr/>
          <p:nvPr/>
        </p:nvSpPr>
        <p:spPr>
          <a:xfrm>
            <a:off x="5303520"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21" name="Image 4" descr="preencoded.png">    </p:cNvPr>
          <p:cNvPicPr>
            <a:picLocks noChangeAspect="1"/>
          </p:cNvPicPr>
          <p:nvPr/>
        </p:nvPicPr>
        <p:blipFill>
          <a:blip r:embed="rId5"/>
          <a:stretch>
            <a:fillRect/>
          </a:stretch>
        </p:blipFill>
        <p:spPr>
          <a:xfrm>
            <a:off x="5431536" y="2871216"/>
            <a:ext cx="256032" cy="256032"/>
          </a:xfrm>
          <a:prstGeom prst="rect">
            <a:avLst/>
          </a:prstGeom>
        </p:spPr>
      </p:pic>
      <p:sp>
        <p:nvSpPr>
          <p:cNvPr id="22" name="Text 15"/>
          <p:cNvSpPr/>
          <p:nvPr/>
        </p:nvSpPr>
        <p:spPr>
          <a:xfrm>
            <a:off x="5303520"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3</a:t>
            </a:r>
            <a:endParaRPr lang="en-US" sz="1000" dirty="0"/>
          </a:p>
        </p:txBody>
      </p:sp>
      <p:sp>
        <p:nvSpPr>
          <p:cNvPr id="23" name="Text 16"/>
          <p:cNvSpPr/>
          <p:nvPr/>
        </p:nvSpPr>
        <p:spPr>
          <a:xfrm>
            <a:off x="5303520"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Assessment</a:t>
            </a:r>
            <a:endParaRPr lang="en-US" sz="1400" dirty="0"/>
          </a:p>
        </p:txBody>
      </p:sp>
      <p:sp>
        <p:nvSpPr>
          <p:cNvPr id="24" name="Text 17"/>
          <p:cNvSpPr/>
          <p:nvPr/>
        </p:nvSpPr>
        <p:spPr>
          <a:xfrm>
            <a:off x="5303520"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Complete the WA &amp; PP.</a:t>
            </a:r>
            <a:endParaRPr lang="en-US" sz="1100" dirty="0"/>
          </a:p>
        </p:txBody>
      </p:sp>
      <p:pic>
        <p:nvPicPr>
          <p:cNvPr id="25" name="Image 5" descr="preencoded.png">    </p:cNvPr>
          <p:cNvPicPr>
            <a:picLocks noChangeAspect="1"/>
          </p:cNvPicPr>
          <p:nvPr/>
        </p:nvPicPr>
        <p:blipFill>
          <a:blip r:embed="rId6"/>
          <a:stretch>
            <a:fillRect/>
          </a:stretch>
        </p:blipFill>
        <p:spPr>
          <a:xfrm>
            <a:off x="7095744" y="3813048"/>
            <a:ext cx="146304" cy="146304"/>
          </a:xfrm>
          <a:prstGeom prst="rect">
            <a:avLst/>
          </a:prstGeom>
        </p:spPr>
      </p:pic>
      <p:sp>
        <p:nvSpPr>
          <p:cNvPr id="26" name="Shape 18"/>
          <p:cNvSpPr/>
          <p:nvPr/>
        </p:nvSpPr>
        <p:spPr>
          <a:xfrm>
            <a:off x="7296912"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27" name="Shape 19"/>
          <p:cNvSpPr/>
          <p:nvPr/>
        </p:nvSpPr>
        <p:spPr>
          <a:xfrm>
            <a:off x="7552944"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8" name="Image 6" descr="preencoded.png">    </p:cNvPr>
          <p:cNvPicPr>
            <a:picLocks noChangeAspect="1"/>
          </p:cNvPicPr>
          <p:nvPr/>
        </p:nvPicPr>
        <p:blipFill>
          <a:blip r:embed="rId7"/>
          <a:stretch>
            <a:fillRect/>
          </a:stretch>
        </p:blipFill>
        <p:spPr>
          <a:xfrm>
            <a:off x="7680960" y="2871216"/>
            <a:ext cx="256032" cy="256032"/>
          </a:xfrm>
          <a:prstGeom prst="rect">
            <a:avLst/>
          </a:prstGeom>
        </p:spPr>
      </p:pic>
      <p:sp>
        <p:nvSpPr>
          <p:cNvPr id="29" name="Text 20"/>
          <p:cNvSpPr/>
          <p:nvPr/>
        </p:nvSpPr>
        <p:spPr>
          <a:xfrm>
            <a:off x="7552944"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4</a:t>
            </a:r>
            <a:endParaRPr lang="en-US" sz="1000" dirty="0"/>
          </a:p>
        </p:txBody>
      </p:sp>
      <p:sp>
        <p:nvSpPr>
          <p:cNvPr id="30" name="Text 21"/>
          <p:cNvSpPr/>
          <p:nvPr/>
        </p:nvSpPr>
        <p:spPr>
          <a:xfrm>
            <a:off x="7552944"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Submit Answers</a:t>
            </a:r>
            <a:endParaRPr lang="en-US" sz="1400" dirty="0"/>
          </a:p>
        </p:txBody>
      </p:sp>
      <p:sp>
        <p:nvSpPr>
          <p:cNvPr id="31" name="Text 22"/>
          <p:cNvSpPr/>
          <p:nvPr/>
        </p:nvSpPr>
        <p:spPr>
          <a:xfrm>
            <a:off x="7552944"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Submit your assessment answers on the LMS.</a:t>
            </a:r>
            <a:endParaRPr lang="en-US" sz="1100" dirty="0"/>
          </a:p>
        </p:txBody>
      </p:sp>
      <p:pic>
        <p:nvPicPr>
          <p:cNvPr id="32" name="Image 7" descr="preencoded.png">    </p:cNvPr>
          <p:cNvPicPr>
            <a:picLocks noChangeAspect="1"/>
          </p:cNvPicPr>
          <p:nvPr/>
        </p:nvPicPr>
        <p:blipFill>
          <a:blip r:embed="rId8"/>
          <a:stretch>
            <a:fillRect/>
          </a:stretch>
        </p:blipFill>
        <p:spPr>
          <a:xfrm>
            <a:off x="9345168" y="3813048"/>
            <a:ext cx="146304" cy="146304"/>
          </a:xfrm>
          <a:prstGeom prst="rect">
            <a:avLst/>
          </a:prstGeom>
        </p:spPr>
      </p:pic>
      <p:sp>
        <p:nvSpPr>
          <p:cNvPr id="33" name="Shape 23"/>
          <p:cNvSpPr/>
          <p:nvPr/>
        </p:nvSpPr>
        <p:spPr>
          <a:xfrm>
            <a:off x="9546336"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4" name="Shape 24"/>
          <p:cNvSpPr/>
          <p:nvPr/>
        </p:nvSpPr>
        <p:spPr>
          <a:xfrm>
            <a:off x="9802368"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35" name="Image 8" descr="preencoded.png">    </p:cNvPr>
          <p:cNvPicPr>
            <a:picLocks noChangeAspect="1"/>
          </p:cNvPicPr>
          <p:nvPr/>
        </p:nvPicPr>
        <p:blipFill>
          <a:blip r:embed="rId9"/>
          <a:stretch>
            <a:fillRect/>
          </a:stretch>
        </p:blipFill>
        <p:spPr>
          <a:xfrm>
            <a:off x="9930384" y="2871216"/>
            <a:ext cx="256032" cy="256032"/>
          </a:xfrm>
          <a:prstGeom prst="rect">
            <a:avLst/>
          </a:prstGeom>
        </p:spPr>
      </p:pic>
      <p:sp>
        <p:nvSpPr>
          <p:cNvPr id="36" name="Text 25"/>
          <p:cNvSpPr/>
          <p:nvPr/>
        </p:nvSpPr>
        <p:spPr>
          <a:xfrm>
            <a:off x="9802368"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5</a:t>
            </a:r>
            <a:endParaRPr lang="en-US" sz="1000" dirty="0"/>
          </a:p>
        </p:txBody>
      </p:sp>
      <p:sp>
        <p:nvSpPr>
          <p:cNvPr id="37" name="Text 26"/>
          <p:cNvSpPr/>
          <p:nvPr/>
        </p:nvSpPr>
        <p:spPr>
          <a:xfrm>
            <a:off x="9802368"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Sign the Record</a:t>
            </a:r>
            <a:endParaRPr lang="en-US" sz="1400" dirty="0"/>
          </a:p>
        </p:txBody>
      </p:sp>
      <p:sp>
        <p:nvSpPr>
          <p:cNvPr id="38" name="Text 27"/>
          <p:cNvSpPr/>
          <p:nvPr/>
        </p:nvSpPr>
        <p:spPr>
          <a:xfrm>
            <a:off x="9802368"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Sign your Assessment Summary Record.</a:t>
            </a:r>
            <a:endParaRPr lang="en-US" sz="1100" dirty="0"/>
          </a:p>
        </p:txBody>
      </p:sp>
      <p:sp>
        <p:nvSpPr>
          <p:cNvPr id="39" name="Text 28"/>
          <p:cNvSpPr/>
          <p:nvPr/>
        </p:nvSpPr>
        <p:spPr>
          <a:xfrm>
            <a:off x="548640" y="5577840"/>
            <a:ext cx="11064240" cy="320040"/>
          </a:xfrm>
          <a:prstGeom prst="rect">
            <a:avLst/>
          </a:prstGeom>
          <a:noFill/>
          <a:ln/>
        </p:spPr>
        <p:txBody>
          <a:bodyPr wrap="square" rtlCol="0" anchor="ctr"/>
          <a:lstStyle/>
          <a:p>
            <a:pPr indent="0" marL="0">
              <a:buNone/>
            </a:pPr>
            <a:r>
              <a:rPr lang="en-US" sz="1300" b="1" i="1" dirty="0">
                <a:solidFill>
                  <a:srgbClr val="D97757"/>
                </a:solidFill>
                <a:latin typeface="Calibri" pitchFamily="34" charset="0"/>
                <a:ea typeface="Calibri" pitchFamily="34" charset="-122"/>
                <a:cs typeface="Calibri" pitchFamily="34" charset="-120"/>
              </a:rPr>
              <a:t>TIP  </a:t>
            </a:r>
            <a:pPr indent="0" marL="0">
              <a:buNone/>
            </a:pPr>
            <a:r>
              <a:rPr lang="en-US" sz="1300" i="1" dirty="0">
                <a:solidFill>
                  <a:srgbClr val="6B6862"/>
                </a:solidFill>
                <a:latin typeface="Calibri" pitchFamily="34" charset="0"/>
                <a:ea typeface="Calibri" pitchFamily="34" charset="-122"/>
                <a:cs typeface="Calibri" pitchFamily="34" charset="-120"/>
              </a:rPr>
              <a:t>Courseware and the assessment are on the LMS: https://lms-tms.tertiaryinfotech.com/</a:t>
            </a:r>
            <a:endParaRPr lang="en-US" sz="1300" dirty="0"/>
          </a:p>
        </p:txBody>
      </p:sp>
      <p:sp>
        <p:nvSpPr>
          <p:cNvPr id="40" name="Text 29"/>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41" name="Text 30"/>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42" name="Text 31"/>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172</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4">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1463040" y="-1463040"/>
            <a:ext cx="4572000" cy="4572000"/>
          </a:xfrm>
          <a:prstGeom prst="ellipse">
            <a:avLst/>
          </a:prstGeom>
          <a:solidFill>
            <a:srgbClr val="D97757">
              <a:alpha val="16000"/>
            </a:srgbClr>
          </a:solidFill>
          <a:ln/>
        </p:spPr>
        <p:txBody>
          <a:bodyPr/>
          <a:p/>
        </p:txBody>
      </p:sp>
      <p:sp>
        <p:nvSpPr>
          <p:cNvPr id="3" name="Shape 1"/>
          <p:cNvSpPr/>
          <p:nvPr/>
        </p:nvSpPr>
        <p:spPr>
          <a:xfrm>
            <a:off x="10058400" y="4023360"/>
            <a:ext cx="3657600" cy="3657600"/>
          </a:xfrm>
          <a:prstGeom prst="ellipse">
            <a:avLst/>
          </a:prstGeom>
          <a:solidFill>
            <a:srgbClr val="3A7D7B">
              <a:alpha val="14000"/>
            </a:srgbClr>
          </a:solidFill>
          <a:ln/>
        </p:spPr>
        <p:txBody>
          <a:bodyPr/>
          <a:p/>
        </p:txBody>
      </p:sp>
      <p:sp>
        <p:nvSpPr>
          <p:cNvPr id="4" name="Text 2"/>
          <p:cNvSpPr/>
          <p:nvPr/>
        </p:nvSpPr>
        <p:spPr>
          <a:xfrm>
            <a:off x="822960" y="2377440"/>
            <a:ext cx="10058400" cy="109728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p:nvPr/>
        </p:nvSpPr>
        <p:spPr>
          <a:xfrm>
            <a:off x="822960" y="3566160"/>
            <a:ext cx="10058400" cy="457200"/>
          </a:xfrm>
          <a:prstGeom prst="rect">
            <a:avLst/>
          </a:prstGeom>
          <a:noFill/>
          <a:ln/>
        </p:spPr>
        <p:txBody>
          <a:bodyPr wrap="square" rtlCol="0" anchor="ctr"/>
          <a:lstStyle/>
          <a:p>
            <a:pPr indent="0" marL="0">
              <a:buNone/>
            </a:pPr>
            <a:r>
              <a:rPr lang="en-US" sz="1800" dirty="0">
                <a:solidFill>
                  <a:srgbClr val="C9C4B9"/>
                </a:solidFill>
                <a:latin typeface="Calibri" pitchFamily="34" charset="0"/>
                <a:ea typeface="Calibri" pitchFamily="34" charset="-122"/>
                <a:cs typeface="Calibri" pitchFamily="34" charset="-120"/>
              </a:rPr>
              <a:t>Questions? We're here to help — during and after class.</a:t>
            </a:r>
            <a:endParaRPr lang="en-US" sz="1800" dirty="0"/>
          </a:p>
        </p:txBody>
      </p:sp>
      <p:sp>
        <p:nvSpPr>
          <p:cNvPr id="6" name="Text 4"/>
          <p:cNvSpPr/>
          <p:nvPr/>
        </p:nvSpPr>
        <p:spPr>
          <a:xfrm>
            <a:off x="822960" y="4206240"/>
            <a:ext cx="10058400" cy="365760"/>
          </a:xfrm>
          <a:prstGeom prst="rect">
            <a:avLst/>
          </a:prstGeom>
          <a:noFill/>
          <a:ln/>
        </p:spPr>
        <p:txBody>
          <a:bodyPr wrap="square" rtlCol="0" anchor="ctr"/>
          <a:lstStyle/>
          <a:p>
            <a:pPr indent="0" marL="0">
              <a:buNone/>
            </a:pPr>
            <a:r>
              <a:rPr lang="en-US" sz="1500" dirty="0">
                <a:solidFill>
                  <a:srgbClr val="D97757"/>
                </a:solidFill>
                <a:latin typeface="Calibri" pitchFamily="34" charset="0"/>
                <a:ea typeface="Calibri" pitchFamily="34" charset="-122"/>
                <a:cs typeface="Calibri" pitchFamily="34" charset="-120"/>
              </a:rPr>
              <a:t>enquiry@tertiaryinfotech.com   |   +65 6100 0613</a:t>
            </a:r>
            <a:endParaRPr lang="en-US" sz="1500"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WHAT YOU WILL ACHIEVE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Learning Outcomes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By the end of the two days you will be able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LO1 · Conceptualise</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Conceptualise content ideas that meet marketing objectives, and map them into digital storyboards.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LO2 · Identify</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Identify content requirements from customer preferences, and decide how often to publish.</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LO3 · Determine</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Determine content types and styles, and the modes and processes for distributing content.</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LO4 · Develop</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Develop guidelines for executing the content strategy, with suitable delivery modes and responsible AI practices.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Course Outline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Four topics over two days. Day 1 forms the team; Day 2 runs its campaigns.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a:t>
            </a:r>
          </a:p>
        </p:txBody>
      </p:sp>
      <p:sp>
        <p:nvSpPr>
          <p:cNvPr id="8" name="Pentagon 7"/>
          <p:cNvSpPr/>
          <p:nvPr/>
        </p:nvSpPr>
        <p:spPr>
          <a:xfrm>
            <a:off x="548640" y="2084831"/>
            <a:ext cx="28346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6883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6883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2432304"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T1 · Ideation and Storyboarding</a:t>
            </a:r>
          </a:p>
        </p:txBody>
      </p:sp>
      <p:sp>
        <p:nvSpPr>
          <p:cNvPr id="12" name="TextBox 11"/>
          <p:cNvSpPr txBox="1"/>
          <p:nvPr/>
        </p:nvSpPr>
        <p:spPr>
          <a:xfrm>
            <a:off x="676656" y="3694176"/>
            <a:ext cx="2432304"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studio, the team's instructions, skills and connectors; Campaign 1. Labs 1–5.</a:t>
            </a:r>
          </a:p>
        </p:txBody>
      </p:sp>
      <p:sp>
        <p:nvSpPr>
          <p:cNvPr id="13" name="Chevron 12"/>
          <p:cNvSpPr/>
          <p:nvPr/>
        </p:nvSpPr>
        <p:spPr>
          <a:xfrm>
            <a:off x="3291840" y="2084831"/>
            <a:ext cx="28346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33832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2962656"/>
            <a:ext cx="2596896"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12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T2 · Audience and Requirements</a:t>
            </a:r>
          </a:p>
        </p:txBody>
      </p:sp>
      <p:sp>
        <p:nvSpPr>
          <p:cNvPr id="17" name="TextBox 16"/>
          <p:cNvSpPr txBox="1"/>
          <p:nvPr/>
        </p:nvSpPr>
        <p:spPr>
          <a:xfrm>
            <a:off x="35112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Personas from evidence; cadence and calendar; the first blog article. Labs 6–8.</a:t>
            </a:r>
          </a:p>
        </p:txBody>
      </p:sp>
      <p:sp>
        <p:nvSpPr>
          <p:cNvPr id="18" name="Chevron 17"/>
          <p:cNvSpPr/>
          <p:nvPr/>
        </p:nvSpPr>
        <p:spPr>
          <a:xfrm>
            <a:off x="6035040" y="2084831"/>
            <a:ext cx="28346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6126479"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79" y="2962656"/>
            <a:ext cx="2596896"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54495"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T3 · Creation and Coordination</a:t>
            </a:r>
          </a:p>
        </p:txBody>
      </p:sp>
      <p:sp>
        <p:nvSpPr>
          <p:cNvPr id="22" name="TextBox 21"/>
          <p:cNvSpPr txBox="1"/>
          <p:nvPr/>
        </p:nvSpPr>
        <p:spPr>
          <a:xfrm>
            <a:off x="6254495"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Lead magnet, social week, newsletter + landing page, video — behind a human gate. Labs 9–12.</a:t>
            </a:r>
          </a:p>
        </p:txBody>
      </p:sp>
      <p:sp>
        <p:nvSpPr>
          <p:cNvPr id="23" name="Chevron 22"/>
          <p:cNvSpPr/>
          <p:nvPr/>
        </p:nvSpPr>
        <p:spPr>
          <a:xfrm>
            <a:off x="8778240" y="2084831"/>
            <a:ext cx="28346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88696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2962656"/>
            <a:ext cx="2596896"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76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T4 · Distribution and Responsible AI</a:t>
            </a:r>
          </a:p>
        </p:txBody>
      </p:sp>
      <p:sp>
        <p:nvSpPr>
          <p:cNvPr id="27" name="TextBox 26"/>
          <p:cNvSpPr txBox="1"/>
          <p:nvPr/>
        </p:nvSpPr>
        <p:spPr>
          <a:xfrm>
            <a:off x="89976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the playbook; agent teams at work. Labs 13–15.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Lab Materials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Fifteen labs, each in its own folder with a README, prompts (MD and PDF), assets, an evidence checklist and, where useful, a solution.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83210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a:t>
            </a:r>
          </a:p>
        </p:txBody>
      </p:sp>
      <p:sp>
        <p:nvSpPr>
          <p:cNvPr id="10" name="TextBox 9"/>
          <p:cNvSpPr txBox="1"/>
          <p:nvPr/>
        </p:nvSpPr>
        <p:spPr>
          <a:xfrm>
            <a:off x="1856232" y="2203703"/>
            <a:ext cx="702807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9158630"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TOPIC</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4" name="TextBox 13"/>
          <p:cNvSpPr txBox="1"/>
          <p:nvPr/>
        </p:nvSpPr>
        <p:spPr>
          <a:xfrm>
            <a:off x="1856232" y="2560320"/>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Agent team · 2 Instructions · 3 Skills · 4 Connectors</a:t>
            </a:r>
          </a:p>
        </p:txBody>
      </p:sp>
      <p:sp>
        <p:nvSpPr>
          <p:cNvPr id="15" name="TextBox 14"/>
          <p:cNvSpPr txBox="1"/>
          <p:nvPr/>
        </p:nvSpPr>
        <p:spPr>
          <a:xfrm>
            <a:off x="9158630" y="2560320"/>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form the team</a:t>
            </a:r>
          </a:p>
        </p:txBody>
      </p:sp>
      <p:sp>
        <p:nvSpPr>
          <p:cNvPr id="16" name="TextBox 15"/>
          <p:cNvSpPr txBox="1"/>
          <p:nvPr/>
        </p:nvSpPr>
        <p:spPr>
          <a:xfrm>
            <a:off x="749808" y="3189427"/>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7" name="TextBox 16"/>
          <p:cNvSpPr txBox="1"/>
          <p:nvPr/>
        </p:nvSpPr>
        <p:spPr>
          <a:xfrm>
            <a:off x="1856232" y="3189427"/>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5 Campaign 1: research to storyboard</a:t>
            </a:r>
          </a:p>
        </p:txBody>
      </p:sp>
      <p:sp>
        <p:nvSpPr>
          <p:cNvPr id="18" name="TextBox 17"/>
          <p:cNvSpPr txBox="1"/>
          <p:nvPr/>
        </p:nvSpPr>
        <p:spPr>
          <a:xfrm>
            <a:off x="9158630" y="3189427"/>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Campaign 1</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21" name="TextBox 20"/>
          <p:cNvSpPr txBox="1"/>
          <p:nvPr/>
        </p:nvSpPr>
        <p:spPr>
          <a:xfrm>
            <a:off x="1856232" y="3818534"/>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6 Personas · 7 Cadence and calendar · 8 Blog article</a:t>
            </a:r>
          </a:p>
        </p:txBody>
      </p:sp>
      <p:sp>
        <p:nvSpPr>
          <p:cNvPr id="22" name="TextBox 21"/>
          <p:cNvSpPr txBox="1"/>
          <p:nvPr/>
        </p:nvSpPr>
        <p:spPr>
          <a:xfrm>
            <a:off x="9158630" y="3818534"/>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T2 · audience, content</a:t>
            </a:r>
          </a:p>
        </p:txBody>
      </p:sp>
      <p:sp>
        <p:nvSpPr>
          <p:cNvPr id="23" name="TextBox 22"/>
          <p:cNvSpPr txBox="1"/>
          <p:nvPr/>
        </p:nvSpPr>
        <p:spPr>
          <a:xfrm>
            <a:off x="749808" y="4447641"/>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4" name="TextBox 23"/>
          <p:cNvSpPr txBox="1"/>
          <p:nvPr/>
        </p:nvSpPr>
        <p:spPr>
          <a:xfrm>
            <a:off x="1856232" y="4447641"/>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 Lead magnet · 10 Social week · 11 Newsletter + landing page · 12 Video</a:t>
            </a:r>
          </a:p>
        </p:txBody>
      </p:sp>
      <p:sp>
        <p:nvSpPr>
          <p:cNvPr id="25" name="TextBox 24"/>
          <p:cNvSpPr txBox="1"/>
          <p:nvPr/>
        </p:nvSpPr>
        <p:spPr>
          <a:xfrm>
            <a:off x="9158630" y="4447641"/>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T3 · Campaigns 2–4</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8" name="TextBox 27"/>
          <p:cNvSpPr txBox="1"/>
          <p:nvPr/>
        </p:nvSpPr>
        <p:spPr>
          <a:xfrm>
            <a:off x="1856232" y="5076748"/>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 Weekly report · 14 Playbook · 15 Agent teams: debate + QA loop</a:t>
            </a:r>
          </a:p>
        </p:txBody>
      </p:sp>
      <p:sp>
        <p:nvSpPr>
          <p:cNvPr id="29" name="TextBox 28"/>
          <p:cNvSpPr txBox="1"/>
          <p:nvPr/>
        </p:nvSpPr>
        <p:spPr>
          <a:xfrm>
            <a:off x="9158630" y="5076748"/>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T4 · Campaign 5</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One horizon-studio folder from Lab 1 to Lab 15 — the team keeps what it learns.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WHICH APP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Code Mode, Every Lab</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Claude desktop app in Code mode (&lt;/&gt;), in your horizon-studio folder — every lab. You type plain English, never code.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a:t>
            </a:r>
          </a:p>
        </p:txBody>
      </p:sp>
      <p:sp>
        <p:nvSpPr>
          <p:cNvPr id="10" name="TextBox 9"/>
          <p:cNvSpPr txBox="1"/>
          <p:nvPr/>
        </p:nvSpPr>
        <p:spPr>
          <a:xfrm>
            <a:off x="3183940"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6060643" y="2203703"/>
            <a:ext cx="5479084"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IS FOR</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Code</a:t>
            </a:r>
          </a:p>
        </p:txBody>
      </p:sp>
      <p:sp>
        <p:nvSpPr>
          <p:cNvPr id="14" name="TextBox 13"/>
          <p:cNvSpPr txBox="1"/>
          <p:nvPr/>
        </p:nvSpPr>
        <p:spPr>
          <a:xfrm>
            <a:off x="3183940" y="2560320"/>
            <a:ext cx="260238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1, 2, 3, 4, 5, 6, 7, 8, 9, 10, 11, 12, 13, 14, 15</a:t>
            </a:r>
          </a:p>
        </p:txBody>
      </p:sp>
      <p:sp>
        <p:nvSpPr>
          <p:cNvPr id="15" name="TextBox 14"/>
          <p:cNvSpPr txBox="1"/>
          <p:nvPr/>
        </p:nvSpPr>
        <p:spPr>
          <a:xfrm>
            <a:off x="6060643" y="2560320"/>
            <a:ext cx="5479084"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Everything: the team's folder, agents, skills, connectors, artifacts and routines. Each lab starts a new session named after the lab.</a:t>
            </a:r>
          </a:p>
        </p:txBody>
      </p:sp>
      <p:sp>
        <p:nvSpPr>
          <p:cNvPr id="16" name="Rounded Rectangle 1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Everything the team makes is saved in horizon-studio, so the next lab's session picks up where the last one stopped.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SCHEDULE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Lesson Plan (9:00 AM – 6:00 PM)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Tea breaks 10 min, lunch 45 min. Full timings and slide numbers are in the Lesson Plan.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BLOCK</a:t>
            </a:r>
          </a:p>
        </p:txBody>
      </p:sp>
      <p:sp>
        <p:nvSpPr>
          <p:cNvPr id="10" name="TextBox 9"/>
          <p:cNvSpPr txBox="1"/>
          <p:nvPr/>
        </p:nvSpPr>
        <p:spPr>
          <a:xfrm>
            <a:off x="2520086"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1 — FORM THE TEAM</a:t>
            </a:r>
          </a:p>
        </p:txBody>
      </p:sp>
      <p:sp>
        <p:nvSpPr>
          <p:cNvPr id="11" name="TextBox 10"/>
          <p:cNvSpPr txBox="1"/>
          <p:nvPr/>
        </p:nvSpPr>
        <p:spPr>
          <a:xfrm>
            <a:off x="7167067"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2 — RUN THE CAMPAIGNS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1</a:t>
            </a:r>
          </a:p>
        </p:txBody>
      </p:sp>
      <p:sp>
        <p:nvSpPr>
          <p:cNvPr id="14" name="TextBox 13"/>
          <p:cNvSpPr txBox="1"/>
          <p:nvPr/>
        </p:nvSpPr>
        <p:spPr>
          <a:xfrm>
            <a:off x="2520086"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9:00–10:30  Welcome · Topic 1 · Lab 1</a:t>
            </a:r>
          </a:p>
        </p:txBody>
      </p:sp>
      <p:sp>
        <p:nvSpPr>
          <p:cNvPr id="15" name="TextBox 14"/>
          <p:cNvSpPr txBox="1"/>
          <p:nvPr/>
        </p:nvSpPr>
        <p:spPr>
          <a:xfrm>
            <a:off x="7167067"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9:00–10:40  Topic 3 · Labs 9–10</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2</a:t>
            </a:r>
          </a:p>
        </p:txBody>
      </p:sp>
      <p:sp>
        <p:nvSpPr>
          <p:cNvPr id="17" name="TextBox 16"/>
          <p:cNvSpPr txBox="1"/>
          <p:nvPr/>
        </p:nvSpPr>
        <p:spPr>
          <a:xfrm>
            <a:off x="2520086"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10:40–12:40  Labs 2–3</a:t>
            </a:r>
          </a:p>
        </p:txBody>
      </p:sp>
      <p:sp>
        <p:nvSpPr>
          <p:cNvPr id="18" name="TextBox 17"/>
          <p:cNvSpPr txBox="1"/>
          <p:nvPr/>
        </p:nvSpPr>
        <p:spPr>
          <a:xfrm>
            <a:off x="7167067"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10:50–12:35  Labs 11–12 · recap</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1</a:t>
            </a:r>
          </a:p>
        </p:txBody>
      </p:sp>
      <p:sp>
        <p:nvSpPr>
          <p:cNvPr id="21" name="TextBox 20"/>
          <p:cNvSpPr txBox="1"/>
          <p:nvPr/>
        </p:nvSpPr>
        <p:spPr>
          <a:xfrm>
            <a:off x="2520086"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13:25–15:20  Labs 4–5</a:t>
            </a:r>
          </a:p>
        </p:txBody>
      </p:sp>
      <p:sp>
        <p:nvSpPr>
          <p:cNvPr id="22" name="TextBox 21"/>
          <p:cNvSpPr txBox="1"/>
          <p:nvPr/>
        </p:nvSpPr>
        <p:spPr>
          <a:xfrm>
            <a:off x="7167067"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13:20–15:00  Topic 4 · Labs 13–14</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2</a:t>
            </a:r>
          </a:p>
        </p:txBody>
      </p:sp>
      <p:sp>
        <p:nvSpPr>
          <p:cNvPr id="24" name="TextBox 23"/>
          <p:cNvSpPr txBox="1"/>
          <p:nvPr/>
        </p:nvSpPr>
        <p:spPr>
          <a:xfrm>
            <a:off x="2520086"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15:30–18:00  Topic 2 · Labs 6–8 · review</a:t>
            </a:r>
          </a:p>
        </p:txBody>
      </p:sp>
      <p:sp>
        <p:nvSpPr>
          <p:cNvPr id="25" name="TextBox 24"/>
          <p:cNvSpPr txBox="1"/>
          <p:nvPr/>
        </p:nvSpPr>
        <p:spPr>
          <a:xfrm>
            <a:off x="7167067"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15:10–16:00 Agent teams lab · summary · 16:00–18:00 Assessment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Day 2 assessment: Written Assessment 4:00–5:00 PM, Practical Performance 5:00–6:00 PM.</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1</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Multi-AI-Agent Content Ideation and Digital Storyboarding</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AI agents, the tools, and Horizon's story</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Why a team of agents</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 home for the team; Horizon's public website</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Form the team: instructions, skills, connectors</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1: research, ideas and a storyboard</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Claude Suite of Products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Anthropic's products all run on the same Claude models — they differ in where they run and who they are for.</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Chat and Cowork, now one app — web, desktop and mobile. Ask, write, analyse; work on a folder of files.</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Code</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agentic tool for building: terminal, VS Code, the desktop Code tab and the web.</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Design</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Polished UI, prototypes and front-end designs from a prompt.</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Microsoft</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inside Microsoft 365 apps such as Excel, PowerPoint and Outlook.</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Chrome</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browser agent that reads pages, clicks and fills forms in your own Chrome.</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Science</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Speeds up research workflows for scientists and labs.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Claude (Chat + Cowork)?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Chat and Cowork are now one product: Claude, in the desktop app on a paid plan. In this course every lab runs in Code mode instead, so your folder is always in view.</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18</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Chat</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Ask, draft, analyse and research with web search; projects keep shared files and instructions.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Cowork</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Works on a folder on your computer: plans and runs multi-step tasks, and runs sub-agents in parallel when asked.</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Connectors and skills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Google Drive, Gmail, Calendar, Microsoft 365; build your own skills with /skill-creator.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Artifacts and scheduled tasks</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Pages and documents shared by link; tasks that run on a schedule from an Instructions field.</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 CODE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Claude Code?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An agentic tool: describe a goal in plain English and Claude plans, writes, runs and checks the work — editing files, running commands and using tools for you.</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19</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Runs where you work</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terminal, VS Code, the Claude desktop Code tab and the web.</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Agentic</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Plans multi-step tasks and acts on them — not just answers or autocompletes.</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Tool-using</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Reads and writes files, runs commands, calls MCP connectors and publishes artifacts.</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Extensible — the team's home</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CLAUDE.md, subagents, agent teams, skills and hooks. You build Horizon's team here (Labs 1–5, 10–12).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Claude for Microsoft, Chrome and Science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same Claude models, working inside the apps you already use. Not needed for the labs — good to know.</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20</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Microsoft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inside Microsoft 365 — Excel, PowerPoint, Word and Outlook — working on the file you have open.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Chrome</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extension that lets Claude navigate, click, type and fill forms in your browser, with your sign-ins. You approve sensitive actions.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Science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for researchers and labs: literature review, data analysis and connections to scientific tools and databases.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HISTORY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Brief History of AI, 2023–2026</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22</a:t>
            </a:r>
          </a:p>
        </p:txBody>
      </p:sp>
      <p:sp>
        <p:nvSpPr>
          <p:cNvPr id="7" name="Rectangle 6"/>
          <p:cNvSpPr/>
          <p:nvPr/>
        </p:nvSpPr>
        <p:spPr>
          <a:xfrm>
            <a:off x="1931669" y="3657600"/>
            <a:ext cx="8298179" cy="18288"/>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Prompt Engineering</a:t>
            </a:r>
          </a:p>
        </p:txBody>
      </p:sp>
      <p:sp>
        <p:nvSpPr>
          <p:cNvPr id="9" name="Oval 8"/>
          <p:cNvSpPr/>
          <p:nvPr/>
        </p:nvSpPr>
        <p:spPr>
          <a:xfrm>
            <a:off x="152019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2023</a:t>
            </a:r>
          </a:p>
        </p:txBody>
      </p:sp>
      <p:sp>
        <p:nvSpPr>
          <p:cNvPr id="10" name="TextBox 9"/>
          <p:cNvSpPr txBox="1"/>
          <p:nvPr/>
        </p:nvSpPr>
        <p:spPr>
          <a:xfrm>
            <a:off x="62179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ChatGPT goes mainstream; Anthropic launches Claude (March). Results depend on how you word the prompt.</a:t>
            </a:r>
          </a:p>
        </p:txBody>
      </p:sp>
      <p:sp>
        <p:nvSpPr>
          <p:cNvPr id="11" name="TextBox 10"/>
          <p:cNvSpPr txBox="1"/>
          <p:nvPr/>
        </p:nvSpPr>
        <p:spPr>
          <a:xfrm>
            <a:off x="336042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Context Engineering</a:t>
            </a:r>
          </a:p>
        </p:txBody>
      </p:sp>
      <p:sp>
        <p:nvSpPr>
          <p:cNvPr id="12" name="Oval 11"/>
          <p:cNvSpPr/>
          <p:nvPr/>
        </p:nvSpPr>
        <p:spPr>
          <a:xfrm>
            <a:off x="428625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2024</a:t>
            </a:r>
          </a:p>
        </p:txBody>
      </p:sp>
      <p:sp>
        <p:nvSpPr>
          <p:cNvPr id="13" name="TextBox 12"/>
          <p:cNvSpPr txBox="1"/>
          <p:nvPr/>
        </p:nvSpPr>
        <p:spPr>
          <a:xfrm>
            <a:off x="338785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Models call tools. Anthropic open-sources the Model Context Protocol (Nov). Results depend on what the model can see.</a:t>
            </a:r>
          </a:p>
        </p:txBody>
      </p:sp>
      <p:sp>
        <p:nvSpPr>
          <p:cNvPr id="14" name="TextBox 13"/>
          <p:cNvSpPr txBox="1"/>
          <p:nvPr/>
        </p:nvSpPr>
        <p:spPr>
          <a:xfrm>
            <a:off x="6126479"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Harness Engineering</a:t>
            </a:r>
          </a:p>
        </p:txBody>
      </p:sp>
      <p:sp>
        <p:nvSpPr>
          <p:cNvPr id="15" name="Oval 14"/>
          <p:cNvSpPr/>
          <p:nvPr/>
        </p:nvSpPr>
        <p:spPr>
          <a:xfrm>
            <a:off x="705230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2025</a:t>
            </a:r>
          </a:p>
        </p:txBody>
      </p:sp>
      <p:sp>
        <p:nvSpPr>
          <p:cNvPr id="16" name="TextBox 15"/>
          <p:cNvSpPr txBox="1"/>
          <p:nvPr/>
        </p:nvSpPr>
        <p:spPr>
          <a:xfrm>
            <a:off x="615391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E.g. Claude Code and Codex. The system around the model gives rise to agentic AI: task-oriented agents that plan, act and check their work.</a:t>
            </a:r>
          </a:p>
        </p:txBody>
      </p:sp>
      <p:sp>
        <p:nvSpPr>
          <p:cNvPr id="17" name="TextBox 16"/>
          <p:cNvSpPr txBox="1"/>
          <p:nvPr/>
        </p:nvSpPr>
        <p:spPr>
          <a:xfrm>
            <a:off x="889254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AI Agents</a:t>
            </a:r>
          </a:p>
        </p:txBody>
      </p:sp>
      <p:sp>
        <p:nvSpPr>
          <p:cNvPr id="18" name="Oval 17"/>
          <p:cNvSpPr/>
          <p:nvPr/>
        </p:nvSpPr>
        <p:spPr>
          <a:xfrm>
            <a:off x="981836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2026</a:t>
            </a:r>
          </a:p>
        </p:txBody>
      </p:sp>
      <p:sp>
        <p:nvSpPr>
          <p:cNvPr id="19" name="TextBox 18"/>
          <p:cNvSpPr txBox="1"/>
          <p:nvPr/>
        </p:nvSpPr>
        <p:spPr>
          <a:xfrm>
            <a:off x="891997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Always-on agents that work 24/7 on their own, e.g. OpenClaw and Hermes Agent; Claude Code agent teams talk to each other.</a:t>
            </a:r>
          </a:p>
        </p:txBody>
      </p:sp>
      <p:sp>
        <p:nvSpPr>
          <p:cNvPr id="20" name="TextBox 19"/>
          <p:cNvSpPr txBox="1"/>
          <p:nvPr/>
        </p:nvSpPr>
        <p:spPr>
          <a:xfrm>
            <a:off x="548640" y="5897880"/>
            <a:ext cx="11064240" cy="365760"/>
          </a:xfrm>
          <a:prstGeom prst="rect">
            <a:avLst/>
          </a:prstGeom>
          <a:noFill/>
        </p:spPr>
        <p:txBody>
          <a:bodyPr wrap="square" lIns="18288" rIns="18288" tIns="9144" bIns="9144">
            <a:spAutoFit/>
          </a:bodyPr>
          <a:lstStyle/>
          <a:p>
            <a:pPr algn="ctr">
              <a:lnSpc>
                <a:spcPct val="100000"/>
              </a:lnSpc>
              <a:defRPr sz="1100" b="0">
                <a:solidFill>
                  <a:srgbClr val="6B6862"/>
                </a:solidFill>
                <a:latin typeface="Calibri"/>
              </a:defRPr>
            </a:pPr>
            <a:r>
              <a:t>From wording one prompt, to curating context, to engineering the system around the model — and now, agents that work around the clock.</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HARNESS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 Harness?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model is the brain. The harness is everything built around it that turns a model into an agent able to finish long tasks.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23</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agentic loop</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Plans, acts, checks the result and repeats until the goal is met.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Tools and context</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Files, commands, search and connectors (MCP); instructions, memory and skills loaded at the right moment.</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Guardrails and checks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Permission modes, approvals, hooks and tests — what it must ask before it acts.</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Harnesses you will meet</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Code and Claude in class; also Codex, Gemini CLI and OpenClaw.</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Agentic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agent runs the same repeating cycle. A team is several loops, side by side.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Gather context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prompt, CLAUDE.md, its instructions, files and skills.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Decides the next step — or proposes a plan for you to approve.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Take action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Calls a tool: writes a file, searches, uses a connector, starts a subagent.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the result: a count, a test, the Lead's review.</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Repeat</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Loops until the goal is met — then reports what it did.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Goal in → context → action → verification → repeat → goal met.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the Loop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Running a team of agents is steering loops, not typing commands.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25</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Give direction, not micro-steps</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State the goal, the inputs and "done when". Let each loop work out the steps.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Verification is everything</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agent is only as good as its checks: a facts sheet, a test, the Lead's review.</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Steer mid-loop</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plan, interrupt, correct the course — do not wait for a wrong final answer.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Context is the fuel</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What an agent can see decides what it can do: the brief, the data, the skills.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Agentic AI vs AI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use tools, skills and memory. The difference is how long they live and what starts them.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71724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FEATURE</a:t>
            </a:r>
          </a:p>
        </p:txBody>
      </p:sp>
      <p:sp>
        <p:nvSpPr>
          <p:cNvPr id="10" name="TextBox 9"/>
          <p:cNvSpPr txBox="1"/>
          <p:nvPr/>
        </p:nvSpPr>
        <p:spPr>
          <a:xfrm>
            <a:off x="2741371"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AGENTIC AI — TASK-ORIENTED</a:t>
            </a:r>
          </a:p>
        </p:txBody>
      </p:sp>
      <p:sp>
        <p:nvSpPr>
          <p:cNvPr id="11" name="TextBox 10"/>
          <p:cNvSpPr txBox="1"/>
          <p:nvPr/>
        </p:nvSpPr>
        <p:spPr>
          <a:xfrm>
            <a:off x="7277709"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AI AGENTS — ALWAYS ON, 24/7</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Tool calling</a:t>
            </a:r>
          </a:p>
        </p:txBody>
      </p:sp>
      <p:sp>
        <p:nvSpPr>
          <p:cNvPr id="14" name="TextBox 13"/>
          <p:cNvSpPr txBox="1"/>
          <p:nvPr/>
        </p:nvSpPr>
        <p:spPr>
          <a:xfrm>
            <a:off x="2741371"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files, search, connectors, subagents.</a:t>
            </a:r>
          </a:p>
        </p:txBody>
      </p:sp>
      <p:sp>
        <p:nvSpPr>
          <p:cNvPr id="15" name="TextBox 14"/>
          <p:cNvSpPr txBox="1"/>
          <p:nvPr/>
        </p:nvSpPr>
        <p:spPr>
          <a:xfrm>
            <a:off x="7277709"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plus chat apps, the browser and other agents.</a:t>
            </a:r>
          </a:p>
        </p:txBody>
      </p:sp>
      <p:sp>
        <p:nvSpPr>
          <p:cNvPr id="16" name="TextBox 15"/>
          <p:cNvSpPr txBox="1"/>
          <p:nvPr/>
        </p:nvSpPr>
        <p:spPr>
          <a:xfrm>
            <a:off x="749808" y="3084575"/>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Skills</a:t>
            </a:r>
          </a:p>
        </p:txBody>
      </p:sp>
      <p:sp>
        <p:nvSpPr>
          <p:cNvPr id="17" name="TextBox 16"/>
          <p:cNvSpPr txBox="1"/>
          <p:nvPr/>
        </p:nvSpPr>
        <p:spPr>
          <a:xfrm>
            <a:off x="2741371"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loads SKILL.md procedures when the task matches.</a:t>
            </a:r>
          </a:p>
        </p:txBody>
      </p:sp>
      <p:sp>
        <p:nvSpPr>
          <p:cNvPr id="18" name="TextBox 17"/>
          <p:cNvSpPr txBox="1"/>
          <p:nvPr/>
        </p:nvSpPr>
        <p:spPr>
          <a:xfrm>
            <a:off x="7277709"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and can write and improve its own skills.</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Memory</a:t>
            </a:r>
          </a:p>
        </p:txBody>
      </p:sp>
      <p:sp>
        <p:nvSpPr>
          <p:cNvPr id="21" name="TextBox 20"/>
          <p:cNvSpPr txBox="1"/>
          <p:nvPr/>
        </p:nvSpPr>
        <p:spPr>
          <a:xfrm>
            <a:off x="2741371"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Within the task, plus project memory across sessions.</a:t>
            </a:r>
          </a:p>
        </p:txBody>
      </p:sp>
      <p:sp>
        <p:nvSpPr>
          <p:cNvPr id="22" name="TextBox 21"/>
          <p:cNvSpPr txBox="1"/>
          <p:nvPr/>
        </p:nvSpPr>
        <p:spPr>
          <a:xfrm>
            <a:off x="7277709"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Long-term memory about you and your work.</a:t>
            </a:r>
          </a:p>
        </p:txBody>
      </p:sp>
      <p:sp>
        <p:nvSpPr>
          <p:cNvPr id="23" name="TextBox 22"/>
          <p:cNvSpPr txBox="1"/>
          <p:nvPr/>
        </p:nvSpPr>
        <p:spPr>
          <a:xfrm>
            <a:off x="749808" y="4133087"/>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Availability</a:t>
            </a:r>
          </a:p>
        </p:txBody>
      </p:sp>
      <p:sp>
        <p:nvSpPr>
          <p:cNvPr id="24" name="TextBox 23"/>
          <p:cNvSpPr txBox="1"/>
          <p:nvPr/>
        </p:nvSpPr>
        <p:spPr>
          <a:xfrm>
            <a:off x="2741371"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Starts when you give it a task; stops when done.</a:t>
            </a:r>
          </a:p>
        </p:txBody>
      </p:sp>
      <p:sp>
        <p:nvSpPr>
          <p:cNvPr id="25" name="TextBox 24"/>
          <p:cNvSpPr txBox="1"/>
          <p:nvPr/>
        </p:nvSpPr>
        <p:spPr>
          <a:xfrm>
            <a:off x="7277709"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Runs 24/7 on a computer or server.</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Started by</a:t>
            </a:r>
          </a:p>
        </p:txBody>
      </p:sp>
      <p:sp>
        <p:nvSpPr>
          <p:cNvPr id="28" name="TextBox 27"/>
          <p:cNvSpPr txBox="1"/>
          <p:nvPr/>
        </p:nvSpPr>
        <p:spPr>
          <a:xfrm>
            <a:off x="2741371"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with a task.</a:t>
            </a:r>
          </a:p>
        </p:txBody>
      </p:sp>
      <p:sp>
        <p:nvSpPr>
          <p:cNvPr id="29" name="TextBox 28"/>
          <p:cNvSpPr txBox="1"/>
          <p:nvPr/>
        </p:nvSpPr>
        <p:spPr>
          <a:xfrm>
            <a:off x="7277709"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a schedule, a message or another agent.</a:t>
            </a:r>
          </a:p>
        </p:txBody>
      </p:sp>
      <p:sp>
        <p:nvSpPr>
          <p:cNvPr id="30" name="TextBox 29"/>
          <p:cNvSpPr txBox="1"/>
          <p:nvPr/>
        </p:nvSpPr>
        <p:spPr>
          <a:xfrm>
            <a:off x="749808" y="5181599"/>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 this course</a:t>
            </a:r>
          </a:p>
        </p:txBody>
      </p:sp>
      <p:sp>
        <p:nvSpPr>
          <p:cNvPr id="31" name="TextBox 30"/>
          <p:cNvSpPr txBox="1"/>
          <p:nvPr/>
        </p:nvSpPr>
        <p:spPr>
          <a:xfrm>
            <a:off x="2741371"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Claude Code session running a campaign (Labs 1–5, 10–12).</a:t>
            </a:r>
          </a:p>
        </p:txBody>
      </p:sp>
      <p:sp>
        <p:nvSpPr>
          <p:cNvPr id="32" name="TextBox 31"/>
          <p:cNvSpPr txBox="1"/>
          <p:nvPr/>
        </p:nvSpPr>
        <p:spPr>
          <a:xfrm>
            <a:off x="7277709"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scheduled weekly report (Lab 13).</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Rule of thumb: a job with an end → agentic AI; a job that recurs → an always-on agent.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ANATOMY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an Agent Made Of?</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model on its own can only answer. Wrap it with these parts and it can act — and check what it did.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27</a:t>
            </a:r>
          </a:p>
        </p:txBody>
      </p:sp>
      <p:sp>
        <p:nvSpPr>
          <p:cNvPr id="8" name="Rounded Rectangle 7"/>
          <p:cNvSpPr/>
          <p:nvPr/>
        </p:nvSpPr>
        <p:spPr>
          <a:xfrm>
            <a:off x="548640" y="2157984"/>
            <a:ext cx="11064240" cy="3383280"/>
          </a:xfrm>
          <a:prstGeom prst="roundRect">
            <a:avLst>
              <a:gd name="adj" fmla="val 4000"/>
            </a:avLst>
          </a:prstGeom>
          <a:no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002536"/>
            <a:ext cx="3749039"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THE AGENT</a:t>
            </a:r>
          </a:p>
        </p:txBody>
      </p:sp>
      <p:sp>
        <p:nvSpPr>
          <p:cNvPr id="10" name="Rounded Rectangle 9"/>
          <p:cNvSpPr/>
          <p:nvPr/>
        </p:nvSpPr>
        <p:spPr>
          <a:xfrm>
            <a:off x="4754879" y="3003804"/>
            <a:ext cx="2651760" cy="17830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3150108"/>
            <a:ext cx="2651760"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THE BRAIN</a:t>
            </a:r>
          </a:p>
        </p:txBody>
      </p:sp>
      <p:sp>
        <p:nvSpPr>
          <p:cNvPr id="12" name="TextBox 11"/>
          <p:cNvSpPr txBox="1"/>
          <p:nvPr/>
        </p:nvSpPr>
        <p:spPr>
          <a:xfrm>
            <a:off x="4754879" y="3406140"/>
            <a:ext cx="2651760" cy="420624"/>
          </a:xfrm>
          <a:prstGeom prst="rect">
            <a:avLst/>
          </a:prstGeom>
          <a:noFill/>
        </p:spPr>
        <p:txBody>
          <a:bodyPr wrap="square" lIns="18288" rIns="18288" tIns="9144" bIns="9144">
            <a:spAutoFit/>
          </a:bodyPr>
          <a:lstStyle/>
          <a:p>
            <a:pPr algn="ctr">
              <a:lnSpc>
                <a:spcPct val="100000"/>
              </a:lnSpc>
              <a:defRPr sz="2200" b="1">
                <a:solidFill>
                  <a:srgbClr val="FFFFFF"/>
                </a:solidFill>
                <a:latin typeface="Cambria"/>
              </a:defRPr>
            </a:pPr>
            <a:r>
              <a:t>Claude</a:t>
            </a:r>
          </a:p>
        </p:txBody>
      </p:sp>
      <p:sp>
        <p:nvSpPr>
          <p:cNvPr id="13" name="TextBox 12"/>
          <p:cNvSpPr txBox="1"/>
          <p:nvPr/>
        </p:nvSpPr>
        <p:spPr>
          <a:xfrm>
            <a:off x="4892040" y="3899916"/>
            <a:ext cx="237744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the model</a:t>
            </a:r>
          </a:p>
        </p:txBody>
      </p:sp>
      <p:sp>
        <p:nvSpPr>
          <p:cNvPr id="14" name="TextBox 13"/>
          <p:cNvSpPr txBox="1"/>
          <p:nvPr/>
        </p:nvSpPr>
        <p:spPr>
          <a:xfrm>
            <a:off x="4892040" y="4192524"/>
            <a:ext cx="2377440" cy="502920"/>
          </a:xfrm>
          <a:prstGeom prst="rect">
            <a:avLst/>
          </a:prstGeom>
          <a:noFill/>
        </p:spPr>
        <p:txBody>
          <a:bodyPr wrap="square" lIns="18288" rIns="18288" tIns="9144" bIns="9144">
            <a:spAutoFit/>
          </a:bodyPr>
          <a:lstStyle/>
          <a:p>
            <a:pPr algn="ctr">
              <a:lnSpc>
                <a:spcPct val="100000"/>
              </a:lnSpc>
              <a:defRPr sz="1050" b="0">
                <a:solidFill>
                  <a:srgbClr val="E8E5DE"/>
                </a:solidFill>
                <a:latin typeface="Calibri"/>
              </a:defRPr>
            </a:pPr>
            <a:r>
              <a:t>Reads the goal, plans the next step and picks the part to use.</a:t>
            </a:r>
          </a:p>
        </p:txBody>
      </p:sp>
      <p:sp>
        <p:nvSpPr>
          <p:cNvPr id="15" name="Rounded Rectangle 14"/>
          <p:cNvSpPr/>
          <p:nvPr/>
        </p:nvSpPr>
        <p:spPr>
          <a:xfrm>
            <a:off x="777240"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05456"/>
            <a:ext cx="64008" cy="78333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Instructions</a:t>
            </a:r>
          </a:p>
        </p:txBody>
      </p:sp>
      <p:sp>
        <p:nvSpPr>
          <p:cNvPr id="18" name="TextBox 17"/>
          <p:cNvSpPr txBox="1"/>
          <p:nvPr/>
        </p:nvSpPr>
        <p:spPr>
          <a:xfrm>
            <a:off x="978408"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Its job and rules — CLAUDE.md and an agent file.</a:t>
            </a:r>
          </a:p>
        </p:txBody>
      </p:sp>
      <p:cxnSp>
        <p:nvCxnSpPr>
          <p:cNvPr id="19" name="Connector 18"/>
          <p:cNvCxnSpPr/>
          <p:nvPr/>
        </p:nvCxnSpPr>
        <p:spPr>
          <a:xfrm flipH="1" flipV="1">
            <a:off x="4480559" y="2897123"/>
            <a:ext cx="274320" cy="998221"/>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7240"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526536"/>
            <a:ext cx="64008" cy="78333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Tools</a:t>
            </a:r>
          </a:p>
        </p:txBody>
      </p:sp>
      <p:sp>
        <p:nvSpPr>
          <p:cNvPr id="23" name="TextBox 22"/>
          <p:cNvSpPr txBox="1"/>
          <p:nvPr/>
        </p:nvSpPr>
        <p:spPr>
          <a:xfrm>
            <a:off x="978408"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Actions: read and write files, search, run code, use a connector.</a:t>
            </a:r>
          </a:p>
        </p:txBody>
      </p:sp>
      <p:cxnSp>
        <p:nvCxnSpPr>
          <p:cNvPr id="24" name="Connector 23"/>
          <p:cNvCxnSpPr/>
          <p:nvPr/>
        </p:nvCxnSpPr>
        <p:spPr>
          <a:xfrm flipH="1">
            <a:off x="4480559" y="3895344"/>
            <a:ext cx="274320" cy="22860"/>
          </a:xfrm>
          <a:prstGeom prst="line">
            <a:avLst/>
          </a:prstGeom>
          <a:ln w="19050">
            <a:solidFill>
              <a:srgbClr val="C2603F"/>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7616"/>
            <a:ext cx="64008" cy="7833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Skills</a:t>
            </a:r>
          </a:p>
        </p:txBody>
      </p:sp>
      <p:sp>
        <p:nvSpPr>
          <p:cNvPr id="28" name="TextBox 27"/>
          <p:cNvSpPr txBox="1"/>
          <p:nvPr/>
        </p:nvSpPr>
        <p:spPr>
          <a:xfrm>
            <a:off x="978408"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Saved procedures it loads when the task matches — SKILL.md.</a:t>
            </a:r>
          </a:p>
        </p:txBody>
      </p:sp>
      <p:cxnSp>
        <p:nvCxnSpPr>
          <p:cNvPr id="29" name="Connector 28"/>
          <p:cNvCxnSpPr/>
          <p:nvPr/>
        </p:nvCxnSpPr>
        <p:spPr>
          <a:xfrm flipH="1">
            <a:off x="4480559" y="3895344"/>
            <a:ext cx="274320" cy="104394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680959"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80959" y="2505456"/>
            <a:ext cx="64008" cy="783336"/>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82127"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Memory</a:t>
            </a:r>
          </a:p>
        </p:txBody>
      </p:sp>
      <p:sp>
        <p:nvSpPr>
          <p:cNvPr id="33" name="TextBox 32"/>
          <p:cNvSpPr txBox="1"/>
          <p:nvPr/>
        </p:nvSpPr>
        <p:spPr>
          <a:xfrm>
            <a:off x="7882127"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What it keeps between sessions: preferences, past fixes.</a:t>
            </a:r>
          </a:p>
        </p:txBody>
      </p:sp>
      <p:cxnSp>
        <p:nvCxnSpPr>
          <p:cNvPr id="34" name="Connector 33"/>
          <p:cNvCxnSpPr/>
          <p:nvPr/>
        </p:nvCxnSpPr>
        <p:spPr>
          <a:xfrm flipV="1">
            <a:off x="7406640" y="2897123"/>
            <a:ext cx="274319" cy="998221"/>
          </a:xfrm>
          <a:prstGeom prst="line">
            <a:avLst/>
          </a:prstGeom>
          <a:ln w="1905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680959"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80959" y="3526536"/>
            <a:ext cx="64008" cy="783336"/>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82127"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Knowledge base</a:t>
            </a:r>
          </a:p>
        </p:txBody>
      </p:sp>
      <p:sp>
        <p:nvSpPr>
          <p:cNvPr id="38" name="TextBox 37"/>
          <p:cNvSpPr txBox="1"/>
          <p:nvPr/>
        </p:nvSpPr>
        <p:spPr>
          <a:xfrm>
            <a:off x="7882127"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Trusted sources only: Horizon's facts sheet, brand and compliance rules.</a:t>
            </a:r>
          </a:p>
        </p:txBody>
      </p:sp>
      <p:cxnSp>
        <p:nvCxnSpPr>
          <p:cNvPr id="39" name="Connector 38"/>
          <p:cNvCxnSpPr/>
          <p:nvPr/>
        </p:nvCxnSpPr>
        <p:spPr>
          <a:xfrm>
            <a:off x="7406640" y="3895344"/>
            <a:ext cx="274319" cy="22860"/>
          </a:xfrm>
          <a:prstGeom prst="line">
            <a:avLst/>
          </a:prstGeom>
          <a:ln w="19050">
            <a:solidFill>
              <a:srgbClr val="2640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680959"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80959" y="4547616"/>
            <a:ext cx="64008" cy="783336"/>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82127"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Guardrails</a:t>
            </a:r>
          </a:p>
        </p:txBody>
      </p:sp>
      <p:sp>
        <p:nvSpPr>
          <p:cNvPr id="43" name="TextBox 42"/>
          <p:cNvSpPr txBox="1"/>
          <p:nvPr/>
        </p:nvSpPr>
        <p:spPr>
          <a:xfrm>
            <a:off x="7882127"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Permissions, approvals and hooks — what it must ask first.</a:t>
            </a:r>
          </a:p>
        </p:txBody>
      </p:sp>
      <p:cxnSp>
        <p:nvCxnSpPr>
          <p:cNvPr id="44" name="Connector 43"/>
          <p:cNvCxnSpPr/>
          <p:nvPr/>
        </p:nvCxnSpPr>
        <p:spPr>
          <a:xfrm>
            <a:off x="7406640" y="3895344"/>
            <a:ext cx="274319" cy="1043940"/>
          </a:xfrm>
          <a:prstGeom prst="line">
            <a:avLst/>
          </a:prstGeom>
          <a:ln w="19050">
            <a:solidFill>
              <a:srgbClr val="2E2C26"/>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48640" y="5632704"/>
            <a:ext cx="11064240" cy="512064"/>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696712"/>
            <a:ext cx="10607040" cy="384048"/>
          </a:xfrm>
          <a:prstGeom prst="rect">
            <a:avLst/>
          </a:prstGeom>
          <a:noFill/>
        </p:spPr>
        <p:txBody>
          <a:bodyPr wrap="square" lIns="18288" rIns="18288" tIns="9144" bIns="9144" anchor="ctr">
            <a:spAutoFit/>
          </a:bodyPr>
          <a:lstStyle/>
          <a:p>
            <a:pPr algn="ctr">
              <a:lnSpc>
                <a:spcPct val="100000"/>
              </a:lnSpc>
              <a:defRPr sz="1200" b="0">
                <a:solidFill>
                  <a:srgbClr val="FFFFFF"/>
                </a:solidFill>
                <a:latin typeface="Calibri"/>
              </a:defRPr>
            </a:pPr>
            <a:r>
              <a:t>You build every one of these for Horizon's six agents in Labs 2–4.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a Marketing Team, Then Run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Horizon Wealth Planning has a website, a goal of 40 booked chats a month — and no marketing team. You build one, made of AI agents.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28</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Form the team</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Lead and five specialists: instructions, skills, connectors (Labs 1–4).</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Know the audience</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requirements, cadence (Labs 6–7).</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First content</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blog article and the lead magnet (Labs 8–9).</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Campaigns 2–4</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Social week, newsletter + landing page, video (Labs 10–12).</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5</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Always on: the weekly report; the playbook (13–14).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Meet Horizon Wealth Planning</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firm's public website — the same link for every learner. You do not build it; every campaign points back here.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29</a:t>
            </a:r>
          </a:p>
        </p:txBody>
      </p:sp>
      <p:sp>
        <p:nvSpPr>
          <p:cNvPr id="8" name="Rectangle 7"/>
          <p:cNvSpPr/>
          <p:nvPr/>
        </p:nvSpPr>
        <p:spPr>
          <a:xfrm>
            <a:off x="512064" y="2048255"/>
            <a:ext cx="5705855" cy="359359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home.png">
            <a:hlinkClick r:id="rId3"/>
          </p:cNvPr>
          <p:cNvPicPr>
            <a:picLocks noChangeAspect="1"/>
          </p:cNvPicPr>
          <p:nvPr/>
        </p:nvPicPr>
        <p:blipFill>
          <a:blip r:embed="rId2"/>
          <a:stretch>
            <a:fillRect/>
          </a:stretch>
        </p:blipFill>
        <p:spPr>
          <a:xfrm>
            <a:off x="548640" y="2084831"/>
            <a:ext cx="5632703" cy="3520439"/>
          </a:xfrm>
          <a:prstGeom prst="rect">
            <a:avLst/>
          </a:prstGeom>
        </p:spPr>
      </p:pic>
      <p:sp>
        <p:nvSpPr>
          <p:cNvPr id="10" name="TextBox 9"/>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WEBSITE   </a:t>
            </a:r>
            <a:r>
              <a:rPr sz="1000" b="0">
                <a:solidFill>
                  <a:srgbClr val="21201C"/>
                </a:solidFill>
                <a:latin typeface="Calibri"/>
                <a:hlinkClick r:id="rId3"/>
              </a:rPr>
              <a:t>tertiarycourses.github.io/TGS-2023036153-Multi-AI-Agents-Workflow-for-Content-Creation</a:t>
            </a:r>
          </a:p>
        </p:txBody>
      </p:sp>
      <p:sp>
        <p:nvSpPr>
          <p:cNvPr id="11" name="Rectangle 10"/>
          <p:cNvSpPr/>
          <p:nvPr/>
        </p:nvSpPr>
        <p:spPr>
          <a:xfrm>
            <a:off x="6547103"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48271" y="2130551"/>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Plain English</a:t>
            </a:r>
          </a:p>
        </p:txBody>
      </p:sp>
      <p:sp>
        <p:nvSpPr>
          <p:cNvPr id="13" name="TextBox 12"/>
          <p:cNvSpPr txBox="1"/>
          <p:nvPr/>
        </p:nvSpPr>
        <p:spPr>
          <a:xfrm>
            <a:off x="6748271" y="2459735"/>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Retirement, CPF, insurance and investing — no jargon, no hard sell.</a:t>
            </a:r>
          </a:p>
        </p:txBody>
      </p:sp>
      <p:sp>
        <p:nvSpPr>
          <p:cNvPr id="14" name="Rectangle 13"/>
          <p:cNvSpPr/>
          <p:nvPr/>
        </p:nvSpPr>
        <p:spPr>
          <a:xfrm>
            <a:off x="6547103"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48271" y="3300983"/>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One goal</a:t>
            </a:r>
          </a:p>
        </p:txBody>
      </p:sp>
      <p:sp>
        <p:nvSpPr>
          <p:cNvPr id="16" name="TextBox 15"/>
          <p:cNvSpPr txBox="1"/>
          <p:nvPr/>
        </p:nvSpPr>
        <p:spPr>
          <a:xfrm>
            <a:off x="6748271" y="3630167"/>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Turn visitors into booked free 30-minute chats.</a:t>
            </a:r>
          </a:p>
        </p:txBody>
      </p:sp>
      <p:sp>
        <p:nvSpPr>
          <p:cNvPr id="17" name="Rectangle 16"/>
          <p:cNvSpPr/>
          <p:nvPr/>
        </p:nvSpPr>
        <p:spPr>
          <a:xfrm>
            <a:off x="6547103"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48271" y="4471416"/>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Regulated</a:t>
            </a:r>
          </a:p>
        </p:txBody>
      </p:sp>
      <p:sp>
        <p:nvSpPr>
          <p:cNvPr id="19" name="TextBox 18"/>
          <p:cNvSpPr txBox="1"/>
          <p:nvPr/>
        </p:nvSpPr>
        <p:spPr>
          <a:xfrm>
            <a:off x="6748271" y="4800600"/>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Financial content: general information only, never a promised return.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Your AI Marketing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Lead and five specialists — each with instructions, its own skills and connectors.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30</a:t>
            </a:r>
          </a:p>
        </p:txBody>
      </p:sp>
      <p:sp>
        <p:nvSpPr>
          <p:cNvPr id="8" name="Rounded Rectangle 7"/>
          <p:cNvSpPr/>
          <p:nvPr/>
        </p:nvSpPr>
        <p:spPr>
          <a:xfrm>
            <a:off x="4069079" y="2130551"/>
            <a:ext cx="4023360" cy="7315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69079" y="2176272"/>
            <a:ext cx="4023360" cy="365760"/>
          </a:xfrm>
          <a:prstGeom prst="rect">
            <a:avLst/>
          </a:prstGeom>
          <a:noFill/>
        </p:spPr>
        <p:txBody>
          <a:bodyPr wrap="square" lIns="18288" rIns="18288" tIns="9144" bIns="9144">
            <a:spAutoFit/>
          </a:bodyPr>
          <a:lstStyle/>
          <a:p>
            <a:pPr algn="ctr">
              <a:lnSpc>
                <a:spcPct val="100000"/>
              </a:lnSpc>
              <a:defRPr sz="1800" b="1">
                <a:solidFill>
                  <a:srgbClr val="FFFFFF"/>
                </a:solidFill>
                <a:latin typeface="Cambria"/>
              </a:defRPr>
            </a:pPr>
            <a:r>
              <a:t>Marketing Team Lead</a:t>
            </a:r>
          </a:p>
        </p:txBody>
      </p:sp>
      <p:sp>
        <p:nvSpPr>
          <p:cNvPr id="10" name="TextBox 9"/>
          <p:cNvSpPr txBox="1"/>
          <p:nvPr/>
        </p:nvSpPr>
        <p:spPr>
          <a:xfrm>
            <a:off x="4251959" y="2523744"/>
            <a:ext cx="365760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plans · assigns · checks · hands to a person</a:t>
            </a:r>
          </a:p>
        </p:txBody>
      </p:sp>
      <p:cxnSp>
        <p:nvCxnSpPr>
          <p:cNvPr id="11" name="Connector 10"/>
          <p:cNvCxnSpPr/>
          <p:nvPr/>
        </p:nvCxnSpPr>
        <p:spPr>
          <a:xfrm>
            <a:off x="6080759" y="2862072"/>
            <a:ext cx="0" cy="173736"/>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89227" y="3035808"/>
            <a:ext cx="8983065" cy="0"/>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89227"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3200400"/>
            <a:ext cx="2081174" cy="2304287"/>
          </a:xfrm>
          <a:prstGeom prst="roundRect">
            <a:avLst>
              <a:gd name="adj" fmla="val 6000"/>
            </a:avLst>
          </a:prstGeom>
          <a:noFill/>
          <a:ln w="15875">
            <a:solidFill>
              <a:srgbClr val="5B6C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3195" y="3456432"/>
            <a:ext cx="512064" cy="512064"/>
          </a:xfrm>
          <a:prstGeom prst="roundRect">
            <a:avLst/>
          </a:prstGeom>
          <a:solidFill>
            <a:srgbClr val="5B6CF0"/>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17" name="TextBox 16"/>
          <p:cNvSpPr txBox="1"/>
          <p:nvPr/>
        </p:nvSpPr>
        <p:spPr>
          <a:xfrm>
            <a:off x="731520"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Strategist</a:t>
            </a:r>
          </a:p>
        </p:txBody>
      </p:sp>
      <p:sp>
        <p:nvSpPr>
          <p:cNvPr id="18" name="TextBox 17"/>
          <p:cNvSpPr txBox="1"/>
          <p:nvPr/>
        </p:nvSpPr>
        <p:spPr>
          <a:xfrm>
            <a:off x="749808"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Research, positioning, briefs, storyboards</a:t>
            </a:r>
          </a:p>
        </p:txBody>
      </p:sp>
      <p:cxnSp>
        <p:nvCxnSpPr>
          <p:cNvPr id="19" name="Connector 18"/>
          <p:cNvCxnSpPr/>
          <p:nvPr/>
        </p:nvCxnSpPr>
        <p:spPr>
          <a:xfrm>
            <a:off x="3834993"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94406" y="3200400"/>
            <a:ext cx="2081174" cy="2304287"/>
          </a:xfrm>
          <a:prstGeom prst="roundRect">
            <a:avLst>
              <a:gd name="adj" fmla="val 6000"/>
            </a:avLst>
          </a:prstGeom>
          <a:noFill/>
          <a:ln w="15875">
            <a:solidFill>
              <a:srgbClr val="E881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04134"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78961" y="3456432"/>
            <a:ext cx="512064" cy="512064"/>
          </a:xfrm>
          <a:prstGeom prst="roundRect">
            <a:avLst/>
          </a:prstGeom>
          <a:solidFill>
            <a:srgbClr val="E8813C"/>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3" name="TextBox 22"/>
          <p:cNvSpPr txBox="1"/>
          <p:nvPr/>
        </p:nvSpPr>
        <p:spPr>
          <a:xfrm>
            <a:off x="2977286"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Content Creator</a:t>
            </a:r>
          </a:p>
        </p:txBody>
      </p:sp>
      <p:sp>
        <p:nvSpPr>
          <p:cNvPr id="24" name="TextBox 23"/>
          <p:cNvSpPr txBox="1"/>
          <p:nvPr/>
        </p:nvSpPr>
        <p:spPr>
          <a:xfrm>
            <a:off x="2995574"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Posts, newsletter, scripts, page copy</a:t>
            </a:r>
          </a:p>
        </p:txBody>
      </p:sp>
      <p:cxnSp>
        <p:nvCxnSpPr>
          <p:cNvPr id="25" name="Connector 24"/>
          <p:cNvCxnSpPr/>
          <p:nvPr/>
        </p:nvCxnSpPr>
        <p:spPr>
          <a:xfrm>
            <a:off x="6080759"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40172" y="3200400"/>
            <a:ext cx="2081174" cy="2304287"/>
          </a:xfrm>
          <a:prstGeom prst="roundRect">
            <a:avLst>
              <a:gd name="adj" fmla="val 6000"/>
            </a:avLst>
          </a:prstGeom>
          <a:noFill/>
          <a:ln w="15875">
            <a:solidFill>
              <a:srgbClr val="E77F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149900"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24727" y="3456432"/>
            <a:ext cx="512064" cy="512064"/>
          </a:xfrm>
          <a:prstGeom prst="roundRect">
            <a:avLst/>
          </a:prstGeom>
          <a:solidFill>
            <a:srgbClr val="E77FA6"/>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9" name="TextBox 28"/>
          <p:cNvSpPr txBox="1"/>
          <p:nvPr/>
        </p:nvSpPr>
        <p:spPr>
          <a:xfrm>
            <a:off x="5223052"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Creative Designer</a:t>
            </a:r>
          </a:p>
        </p:txBody>
      </p:sp>
      <p:sp>
        <p:nvSpPr>
          <p:cNvPr id="30" name="TextBox 29"/>
          <p:cNvSpPr txBox="1"/>
          <p:nvPr/>
        </p:nvSpPr>
        <p:spPr>
          <a:xfrm>
            <a:off x="5241340"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Images, thumbnails, the video</a:t>
            </a:r>
          </a:p>
        </p:txBody>
      </p:sp>
      <p:cxnSp>
        <p:nvCxnSpPr>
          <p:cNvPr id="31" name="Connector 30"/>
          <p:cNvCxnSpPr/>
          <p:nvPr/>
        </p:nvCxnSpPr>
        <p:spPr>
          <a:xfrm>
            <a:off x="8326526"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285939" y="3200400"/>
            <a:ext cx="2081174" cy="2304287"/>
          </a:xfrm>
          <a:prstGeom prst="roundRect">
            <a:avLst>
              <a:gd name="adj" fmla="val 6000"/>
            </a:avLst>
          </a:prstGeom>
          <a:noFill/>
          <a:ln w="15875">
            <a:solidFill>
              <a:srgbClr val="3A9A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395667"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0494" y="3456432"/>
            <a:ext cx="512064" cy="512064"/>
          </a:xfrm>
          <a:prstGeom prst="roundRect">
            <a:avLst/>
          </a:prstGeom>
          <a:solidFill>
            <a:srgbClr val="3A9A8F"/>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35" name="TextBox 34"/>
          <p:cNvSpPr txBox="1"/>
          <p:nvPr/>
        </p:nvSpPr>
        <p:spPr>
          <a:xfrm>
            <a:off x="7468819"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Website Designer</a:t>
            </a:r>
          </a:p>
        </p:txBody>
      </p:sp>
      <p:sp>
        <p:nvSpPr>
          <p:cNvPr id="36" name="TextBox 35"/>
          <p:cNvSpPr txBox="1"/>
          <p:nvPr/>
        </p:nvSpPr>
        <p:spPr>
          <a:xfrm>
            <a:off x="7487107"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Landing pages, published and checked</a:t>
            </a:r>
          </a:p>
        </p:txBody>
      </p:sp>
      <p:cxnSp>
        <p:nvCxnSpPr>
          <p:cNvPr id="37" name="Connector 36"/>
          <p:cNvCxnSpPr/>
          <p:nvPr/>
        </p:nvCxnSpPr>
        <p:spPr>
          <a:xfrm>
            <a:off x="10572292"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31705" y="3200400"/>
            <a:ext cx="2081174" cy="2304287"/>
          </a:xfrm>
          <a:prstGeom prst="roundRect">
            <a:avLst>
              <a:gd name="adj" fmla="val 6000"/>
            </a:avLst>
          </a:prstGeom>
          <a:noFill/>
          <a:ln w="15875">
            <a:solidFill>
              <a:srgbClr val="E2A9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41433"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316260" y="3456432"/>
            <a:ext cx="512064" cy="512064"/>
          </a:xfrm>
          <a:prstGeom prst="roundRect">
            <a:avLst/>
          </a:prstGeom>
          <a:solidFill>
            <a:srgbClr val="E2A93B"/>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41" name="TextBox 40"/>
          <p:cNvSpPr txBox="1"/>
          <p:nvPr/>
        </p:nvSpPr>
        <p:spPr>
          <a:xfrm>
            <a:off x="9714585"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Analyst</a:t>
            </a:r>
          </a:p>
        </p:txBody>
      </p:sp>
      <p:sp>
        <p:nvSpPr>
          <p:cNvPr id="42" name="TextBox 41"/>
          <p:cNvSpPr txBox="1"/>
          <p:nvPr/>
        </p:nvSpPr>
        <p:spPr>
          <a:xfrm>
            <a:off x="9732873"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Personas, cadence, results, reports</a:t>
            </a:r>
          </a:p>
        </p:txBody>
      </p:sp>
      <p:sp>
        <p:nvSpPr>
          <p:cNvPr id="43" name="Rounded Rectangle 4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Nothing reaches a customer unless a person approved that exact version.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Who Does What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agent's job, the skills it owns and the connectors it may use.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31</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38531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2409444"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JOB</a:t>
            </a:r>
          </a:p>
        </p:txBody>
      </p:sp>
      <p:sp>
        <p:nvSpPr>
          <p:cNvPr id="11" name="TextBox 10"/>
          <p:cNvSpPr txBox="1"/>
          <p:nvPr/>
        </p:nvSpPr>
        <p:spPr>
          <a:xfrm>
            <a:off x="462229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2" name="TextBox 11"/>
          <p:cNvSpPr txBox="1"/>
          <p:nvPr/>
        </p:nvSpPr>
        <p:spPr>
          <a:xfrm>
            <a:off x="9047988" y="2203703"/>
            <a:ext cx="24917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CONNECTORS</a:t>
            </a:r>
          </a:p>
        </p:txBody>
      </p:sp>
      <p:sp>
        <p:nvSpPr>
          <p:cNvPr id="13" name="Rectangle 12"/>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60320"/>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5" name="TextBox 14"/>
          <p:cNvSpPr txBox="1"/>
          <p:nvPr/>
        </p:nvSpPr>
        <p:spPr>
          <a:xfrm>
            <a:off x="2409444"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Plans, assigns, checks, hands to a person</a:t>
            </a:r>
          </a:p>
        </p:txBody>
      </p:sp>
      <p:sp>
        <p:nvSpPr>
          <p:cNvPr id="16" name="TextBox 15"/>
          <p:cNvSpPr txBox="1"/>
          <p:nvPr/>
        </p:nvSpPr>
        <p:spPr>
          <a:xfrm>
            <a:off x="4622292" y="2560320"/>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7" name="TextBox 16"/>
          <p:cNvSpPr txBox="1"/>
          <p:nvPr/>
        </p:nvSpPr>
        <p:spPr>
          <a:xfrm>
            <a:off x="9047988" y="2560320"/>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8" name="TextBox 17"/>
          <p:cNvSpPr txBox="1"/>
          <p:nvPr/>
        </p:nvSpPr>
        <p:spPr>
          <a:xfrm>
            <a:off x="749808" y="3084575"/>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9" name="TextBox 18"/>
          <p:cNvSpPr txBox="1"/>
          <p:nvPr/>
        </p:nvSpPr>
        <p:spPr>
          <a:xfrm>
            <a:off x="2409444"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positioning, briefs, storyboards</a:t>
            </a:r>
          </a:p>
        </p:txBody>
      </p:sp>
      <p:sp>
        <p:nvSpPr>
          <p:cNvPr id="20" name="TextBox 19"/>
          <p:cNvSpPr txBox="1"/>
          <p:nvPr/>
        </p:nvSpPr>
        <p:spPr>
          <a:xfrm>
            <a:off x="4622292" y="3084575"/>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21" name="TextBox 20"/>
          <p:cNvSpPr txBox="1"/>
          <p:nvPr/>
        </p:nvSpPr>
        <p:spPr>
          <a:xfrm>
            <a:off x="9047988" y="3084575"/>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Firecrawl (search, scrape), Google Drive (read)</a:t>
            </a:r>
          </a:p>
        </p:txBody>
      </p:sp>
      <p:sp>
        <p:nvSpPr>
          <p:cNvPr id="22" name="Rectangle 21"/>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608831"/>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4" name="TextBox 23"/>
          <p:cNvSpPr txBox="1"/>
          <p:nvPr/>
        </p:nvSpPr>
        <p:spPr>
          <a:xfrm>
            <a:off x="2409444"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Posts, newsletter, scripts, page copy</a:t>
            </a:r>
          </a:p>
        </p:txBody>
      </p:sp>
      <p:sp>
        <p:nvSpPr>
          <p:cNvPr id="25" name="TextBox 24"/>
          <p:cNvSpPr txBox="1"/>
          <p:nvPr/>
        </p:nvSpPr>
        <p:spPr>
          <a:xfrm>
            <a:off x="4622292" y="3608831"/>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26" name="TextBox 25"/>
          <p:cNvSpPr txBox="1"/>
          <p:nvPr/>
        </p:nvSpPr>
        <p:spPr>
          <a:xfrm>
            <a:off x="9047988" y="3608831"/>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7" name="TextBox 26"/>
          <p:cNvSpPr txBox="1"/>
          <p:nvPr/>
        </p:nvSpPr>
        <p:spPr>
          <a:xfrm>
            <a:off x="749808" y="4133087"/>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8" name="TextBox 27"/>
          <p:cNvSpPr txBox="1"/>
          <p:nvPr/>
        </p:nvSpPr>
        <p:spPr>
          <a:xfrm>
            <a:off x="2409444"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Images, thumbnails, the video</a:t>
            </a:r>
          </a:p>
        </p:txBody>
      </p:sp>
      <p:sp>
        <p:nvSpPr>
          <p:cNvPr id="29" name="TextBox 28"/>
          <p:cNvSpPr txBox="1"/>
          <p:nvPr/>
        </p:nvSpPr>
        <p:spPr>
          <a:xfrm>
            <a:off x="4622292" y="4133087"/>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30" name="TextBox 29"/>
          <p:cNvSpPr txBox="1"/>
          <p:nvPr/>
        </p:nvSpPr>
        <p:spPr>
          <a:xfrm>
            <a:off x="9047988" y="4133087"/>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Bash for Pillow (images) and ffmpeg (video)</a:t>
            </a:r>
          </a:p>
        </p:txBody>
      </p:sp>
      <p:sp>
        <p:nvSpPr>
          <p:cNvPr id="31" name="Rectangle 3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657344"/>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33" name="TextBox 32"/>
          <p:cNvSpPr txBox="1"/>
          <p:nvPr/>
        </p:nvSpPr>
        <p:spPr>
          <a:xfrm>
            <a:off x="2409444"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Landing pages, published and checked</a:t>
            </a:r>
          </a:p>
        </p:txBody>
      </p:sp>
      <p:sp>
        <p:nvSpPr>
          <p:cNvPr id="34" name="TextBox 33"/>
          <p:cNvSpPr txBox="1"/>
          <p:nvPr/>
        </p:nvSpPr>
        <p:spPr>
          <a:xfrm>
            <a:off x="4622292" y="4657344"/>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35" name="TextBox 34"/>
          <p:cNvSpPr txBox="1"/>
          <p:nvPr/>
        </p:nvSpPr>
        <p:spPr>
          <a:xfrm>
            <a:off x="9047988" y="4657344"/>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artifacts (publish), built-in browser (check)</a:t>
            </a:r>
          </a:p>
        </p:txBody>
      </p:sp>
      <p:sp>
        <p:nvSpPr>
          <p:cNvPr id="36" name="TextBox 35"/>
          <p:cNvSpPr txBox="1"/>
          <p:nvPr/>
        </p:nvSpPr>
        <p:spPr>
          <a:xfrm>
            <a:off x="749808" y="5181599"/>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7" name="TextBox 36"/>
          <p:cNvSpPr txBox="1"/>
          <p:nvPr/>
        </p:nvSpPr>
        <p:spPr>
          <a:xfrm>
            <a:off x="2409444"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Personas, cadence, results, reports</a:t>
            </a:r>
          </a:p>
        </p:txBody>
      </p:sp>
      <p:sp>
        <p:nvSpPr>
          <p:cNvPr id="38" name="TextBox 37"/>
          <p:cNvSpPr txBox="1"/>
          <p:nvPr/>
        </p:nvSpPr>
        <p:spPr>
          <a:xfrm>
            <a:off x="4622292" y="5181599"/>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39" name="TextBox 38"/>
          <p:cNvSpPr txBox="1"/>
          <p:nvPr/>
        </p:nvSpPr>
        <p:spPr>
          <a:xfrm>
            <a:off x="9047988" y="5181599"/>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Bash for Python</a:t>
            </a:r>
          </a:p>
        </p:txBody>
      </p:sp>
      <p:sp>
        <p:nvSpPr>
          <p:cNvPr id="40" name="Rounded Rectangle 3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You build every part of this table in Labs 2, 3 and 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Tools for This Edition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Claude Edition: two Claude products, one studio.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32</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TOOL</a:t>
            </a:r>
          </a:p>
        </p:txBody>
      </p:sp>
      <p:sp>
        <p:nvSpPr>
          <p:cNvPr id="10" name="TextBox 9"/>
          <p:cNvSpPr txBox="1"/>
          <p:nvPr/>
        </p:nvSpPr>
        <p:spPr>
          <a:xfrm>
            <a:off x="3183940"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THE TEAM USES IT FOR</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Code</a:t>
            </a:r>
          </a:p>
        </p:txBody>
      </p:sp>
      <p:sp>
        <p:nvSpPr>
          <p:cNvPr id="14" name="TextBox 13"/>
          <p:cNvSpPr txBox="1"/>
          <p:nvPr/>
        </p:nvSpPr>
        <p:spPr>
          <a:xfrm>
            <a:off x="3183940" y="2560320"/>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lab, in Code mode: agent and skill files, subagents, agent teams, the approval gate, routines, the video</a:t>
            </a:r>
          </a:p>
        </p:txBody>
      </p:sp>
      <p:sp>
        <p:nvSpPr>
          <p:cNvPr id="15" name="TextBox 14"/>
          <p:cNvSpPr txBox="1"/>
          <p:nvPr/>
        </p:nvSpPr>
        <p:spPr>
          <a:xfrm>
            <a:off x="8494776" y="2560320"/>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1–15</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artifacts</a:t>
            </a:r>
          </a:p>
        </p:txBody>
      </p:sp>
      <p:sp>
        <p:nvSpPr>
          <p:cNvPr id="17" name="TextBox 16"/>
          <p:cNvSpPr txBox="1"/>
          <p:nvPr/>
        </p:nvSpPr>
        <p:spPr>
          <a:xfrm>
            <a:off x="3183940" y="3273552"/>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result from Lab 5 on; Horizon's website (given), your blog post and the landing page</a:t>
            </a:r>
          </a:p>
        </p:txBody>
      </p:sp>
      <p:sp>
        <p:nvSpPr>
          <p:cNvPr id="18" name="TextBox 17"/>
          <p:cNvSpPr txBox="1"/>
          <p:nvPr/>
        </p:nvSpPr>
        <p:spPr>
          <a:xfrm>
            <a:off x="8494776" y="3273552"/>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 5–15</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Customize</a:t>
            </a:r>
          </a:p>
        </p:txBody>
      </p:sp>
      <p:sp>
        <p:nvSpPr>
          <p:cNvPr id="21" name="TextBox 20"/>
          <p:cNvSpPr txBox="1"/>
          <p:nvPr/>
        </p:nvSpPr>
        <p:spPr>
          <a:xfrm>
            <a:off x="3183940" y="3986784"/>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Connectors (Drive, Gmail, Calendar, Firecrawl) and the Marketing plugin — added once, used by both</a:t>
            </a:r>
          </a:p>
        </p:txBody>
      </p:sp>
      <p:sp>
        <p:nvSpPr>
          <p:cNvPr id="22" name="TextBox 21"/>
          <p:cNvSpPr txBox="1"/>
          <p:nvPr/>
        </p:nvSpPr>
        <p:spPr>
          <a:xfrm>
            <a:off x="8494776" y="3986784"/>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23" name="Rounded Rectangle 2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 external post, email and video passes one gate: a person approves the exact version.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WHY A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a Team of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runs specialists in parallel, each in its own context, then combines what they return.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33</a:t>
            </a:r>
          </a:p>
        </p:txBody>
      </p:sp>
      <p:sp>
        <p:nvSpPr>
          <p:cNvPr id="8" name="Rounded Rectangle 7"/>
          <p:cNvSpPr/>
          <p:nvPr/>
        </p:nvSpPr>
        <p:spPr>
          <a:xfrm>
            <a:off x="548640" y="2084831"/>
            <a:ext cx="388620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21991"/>
            <a:ext cx="3483864" cy="256032"/>
          </a:xfrm>
          <a:prstGeom prst="rect">
            <a:avLst/>
          </a:prstGeom>
          <a:noFill/>
        </p:spPr>
        <p:txBody>
          <a:bodyPr wrap="square" lIns="18288" rIns="18288" tIns="9144" bIns="9144">
            <a:spAutoFit/>
          </a:bodyPr>
          <a:lstStyle/>
          <a:p>
            <a:pPr>
              <a:lnSpc>
                <a:spcPct val="100000"/>
              </a:lnSpc>
              <a:defRPr sz="1100" b="1">
                <a:solidFill>
                  <a:srgbClr val="6B6862"/>
                </a:solidFill>
                <a:latin typeface="Calibri"/>
              </a:defRPr>
            </a:pPr>
            <a:r>
              <a:t>ONE AGENT DOES EVERYTHING</a:t>
            </a:r>
          </a:p>
        </p:txBody>
      </p:sp>
      <p:sp>
        <p:nvSpPr>
          <p:cNvPr id="10" name="Rounded Rectangle 9"/>
          <p:cNvSpPr/>
          <p:nvPr/>
        </p:nvSpPr>
        <p:spPr>
          <a:xfrm>
            <a:off x="822959" y="2587752"/>
            <a:ext cx="1325880" cy="5029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670048"/>
            <a:ext cx="1325880" cy="329184"/>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One agent</a:t>
            </a:r>
          </a:p>
        </p:txBody>
      </p:sp>
      <p:sp>
        <p:nvSpPr>
          <p:cNvPr id="12" name="TextBox 11"/>
          <p:cNvSpPr txBox="1"/>
          <p:nvPr/>
        </p:nvSpPr>
        <p:spPr>
          <a:xfrm>
            <a:off x="2331720" y="2587752"/>
            <a:ext cx="1920240" cy="548640"/>
          </a:xfrm>
          <a:prstGeom prst="rect">
            <a:avLst/>
          </a:prstGeom>
          <a:noFill/>
        </p:spPr>
        <p:txBody>
          <a:bodyPr wrap="square" lIns="18288" rIns="18288" tIns="9144" bIns="9144">
            <a:spAutoFit/>
          </a:bodyPr>
          <a:lstStyle/>
          <a:p>
            <a:pPr>
              <a:lnSpc>
                <a:spcPct val="100000"/>
              </a:lnSpc>
              <a:defRPr sz="1050" b="0">
                <a:solidFill>
                  <a:srgbClr val="6B6862"/>
                </a:solidFill>
                <a:latin typeface="Calibri"/>
              </a:defRPr>
            </a:pPr>
            <a:r>
              <a:t>One context window,</a:t>
            </a:r>
          </a:p>
          <a:p>
            <a:pPr>
              <a:lnSpc>
                <a:spcPct val="100000"/>
              </a:lnSpc>
              <a:defRPr sz="1050" b="0">
                <a:solidFill>
                  <a:srgbClr val="6B6862"/>
                </a:solidFill>
                <a:latin typeface="Calibri"/>
              </a:defRPr>
            </a:pPr>
            <a:r>
              <a:t>filling up with every job</a:t>
            </a:r>
          </a:p>
        </p:txBody>
      </p:sp>
      <p:sp>
        <p:nvSpPr>
          <p:cNvPr id="13" name="Rectangle 12"/>
          <p:cNvSpPr/>
          <p:nvPr/>
        </p:nvSpPr>
        <p:spPr>
          <a:xfrm>
            <a:off x="822959" y="3319272"/>
            <a:ext cx="640080" cy="475488"/>
          </a:xfrm>
          <a:prstGeom prst="rect">
            <a:avLst/>
          </a:prstGeom>
          <a:solidFill>
            <a:srgbClr val="EAD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research</a:t>
            </a:r>
          </a:p>
        </p:txBody>
      </p:sp>
      <p:sp>
        <p:nvSpPr>
          <p:cNvPr id="15" name="Rectangle 14"/>
          <p:cNvSpPr/>
          <p:nvPr/>
        </p:nvSpPr>
        <p:spPr>
          <a:xfrm>
            <a:off x="1490472" y="3319272"/>
            <a:ext cx="640080" cy="475488"/>
          </a:xfrm>
          <a:prstGeom prst="rect">
            <a:avLst/>
          </a:prstGeom>
          <a:solidFill>
            <a:srgbClr val="E4C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0472"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copy</a:t>
            </a:r>
          </a:p>
        </p:txBody>
      </p:sp>
      <p:sp>
        <p:nvSpPr>
          <p:cNvPr id="17" name="Rectangle 16"/>
          <p:cNvSpPr/>
          <p:nvPr/>
        </p:nvSpPr>
        <p:spPr>
          <a:xfrm>
            <a:off x="2157984" y="3319272"/>
            <a:ext cx="640080" cy="475488"/>
          </a:xfrm>
          <a:prstGeom prst="rect">
            <a:avLst/>
          </a:prstGeom>
          <a:solidFill>
            <a:srgbClr val="DDB8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57984"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images</a:t>
            </a:r>
          </a:p>
        </p:txBody>
      </p:sp>
      <p:sp>
        <p:nvSpPr>
          <p:cNvPr id="19" name="Rectangle 18"/>
          <p:cNvSpPr/>
          <p:nvPr/>
        </p:nvSpPr>
        <p:spPr>
          <a:xfrm>
            <a:off x="2825496" y="3319272"/>
            <a:ext cx="640080" cy="475488"/>
          </a:xfrm>
          <a:prstGeom prst="rect">
            <a:avLst/>
          </a:prstGeom>
          <a:solidFill>
            <a:srgbClr val="D6A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25496"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pages</a:t>
            </a:r>
          </a:p>
        </p:txBody>
      </p:sp>
      <p:sp>
        <p:nvSpPr>
          <p:cNvPr id="21" name="Rectangle 20"/>
          <p:cNvSpPr/>
          <p:nvPr/>
        </p:nvSpPr>
        <p:spPr>
          <a:xfrm>
            <a:off x="3493008" y="3319272"/>
            <a:ext cx="640080" cy="475488"/>
          </a:xfrm>
          <a:prstGeom prst="rect">
            <a:avLst/>
          </a:prstGeom>
          <a:solidFill>
            <a:srgbClr val="CF9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93008"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data</a:t>
            </a:r>
          </a:p>
        </p:txBody>
      </p:sp>
      <p:sp>
        <p:nvSpPr>
          <p:cNvPr id="23" name="TextBox 22"/>
          <p:cNvSpPr txBox="1"/>
          <p:nvPr/>
        </p:nvSpPr>
        <p:spPr>
          <a:xfrm>
            <a:off x="749808" y="3959352"/>
            <a:ext cx="3483864" cy="54864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One job after another · one voice · marks its own homework</a:t>
            </a:r>
          </a:p>
        </p:txBody>
      </p:sp>
      <p:sp>
        <p:nvSpPr>
          <p:cNvPr id="24" name="Rounded Rectangle 23"/>
          <p:cNvSpPr/>
          <p:nvPr/>
        </p:nvSpPr>
        <p:spPr>
          <a:xfrm>
            <a:off x="4663440" y="2084831"/>
            <a:ext cx="694944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4607" y="2221991"/>
            <a:ext cx="6547103" cy="256032"/>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A MAIN AGENT DELEGATES</a:t>
            </a:r>
          </a:p>
        </p:txBody>
      </p:sp>
      <p:sp>
        <p:nvSpPr>
          <p:cNvPr id="26" name="Rounded Rectangle 25"/>
          <p:cNvSpPr/>
          <p:nvPr/>
        </p:nvSpPr>
        <p:spPr>
          <a:xfrm>
            <a:off x="7040879" y="2496312"/>
            <a:ext cx="219456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79" y="2532887"/>
            <a:ext cx="2194560" cy="274320"/>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Main agent</a:t>
            </a:r>
          </a:p>
        </p:txBody>
      </p:sp>
      <p:sp>
        <p:nvSpPr>
          <p:cNvPr id="28" name="TextBox 27"/>
          <p:cNvSpPr txBox="1"/>
          <p:nvPr/>
        </p:nvSpPr>
        <p:spPr>
          <a:xfrm>
            <a:off x="7040879" y="2788920"/>
            <a:ext cx="2194560" cy="237744"/>
          </a:xfrm>
          <a:prstGeom prst="rect">
            <a:avLst/>
          </a:prstGeom>
          <a:noFill/>
        </p:spPr>
        <p:txBody>
          <a:bodyPr wrap="square" lIns="18288" rIns="18288" tIns="9144" bIns="9144">
            <a:spAutoFit/>
          </a:bodyPr>
          <a:lstStyle/>
          <a:p>
            <a:pPr algn="ctr">
              <a:lnSpc>
                <a:spcPct val="100000"/>
              </a:lnSpc>
              <a:defRPr sz="950" b="0">
                <a:solidFill>
                  <a:srgbClr val="C9C4B9"/>
                </a:solidFill>
                <a:latin typeface="Calibri"/>
              </a:defRPr>
            </a:pPr>
            <a:r>
              <a:t>plans · delegates · combines</a:t>
            </a:r>
          </a:p>
        </p:txBody>
      </p:sp>
      <p:cxnSp>
        <p:nvCxnSpPr>
          <p:cNvPr id="29" name="Connector 28"/>
          <p:cNvCxnSpPr/>
          <p:nvPr/>
        </p:nvCxnSpPr>
        <p:spPr>
          <a:xfrm flipH="1">
            <a:off x="5641848" y="3063239"/>
            <a:ext cx="2496311"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882896"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82896"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32" name="TextBox 31"/>
          <p:cNvSpPr txBox="1"/>
          <p:nvPr/>
        </p:nvSpPr>
        <p:spPr>
          <a:xfrm>
            <a:off x="4882896"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3" name="Connector 32"/>
          <p:cNvCxnSpPr/>
          <p:nvPr/>
        </p:nvCxnSpPr>
        <p:spPr>
          <a:xfrm flipH="1">
            <a:off x="7306056" y="3063239"/>
            <a:ext cx="83210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47104"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47104"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36" name="TextBox 35"/>
          <p:cNvSpPr txBox="1"/>
          <p:nvPr/>
        </p:nvSpPr>
        <p:spPr>
          <a:xfrm>
            <a:off x="6547104"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7" name="Connector 36"/>
          <p:cNvCxnSpPr/>
          <p:nvPr/>
        </p:nvCxnSpPr>
        <p:spPr>
          <a:xfrm>
            <a:off x="8138159" y="3063239"/>
            <a:ext cx="832105"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211312"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11312"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0" name="TextBox 39"/>
          <p:cNvSpPr txBox="1"/>
          <p:nvPr/>
        </p:nvSpPr>
        <p:spPr>
          <a:xfrm>
            <a:off x="8211312"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41" name="Connector 40"/>
          <p:cNvCxnSpPr/>
          <p:nvPr/>
        </p:nvCxnSpPr>
        <p:spPr>
          <a:xfrm>
            <a:off x="8138159" y="3063239"/>
            <a:ext cx="249631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875519" y="3410711"/>
            <a:ext cx="1517904" cy="621792"/>
          </a:xfrm>
          <a:prstGeom prst="roundRect">
            <a:avLst>
              <a:gd name="adj" fmla="val 6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19"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4" name="TextBox 43"/>
          <p:cNvSpPr txBox="1"/>
          <p:nvPr/>
        </p:nvSpPr>
        <p:spPr>
          <a:xfrm>
            <a:off x="9875519"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reports back</a:t>
            </a:r>
          </a:p>
        </p:txBody>
      </p:sp>
      <p:sp>
        <p:nvSpPr>
          <p:cNvPr id="45" name="TextBox 44"/>
          <p:cNvSpPr txBox="1"/>
          <p:nvPr/>
        </p:nvSpPr>
        <p:spPr>
          <a:xfrm>
            <a:off x="4864607" y="4187952"/>
            <a:ext cx="6547103" cy="274320"/>
          </a:xfrm>
          <a:prstGeom prst="rect">
            <a:avLst/>
          </a:prstGeom>
          <a:noFill/>
        </p:spPr>
        <p:txBody>
          <a:bodyPr wrap="square" lIns="18288" rIns="18288" tIns="9144" bIns="9144">
            <a:spAutoFit/>
          </a:bodyPr>
          <a:lstStyle/>
          <a:p>
            <a:pPr algn="ctr">
              <a:lnSpc>
                <a:spcPct val="100000"/>
              </a:lnSpc>
              <a:defRPr sz="1100" b="1">
                <a:solidFill>
                  <a:srgbClr val="3A7D7B"/>
                </a:solidFill>
                <a:latin typeface="Calibri"/>
              </a:defRPr>
            </a:pPr>
            <a:r>
              <a:t>In parallel · each with a fresh, focused context · only the results come back</a:t>
            </a:r>
          </a:p>
        </p:txBody>
      </p:sp>
      <p:sp>
        <p:nvSpPr>
          <p:cNvPr id="46" name="Rounded Rectangle 45"/>
          <p:cNvSpPr/>
          <p:nvPr/>
        </p:nvSpPr>
        <p:spPr>
          <a:xfrm>
            <a:off x="548640"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Faster</a:t>
            </a:r>
          </a:p>
        </p:txBody>
      </p:sp>
      <p:sp>
        <p:nvSpPr>
          <p:cNvPr id="49" name="TextBox 48"/>
          <p:cNvSpPr txBox="1"/>
          <p:nvPr/>
        </p:nvSpPr>
        <p:spPr>
          <a:xfrm>
            <a:off x="694944"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Research, copy and design run at the same time.</a:t>
            </a:r>
          </a:p>
        </p:txBody>
      </p:sp>
      <p:sp>
        <p:nvSpPr>
          <p:cNvPr id="50" name="Rounded Rectangle 49"/>
          <p:cNvSpPr/>
          <p:nvPr/>
        </p:nvSpPr>
        <p:spPr>
          <a:xfrm>
            <a:off x="2790748"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90748"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37052"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Focused</a:t>
            </a:r>
          </a:p>
        </p:txBody>
      </p:sp>
      <p:sp>
        <p:nvSpPr>
          <p:cNvPr id="53" name="TextBox 52"/>
          <p:cNvSpPr txBox="1"/>
          <p:nvPr/>
        </p:nvSpPr>
        <p:spPr>
          <a:xfrm>
            <a:off x="2937052"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Each agent holds only its own job and its own skills.</a:t>
            </a:r>
          </a:p>
        </p:txBody>
      </p:sp>
      <p:sp>
        <p:nvSpPr>
          <p:cNvPr id="54" name="Rounded Rectangle 53"/>
          <p:cNvSpPr/>
          <p:nvPr/>
        </p:nvSpPr>
        <p:spPr>
          <a:xfrm>
            <a:off x="5032857"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32857"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79161"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Specialised</a:t>
            </a:r>
          </a:p>
        </p:txBody>
      </p:sp>
      <p:sp>
        <p:nvSpPr>
          <p:cNvPr id="57" name="TextBox 56"/>
          <p:cNvSpPr txBox="1"/>
          <p:nvPr/>
        </p:nvSpPr>
        <p:spPr>
          <a:xfrm>
            <a:off x="5179161"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Its own instructions, tools, connectors and model.</a:t>
            </a:r>
          </a:p>
        </p:txBody>
      </p:sp>
      <p:sp>
        <p:nvSpPr>
          <p:cNvPr id="58" name="Rounded Rectangle 57"/>
          <p:cNvSpPr/>
          <p:nvPr/>
        </p:nvSpPr>
        <p:spPr>
          <a:xfrm>
            <a:off x="7274966"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274966"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21270"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Second opinion</a:t>
            </a:r>
          </a:p>
        </p:txBody>
      </p:sp>
      <p:sp>
        <p:nvSpPr>
          <p:cNvPr id="61" name="TextBox 60"/>
          <p:cNvSpPr txBox="1"/>
          <p:nvPr/>
        </p:nvSpPr>
        <p:spPr>
          <a:xfrm>
            <a:off x="7421270"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The Lead checks work it did not write.</a:t>
            </a:r>
          </a:p>
        </p:txBody>
      </p:sp>
      <p:sp>
        <p:nvSpPr>
          <p:cNvPr id="62" name="Rounded Rectangle 61"/>
          <p:cNvSpPr/>
          <p:nvPr/>
        </p:nvSpPr>
        <p:spPr>
          <a:xfrm>
            <a:off x="9517075"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517075" y="4809744"/>
            <a:ext cx="2095804" cy="54864"/>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63379"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The cost</a:t>
            </a:r>
          </a:p>
        </p:txBody>
      </p:sp>
      <p:sp>
        <p:nvSpPr>
          <p:cNvPr id="65" name="TextBox 64"/>
          <p:cNvSpPr txBox="1"/>
          <p:nvPr/>
        </p:nvSpPr>
        <p:spPr>
          <a:xfrm>
            <a:off x="9663379"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More tokens and more to review. Split only work that is truly independent.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SETUP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Get the Tools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Install once; every lab says which tool to open.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34</a:t>
            </a:r>
          </a:p>
        </p:txBody>
      </p:sp>
      <p:sp>
        <p:nvSpPr>
          <p:cNvPr id="8" name="Rounded Rectangle 7"/>
          <p:cNvSpPr/>
          <p:nvPr/>
        </p:nvSpPr>
        <p:spPr>
          <a:xfrm>
            <a:off x="548640" y="2084831"/>
            <a:ext cx="4297680" cy="3675887"/>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59151"/>
            <a:ext cx="37490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DOWNLOAD</a:t>
            </a:r>
          </a:p>
        </p:txBody>
      </p:sp>
      <p:sp>
        <p:nvSpPr>
          <p:cNvPr id="10" name="TextBox 9"/>
          <p:cNvSpPr txBox="1"/>
          <p:nvPr/>
        </p:nvSpPr>
        <p:spPr>
          <a:xfrm>
            <a:off x="822960" y="2688336"/>
            <a:ext cx="3749040" cy="548640"/>
          </a:xfrm>
          <a:prstGeom prst="rect">
            <a:avLst/>
          </a:prstGeom>
          <a:noFill/>
        </p:spPr>
        <p:txBody>
          <a:bodyPr wrap="square" lIns="18288" rIns="18288" tIns="9144" bIns="9144">
            <a:spAutoFit/>
          </a:bodyPr>
          <a:lstStyle/>
          <a:p>
            <a:pPr>
              <a:lnSpc>
                <a:spcPct val="100000"/>
              </a:lnSpc>
              <a:defRPr sz="2400" b="1">
                <a:solidFill>
                  <a:srgbClr val="FFFFFF"/>
                </a:solidFill>
                <a:latin typeface="Cambria"/>
              </a:defRPr>
            </a:pPr>
            <a:r>
              <a:rPr sz="2300" b="1">
                <a:solidFill>
                  <a:srgbClr val="FFFFFF"/>
                </a:solidFill>
                <a:latin typeface="Cambria"/>
                <a:hlinkClick r:id="rId2"/>
              </a:rPr>
              <a:t>claude.com/download</a:t>
            </a:r>
          </a:p>
        </p:txBody>
      </p:sp>
      <p:sp>
        <p:nvSpPr>
          <p:cNvPr id="11" name="Rounded Rectangle 10"/>
          <p:cNvSpPr/>
          <p:nvPr/>
        </p:nvSpPr>
        <p:spPr>
          <a:xfrm>
            <a:off x="822960" y="3502152"/>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93592"/>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Claude desktop</a:t>
            </a:r>
          </a:p>
        </p:txBody>
      </p:sp>
      <p:sp>
        <p:nvSpPr>
          <p:cNvPr id="13" name="TextBox 12"/>
          <p:cNvSpPr txBox="1"/>
          <p:nvPr/>
        </p:nvSpPr>
        <p:spPr>
          <a:xfrm>
            <a:off x="1005840" y="3886200"/>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Claude and Claude Code in one app</a:t>
            </a:r>
          </a:p>
        </p:txBody>
      </p:sp>
      <p:sp>
        <p:nvSpPr>
          <p:cNvPr id="14" name="Rounded Rectangle 13"/>
          <p:cNvSpPr/>
          <p:nvPr/>
        </p:nvSpPr>
        <p:spPr>
          <a:xfrm>
            <a:off x="822960" y="4343400"/>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34840"/>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No commands</a:t>
            </a:r>
          </a:p>
        </p:txBody>
      </p:sp>
      <p:sp>
        <p:nvSpPr>
          <p:cNvPr id="16" name="TextBox 15"/>
          <p:cNvSpPr txBox="1"/>
          <p:nvPr/>
        </p:nvSpPr>
        <p:spPr>
          <a:xfrm>
            <a:off x="1005840" y="4727448"/>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The trainer readies Claude Code</a:t>
            </a:r>
          </a:p>
        </p:txBody>
      </p:sp>
      <p:sp>
        <p:nvSpPr>
          <p:cNvPr id="17" name="TextBox 16"/>
          <p:cNvSpPr txBox="1"/>
          <p:nvPr/>
        </p:nvSpPr>
        <p:spPr>
          <a:xfrm>
            <a:off x="822960" y="5047488"/>
            <a:ext cx="3749040" cy="566928"/>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Claude Code and artifacts need a Pro, Max, Team or Enterprise plan.</a:t>
            </a:r>
          </a:p>
        </p:txBody>
      </p:sp>
      <p:sp>
        <p:nvSpPr>
          <p:cNvPr id="18" name="Oval 17"/>
          <p:cNvSpPr/>
          <p:nvPr/>
        </p:nvSpPr>
        <p:spPr>
          <a:xfrm>
            <a:off x="5120640" y="213969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1</a:t>
            </a:r>
          </a:p>
        </p:txBody>
      </p:sp>
      <p:sp>
        <p:nvSpPr>
          <p:cNvPr id="19" name="TextBox 18"/>
          <p:cNvSpPr txBox="1"/>
          <p:nvPr/>
        </p:nvSpPr>
        <p:spPr>
          <a:xfrm>
            <a:off x="5687568" y="2084831"/>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Claude desktop  </a:t>
            </a:r>
            <a:r>
              <a:rPr sz="1350">
                <a:solidFill>
                  <a:srgbClr val="6B6862"/>
                </a:solidFill>
                <a:latin typeface="Calibri"/>
              </a:rPr>
              <a:t>Install from claude.com/download and sign in on a paid plan.</a:t>
            </a:r>
          </a:p>
        </p:txBody>
      </p:sp>
      <p:sp>
        <p:nvSpPr>
          <p:cNvPr id="20" name="Oval 19"/>
          <p:cNvSpPr/>
          <p:nvPr/>
        </p:nvSpPr>
        <p:spPr>
          <a:xfrm>
            <a:off x="5120640" y="2874873"/>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2</a:t>
            </a:r>
          </a:p>
        </p:txBody>
      </p:sp>
      <p:sp>
        <p:nvSpPr>
          <p:cNvPr id="21" name="TextBox 20"/>
          <p:cNvSpPr txBox="1"/>
          <p:nvPr/>
        </p:nvSpPr>
        <p:spPr>
          <a:xfrm>
            <a:off x="5687568" y="2820009"/>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Claude Code  </a:t>
            </a:r>
            <a:r>
              <a:rPr sz="1350">
                <a:solidFill>
                  <a:srgbClr val="6B6862"/>
                </a:solidFill>
                <a:latin typeface="Calibri"/>
              </a:rPr>
              <a:t>Open it from the desktop app; the trainer has set it up before class.</a:t>
            </a:r>
          </a:p>
        </p:txBody>
      </p:sp>
      <p:sp>
        <p:nvSpPr>
          <p:cNvPr id="22" name="Oval 21"/>
          <p:cNvSpPr/>
          <p:nvPr/>
        </p:nvSpPr>
        <p:spPr>
          <a:xfrm>
            <a:off x="5120640" y="3610051"/>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3</a:t>
            </a:r>
          </a:p>
        </p:txBody>
      </p:sp>
      <p:sp>
        <p:nvSpPr>
          <p:cNvPr id="23" name="TextBox 22"/>
          <p:cNvSpPr txBox="1"/>
          <p:nvPr/>
        </p:nvSpPr>
        <p:spPr>
          <a:xfrm>
            <a:off x="5687568" y="3555187"/>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Sign in with your claude.ai account  </a:t>
            </a:r>
            <a:r>
              <a:rPr sz="1350">
                <a:solidFill>
                  <a:srgbClr val="6B6862"/>
                </a:solidFill>
                <a:latin typeface="Calibri"/>
              </a:rPr>
              <a:t>Connectors, plugins and artifacts need it — not an API key.</a:t>
            </a:r>
          </a:p>
        </p:txBody>
      </p:sp>
      <p:sp>
        <p:nvSpPr>
          <p:cNvPr id="24" name="Oval 23"/>
          <p:cNvSpPr/>
          <p:nvPr/>
        </p:nvSpPr>
        <p:spPr>
          <a:xfrm>
            <a:off x="5120640" y="4345228"/>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4</a:t>
            </a:r>
          </a:p>
        </p:txBody>
      </p:sp>
      <p:sp>
        <p:nvSpPr>
          <p:cNvPr id="25" name="TextBox 24"/>
          <p:cNvSpPr txBox="1"/>
          <p:nvPr/>
        </p:nvSpPr>
        <p:spPr>
          <a:xfrm>
            <a:off x="5687568" y="4290364"/>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Already installed for you  </a:t>
            </a:r>
            <a:r>
              <a:rPr sz="1350">
                <a:solidFill>
                  <a:srgbClr val="6B6862"/>
                </a:solidFill>
                <a:latin typeface="Calibri"/>
              </a:rPr>
              <a:t>The helpers behind the approval gate and the video. You never run them yourself.</a:t>
            </a:r>
          </a:p>
        </p:txBody>
      </p:sp>
      <p:sp>
        <p:nvSpPr>
          <p:cNvPr id="26" name="Oval 25"/>
          <p:cNvSpPr/>
          <p:nvPr/>
        </p:nvSpPr>
        <p:spPr>
          <a:xfrm>
            <a:off x="5120640" y="508040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5</a:t>
            </a:r>
          </a:p>
        </p:txBody>
      </p:sp>
      <p:sp>
        <p:nvSpPr>
          <p:cNvPr id="27" name="TextBox 26"/>
          <p:cNvSpPr txBox="1"/>
          <p:nvPr/>
        </p:nvSpPr>
        <p:spPr>
          <a:xfrm>
            <a:off x="5687568" y="5025542"/>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A personal Google account  </a:t>
            </a:r>
            <a:r>
              <a:rPr sz="1350">
                <a:solidFill>
                  <a:srgbClr val="6B6862"/>
                </a:solidFill>
                <a:latin typeface="Calibri"/>
              </a:rPr>
              <a:t>For Drive and Gmail — never an employer's.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THE STUDIO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Home for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Before you hire agents, give them shared rules, shared facts and a website to point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CLAUDE.md</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team charter every agent reads at the start of every session. Under 60 lines.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data/</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facts sheet, brand, compliance checklist and business brief — the only sources agents may use.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Horizon's public website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Given, not built: each learner opens their own local copy; the public copy is on GitHub Pages.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October 2026. Rachel has a website and a goal: 40 booked chats a month by March. She has no marketing team. Before you hire one made of agents, give it a home — shared rules, shared facts — and open your own copy of Horizon's website.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horizon-studio/ with CLAUDE.md, the shared data, and your own copy of the site running at http://localhost:8080/</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CLAUDE.md as the team charter · your own copy of Horizon's website</a:t>
            </a:r>
          </a:p>
        </p:txBody>
      </p:sp>
      <p:sp>
        <p:nvSpPr>
          <p:cNvPr id="20" name="TextBox 19"/>
          <p:cNvSpPr txBox="1"/>
          <p:nvPr/>
        </p:nvSpPr>
        <p:spPr>
          <a:xfrm>
            <a:off x="548640" y="5897880"/>
            <a:ext cx="11064240" cy="27432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YOUR WEBSITE   </a:t>
            </a:r>
            <a:r>
              <a:rPr sz="1000" b="0">
                <a:solidFill>
                  <a:srgbClr val="21201C"/>
                </a:solidFill>
                <a:latin typeface="Calibri"/>
                <a:hlinkClick r:id="rId2"/>
              </a:rPr>
              <a:t>http://localhost:8080</a:t>
            </a:r>
            <a:r>
              <a:rPr sz="1000" b="1">
                <a:solidFill>
                  <a:srgbClr val="D97757"/>
                </a:solidFill>
                <a:latin typeface="Calibri"/>
              </a:rPr>
              <a:t>      PUBLIC SITE   </a:t>
            </a:r>
            <a:r>
              <a:rPr sz="1000" b="0">
                <a:solidFill>
                  <a:srgbClr val="21201C"/>
                </a:solidFill>
                <a:latin typeface="Calibri"/>
                <a:hlinkClick r:id="rId3"/>
              </a:rPr>
              <a:t>tertiarycourses.github.io/TGS-2023036153-Multi-AI-Agents-Workflow-for-Content-Creation</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Choose Code mode and the folder  </a:t>
            </a:r>
            <a:r>
              <a:rPr sz="1550">
                <a:solidFill>
                  <a:srgbClr val="6B6862"/>
                </a:solidFill>
                <a:latin typeface="Calibri"/>
              </a:rPr>
              <a:t>In the Claude desktop app switch to Code mode (the &lt;/&gt; button at the top), not Work mode — Code shows every file and opens artifacts beside the chat. Under Project or folder choose Add folder (not New project) and pick the ready-made labs_claude/horizon-studio.</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Trust it  </a:t>
            </a:r>
            <a:r>
              <a:rPr sz="1550">
                <a:solidFill>
                  <a:srgbClr val="6B6862"/>
                </a:solidFill>
                <a:latin typeface="Calibri"/>
              </a:rPr>
              <a:t>Sign in with your claude.ai account and trust the folder. Click the session title at the top and rename it "Lab 1" — every lab gets its own session.</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Plan your team  </a:t>
            </a:r>
            <a:r>
              <a:rPr sz="1550">
                <a:solidFill>
                  <a:srgbClr val="6B6862"/>
                </a:solidFill>
                <a:latin typeface="Calibri"/>
              </a:rPr>
              <a:t>Copy and paste Prompt A. Answer as Horizon's owner and pick your team — keep the six charter roles. It is a plan only: Lab 2 builds the agents.</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charter  </a:t>
            </a:r>
            <a:r>
              <a:rPr sz="1550">
                <a:solidFill>
                  <a:srgbClr val="6B6862"/>
                </a:solidFill>
                <a:latin typeface="Calibri"/>
              </a:rPr>
              <a:t>After Claude saves data/team-design.md, copy and paste Prompt B. Open CLAUDE.md — every agent reads it.</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Open the website  </a:t>
            </a:r>
            <a:r>
              <a:rPr sz="1550">
                <a:solidFill>
                  <a:srgbClr val="6B6862"/>
                </a:solidFill>
                <a:latin typeface="Calibri"/>
              </a:rPr>
              <a:t>Ask: "Start my website." It opens at http://localhost:8080/ — your own copy of Horizon's website; Labs 8 and 9 add to it, and every post links to it. Check the calculator shows S$693,138.</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38</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plan your team</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a marketing consultant. Interview me, the owner of Horizon Wealth Planning, to plan my AI marketing team. Ask one question at a time and wait for my answer: my goal, what success looks like by March 2027, who we want to reach, which channels we use, how much we publish each week, and who approves before anything goes out. Then list 8 to 10 team members I could have, numbered, each with a one-line job. Include the six roles in data/team-charter.md and mark the ones you recommend. Wait for me to choose. Save my answers and my chosen team, with each member's job, to data/team-design.md. This is a plan only: do not create any agent files yet.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39</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charter</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data/team-charter.md, data/team-design.md and data/business-brief.md. Write CLAUDE.md for this studio in four sections — What this is, The team, Rules, Files — under 60 lines. The team is the one I chose in data/team-design.md. Rules: every number comes from data/facts-2026.md; every piece passes fact-check and fin-compliance; nothing is published or sent without a person's approval (the one exception: a review email to the approver); anything shown to me is in plain English for a business owner, with no codes, IDs, file names or line numbers. In Files, add two lines:</a:t>
            </a:r>
          </a:p>
          <a:p>
            <a:pPr>
              <a:lnSpc>
                <a:spcPct val="110000"/>
              </a:lnSpc>
              <a:defRPr sz="1700" b="0">
                <a:solidFill>
                  <a:srgbClr val="21201C"/>
                </a:solidFill>
                <a:latin typeface="Calibri"/>
              </a:defRPr>
            </a:pPr>
            <a:r>
              <a:t>- Our copy of the site, which we edit: web/site/. "Start my website" runs scripts/serve-site.mjs in the background and opens http://localhost:8080/</a:t>
            </a:r>
          </a:p>
          <a:p>
            <a:pPr>
              <a:lnSpc>
                <a:spcPct val="110000"/>
              </a:lnSpc>
              <a:defRPr sz="1700" b="0">
                <a:solidFill>
                  <a:srgbClr val="21201C"/>
                </a:solidFill>
                <a:latin typeface="Calibri"/>
              </a:defRPr>
            </a:pPr>
            <a:r>
              <a:t>- Every post links to http://localhost:8080/ with UTM tags, never to a claude.ai artifact link.</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Shared context first, agents second. Every agent you add later starts from these files, so a wrong rule here is wrong everywhere.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 shows horizon-studio as the chosen folder.</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data/team-design.md holds your answers and the team you chose, with the six charter roles in it — and no agent files yet.</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CLAUDE.md has the four sections and is under 60 lines.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Its rules name the facts sheet, the two checks and the human approval.</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CLAUDE.md names your copy of the site and the link every post points to.</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website opens at http://localhost:8080/; the calculator shows S$693,138.</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an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Markdown file in .claude/agents/. The same file works as a subagent or as an agent-team teammate.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41</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.claude/agents/content-creator.md</a:t>
            </a:r>
          </a:p>
        </p:txBody>
      </p:sp>
      <p:sp>
        <p:nvSpPr>
          <p:cNvPr id="11" name="TextBox 10"/>
          <p:cNvSpPr txBox="1"/>
          <p:nvPr/>
        </p:nvSpPr>
        <p:spPr>
          <a:xfrm>
            <a:off x="822959" y="2724911"/>
            <a:ext cx="10515600" cy="3588745"/>
          </a:xfrm>
          <a:prstGeom prst="rect">
            <a:avLst/>
          </a:prstGeom>
          <a:noFill/>
        </p:spPr>
        <p:txBody>
          <a:bodyPr wrap="square" lIns="18288" rIns="18288" tIns="9144" bIns="9144">
            <a:spAutoFit/>
          </a:bodyPr>
          <a:lstStyle/>
          <a:p>
            <a:pPr>
              <a:lnSpc>
                <a:spcPct val="114000"/>
              </a:lnSpc>
              <a:defRPr sz="900" b="0">
                <a:solidFill>
                  <a:srgbClr val="E8E5DE"/>
                </a:solidFill>
                <a:latin typeface="Courier New"/>
              </a:defRPr>
            </a:pPr>
            <a:r>
              <a:t>---</a:t>
            </a:r>
          </a:p>
          <a:p>
            <a:pPr>
              <a:lnSpc>
                <a:spcPct val="114000"/>
              </a:lnSpc>
              <a:defRPr sz="900" b="0">
                <a:solidFill>
                  <a:srgbClr val="E8E5DE"/>
                </a:solidFill>
                <a:latin typeface="Courier New"/>
              </a:defRPr>
            </a:pPr>
            <a:r>
              <a:t>name: content-creator</a:t>
            </a:r>
          </a:p>
          <a:p>
            <a:pPr>
              <a:lnSpc>
                <a:spcPct val="114000"/>
              </a:lnSpc>
              <a:defRPr sz="900" b="0">
                <a:solidFill>
                  <a:srgbClr val="E8E5DE"/>
                </a:solidFill>
                <a:latin typeface="Courier New"/>
              </a:defRPr>
            </a:pPr>
            <a:r>
              <a:t>description: Use for Horizon copy — posts, newsletter,</a:t>
            </a:r>
          </a:p>
          <a:p>
            <a:pPr>
              <a:lnSpc>
                <a:spcPct val="114000"/>
              </a:lnSpc>
              <a:defRPr sz="900" b="0">
                <a:solidFill>
                  <a:srgbClr val="E8E5DE"/>
                </a:solidFill>
                <a:latin typeface="Courier New"/>
              </a:defRPr>
            </a:pPr>
            <a:r>
              <a:t>  video scripts and page copy, in the Sunny voice.</a:t>
            </a:r>
          </a:p>
          <a:p>
            <a:pPr>
              <a:lnSpc>
                <a:spcPct val="114000"/>
              </a:lnSpc>
              <a:defRPr sz="900" b="0">
                <a:solidFill>
                  <a:srgbClr val="E8E5DE"/>
                </a:solidFill>
                <a:latin typeface="Courier New"/>
              </a:defRPr>
            </a:pPr>
            <a:r>
              <a:t>tools: Read, Write, Edit, Grep, Glob</a:t>
            </a:r>
          </a:p>
          <a:p>
            <a:pPr>
              <a:lnSpc>
                <a:spcPct val="114000"/>
              </a:lnSpc>
              <a:defRPr sz="900" b="0">
                <a:solidFill>
                  <a:srgbClr val="E8E5DE"/>
                </a:solidFill>
                <a:latin typeface="Courier New"/>
              </a:defRPr>
            </a:pPr>
            <a:r>
              <a:t>model: sonnet</a:t>
            </a:r>
          </a:p>
          <a:p>
            <a:pPr>
              <a:lnSpc>
                <a:spcPct val="114000"/>
              </a:lnSpc>
              <a:defRPr sz="900" b="0">
                <a:solidFill>
                  <a:srgbClr val="E8E5DE"/>
                </a:solidFill>
                <a:latin typeface="Courier New"/>
              </a:defRPr>
            </a:pPr>
            <a:r>
              <a:t>skills:</a:t>
            </a:r>
          </a:p>
          <a:p>
            <a:pPr>
              <a:lnSpc>
                <a:spcPct val="114000"/>
              </a:lnSpc>
              <a:defRPr sz="900" b="0">
                <a:solidFill>
                  <a:srgbClr val="E8E5DE"/>
                </a:solidFill>
                <a:latin typeface="Courier New"/>
              </a:defRPr>
            </a:pPr>
            <a:r>
              <a:t>  - sunny-voice</a:t>
            </a:r>
          </a:p>
          <a:p>
            <a:pPr>
              <a:lnSpc>
                <a:spcPct val="114000"/>
              </a:lnSpc>
              <a:defRPr sz="900" b="0">
                <a:solidFill>
                  <a:srgbClr val="E8E5DE"/>
                </a:solidFill>
                <a:latin typeface="Courier New"/>
              </a:defRPr>
            </a:pPr>
            <a:r>
              <a:t>  - copywriting</a:t>
            </a:r>
          </a:p>
          <a:p>
            <a:pPr>
              <a:lnSpc>
                <a:spcPct val="114000"/>
              </a:lnSpc>
              <a:defRPr sz="900" b="0">
                <a:solidFill>
                  <a:srgbClr val="E8E5DE"/>
                </a:solidFill>
                <a:latin typeface="Courier New"/>
              </a:defRPr>
            </a:pPr>
            <a:r>
              <a:t>  - channel-formats</a:t>
            </a:r>
          </a:p>
          <a:p>
            <a:pPr>
              <a:lnSpc>
                <a:spcPct val="114000"/>
              </a:lnSpc>
              <a:defRPr sz="900" b="0">
                <a:solidFill>
                  <a:srgbClr val="E8E5DE"/>
                </a:solidFill>
                <a:latin typeface="Courier New"/>
              </a:defRPr>
            </a:pPr>
            <a:r>
              <a:t>  - linkedin-post</a:t>
            </a:r>
          </a:p>
          <a:p>
            <a:pPr>
              <a:lnSpc>
                <a:spcPct val="114000"/>
              </a:lnSpc>
              <a:defRPr sz="900" b="0">
                <a:solidFill>
                  <a:srgbClr val="E8E5DE"/>
                </a:solidFill>
                <a:latin typeface="Courier New"/>
              </a:defRPr>
            </a:pPr>
            <a:r>
              <a:t>  - facebook-post</a:t>
            </a:r>
          </a:p>
          <a:p>
            <a:pPr>
              <a:lnSpc>
                <a:spcPct val="114000"/>
              </a:lnSpc>
              <a:defRPr sz="900" b="0">
                <a:solidFill>
                  <a:srgbClr val="E8E5DE"/>
                </a:solidFill>
                <a:latin typeface="Courier New"/>
              </a:defRPr>
            </a:pPr>
            <a:r>
              <a:t>  - blog-post</a:t>
            </a:r>
          </a:p>
          <a:p>
            <a:pPr>
              <a:lnSpc>
                <a:spcPct val="114000"/>
              </a:lnSpc>
              <a:defRPr sz="900" b="0">
                <a:solidFill>
                  <a:srgbClr val="E8E5DE"/>
                </a:solidFill>
                <a:latin typeface="Courier New"/>
              </a:defRPr>
            </a:pPr>
            <a:r>
              <a:t>  - newsletter</a:t>
            </a:r>
          </a:p>
          <a:p>
            <a:pPr>
              <a:lnSpc>
                <a:spcPct val="114000"/>
              </a:lnSpc>
              <a:defRPr sz="900" b="0">
                <a:solidFill>
                  <a:srgbClr val="E8E5DE"/>
                </a:solidFill>
                <a:latin typeface="Courier New"/>
              </a:defRPr>
            </a:pPr>
            <a:r>
              <a:t>---</a:t>
            </a:r>
          </a:p>
          <a:p>
            <a:pPr>
              <a:lnSpc>
                <a:spcPct val="114000"/>
              </a:lnSpc>
              <a:defRPr sz="900" b="0">
                <a:solidFill>
                  <a:srgbClr val="E8E5DE"/>
                </a:solidFill>
                <a:latin typeface="Courier New"/>
              </a:defRPr>
            </a:pPr>
            <a:r>
              <a:t>You are Horizon Wealth Planning's Content Creator.</a:t>
            </a:r>
          </a:p>
          <a:p>
            <a:pPr>
              <a:lnSpc>
                <a:spcPct val="114000"/>
              </a:lnSpc>
              <a:defRPr sz="900" b="0">
                <a:solidFill>
                  <a:srgbClr val="E8E5DE"/>
                </a:solidFill>
                <a:latin typeface="Courier New"/>
              </a:defRPr>
            </a:pPr>
            <a:r>
              <a:t>## What you read   the brief, facts-2026.md, brand.md</a:t>
            </a:r>
          </a:p>
          <a:p>
            <a:pPr>
              <a:lnSpc>
                <a:spcPct val="114000"/>
              </a:lnSpc>
              <a:defRPr sz="900" b="0">
                <a:solidFill>
                  <a:srgbClr val="E8E5DE"/>
                </a:solidFill>
                <a:latin typeface="Courier New"/>
              </a:defRPr>
            </a:pPr>
            <a:r>
              <a:t>## What you deliver   content files, ready for review</a:t>
            </a:r>
          </a:p>
          <a:p>
            <a:pPr>
              <a:lnSpc>
                <a:spcPct val="114000"/>
              </a:lnSpc>
              <a:defRPr sz="900" b="0">
                <a:solidFill>
                  <a:srgbClr val="E8E5DE"/>
                </a:solidFill>
                <a:latin typeface="Courier New"/>
              </a:defRPr>
            </a:pPr>
            <a:r>
              <a:t>## Connectors   Google Drive (docs), Gmail (drafts only)</a:t>
            </a:r>
          </a:p>
          <a:p>
            <a:pPr>
              <a:lnSpc>
                <a:spcPct val="114000"/>
              </a:lnSpc>
              <a:defRPr sz="900" b="0">
                <a:solidFill>
                  <a:srgbClr val="E8E5DE"/>
                </a:solidFill>
                <a:latin typeface="Courier New"/>
              </a:defRPr>
            </a:pPr>
            <a:r>
              <a:t>## Never   add a number not on the facts sheet; send;</a:t>
            </a:r>
          </a:p>
          <a:p>
            <a:pPr>
              <a:lnSpc>
                <a:spcPct val="114000"/>
              </a:lnSpc>
              <a:defRPr sz="900" b="0">
                <a:solidFill>
                  <a:srgbClr val="E8E5DE"/>
                </a:solidFill>
                <a:latin typeface="Courier New"/>
              </a:defRPr>
            </a:pPr>
            <a:r>
              <a:t>           approve or publish for real</a:t>
            </a:r>
          </a:p>
          <a:p>
            <a:pPr>
              <a:lnSpc>
                <a:spcPct val="114000"/>
              </a:lnSpc>
              <a:defRPr sz="900" b="0">
                <a:solidFill>
                  <a:srgbClr val="E8E5DE"/>
                </a:solidFill>
                <a:latin typeface="Courier New"/>
              </a:defRPr>
            </a:pPr>
            <a:r>
              <a:t>## Report back   what, where, anything unverified</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Good Agent Instructions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parts, every time. The "Never" part matters most in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42</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job</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One sentence: what this agent is for. The description decides when Claude delegates to it.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Reads and delivers</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Which files it may use; what it hands back, and where.</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Never</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Its hard limits: no invented figures, no sending, no publishing, no approving.</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Report back</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Three lines: what, where, anything unverified — so the Lead can combine results.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Rachel sketches the team on a whiteboard: a Lead and five specialists. Each needs a clear job, and a clear line it must never cross — this is a regulated firm.</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.claude/agents/: growth-strategist, content-creator, creative-designer, website-designer, growth-analyst</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 files)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five subagent files in .claude/agents/ · name, description, tools, model · the Lead is your session</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roles  </a:t>
            </a:r>
            <a:r>
              <a:rPr sz="1300">
                <a:solidFill>
                  <a:srgbClr val="6B6862"/>
                </a:solidFill>
                <a:latin typeface="Calibri"/>
              </a:rPr>
              <a:t>Open role-specs.md: one Lead and five specialists, each with a job, skills, connectors and limits.</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instructions  </a:t>
            </a:r>
            <a:r>
              <a:rPr sz="1300">
                <a:solidFill>
                  <a:srgbClr val="6B6862"/>
                </a:solidFill>
                <a:latin typeface="Calibri"/>
              </a:rPr>
              <a:t>Copy and paste Prompt A. It builds the five specialists from the charter; extra ideas stay in team-design.md.</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See the team  </a:t>
            </a:r>
            <a:r>
              <a:rPr sz="1300">
                <a:solidFill>
                  <a:srgbClr val="6B6862"/>
                </a:solidFill>
                <a:latin typeface="Calibri"/>
              </a:rPr>
              <a:t>After the five files appear in .claude/agents/, copy and paste Prompt B. The Lead is not a file — it is you, in this session.</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one closely  </a:t>
            </a:r>
            <a:r>
              <a:rPr sz="1300">
                <a:solidFill>
                  <a:srgbClr val="6B6862"/>
                </a:solidFill>
                <a:latin typeface="Calibri"/>
              </a:rPr>
              <a:t>Open .claude/agents/content-creator.md. Is the "Never" section strict enough for a regulated firm?</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Meet the team  </a:t>
            </a:r>
            <a:r>
              <a:rPr sz="1300">
                <a:solidFill>
                  <a:srgbClr val="6B6862"/>
                </a:solidFill>
                <a:latin typeface="Calibri"/>
              </a:rPr>
              <a:t>After the list shows five agents, copy and paste Prompt C. Each agent introduces itself in one line — in its own context.</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Tighten one  </a:t>
            </a:r>
            <a:r>
              <a:rPr sz="1300">
                <a:solidFill>
                  <a:srgbClr val="6B6862"/>
                </a:solidFill>
                <a:latin typeface="Calibri"/>
              </a:rPr>
              <a:t>Change one instruction you disagree with and save it. It is your team.</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45</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five subagents</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data/role-specs.md. Create five project subagents in .claude/agents/ — growth-strategist, content-creator, creative-designer, website-designer and growth-analyst. Each file has:</a:t>
            </a:r>
          </a:p>
          <a:p>
            <a:pPr>
              <a:lnSpc>
                <a:spcPct val="110000"/>
              </a:lnSpc>
              <a:defRPr sz="1700" b="0">
                <a:solidFill>
                  <a:srgbClr val="21201C"/>
                </a:solidFill>
                <a:latin typeface="Calibri"/>
              </a:defRPr>
            </a:pPr>
            <a:r>
              <a:t>- frontmatter: name; a description that says when to use it; tools; model (opus for the strategist, sonnet for the others)</a:t>
            </a:r>
          </a:p>
          <a:p>
            <a:pPr>
              <a:lnSpc>
                <a:spcPct val="110000"/>
              </a:lnSpc>
              <a:defRPr sz="1700" b="0">
                <a:solidFill>
                  <a:srgbClr val="21201C"/>
                </a:solidFill>
                <a:latin typeface="Calibri"/>
              </a:defRPr>
            </a:pPr>
            <a:r>
              <a:t>- a body with: the job, what it reads, what it delivers, the connectors it may use, what it must never do, and how it reports back. No skills line yet — we add skills in Lab 3.</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46</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see the team</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subagents in .claude/agents/. For each, show the file name, the name, the one-line description and the model, in a table. Then confirm there are five, and that none of them is the Marketing Team Lead — the Lead is this session. If any other file is there, list it and ask me before moving it to _archive/.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47</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meet the team</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each of the five subagents once, in parallel. Ask each: "In one line, who are you, and what is the first thing you would do for Horizon's goal of 40 booked chats a month?" Show me the five answers in a table.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Clear jobs beat clever prompts. An agent that knows what it must never do is safer than one that is merely told to be careful.</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48</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files exist in .claude/agents/, one per specialist.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has a name, a "use when" description, tools and a model.</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session acts as the Marketing Team Lead.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agents answered, each in its own context.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agent has a "never" rule that blocks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changed one instruction and can say why.</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Twenty Skills, Owned by Role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Instructions say who an agent is; skills say how it does the job.</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791321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1" name="Rectangle 10"/>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3" name="TextBox 12"/>
          <p:cNvSpPr txBox="1"/>
          <p:nvPr/>
        </p:nvSpPr>
        <p:spPr>
          <a:xfrm>
            <a:off x="3626510" y="2560320"/>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4" name="TextBox 13"/>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5" name="TextBox 14"/>
          <p:cNvSpPr txBox="1"/>
          <p:nvPr/>
        </p:nvSpPr>
        <p:spPr>
          <a:xfrm>
            <a:off x="3626510" y="3084575"/>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16" name="Rectangle 15"/>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18" name="TextBox 17"/>
          <p:cNvSpPr txBox="1"/>
          <p:nvPr/>
        </p:nvSpPr>
        <p:spPr>
          <a:xfrm>
            <a:off x="3626510" y="3608831"/>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19" name="TextBox 18"/>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0" name="TextBox 19"/>
          <p:cNvSpPr txBox="1"/>
          <p:nvPr/>
        </p:nvSpPr>
        <p:spPr>
          <a:xfrm>
            <a:off x="3626510" y="4133087"/>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21" name="Rectangle 2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3" name="TextBox 22"/>
          <p:cNvSpPr txBox="1"/>
          <p:nvPr/>
        </p:nvSpPr>
        <p:spPr>
          <a:xfrm>
            <a:off x="3626510" y="4657344"/>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24" name="TextBox 23"/>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25" name="TextBox 24"/>
          <p:cNvSpPr txBox="1"/>
          <p:nvPr/>
        </p:nvSpPr>
        <p:spPr>
          <a:xfrm>
            <a:off x="3626510" y="5181599"/>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Master copies in skills/; .claude/skills/ — Claude Code reads them from your folder.</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 Skill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Frontmatter (the trigger), then short steps. Free until it is needed.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50</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.claude/skills/campaign-brief/SKILL.md</a:t>
            </a:r>
          </a:p>
        </p:txBody>
      </p:sp>
      <p:sp>
        <p:nvSpPr>
          <p:cNvPr id="11" name="TextBox 10"/>
          <p:cNvSpPr txBox="1"/>
          <p:nvPr/>
        </p:nvSpPr>
        <p:spPr>
          <a:xfrm>
            <a:off x="822959" y="2724911"/>
            <a:ext cx="10515600" cy="3535756"/>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name: campaign-brief</a:t>
            </a:r>
          </a:p>
          <a:p>
            <a:pPr>
              <a:lnSpc>
                <a:spcPct val="114000"/>
              </a:lnSpc>
              <a:defRPr sz="1300" b="0">
                <a:solidFill>
                  <a:srgbClr val="E8E5DE"/>
                </a:solidFill>
                <a:latin typeface="Courier New"/>
              </a:defRPr>
            </a:pPr>
            <a:r>
              <a:t>description: Use when planning a Horizon campaign.</a:t>
            </a:r>
          </a:p>
          <a:p>
            <a:pPr>
              <a:lnSpc>
                <a:spcPct val="114000"/>
              </a:lnSpc>
              <a:defRPr sz="1300" b="0">
                <a:solidFill>
                  <a:srgbClr val="E8E5DE"/>
                </a:solidFill>
                <a:latin typeface="Courier New"/>
              </a:defRPr>
            </a:pPr>
            <a:r>
              <a:t>  Objective, audience, message, proof, channels,</a:t>
            </a:r>
          </a:p>
          <a:p>
            <a:pPr>
              <a:lnSpc>
                <a:spcPct val="114000"/>
              </a:lnSpc>
              <a:defRPr sz="1300" b="0">
                <a:solidFill>
                  <a:srgbClr val="E8E5DE"/>
                </a:solidFill>
                <a:latin typeface="Courier New"/>
              </a:defRPr>
            </a:pPr>
            <a:r>
              <a:t>  CTA, measures, and a five-beat storyboard.</a:t>
            </a:r>
          </a:p>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 Campaign brief</a:t>
            </a:r>
          </a:p>
          <a:p>
            <a:pPr>
              <a:lnSpc>
                <a:spcPct val="114000"/>
              </a:lnSpc>
              <a:defRPr sz="1300" b="0">
                <a:solidFill>
                  <a:srgbClr val="E8E5DE"/>
                </a:solidFill>
                <a:latin typeface="Courier New"/>
              </a:defRPr>
            </a:pPr>
            <a:r>
              <a:t>1. Objective: one measurable action (e.g. chats booked).</a:t>
            </a:r>
          </a:p>
          <a:p>
            <a:pPr>
              <a:lnSpc>
                <a:spcPct val="114000"/>
              </a:lnSpc>
              <a:defRPr sz="1300" b="0">
                <a:solidFill>
                  <a:srgbClr val="E8E5DE"/>
                </a:solidFill>
                <a:latin typeface="Courier New"/>
              </a:defRPr>
            </a:pPr>
            <a:r>
              <a:t>2. Audience: the persona(s) from strategy/personas.md, with evidence.</a:t>
            </a:r>
          </a:p>
          <a:p>
            <a:pPr>
              <a:lnSpc>
                <a:spcPct val="114000"/>
              </a:lnSpc>
              <a:defRPr sz="1300" b="0">
                <a:solidFill>
                  <a:srgbClr val="E8E5DE"/>
                </a:solidFill>
                <a:latin typeface="Courier New"/>
              </a:defRPr>
            </a:pPr>
            <a:r>
              <a:t>3. Core message in one sentence; proof from data/facts-2026.md only.</a:t>
            </a:r>
          </a:p>
          <a:p>
            <a:pPr>
              <a:lnSpc>
                <a:spcPct val="114000"/>
              </a:lnSpc>
              <a:defRPr sz="1300" b="0">
                <a:solidFill>
                  <a:srgbClr val="E8E5DE"/>
                </a:solidFill>
                <a:latin typeface="Courier New"/>
              </a:defRPr>
            </a:pPr>
            <a:r>
              <a:t>4. Channels and formats; one call to action; measures and a date.</a:t>
            </a:r>
          </a:p>
          <a:p>
            <a:pPr>
              <a:lnSpc>
                <a:spcPct val="114000"/>
              </a:lnSpc>
              <a:defRPr sz="1300" b="0">
                <a:solidFill>
                  <a:srgbClr val="E8E5DE"/>
                </a:solidFill>
                <a:latin typeface="Courier New"/>
              </a:defRPr>
            </a:pPr>
            <a:r>
              <a:t>5. Storyboard in five beats — hook, tension, proof, resolution, action —</a:t>
            </a:r>
          </a:p>
          <a:p>
            <a:pPr>
              <a:lnSpc>
                <a:spcPct val="114000"/>
              </a:lnSpc>
              <a:defRPr sz="1300" b="0">
                <a:solidFill>
                  <a:srgbClr val="E8E5DE"/>
                </a:solidFill>
                <a:latin typeface="Courier New"/>
              </a:defRPr>
            </a:pPr>
            <a:r>
              <a:t>   each with visual, words, claim and source.</a:t>
            </a:r>
          </a:p>
          <a:p>
            <a:pPr>
              <a:lnSpc>
                <a:spcPct val="114000"/>
              </a:lnSpc>
              <a:defRPr sz="1300" b="0">
                <a:solidFill>
                  <a:srgbClr val="E8E5DE"/>
                </a:solidFill>
                <a:latin typeface="Courier New"/>
              </a:defRPr>
            </a:pPr>
            <a:r>
              <a:t>6. Never: returns, fee amounts, invented clients, fear.</a:t>
            </a:r>
          </a:p>
          <a:p>
            <a:pPr>
              <a:lnSpc>
                <a:spcPct val="114000"/>
              </a:lnSpc>
              <a:defRPr sz="1300" b="0">
                <a:solidFill>
                  <a:srgbClr val="E8E5DE"/>
                </a:solidFill>
                <a:latin typeface="Courier New"/>
              </a:defRPr>
            </a:pP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51</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~50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exists, but every agent writes in its own way. Rachel wants Horizon's voice, facts and compliance rules applied the same way by every agent, every time.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twenty skills in .claude/skills/, wired to the agents that own them</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(.claude/skills/)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twenty skills owned by role — research, writing, LinkedIn, Facebook, blog, newsletter, web design, lead magnet, video, analysis and compliance · SKILL.md · the "Use when" trigger · test without naming</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52</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3".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spec  </a:t>
            </a:r>
            <a:r>
              <a:rPr sz="1300">
                <a:solidFill>
                  <a:srgbClr val="6B6862"/>
                </a:solidFill>
                <a:latin typeface="Calibri"/>
              </a:rPr>
              <a:t>skills-spec.md lists the twenty skills and who owns each.</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skills  </a:t>
            </a:r>
            <a:r>
              <a:rPr sz="1300">
                <a:solidFill>
                  <a:srgbClr val="6B6862"/>
                </a:solidFill>
                <a:latin typeface="Calibri"/>
              </a:rPr>
              <a:t>Copy and paste Prompt A.</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Wire them up  </a:t>
            </a:r>
            <a:r>
              <a:rPr sz="1300">
                <a:solidFill>
                  <a:srgbClr val="6B6862"/>
                </a:solidFill>
                <a:latin typeface="Calibri"/>
              </a:rPr>
              <a:t>After the twenty skills appear in .claude/skills/, copy and paste Prompt B, then C to list every skill. The Lead's two go in CLAUDE.md, not a file.</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without naming  </a:t>
            </a:r>
            <a:r>
              <a:rPr sz="1300">
                <a:solidFill>
                  <a:srgbClr val="6B6862"/>
                </a:solidFill>
                <a:latin typeface="Calibri"/>
              </a:rPr>
              <a:t>In a new session ask: "Write a Facebook post about the free Money Check-up Checklist." Ask which skills were used.</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Break it on purpose  </a:t>
            </a:r>
            <a:r>
              <a:rPr sz="1300">
                <a:solidFill>
                  <a:srgbClr val="6B6862"/>
                </a:solidFill>
                <a:latin typeface="Calibri"/>
              </a:rPr>
              <a:t>Ask for a post that says "guaranteed 8% a year". fin-compliance must flag it as Critical.</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53</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twenty skills</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data/skills-spec.md. Create the twenty skills in .claude/skills/&lt;name&gt;/SKILL.md. Each has frontmatter (name, and a description that starts "Use when…") and short numbered steps, under 80 lines. Use data/brand.md, data/channel-formats.md, data/facts-2026.md and data/compliance-checklist.md as the sources — do not invent rules.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54</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wire them up</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a skills: list to each subagent in .claude/agents/ with its skills from data/skills-spec.md. Leave any other agent file as it is. Add to CLAUDE.md that the Lead (this session) runs fact-check and fin-compliance on everything before showing it to me.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55</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see the skills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skills in .claude/skills/. Show each skill, its owner (a subagent, or the Lead) and its "Use when" line in a table. Confirm there are twenty, that each specialist has the skills the spec gives it, and that fact-check and fin-compliance belong to the Lead (this session).</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skill costs almost nothing until it is needed. Keep the rules file (CLAUDE.md) short and put procedures in skills.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Twenty folders in .claude/skills/, each with a SKILL.md.</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description starts "Use when…".</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specialist lists its own skills from the spec.</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untold test picked sunny-voice and facebook-post.</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flagged "guaranteed 8%" as Critical.</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Connectors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Add once in the desktop app: Customize → Connectors, and the Marketing plugin.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459394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MAY USE</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LIMIT</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4" name="TextBox 13"/>
          <p:cNvSpPr txBox="1"/>
          <p:nvPr/>
        </p:nvSpPr>
        <p:spPr>
          <a:xfrm>
            <a:off x="3626510" y="2560320"/>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5" name="TextBox 14"/>
          <p:cNvSpPr txBox="1"/>
          <p:nvPr/>
        </p:nvSpPr>
        <p:spPr>
          <a:xfrm>
            <a:off x="8494776"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reads; drafts only</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7" name="TextBox 16"/>
          <p:cNvSpPr txBox="1"/>
          <p:nvPr/>
        </p:nvSpPr>
        <p:spPr>
          <a:xfrm>
            <a:off x="3626510" y="3084575"/>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Firecrawl (search, scrape), Google Drive (read)</a:t>
            </a:r>
          </a:p>
        </p:txBody>
      </p:sp>
      <p:sp>
        <p:nvSpPr>
          <p:cNvPr id="18" name="TextBox 17"/>
          <p:cNvSpPr txBox="1"/>
          <p:nvPr/>
        </p:nvSpPr>
        <p:spPr>
          <a:xfrm>
            <a:off x="8494776"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cite every source</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1" name="TextBox 20"/>
          <p:cNvSpPr txBox="1"/>
          <p:nvPr/>
        </p:nvSpPr>
        <p:spPr>
          <a:xfrm>
            <a:off x="3626510" y="3608831"/>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2" name="TextBox 21"/>
          <p:cNvSpPr txBox="1"/>
          <p:nvPr/>
        </p:nvSpPr>
        <p:spPr>
          <a:xfrm>
            <a:off x="8494776"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Gmail: drafts only</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4" name="TextBox 23"/>
          <p:cNvSpPr txBox="1"/>
          <p:nvPr/>
        </p:nvSpPr>
        <p:spPr>
          <a:xfrm>
            <a:off x="3626510" y="4133087"/>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Bash for Pillow (images) and ffmpeg (video)</a:t>
            </a:r>
          </a:p>
        </p:txBody>
      </p:sp>
      <p:sp>
        <p:nvSpPr>
          <p:cNvPr id="25" name="TextBox 24"/>
          <p:cNvSpPr txBox="1"/>
          <p:nvPr/>
        </p:nvSpPr>
        <p:spPr>
          <a:xfrm>
            <a:off x="8494776"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fake "clients"</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8" name="TextBox 27"/>
          <p:cNvSpPr txBox="1"/>
          <p:nvPr/>
        </p:nvSpPr>
        <p:spPr>
          <a:xfrm>
            <a:off x="3626510" y="4657344"/>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artifacts (publish), built-in browser (check)</a:t>
            </a:r>
          </a:p>
        </p:txBody>
      </p:sp>
      <p:sp>
        <p:nvSpPr>
          <p:cNvPr id="29" name="TextBox 28"/>
          <p:cNvSpPr txBox="1"/>
          <p:nvPr/>
        </p:nvSpPr>
        <p:spPr>
          <a:xfrm>
            <a:off x="8494776"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publish after approval</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1" name="TextBox 30"/>
          <p:cNvSpPr txBox="1"/>
          <p:nvPr/>
        </p:nvSpPr>
        <p:spPr>
          <a:xfrm>
            <a:off x="3626510" y="5181599"/>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Bash for Python</a:t>
            </a:r>
          </a:p>
        </p:txBody>
      </p:sp>
      <p:sp>
        <p:nvSpPr>
          <p:cNvPr id="32" name="TextBox 31"/>
          <p:cNvSpPr txBox="1"/>
          <p:nvPr/>
        </p:nvSpPr>
        <p:spPr>
          <a:xfrm>
            <a:off x="8494776"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personal data</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Use your personal Google account — never an employer's.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Least Privilege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regulated firm gives each agent only what its job needs.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Ask of each connector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Does this agent's job need it? If not, it does not get it.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Drafts, not sends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Email is drafted, posts are files, pages wait — a person sends and publishes.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Write it down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Each agent's instructions name its connectors and limits; its tools line removes what it does not need.</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analyst cannot read the data, the designer has no design tool and the creator cannot draft an email. Connect each agent to what its job needs — and nothing more.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every specialist tested on its own connector, with its limits written into its instructions</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desktop app (Customize → Connectors), Claude Code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Customize → Connectors: Google Drive · Gmail (drafts) · Google Calendar · Firecrawl · /plugin: Marketing (by Anthropic) · built-in browser · least privilege per agent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4".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the connectors  </a:t>
            </a:r>
            <a:r>
              <a:rPr sz="1300">
                <a:solidFill>
                  <a:srgbClr val="6B6862"/>
                </a:solidFill>
                <a:latin typeface="Calibri"/>
              </a:rPr>
              <a:t>Desktop app: Customize → Connectors → Discover. Add (+) Google Drive, Gmail, Google Calendar and Firecrawl; sign in to each.</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the plugin  </a:t>
            </a:r>
            <a:r>
              <a:rPr sz="1300">
                <a:solidFill>
                  <a:srgbClr val="6B6862"/>
                </a:solidFill>
                <a:latin typeface="Calibri"/>
              </a:rPr>
              <a:t>In the chat type /plugin marketplace add anthropics/knowledge-work-plugins, then /plugin install marketing@knowledge-work-plugins.</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a:t>
            </a:r>
            <a:r>
              <a:rPr sz="1300">
                <a:solidFill>
                  <a:srgbClr val="6B6862"/>
                </a:solidFill>
                <a:latin typeface="Calibri"/>
              </a:rPr>
              <a:t>Start a new session. Type /mcp: the four connectors are listed. Type /plugin: Marketing is installed.</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Put the data on Drive  </a:t>
            </a:r>
            <a:r>
              <a:rPr sz="1300">
                <a:solidFill>
                  <a:srgbClr val="6B6862"/>
                </a:solidFill>
                <a:latin typeface="Calibri"/>
              </a:rPr>
              <a:t>Ask: "Create a Google Drive folder named Horizon Studio and upload every file in data/ to it as plain files — do not convert them."</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Give each agent its connectors  </a:t>
            </a:r>
            <a:r>
              <a:rPr sz="1300">
                <a:solidFill>
                  <a:srgbClr val="6B6862"/>
                </a:solidFill>
                <a:latin typeface="Calibri"/>
              </a:rPr>
              <a:t>Copy and paste Prompt A, then start a new session so the agents reload.</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each agent  </a:t>
            </a:r>
            <a:r>
              <a:rPr sz="1300">
                <a:solidFill>
                  <a:srgbClr val="6B6862"/>
                </a:solidFill>
                <a:latin typeface="Calibri"/>
              </a:rPr>
              <a:t>After the new session opens, copy and paste Prompt B — one small job per agent, each on its own connector.</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61</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give each agent its connectors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data/connectors-setup.md. For each subagent in .claude/agents/, replace its tools line with the one given there, add the disallowedTools line where one is given, and update its "Connectors" section: what it may use, and that Gmail is drafts only. Change nothing else.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62</a:t>
            </a:r>
          </a:p>
        </p:txBody>
      </p:sp>
      <p:sp>
        <p:nvSpPr>
          <p:cNvPr id="7" name="Rounded Rectangle 6"/>
          <p:cNvSpPr/>
          <p:nvPr/>
        </p:nvSpPr>
        <p:spPr>
          <a:xfrm>
            <a:off x="548640" y="1783080"/>
            <a:ext cx="11064240" cy="38862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test each agent</a:t>
            </a:r>
          </a:p>
        </p:txBody>
      </p:sp>
      <p:sp>
        <p:nvSpPr>
          <p:cNvPr id="9" name="TextBox 8"/>
          <p:cNvSpPr txBox="1"/>
          <p:nvPr/>
        </p:nvSpPr>
        <p:spPr>
          <a:xfrm>
            <a:off x="822960" y="2313432"/>
            <a:ext cx="10515600" cy="3166529"/>
          </a:xfrm>
          <a:prstGeom prst="rect">
            <a:avLst/>
          </a:prstGeom>
          <a:noFill/>
        </p:spPr>
        <p:txBody>
          <a:bodyPr wrap="square" lIns="18288" rIns="18288" tIns="9144" bIns="9144">
            <a:spAutoFit/>
          </a:bodyPr>
          <a:lstStyle/>
          <a:p>
            <a:pPr>
              <a:lnSpc>
                <a:spcPct val="110000"/>
              </a:lnSpc>
              <a:defRPr sz="1650" b="0">
                <a:solidFill>
                  <a:srgbClr val="21201C"/>
                </a:solidFill>
                <a:latin typeface="Calibri"/>
              </a:defRPr>
            </a:pPr>
            <a:r>
              <a:t>First tell me which connectors and plugins you can use. Then run these five checks, each by its own subagent:</a:t>
            </a:r>
          </a:p>
          <a:p>
            <a:pPr>
              <a:lnSpc>
                <a:spcPct val="110000"/>
              </a:lnSpc>
              <a:defRPr sz="1650" b="0">
                <a:solidFill>
                  <a:srgbClr val="21201C"/>
                </a:solidFill>
                <a:latin typeface="Calibri"/>
              </a:defRPr>
            </a:pPr>
            <a:r>
              <a:t>1. growth-strategist: Firecrawl — search for one 2026 news item about financial planning in Singapore, scrape it and cite it.</a:t>
            </a:r>
          </a:p>
          <a:p>
            <a:pPr>
              <a:lnSpc>
                <a:spcPct val="110000"/>
              </a:lnSpc>
              <a:defRPr sz="1650" b="0">
                <a:solidFill>
                  <a:srgbClr val="21201C"/>
                </a:solidFill>
                <a:latin typeface="Calibri"/>
              </a:defRPr>
            </a:pPr>
            <a:r>
              <a:t>2. growth-analyst: Google Drive — read firm-metrics.csv from Horizon Studio; report average monthly enquiries.</a:t>
            </a:r>
          </a:p>
          <a:p>
            <a:pPr>
              <a:lnSpc>
                <a:spcPct val="110000"/>
              </a:lnSpc>
              <a:defRPr sz="1650" b="0">
                <a:solidFill>
                  <a:srgbClr val="21201C"/>
                </a:solidFill>
                <a:latin typeface="Calibri"/>
              </a:defRPr>
            </a:pPr>
            <a:r>
              <a:t>3. content-creator: Gmail — a DRAFT to me with the subject "Connector test". Do not send.</a:t>
            </a:r>
          </a:p>
          <a:p>
            <a:pPr>
              <a:lnSpc>
                <a:spcPct val="110000"/>
              </a:lnSpc>
              <a:defRPr sz="1650" b="0">
                <a:solidFill>
                  <a:srgbClr val="21201C"/>
                </a:solidFill>
                <a:latin typeface="Calibri"/>
              </a:defRPr>
            </a:pPr>
            <a:r>
              <a:t>4. creative-designer: render a 1080x1080 test card in Horizon colours and save it in content/test/.</a:t>
            </a:r>
          </a:p>
          <a:p>
            <a:pPr>
              <a:lnSpc>
                <a:spcPct val="110000"/>
              </a:lnSpc>
              <a:defRPr sz="1650" b="0">
                <a:solidFill>
                  <a:srgbClr val="21201C"/>
                </a:solidFill>
                <a:latin typeface="Calibri"/>
              </a:defRPr>
            </a:pPr>
            <a:r>
              <a:t>5. website-designer: built-in browser — open our own copy of the site (web/site/index.html) at 375px wide and report any problem. Report each result in one line. If a check fails, say which tool was missing.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Least privilege is a design decision, not a setting. Ask of each connector: does this agent's job need it?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/mcp lists Google Drive, Gmail, Google Calendar and Firecrawl; /plugin shows Marketing.</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checks ran, each by its own agent.</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Gmail test is a draft in your inbox — nothing was sent.</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analyst read the CSV from Drive, not from the local folder.</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agent's tools line names only the connectors its job needs.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CAMPAIGN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the Team Runs a Campaign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Campaign 1, "Know Your Number": research in parallel, a person chooses, the team makes it concrete.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briefs</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campaign objective; assigns the work.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Research</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(competitors) and Analyst (funnel) in parallel.</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Ideas</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Nine ideas for three audiences, scored with the rubric.</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choose</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human concept checkpoint.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Storyboard</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storyboards; Creator writes three variants; Lead checks.</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STORYBOARD</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Five-Beat Storyboard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channel tells the same story with the same claims.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65</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Hook</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viewer's own question: "Do I have enough to retire?"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Tension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goes wrong when nobody knows their number.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Proof</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verifiable fact, e.g. the 2026 Full Retirement Sum.</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Resolution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How Horizon helps — a 30-minute chat, a one-page plan.</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Action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next step: the checklist or a free chat.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REGULATED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Financial Content Is Regulated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checks every piece against twelve rules (compliance-checklist.md).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26623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RULE</a:t>
            </a:r>
          </a:p>
        </p:txBody>
      </p:sp>
      <p:sp>
        <p:nvSpPr>
          <p:cNvPr id="10" name="TextBox 9"/>
          <p:cNvSpPr txBox="1"/>
          <p:nvPr/>
        </p:nvSpPr>
        <p:spPr>
          <a:xfrm>
            <a:off x="4290364"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MEANS</a:t>
            </a:r>
          </a:p>
        </p:txBody>
      </p:sp>
      <p:sp>
        <p:nvSpPr>
          <p:cNvPr id="11" name="TextBox 10"/>
          <p:cNvSpPr txBox="1"/>
          <p:nvPr/>
        </p:nvSpPr>
        <p:spPr>
          <a:xfrm>
            <a:off x="9601200"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IF BROKEN</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 · Not advice</a:t>
            </a:r>
          </a:p>
        </p:txBody>
      </p:sp>
      <p:sp>
        <p:nvSpPr>
          <p:cNvPr id="14" name="TextBox 13"/>
          <p:cNvSpPr txBox="1"/>
          <p:nvPr/>
        </p:nvSpPr>
        <p:spPr>
          <a:xfrm>
            <a:off x="4290364" y="2560320"/>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General information only — say so</a:t>
            </a:r>
          </a:p>
        </p:txBody>
      </p:sp>
      <p:sp>
        <p:nvSpPr>
          <p:cNvPr id="15" name="TextBox 14"/>
          <p:cNvSpPr txBox="1"/>
          <p:nvPr/>
        </p:nvSpPr>
        <p:spPr>
          <a:xfrm>
            <a:off x="9601200"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6" name="TextBox 15"/>
          <p:cNvSpPr txBox="1"/>
          <p:nvPr/>
        </p:nvSpPr>
        <p:spPr>
          <a:xfrm>
            <a:off x="749808" y="3084575"/>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C2 · No promises</a:t>
            </a:r>
          </a:p>
        </p:txBody>
      </p:sp>
      <p:sp>
        <p:nvSpPr>
          <p:cNvPr id="17" name="TextBox 16"/>
          <p:cNvSpPr txBox="1"/>
          <p:nvPr/>
        </p:nvSpPr>
        <p:spPr>
          <a:xfrm>
            <a:off x="4290364" y="3084575"/>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guaranteed or "risk-free" returns</a:t>
            </a:r>
          </a:p>
        </p:txBody>
      </p:sp>
      <p:sp>
        <p:nvSpPr>
          <p:cNvPr id="18" name="TextBox 17"/>
          <p:cNvSpPr txBox="1"/>
          <p:nvPr/>
        </p:nvSpPr>
        <p:spPr>
          <a:xfrm>
            <a:off x="9601200"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C3 · Label illustrations</a:t>
            </a:r>
          </a:p>
        </p:txBody>
      </p:sp>
      <p:sp>
        <p:nvSpPr>
          <p:cNvPr id="21" name="TextBox 20"/>
          <p:cNvSpPr txBox="1"/>
          <p:nvPr/>
        </p:nvSpPr>
        <p:spPr>
          <a:xfrm>
            <a:off x="4290364" y="3608831"/>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Assumptions shown; not guaranteed</a:t>
            </a:r>
          </a:p>
        </p:txBody>
      </p:sp>
      <p:sp>
        <p:nvSpPr>
          <p:cNvPr id="22" name="TextBox 21"/>
          <p:cNvSpPr txBox="1"/>
          <p:nvPr/>
        </p:nvSpPr>
        <p:spPr>
          <a:xfrm>
            <a:off x="9601200"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3" name="TextBox 22"/>
          <p:cNvSpPr txBox="1"/>
          <p:nvPr/>
        </p:nvSpPr>
        <p:spPr>
          <a:xfrm>
            <a:off x="749808" y="4133087"/>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C5 · No performance</a:t>
            </a:r>
          </a:p>
        </p:txBody>
      </p:sp>
      <p:sp>
        <p:nvSpPr>
          <p:cNvPr id="24" name="TextBox 23"/>
          <p:cNvSpPr txBox="1"/>
          <p:nvPr/>
        </p:nvSpPr>
        <p:spPr>
          <a:xfrm>
            <a:off x="4290364" y="4133087"/>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client returns or "average" returns</a:t>
            </a:r>
          </a:p>
        </p:txBody>
      </p:sp>
      <p:sp>
        <p:nvSpPr>
          <p:cNvPr id="25" name="TextBox 24"/>
          <p:cNvSpPr txBox="1"/>
          <p:nvPr/>
        </p:nvSpPr>
        <p:spPr>
          <a:xfrm>
            <a:off x="9601200"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C9 · Consent</a:t>
            </a:r>
          </a:p>
        </p:txBody>
      </p:sp>
      <p:sp>
        <p:nvSpPr>
          <p:cNvPr id="28" name="TextBox 27"/>
          <p:cNvSpPr txBox="1"/>
          <p:nvPr/>
        </p:nvSpPr>
        <p:spPr>
          <a:xfrm>
            <a:off x="4290364" y="4657344"/>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Marketing only to people who opted in</a:t>
            </a:r>
          </a:p>
        </p:txBody>
      </p:sp>
      <p:sp>
        <p:nvSpPr>
          <p:cNvPr id="29" name="TextBox 28"/>
          <p:cNvSpPr txBox="1"/>
          <p:nvPr/>
        </p:nvSpPr>
        <p:spPr>
          <a:xfrm>
            <a:off x="9601200"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0" name="TextBox 29"/>
          <p:cNvSpPr txBox="1"/>
          <p:nvPr/>
        </p:nvSpPr>
        <p:spPr>
          <a:xfrm>
            <a:off x="749808" y="5181599"/>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C11 · Facts sheet</a:t>
            </a:r>
          </a:p>
        </p:txBody>
      </p:sp>
      <p:sp>
        <p:nvSpPr>
          <p:cNvPr id="31" name="TextBox 30"/>
          <p:cNvSpPr txBox="1"/>
          <p:nvPr/>
        </p:nvSpPr>
        <p:spPr>
          <a:xfrm>
            <a:off x="4290364" y="5181599"/>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figure from facts-2026.md</a:t>
            </a:r>
          </a:p>
        </p:txBody>
      </p:sp>
      <p:sp>
        <p:nvSpPr>
          <p:cNvPr id="32" name="TextBox 31"/>
          <p:cNvSpPr txBox="1"/>
          <p:nvPr/>
        </p:nvSpPr>
        <p:spPr>
          <a:xfrm>
            <a:off x="9601200"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 Guidelines on Standards of Conduct for Digital Advertising Activities apply from 25 March 2026.</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67</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~50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team's first campaign: 'Know Your Number', November to January. Rachel wants research, ideas for three audiences, her choice, and a storyboard every channel follows.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competitor research, the funnel, nine scored ideas, the campaign brief and a five-beat storyboard with three channel variants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 in parallel)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Lead delegates · strategist and analyst in parallel · nine scored ideas · a human concept checkpoint · a five-beat storyboard</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68</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5".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Brief the Lead  </a:t>
            </a:r>
            <a:r>
              <a:rPr sz="1300">
                <a:solidFill>
                  <a:srgbClr val="6B6862"/>
                </a:solidFill>
                <a:latin typeface="Calibri"/>
              </a:rPr>
              <a:t>The briefs are already in data/. You are the client; your session is the Marketing Team Lead.</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Research in parallel  </a:t>
            </a:r>
            <a:r>
              <a:rPr sz="1300">
                <a:solidFill>
                  <a:srgbClr val="6B6862"/>
                </a:solidFill>
                <a:latin typeface="Calibri"/>
              </a:rPr>
              <a:t>Copy and paste Prompt A. Watch the strategist and the analyst run at the same time.</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ideas  </a:t>
            </a:r>
            <a:r>
              <a:rPr sz="1300">
                <a:solidFill>
                  <a:srgbClr val="6B6862"/>
                </a:solidFill>
                <a:latin typeface="Calibri"/>
              </a:rPr>
              <a:t>Nine ideas, scored with the rubric — the top five open as an artifact beside the chat. The Lead stops for you.</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Choose  </a:t>
            </a:r>
            <a:r>
              <a:rPr sz="1300">
                <a:solidFill>
                  <a:srgbClr val="6B6862"/>
                </a:solidFill>
                <a:latin typeface="Calibri"/>
              </a:rPr>
              <a:t>Pick one idea in the artifact's Ideas tab and note its number and why — the human concept checkpoint.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Storyboard  </a:t>
            </a:r>
            <a:r>
              <a:rPr sz="1300">
                <a:solidFill>
                  <a:srgbClr val="6B6862"/>
                </a:solidFill>
                <a:latin typeface="Calibri"/>
              </a:rPr>
              <a:t>After you have chosen, copy and paste Prompt B in the chat, replacing &lt;number&gt; and &lt;one line&gt; with your choice.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as Rachel  </a:t>
            </a:r>
            <a:r>
              <a:rPr sz="1300">
                <a:solidFill>
                  <a:srgbClr val="6B6862"/>
                </a:solidFill>
                <a:latin typeface="Calibri"/>
              </a:rPr>
              <a:t>After you have read the issues, copy and paste Prompt C. You confirm what is true about Horizon; the team removes or fixes the rest.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69</a:t>
            </a:r>
          </a:p>
        </p:txBody>
      </p:sp>
      <p:sp>
        <p:nvSpPr>
          <p:cNvPr id="7" name="Rounded Rectangle 6"/>
          <p:cNvSpPr/>
          <p:nvPr/>
        </p:nvSpPr>
        <p:spPr>
          <a:xfrm>
            <a:off x="548640" y="1783080"/>
            <a:ext cx="11064240" cy="401007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research and ideas</a:t>
            </a:r>
          </a:p>
        </p:txBody>
      </p:sp>
      <p:sp>
        <p:nvSpPr>
          <p:cNvPr id="9" name="TextBox 8"/>
          <p:cNvSpPr txBox="1"/>
          <p:nvPr/>
        </p:nvSpPr>
        <p:spPr>
          <a:xfrm>
            <a:off x="822960" y="2313432"/>
            <a:ext cx="10515600" cy="326026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the Marketing Team Lead for the campaign in data/campaign-objective.md. Use subagents, in parallel:</a:t>
            </a:r>
          </a:p>
          <a:p>
            <a:pPr>
              <a:lnSpc>
                <a:spcPct val="110000"/>
              </a:lnSpc>
              <a:defRPr sz="1700" b="0">
                <a:solidFill>
                  <a:srgbClr val="21201C"/>
                </a:solidFill>
                <a:latin typeface="Calibri"/>
              </a:defRPr>
            </a:pPr>
            <a:r>
              <a:t>- growth-strategist: competitor-scan → save research/competitive-analysis.md.</a:t>
            </a:r>
          </a:p>
          <a:p>
            <a:pPr>
              <a:lnSpc>
                <a:spcPct val="110000"/>
              </a:lnSpc>
              <a:defRPr sz="1700" b="0">
                <a:solidFill>
                  <a:srgbClr val="21201C"/>
                </a:solidFill>
                <a:latin typeface="Calibri"/>
              </a:defRPr>
            </a:pPr>
            <a:r>
              <a:t>- growth-analyst: the funnel in data/firm-metrics.csv — what 40 chats a month needs → save research/funnel.md. When both finish, the growth-strategist proposes three ideas each for young professionals, mid-career families and pre-retirees, scored with data/idea-rubric.md and tagged with a funnel stage (content-marketing) → strategy/ideas.md. Publish the top five as an artifact — one card per idea with its score, persona and funnel stage — and a box at the top that tells me what to do next. Then stop. I will choose. Write for a business owner, in plain English: no codes, IDs, file names or line numbers; start with what it means and what I do next. Save a Word copy (.docx) of each result.</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70</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storyboard</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choose idea &lt;number&gt;, because &lt;one line&gt;. Use subagents:</a:t>
            </a:r>
          </a:p>
          <a:p>
            <a:pPr>
              <a:lnSpc>
                <a:spcPct val="110000"/>
              </a:lnSpc>
              <a:defRPr sz="1700" b="0">
                <a:solidFill>
                  <a:srgbClr val="21201C"/>
                </a:solidFill>
                <a:latin typeface="Calibri"/>
              </a:defRPr>
            </a:pPr>
            <a:r>
              <a:t>- growth-strategist: campaign-brief → strategy/campaign-brief.md, then a five-beat storyboard with data/storyboard-template.md → strategy/storyboard.md.</a:t>
            </a:r>
          </a:p>
          <a:p>
            <a:pPr>
              <a:lnSpc>
                <a:spcPct val="110000"/>
              </a:lnSpc>
              <a:defRPr sz="1700" b="0">
                <a:solidFill>
                  <a:srgbClr val="21201C"/>
                </a:solidFill>
                <a:latin typeface="Calibri"/>
              </a:defRPr>
            </a:pPr>
            <a:r>
              <a:t>- content-creator: three channel variants that keep the same claims — LinkedIn, Facebook, a 60-second video. Then run fact-check and fin-compliance yourself and show me the issues before anything is final. Publish the brief and the storyboard as an artifact with a tab for the brief (goal, audience, message, call to action); a tab for the five beats side by side, each with its claim and source, and the three variants below; and the issues in a table. Write for a business owner, in plain English: no codes, IDs, file names or line numbers; start with what it means and what I do next. Save a Word copy (.docx) of each result.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71</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decide on the issues</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confirm "no obligation" and the free checklist — add them to the facts sheet (data/facts-2026.md). Delete any other claim that is not on the facts sheet. Fix all the Medium and Low issues, then show me the updated storyboard and publish it as an artifact.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Agents diverge; a person decides. The concept checkpoint is where the campaign becomes yours.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72</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After Prompt A: Explain this result in three sentences. Which idea would you pick,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does idea &lt;number&gt; score higher than idea &lt;number&gt;?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funnel say is our biggest problem?</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B: Explain the issues in plain English. What do I need to decide?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C: What changed since the last version? Is anything still not ready for Rachel?</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and the analyst ran in parallel.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competitor analysis and the funnel are done, with sources.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Nine scored ideas, each with its author.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chose the idea and recorded why.</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storyboard has five beats; every claim has a source.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confirmed two claims; after Prompt C no High issue is left.</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team exists and has run its first campaign. But who exactly is it for — and how often should it publish?</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74</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Formed  ·  Labs 1–4</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studio, the public website, six agents with instructions, skills and connectors.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 1  ·  Lab 5</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Research in parallel, nine scored ideas, your choice, a storyboard.</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Evidence about the audience and a cadence the team can deliver. That is Topic 2.</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2</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Audience Research and Content Requirement Analysis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Growth Analyst: personas from evidence</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Content requirements every agent can follow</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How often to publish: value, fatigue and capacity</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calendar the team will run</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75</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Evidence Before Personas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6: the Growth Analyst builds personas the way an analyst would.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76</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Collect</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150 survey answers, 60 enquiries, 200 checklists.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Count</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With code. Every claim has an n and a file.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Segment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By age band and life stage.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Persona</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Worries, channels, formats, trust — with evidence.</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Requirement</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each persona needs from every piece.</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Observed, Inferred or Low Confidence?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labels keep a persona honest.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LABEL</a:t>
            </a:r>
          </a:p>
        </p:txBody>
      </p:sp>
      <p:sp>
        <p:nvSpPr>
          <p:cNvPr id="10" name="TextBox 9"/>
          <p:cNvSpPr txBox="1"/>
          <p:nvPr/>
        </p:nvSpPr>
        <p:spPr>
          <a:xfrm>
            <a:off x="3183940"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EXAMPLE</a:t>
            </a:r>
          </a:p>
        </p:txBody>
      </p:sp>
      <p:sp>
        <p:nvSpPr>
          <p:cNvPr id="11" name="TextBox 10"/>
          <p:cNvSpPr txBox="1"/>
          <p:nvPr/>
        </p:nvSpPr>
        <p:spPr>
          <a:xfrm>
            <a:off x="8716060"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 IT</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Observed</a:t>
            </a:r>
          </a:p>
        </p:txBody>
      </p:sp>
      <p:sp>
        <p:nvSpPr>
          <p:cNvPr id="14" name="TextBox 13"/>
          <p:cNvSpPr txBox="1"/>
          <p:nvPr/>
        </p:nvSpPr>
        <p:spPr>
          <a:xfrm>
            <a:off x="3183940" y="2560320"/>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30–39s chose Facebook, LinkedIn and YouTube equally (survey, n = 44)</a:t>
            </a:r>
          </a:p>
        </p:txBody>
      </p:sp>
      <p:sp>
        <p:nvSpPr>
          <p:cNvPr id="15" name="TextBox 14"/>
          <p:cNvSpPr txBox="1"/>
          <p:nvPr/>
        </p:nvSpPr>
        <p:spPr>
          <a:xfrm>
            <a:off x="8716060" y="2560320"/>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fact, with the count</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INFERENCE</a:t>
            </a:r>
          </a:p>
        </p:txBody>
      </p:sp>
      <p:sp>
        <p:nvSpPr>
          <p:cNvPr id="17" name="TextBox 16"/>
          <p:cNvSpPr txBox="1"/>
          <p:nvPr/>
        </p:nvSpPr>
        <p:spPr>
          <a:xfrm>
            <a:off x="3183940" y="3273552"/>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"They are short of time on weekdays" — not asked</a:t>
            </a:r>
          </a:p>
        </p:txBody>
      </p:sp>
      <p:sp>
        <p:nvSpPr>
          <p:cNvPr id="18" name="TextBox 17"/>
          <p:cNvSpPr txBox="1"/>
          <p:nvPr/>
        </p:nvSpPr>
        <p:spPr>
          <a:xfrm>
            <a:off x="8716060" y="3273552"/>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a hypothesis to test</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LOW CONFIDENCE</a:t>
            </a:r>
          </a:p>
        </p:txBody>
      </p:sp>
      <p:sp>
        <p:nvSpPr>
          <p:cNvPr id="21" name="TextBox 20"/>
          <p:cNvSpPr txBox="1"/>
          <p:nvPr/>
        </p:nvSpPr>
        <p:spPr>
          <a:xfrm>
            <a:off x="3183940" y="3986784"/>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60+ group (n = 12)</a:t>
            </a:r>
          </a:p>
        </p:txBody>
      </p:sp>
      <p:sp>
        <p:nvSpPr>
          <p:cNvPr id="22" name="TextBox 21"/>
          <p:cNvSpPr txBox="1"/>
          <p:nvPr/>
        </p:nvSpPr>
        <p:spPr>
          <a:xfrm>
            <a:off x="8716060" y="3986784"/>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alone; get more data</a:t>
            </a:r>
          </a:p>
        </p:txBody>
      </p:sp>
      <p:sp>
        <p:nvSpPr>
          <p:cNvPr id="23" name="TextBox 22"/>
          <p:cNvSpPr txBox="1"/>
          <p:nvPr/>
        </p:nvSpPr>
        <p:spPr>
          <a:xfrm>
            <a:off x="749808" y="4700016"/>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Verbatim</a:t>
            </a:r>
          </a:p>
        </p:txBody>
      </p:sp>
      <p:sp>
        <p:nvSpPr>
          <p:cNvPr id="24" name="TextBox 23"/>
          <p:cNvSpPr txBox="1"/>
          <p:nvPr/>
        </p:nvSpPr>
        <p:spPr>
          <a:xfrm>
            <a:off x="3183940" y="4700016"/>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 am 54 and not sure if my CPF will be enough." (E-id)</a:t>
            </a:r>
          </a:p>
        </p:txBody>
      </p:sp>
      <p:sp>
        <p:nvSpPr>
          <p:cNvPr id="25" name="TextBox 24"/>
          <p:cNvSpPr txBox="1"/>
          <p:nvPr/>
        </p:nvSpPr>
        <p:spPr>
          <a:xfrm>
            <a:off x="8716060" y="4700016"/>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Exactly as written, with the id</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Ask "which rows show that?" of anything that sounds insightful.</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78</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06</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drafted personas from instinct: 'busy young parents who love TikTok'. Rachel is not convinced. There are 150 survey answers, 60 enquiries and 200 checklists.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three evidence-based personas and the content spec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(three analyst subagents in parallel)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three analyst sub-agents, one per data file · counts, not impressions · confidence labels · content requirements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79</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6".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CSVs and templates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Analyse in parallel  </a:t>
            </a:r>
            <a:r>
              <a:rPr sz="1300">
                <a:solidFill>
                  <a:srgbClr val="6B6862"/>
                </a:solidFill>
                <a:latin typeface="Calibri"/>
              </a:rPr>
              <a:t>Copy and paste Prompt A — three analyst sub-agents, one per file.</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Challenge a claim  </a:t>
            </a:r>
            <a:r>
              <a:rPr sz="1300">
                <a:solidFill>
                  <a:srgbClr val="6B6862"/>
                </a:solidFill>
                <a:latin typeface="Calibri"/>
              </a:rPr>
              <a:t>Pick one persona statement and ask: "which rows show that?"</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guides  </a:t>
            </a:r>
            <a:r>
              <a:rPr sz="1300">
                <a:solidFill>
                  <a:srgbClr val="6B6862"/>
                </a:solidFill>
                <a:latin typeface="Calibri"/>
              </a:rPr>
              <a:t>After the persona cards appear, copy and paste Prompt B: a writing guide for each persona — how to talk to them.</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gaps  </a:t>
            </a:r>
            <a:r>
              <a:rPr sz="1300">
                <a:solidFill>
                  <a:srgbClr val="6B6862"/>
                </a:solidFill>
                <a:latin typeface="Calibri"/>
              </a:rPr>
              <a:t>The 60+ group must be LOW CONFIDENCE.</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80</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three analysts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three growth-analyst subagents in parallel, one per file: data/survey-responses.csv, data/enquiries.csv, data/checklist-results.csv. Each uses audience-insights: counts with code, n and the file on every claim, INFERENCE and LOW CONFIDENCE labels, enquiry quotes verbatim with ids. Combine the results into three personas with data/persona-template.md → strategy/personas.md. Publish the personas as an artifact: one card each, with the key counts as small bar charts and the confidence label in colour. Write for a business owner, in plain English: no codes, IDs, file names or line numbers; start with what it means and what I do next. Save a Word copy (.docx) of each result.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81</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requirements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and the content-creator subagents to write a writing guide for each persona (data/content-spec-template.md → strategy/content-spec.md): what they most want to know, where to reach them, what to make and how long, the tone, the proof that convinces them, what we ask them to do next, and what we never say. Back each answer with the data: which file, and how many people. Publish it as an artifact: one card per persona with a one-line summary on top and the answers under plain headings, then one table comparing the three personas side by side.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"which rows show that?" of anything that sounds insightful. If the agent cannot point to rows, it is an inference.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82</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these personas in three sentences. Which one should we target first,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survey answers show that &lt;a sentence from a persona&gt;?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is the 60+ group marked low confidence?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analyst sub-agents ran, one per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persona statement carries a count and a file.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60+ group is LOW CONFIDENCE (n = 12).</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most-unticked checklist item is the retirement number.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Enquiry quotes are verbatim, with ids.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writing guide answers every question for every persona.</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Finding the Right Frequency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7: the Analyst finds where more posts stop paying; the Strategist plans four weeks.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Value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Extra clicks from one more post a week.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Fatigue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Unfollows and unsubscribes it costs.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Effort</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Hours per piece, against 12 a week.</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business days for Rachel's sign-off.</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Calendar</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Four weeks the team can actually deliver.</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 third LinkedIn post a week brings more unfollows than value. Weekly emails make unsubscribes jump.</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07</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12 hours a week and Rachel needs two business days to review anything. How often should each channel run, and what goes out when?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how often to post on each channel, and a four-week calendar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marginal value vs fatigue · team capacity · review buffers · a four-week calendar</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7".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assets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Find the sweet spot  </a:t>
            </a:r>
            <a:r>
              <a:rPr sz="1300">
                <a:solidFill>
                  <a:srgbClr val="6B6862"/>
                </a:solidFill>
                <a:latin typeface="Calibri"/>
              </a:rPr>
              <a:t>Copy and paste Prompt A.</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Question it  </a:t>
            </a:r>
            <a:r>
              <a:rPr sz="1300">
                <a:solidFill>
                  <a:srgbClr val="6B6862"/>
                </a:solidFill>
                <a:latin typeface="Calibri"/>
              </a:rPr>
              <a:t>Why is the newsletter not weekly? The answer is in the unsubscribes.</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Plan four weeks  </a:t>
            </a:r>
            <a:r>
              <a:rPr sz="1300">
                <a:solidFill>
                  <a:srgbClr val="6B6862"/>
                </a:solidFill>
                <a:latin typeface="Calibri"/>
              </a:rPr>
              <a:t>After the analyst recommends a cadence, copy and paste Prompt B.</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buffers  </a:t>
            </a:r>
            <a:r>
              <a:rPr sz="1300">
                <a:solidFill>
                  <a:srgbClr val="6B6862"/>
                </a:solidFill>
                <a:latin typeface="Calibri"/>
              </a:rPr>
              <a:t>Every review date is two business days ahead; nothing on a holiday.</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87</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analyst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data/channel-benchmarks.csv and data/team-capacity.md, recommend how often to publish on LinkedIn, Facebook, the newsletter and YouTube. Compare the extra clicks from one more post, the unfollows or unsubscribes it costs, and the hours → strategy/cadence.md. Publish it as an artifact: a chart per channel of the extra clicks against the unfollows, and the hours. Write for a business owner, in plain English: no codes, IDs, file names or line numbers; start with what it means and what I do next. Save a Word copy (.docx) of each result.</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88</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strategist</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subagent to build a four-week calendar from Monday 2 November 2026 in strategy/calendar.csv (columns as data/calendar-format.csv), from the cadence, strategy/storyboard.md and strategy/content-spec.md. review_by two business days before each date; no public holidays; no week over the team's hours. Publish the four weeks as an artifact: a calendar grid by channel, review dates marked, hours per week.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Frequency is a capacity decision as much as an audience one. A calendar the team cannot deliver is fiction.</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89</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Why is the newsletter not weekly? Show me the numbers.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happens if we add a third LinkedIn post a week?</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week is busiest, and does the team have the hours?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cadence gives a frequency per channel with the evidence.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third LinkedIn post a week costs far more unfollows than it earns.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explains the unsubscribe jump at weekly emails.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calendar covers four weeks in the required columns.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review_by date is two business days before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No week is over 12 hours.</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Storyboard to Content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8: the first real piece — a blog article every post can link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One prompt, the whole job</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Research, draft, fact-check, fix and post — a quick blog in one go. A person still reads it last.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Straight onto your copy of the site</a:t>
            </a:r>
          </a:p>
        </p:txBody>
      </p:sp>
      <p:sp>
        <p:nvSpPr>
          <p:cNvPr id="15" name="TextBox 14"/>
          <p:cNvSpPr txBox="1"/>
          <p:nvPr/>
        </p:nvSpPr>
        <p:spPr>
          <a:xfrm>
            <a:off x="4547615"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article lands on the copy of Horizon's site in your folder, opened in your browser. The public site never changes.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Your skills know Horizon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blog-post, sunny-voice, fact-check and fin-compliance: the voice, the facts and the rules.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92</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08</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the storyboard and the personas. Rachel wants the first real piece today: a blog article that people searching for CPF top-ups will find — and that every post can link to.</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500-700-word blog article with dated sources, checked and fixed and posted on your own copy of Horizon's website, opened in your browser, with a Word copy</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(Firecrawl, your Horizon skills) → your copy of Horizon's website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one prompt runs the whole job: research · draft · fact-check and fin-compliance · fix · post to the blog on your copy of the website · a person reads it last</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93</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8". Run all of this lab's prompts in it.</a:t>
            </a:r>
          </a:p>
        </p:txBody>
      </p:sp>
      <p:sp>
        <p:nvSpPr>
          <p:cNvPr id="10" name="Oval 9"/>
          <p:cNvSpPr/>
          <p:nvPr/>
        </p:nvSpPr>
        <p:spPr>
          <a:xfrm>
            <a:off x="548640" y="299008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95351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and post it  </a:t>
            </a:r>
            <a:r>
              <a:rPr sz="1550">
                <a:solidFill>
                  <a:srgbClr val="6B6862"/>
                </a:solidFill>
                <a:latin typeface="Calibri"/>
              </a:rPr>
              <a:t>Copy and paste the prompt. Claude researches, writes, checks and fixes the article, then posts it to your copy of Horizon's website.</a:t>
            </a:r>
          </a:p>
        </p:txBody>
      </p:sp>
      <p:sp>
        <p:nvSpPr>
          <p:cNvPr id="12" name="Oval 11"/>
          <p:cNvSpPr/>
          <p:nvPr/>
        </p:nvSpPr>
        <p:spPr>
          <a:xfrm>
            <a:off x="548640" y="385876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82219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Read it on the site  </a:t>
            </a:r>
            <a:r>
              <a:rPr sz="1550">
                <a:solidFill>
                  <a:srgbClr val="6B6862"/>
                </a:solidFill>
                <a:latin typeface="Calibri"/>
              </a:rPr>
              <a:t>Your copy of the website opens in your browser: your article is first under "From our blog". Say what to change, if anything.</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94</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 Claude Code: a quick blog</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a quick blog article for Horizon and post it to the website. Use the blog-post, sunny-voice, fact-check and fin-compliance skills.</a:t>
            </a:r>
          </a:p>
          <a:p>
            <a:pPr>
              <a:lnSpc>
                <a:spcPct val="110000"/>
              </a:lnSpc>
              <a:defRPr sz="1700" b="0">
                <a:solidFill>
                  <a:srgbClr val="21201C"/>
                </a:solidFill>
                <a:latin typeface="Calibri"/>
              </a:defRPr>
            </a:pPr>
            <a:r>
              <a:t>1. Pick one topic from strategy/storyboard.md that a Singaporean would search for. Use Firecrawl to find two current sources (CPF Board, MAS or MoneySense), each with its date.</a:t>
            </a:r>
          </a:p>
          <a:p>
            <a:pPr>
              <a:lnSpc>
                <a:spcPct val="110000"/>
              </a:lnSpc>
              <a:defRPr sz="1700" b="0">
                <a:solidFill>
                  <a:srgbClr val="21201C"/>
                </a:solidFill>
                <a:latin typeface="Calibri"/>
              </a:defRPr>
            </a:pPr>
            <a:r>
              <a:t>2. Write 500-700 words: a title under 60 characters, every figure from data/facts-2026.md, one call to action (book a free 30-minute chat) and the full disclaimer → content/blog/&lt;slug&gt;.md.</a:t>
            </a:r>
          </a:p>
          <a:p>
            <a:pPr>
              <a:lnSpc>
                <a:spcPct val="110000"/>
              </a:lnSpc>
              <a:defRPr sz="1700" b="0">
                <a:solidFill>
                  <a:srgbClr val="21201C"/>
                </a:solidFill>
                <a:latin typeface="Calibri"/>
              </a:defRPr>
            </a:pPr>
            <a:r>
              <a:t>3. Run fact-check and fin-compliance; fix every issue and list each fix in one line.</a:t>
            </a:r>
          </a:p>
          <a:p>
            <a:pPr>
              <a:lnSpc>
                <a:spcPct val="110000"/>
              </a:lnSpc>
              <a:defRPr sz="1700" b="0">
                <a:solidFill>
                  <a:srgbClr val="21201C"/>
                </a:solidFill>
                <a:latin typeface="Calibri"/>
              </a:defRPr>
            </a:pPr>
            <a:r>
              <a:t>4. Add it to the blog in web/site/index.html as one new post, built like the posts already there. Change nothing else on the site. Then start my website if it is not running, and open it. Write for a business owner, in plain English. Save a Word copy (.docx) of the article.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One prompt can run the whole job — research, writing and checks. A person still reads the result before it goes anywhere.</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95</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Summarise the article in three sentences. Who is it for?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did you pick this topic, and who will search for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checks find, and how did you fix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sources, each with a date and a link.</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title is under 60 characters.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is from Horizon's 2026 facts.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fixes are listed; no Critical or High issue is left.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One call to action and the full disclaimer at the end.</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article is first under "From our blog" on your copy of the website.</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DAY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Day 1: The Team Is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Everything the campaigns need tomorrow is in place.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97</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Home</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Shared rules and facts; Horizon's public website (Lab 1).</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Team</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Six agents: instructions, skills, connectors (Labs 2–4).</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Audience</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and requirements from evidence (Lab 6).</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Plan</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Cadence and a four-week calendar (Lab 7).</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Content</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The first blog article, checked (Lab 8).</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3</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Multi-Channel Content Creation and Agent Workflow Coordination</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Subagents or an agent team?</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lead magnet: a checklist people want, and its emails</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Human in the loop — enforced, not requested</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Campaigns 2–4: social week, newsletter + landing page, video</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From approval to LinkedIn, Facebook, email and YouTube</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98</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LEAD MAGNET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That Earns a Sign-up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9: the Money Check-up Checklist and the emails that follow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99</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Promise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problem, one promise: know where you stand in 10 minutes.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Design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Artifacts: printable pages, cards and previews.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Opt-in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required PDPA consent box; the newsletter opt-in separate.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Welcome emails</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Day 0, day 3, day 7 — value first, then a free chat.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Measure</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Downloads, then chats booked.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Lab 11 builds the landing page that offers it.</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09</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Day 2. Before the campaign weeks start, Rachel wants the thing that turns readers into leads: the Money Check-up Checklist, designed to be downloaded, and the emails that follow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Money Check-up Checklist as a printable A4 page (artifact and PDF) and on your copy of Horizon's website, and three welcome emails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(artifact, Gmail drafts, Marketing plugin, your Horizon 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lead-magnet skill · a printable A4 checklist as an artifact · the Marketing plugin's email sequence · newsletter and sunny-voice · drafts only</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9".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Design it  </a:t>
            </a:r>
            <a:r>
              <a:rPr sz="1550">
                <a:solidFill>
                  <a:srgbClr val="6B6862"/>
                </a:solidFill>
                <a:latin typeface="Calibri"/>
              </a:rPr>
              <a:t>Copy and paste Prompt A. The checklist opens as an artifact; ask in the chat for any change.</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welcome emails  </a:t>
            </a:r>
            <a:r>
              <a:rPr sz="1550">
                <a:solidFill>
                  <a:srgbClr val="6B6862"/>
                </a:solidFill>
                <a:latin typeface="Calibri"/>
              </a:rPr>
              <a:t>After the checklist looks right, copy and paste Prompt B. The three emails also appear as drafts in your Gmail.</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it  </a:t>
            </a:r>
            <a:r>
              <a:rPr sz="1550">
                <a:solidFill>
                  <a:srgbClr val="6B6862"/>
                </a:solidFill>
                <a:latin typeface="Calibri"/>
              </a:rPr>
              <a:t>After the three emails are saved, copy and paste Prompt C.</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Put it on the website  </a:t>
            </a:r>
            <a:r>
              <a:rPr sz="1550">
                <a:solidFill>
                  <a:srgbClr val="6B6862"/>
                </a:solidFill>
                <a:latin typeface="Calibri"/>
              </a:rPr>
              <a:t>After the checks pass, copy and paste Prompt D. Your copy of the website opens in your browser, with the checklist behind an email box.</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102</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checklist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lead-magnet skill. Turn data/checklist-items.md into the "Money Check-up Checklist": a title with one promise, the ten items as tick boxes, one figure from data/facts-2026.md, the next step (book a free chat) and the full disclaimer. Lay it out as a printable A4 page in the colours and fonts in data/brand.md and publish it as an artifact. Save a PDF of it in content/lead-magnet/. Write for a business owner, in plain English: no codes, IDs, file names or line numbers; start with what it means and what I do next. Save a Word copy (.docx) of each result.</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103</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welcome emails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Marketing plugin's email sequence to write three welcome emails for people who download the checklist: day 0 (here it is), day 3 (the item most people miss — the retirement number), day 7 (book a free chat). Follow the newsletter and sunny-voice skills → content/email/welcome-sequence.md. Then, using the Gmail connector, create the three emails as DRAFTS in my Gmail, addressed to me. Send nothing. Publish the three emails as an artifact: one tab per email, laid out as it will look in the inbox. Write for a business owner, in plain English: no codes, IDs, file names or line numbers; start with what it means and what I do next. Save a Word copy (.docx) of each result.</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104</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check it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fact-check and fin-compliance on the checklist text and the three emails. Show the issues in one table, with a fix for each. Once I agree, make the fixes in the files and in the Gmail drafts. Publish the table as an artifact, coloured by severity. Write for a business owner, in plain English: no codes, IDs, file names or line numbers; start with what it means and what I do next. Save a Word copy (.docx) of each result.</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105</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D — Claude Code: put it on the website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the checked Money Check-up Checklist to Horizon's website in web/site/index.html, as a new section before the reviews, in the site's style:</a:t>
            </a:r>
          </a:p>
          <a:p>
            <a:pPr>
              <a:lnSpc>
                <a:spcPct val="110000"/>
              </a:lnSpc>
              <a:defRPr sz="1700" b="0">
                <a:solidFill>
                  <a:srgbClr val="21201C"/>
                </a:solidFill>
                <a:latin typeface="Calibri"/>
              </a:defRPr>
            </a:pPr>
            <a:r>
              <a:t>the title and promise, what's inside, and an email box with a required consent tick box. Once a valid email is entered, show the ten items as tick boxes and a "Print or save as PDF" button. Add "Free checklist" to the menu. Change nothing else on the site. Then start my website if it is not running, and open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lead magnet earns an email address. Give real value first; the call to action comes last.</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checklist item do people most often miss, and why does it matter?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Read the day 3 email as a 55-year-old. Is anything unclear?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Explain each issue in one line: what is wrong, and the fix.</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checklist uses Horizon's colours and all ten items.</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makes one promise and ends with the full disclaimer.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emails, each with a subject under 50 characters, are drafts in your Gmail — nothing was 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email has one call to action, unsubscribe and the disclaimer.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shows no Critical or High issue.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checklist is on your copy of the website: email and consent first, then the ten tick boxes.</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vs Agent Teams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run agents in parallel, each with its own context. The difference is who they talk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108</a:t>
            </a:r>
          </a:p>
        </p:txBody>
      </p:sp>
      <p:sp>
        <p:nvSpPr>
          <p:cNvPr id="8" name="Rounded Rectangle 7"/>
          <p:cNvSpPr/>
          <p:nvPr/>
        </p:nvSpPr>
        <p:spPr>
          <a:xfrm>
            <a:off x="548640" y="2084831"/>
            <a:ext cx="5212080" cy="34747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21208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67712"/>
            <a:ext cx="2743200" cy="256032"/>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SUBAGENTS</a:t>
            </a:r>
          </a:p>
        </p:txBody>
      </p:sp>
      <p:sp>
        <p:nvSpPr>
          <p:cNvPr id="11" name="TextBox 10"/>
          <p:cNvSpPr txBox="1"/>
          <p:nvPr/>
        </p:nvSpPr>
        <p:spPr>
          <a:xfrm>
            <a:off x="777240" y="2523744"/>
            <a:ext cx="4754880" cy="256032"/>
          </a:xfrm>
          <a:prstGeom prst="rect">
            <a:avLst/>
          </a:prstGeom>
          <a:noFill/>
        </p:spPr>
        <p:txBody>
          <a:bodyPr wrap="square" lIns="18288" rIns="18288" tIns="9144" bIns="9144">
            <a:spAutoFit/>
          </a:bodyPr>
          <a:lstStyle/>
          <a:p>
            <a:pPr>
              <a:lnSpc>
                <a:spcPct val="100000"/>
              </a:lnSpc>
              <a:defRPr sz="1100" b="0">
                <a:solidFill>
                  <a:srgbClr val="6B6862"/>
                </a:solidFill>
                <a:latin typeface="Calibri"/>
              </a:defRPr>
            </a:pPr>
            <a:r>
              <a:t>Report back to one main agent</a:t>
            </a:r>
          </a:p>
        </p:txBody>
      </p:sp>
      <p:sp>
        <p:nvSpPr>
          <p:cNvPr id="12" name="Rounded Rectangle 11"/>
          <p:cNvSpPr/>
          <p:nvPr/>
        </p:nvSpPr>
        <p:spPr>
          <a:xfrm>
            <a:off x="2103120" y="2862072"/>
            <a:ext cx="210312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2999232"/>
            <a:ext cx="2103120" cy="292608"/>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Team Lead</a:t>
            </a:r>
          </a:p>
        </p:txBody>
      </p:sp>
      <p:cxnSp>
        <p:nvCxnSpPr>
          <p:cNvPr id="14" name="Connector 13"/>
          <p:cNvCxnSpPr/>
          <p:nvPr/>
        </p:nvCxnSpPr>
        <p:spPr>
          <a:xfrm flipH="1">
            <a:off x="1554479" y="3429000"/>
            <a:ext cx="1600201"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45819"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19"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17" name="TextBox 16"/>
          <p:cNvSpPr txBox="1"/>
          <p:nvPr/>
        </p:nvSpPr>
        <p:spPr>
          <a:xfrm>
            <a:off x="900683"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a brief</a:t>
            </a:r>
          </a:p>
        </p:txBody>
      </p:sp>
      <p:cxnSp>
        <p:nvCxnSpPr>
          <p:cNvPr id="18" name="Connector 17"/>
          <p:cNvCxnSpPr/>
          <p:nvPr/>
        </p:nvCxnSpPr>
        <p:spPr>
          <a:xfrm flipH="1">
            <a:off x="3154679" y="3429000"/>
            <a:ext cx="1"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446020"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4602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21" name="TextBox 20"/>
          <p:cNvSpPr txBox="1"/>
          <p:nvPr/>
        </p:nvSpPr>
        <p:spPr>
          <a:xfrm>
            <a:off x="2500884"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copy</a:t>
            </a:r>
          </a:p>
        </p:txBody>
      </p:sp>
      <p:cxnSp>
        <p:nvCxnSpPr>
          <p:cNvPr id="22" name="Connector 21"/>
          <p:cNvCxnSpPr/>
          <p:nvPr/>
        </p:nvCxnSpPr>
        <p:spPr>
          <a:xfrm>
            <a:off x="3154680" y="3429000"/>
            <a:ext cx="1600200"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046220"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4622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25" name="TextBox 24"/>
          <p:cNvSpPr txBox="1"/>
          <p:nvPr/>
        </p:nvSpPr>
        <p:spPr>
          <a:xfrm>
            <a:off x="4101083"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images</a:t>
            </a:r>
          </a:p>
        </p:txBody>
      </p:sp>
      <p:sp>
        <p:nvSpPr>
          <p:cNvPr id="26" name="TextBox 25"/>
          <p:cNvSpPr txBox="1"/>
          <p:nvPr/>
        </p:nvSpPr>
        <p:spPr>
          <a:xfrm>
            <a:off x="777240" y="4892040"/>
            <a:ext cx="4754880" cy="45720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t>Each works in its own context and returns only its result. They do not talk to each other.</a:t>
            </a:r>
          </a:p>
        </p:txBody>
      </p:sp>
      <p:sp>
        <p:nvSpPr>
          <p:cNvPr id="27" name="Rounded Rectangle 26"/>
          <p:cNvSpPr/>
          <p:nvPr/>
        </p:nvSpPr>
        <p:spPr>
          <a:xfrm>
            <a:off x="6035040" y="2084831"/>
            <a:ext cx="5577840" cy="34747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35040" y="2084831"/>
            <a:ext cx="55778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2267712"/>
            <a:ext cx="2743200" cy="256032"/>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AGENT TEAM</a:t>
            </a:r>
          </a:p>
        </p:txBody>
      </p:sp>
      <p:sp>
        <p:nvSpPr>
          <p:cNvPr id="30" name="TextBox 29"/>
          <p:cNvSpPr txBox="1"/>
          <p:nvPr/>
        </p:nvSpPr>
        <p:spPr>
          <a:xfrm>
            <a:off x="6263640" y="2523744"/>
            <a:ext cx="5120640" cy="256032"/>
          </a:xfrm>
          <a:prstGeom prst="rect">
            <a:avLst/>
          </a:prstGeom>
          <a:noFill/>
        </p:spPr>
        <p:txBody>
          <a:bodyPr wrap="square" lIns="18288" rIns="18288" tIns="9144" bIns="9144">
            <a:spAutoFit/>
          </a:bodyPr>
          <a:lstStyle/>
          <a:p>
            <a:pPr>
              <a:lnSpc>
                <a:spcPct val="100000"/>
              </a:lnSpc>
              <a:defRPr sz="1100" b="0">
                <a:solidFill>
                  <a:srgbClr val="6B6862"/>
                </a:solidFill>
                <a:latin typeface="Calibri"/>
              </a:defRPr>
            </a:pPr>
            <a:r>
              <a:t>A lead, a shared task list, teammates who talk</a:t>
            </a:r>
          </a:p>
        </p:txBody>
      </p:sp>
      <p:sp>
        <p:nvSpPr>
          <p:cNvPr id="31" name="Rounded Rectangle 30"/>
          <p:cNvSpPr/>
          <p:nvPr/>
        </p:nvSpPr>
        <p:spPr>
          <a:xfrm>
            <a:off x="6355079" y="2862072"/>
            <a:ext cx="182880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79" y="2999232"/>
            <a:ext cx="1828800" cy="292608"/>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Team Lead</a:t>
            </a:r>
          </a:p>
        </p:txBody>
      </p:sp>
      <p:sp>
        <p:nvSpPr>
          <p:cNvPr id="33" name="Rounded Rectangle 32"/>
          <p:cNvSpPr/>
          <p:nvPr/>
        </p:nvSpPr>
        <p:spPr>
          <a:xfrm>
            <a:off x="8915400" y="2816352"/>
            <a:ext cx="2377440" cy="658368"/>
          </a:xfrm>
          <a:prstGeom prst="roundRect">
            <a:avLst>
              <a:gd name="adj" fmla="val 6000"/>
            </a:avLst>
          </a:prstGeom>
          <a:solidFill>
            <a:srgbClr val="FAF9F5"/>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15400" y="2880360"/>
            <a:ext cx="2377440" cy="237744"/>
          </a:xfrm>
          <a:prstGeom prst="rect">
            <a:avLst/>
          </a:prstGeom>
          <a:noFill/>
        </p:spPr>
        <p:txBody>
          <a:bodyPr wrap="square" lIns="18288" rIns="18288" tIns="9144" bIns="9144">
            <a:spAutoFit/>
          </a:bodyPr>
          <a:lstStyle/>
          <a:p>
            <a:pPr algn="ctr">
              <a:lnSpc>
                <a:spcPct val="100000"/>
              </a:lnSpc>
              <a:defRPr sz="1000" b="1">
                <a:solidFill>
                  <a:srgbClr val="3A7D7B"/>
                </a:solidFill>
                <a:latin typeface="Calibri"/>
              </a:defRPr>
            </a:pPr>
            <a:r>
              <a:t>SHARED TASK LIST</a:t>
            </a:r>
          </a:p>
        </p:txBody>
      </p:sp>
      <p:sp>
        <p:nvSpPr>
          <p:cNvPr id="35" name="TextBox 34"/>
          <p:cNvSpPr txBox="1"/>
          <p:nvPr/>
        </p:nvSpPr>
        <p:spPr>
          <a:xfrm>
            <a:off x="8915400" y="3154679"/>
            <a:ext cx="2377440" cy="237744"/>
          </a:xfrm>
          <a:prstGeom prst="rect">
            <a:avLst/>
          </a:prstGeom>
          <a:noFill/>
        </p:spPr>
        <p:txBody>
          <a:bodyPr wrap="square" lIns="18288" rIns="18288" tIns="9144" bIns="9144">
            <a:spAutoFit/>
          </a:bodyPr>
          <a:lstStyle/>
          <a:p>
            <a:pPr algn="ctr">
              <a:lnSpc>
                <a:spcPct val="100000"/>
              </a:lnSpc>
              <a:defRPr sz="950" b="0">
                <a:solidFill>
                  <a:srgbClr val="6B6862"/>
                </a:solidFill>
                <a:latin typeface="Calibri"/>
              </a:defRPr>
            </a:pPr>
            <a:r>
              <a:t>pending · in progress · done</a:t>
            </a:r>
          </a:p>
        </p:txBody>
      </p:sp>
      <p:cxnSp>
        <p:nvCxnSpPr>
          <p:cNvPr id="36" name="Connector 35"/>
          <p:cNvCxnSpPr/>
          <p:nvPr/>
        </p:nvCxnSpPr>
        <p:spPr>
          <a:xfrm>
            <a:off x="8183879" y="3145536"/>
            <a:ext cx="731521"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7114031" y="3474720"/>
            <a:ext cx="2990089"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405371"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5371"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40" name="TextBox 39"/>
          <p:cNvSpPr txBox="1"/>
          <p:nvPr/>
        </p:nvSpPr>
        <p:spPr>
          <a:xfrm>
            <a:off x="6460235"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shares hooks</a:t>
            </a:r>
          </a:p>
        </p:txBody>
      </p:sp>
      <p:cxnSp>
        <p:nvCxnSpPr>
          <p:cNvPr id="41" name="Connector 40"/>
          <p:cNvCxnSpPr/>
          <p:nvPr/>
        </p:nvCxnSpPr>
        <p:spPr>
          <a:xfrm flipH="1">
            <a:off x="8823960" y="3474720"/>
            <a:ext cx="1280160"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115300"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1530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4" name="TextBox 43"/>
          <p:cNvSpPr txBox="1"/>
          <p:nvPr/>
        </p:nvSpPr>
        <p:spPr>
          <a:xfrm>
            <a:off x="8170164"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asks for copy</a:t>
            </a:r>
          </a:p>
        </p:txBody>
      </p:sp>
      <p:cxnSp>
        <p:nvCxnSpPr>
          <p:cNvPr id="45" name="Connector 44"/>
          <p:cNvCxnSpPr/>
          <p:nvPr/>
        </p:nvCxnSpPr>
        <p:spPr>
          <a:xfrm>
            <a:off x="7840979" y="4617720"/>
            <a:ext cx="256033" cy="0"/>
          </a:xfrm>
          <a:prstGeom prst="line">
            <a:avLst/>
          </a:prstGeom>
          <a:ln w="19050">
            <a:solidFill>
              <a:srgbClr val="5B4B8A"/>
            </a:solidFill>
            <a:prstDash val="dash"/>
            <a:tailEnd type="triangle"/>
            <a:headEnd type="triangle"/>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104120" y="3474720"/>
            <a:ext cx="429768"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9825228"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25228"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9" name="TextBox 48"/>
          <p:cNvSpPr txBox="1"/>
          <p:nvPr/>
        </p:nvSpPr>
        <p:spPr>
          <a:xfrm>
            <a:off x="9880092"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flags segments</a:t>
            </a:r>
          </a:p>
        </p:txBody>
      </p:sp>
      <p:cxnSp>
        <p:nvCxnSpPr>
          <p:cNvPr id="50" name="Connector 49"/>
          <p:cNvCxnSpPr/>
          <p:nvPr/>
        </p:nvCxnSpPr>
        <p:spPr>
          <a:xfrm>
            <a:off x="9550907" y="4617720"/>
            <a:ext cx="256033" cy="0"/>
          </a:xfrm>
          <a:prstGeom prst="line">
            <a:avLst/>
          </a:prstGeom>
          <a:ln w="19050">
            <a:solidFill>
              <a:srgbClr val="5B4B8A"/>
            </a:solidFill>
            <a:prstDash val="dash"/>
            <a:tailEnd type="triangle"/>
            <a:headEnd type="triangle"/>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263640" y="4892040"/>
            <a:ext cx="5120640" cy="45720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t>Teammates claim tasks and message each other directly — e.g. a reviewer sends fixes straight to the writer.</a:t>
            </a:r>
          </a:p>
        </p:txBody>
      </p:sp>
      <p:sp>
        <p:nvSpPr>
          <p:cNvPr id="52" name="Rounded Rectangle 51"/>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Use subagents when only the result matters. Use a team when the agents need to talk.</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Which Pattern When?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From the Claude Code documentation, applied to the team.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p>
        </p:txBody>
      </p:sp>
      <p:sp>
        <p:nvSpPr>
          <p:cNvPr id="10" name="TextBox 9"/>
          <p:cNvSpPr txBox="1"/>
          <p:nvPr/>
        </p:nvSpPr>
        <p:spPr>
          <a:xfrm>
            <a:off x="2962656"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SUBAGENTS</a:t>
            </a:r>
          </a:p>
        </p:txBody>
      </p:sp>
      <p:sp>
        <p:nvSpPr>
          <p:cNvPr id="11" name="TextBox 10"/>
          <p:cNvSpPr txBox="1"/>
          <p:nvPr/>
        </p:nvSpPr>
        <p:spPr>
          <a:xfrm>
            <a:off x="738835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 TEAM</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Talks to</a:t>
            </a:r>
          </a:p>
        </p:txBody>
      </p:sp>
      <p:sp>
        <p:nvSpPr>
          <p:cNvPr id="14" name="TextBox 13"/>
          <p:cNvSpPr txBox="1"/>
          <p:nvPr/>
        </p:nvSpPr>
        <p:spPr>
          <a:xfrm>
            <a:off x="2962656"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Returns a result to the Lead</a:t>
            </a:r>
          </a:p>
        </p:txBody>
      </p:sp>
      <p:sp>
        <p:nvSpPr>
          <p:cNvPr id="15" name="TextBox 14"/>
          <p:cNvSpPr txBox="1"/>
          <p:nvPr/>
        </p:nvSpPr>
        <p:spPr>
          <a:xfrm>
            <a:off x="7388352"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Teammates message each other directly</a:t>
            </a:r>
          </a:p>
        </p:txBody>
      </p:sp>
      <p:sp>
        <p:nvSpPr>
          <p:cNvPr id="16" name="TextBox 15"/>
          <p:cNvSpPr txBox="1"/>
          <p:nvPr/>
        </p:nvSpPr>
        <p:spPr>
          <a:xfrm>
            <a:off x="749808" y="3189427"/>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Coordination</a:t>
            </a:r>
          </a:p>
        </p:txBody>
      </p:sp>
      <p:sp>
        <p:nvSpPr>
          <p:cNvPr id="17" name="TextBox 16"/>
          <p:cNvSpPr txBox="1"/>
          <p:nvPr/>
        </p:nvSpPr>
        <p:spPr>
          <a:xfrm>
            <a:off x="2962656"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Lead manages everything</a:t>
            </a:r>
          </a:p>
        </p:txBody>
      </p:sp>
      <p:sp>
        <p:nvSpPr>
          <p:cNvPr id="18" name="TextBox 17"/>
          <p:cNvSpPr txBox="1"/>
          <p:nvPr/>
        </p:nvSpPr>
        <p:spPr>
          <a:xfrm>
            <a:off x="7388352"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shared task list; teammates claim tasks</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Best for</a:t>
            </a:r>
          </a:p>
        </p:txBody>
      </p:sp>
      <p:sp>
        <p:nvSpPr>
          <p:cNvPr id="21" name="TextBox 20"/>
          <p:cNvSpPr txBox="1"/>
          <p:nvPr/>
        </p:nvSpPr>
        <p:spPr>
          <a:xfrm>
            <a:off x="2962656"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analysis, one-off reviews</a:t>
            </a:r>
          </a:p>
        </p:txBody>
      </p:sp>
      <p:sp>
        <p:nvSpPr>
          <p:cNvPr id="22" name="TextBox 21"/>
          <p:cNvSpPr txBox="1"/>
          <p:nvPr/>
        </p:nvSpPr>
        <p:spPr>
          <a:xfrm>
            <a:off x="7388352"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Copy ↔ design ↔ review loops</a:t>
            </a:r>
          </a:p>
        </p:txBody>
      </p:sp>
      <p:sp>
        <p:nvSpPr>
          <p:cNvPr id="23" name="TextBox 22"/>
          <p:cNvSpPr txBox="1"/>
          <p:nvPr/>
        </p:nvSpPr>
        <p:spPr>
          <a:xfrm>
            <a:off x="749808" y="4447641"/>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Cost</a:t>
            </a:r>
          </a:p>
        </p:txBody>
      </p:sp>
      <p:sp>
        <p:nvSpPr>
          <p:cNvPr id="24" name="TextBox 23"/>
          <p:cNvSpPr txBox="1"/>
          <p:nvPr/>
        </p:nvSpPr>
        <p:spPr>
          <a:xfrm>
            <a:off x="2962656"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Lower: results are summarised back</a:t>
            </a:r>
          </a:p>
        </p:txBody>
      </p:sp>
      <p:sp>
        <p:nvSpPr>
          <p:cNvPr id="25" name="TextBox 24"/>
          <p:cNvSpPr txBox="1"/>
          <p:nvPr/>
        </p:nvSpPr>
        <p:spPr>
          <a:xfrm>
            <a:off x="7388352"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Higher: every teammate is its own Claude session</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Campaigns</a:t>
            </a:r>
          </a:p>
        </p:txBody>
      </p:sp>
      <p:sp>
        <p:nvSpPr>
          <p:cNvPr id="28" name="TextBox 27"/>
          <p:cNvSpPr txBox="1"/>
          <p:nvPr/>
        </p:nvSpPr>
        <p:spPr>
          <a:xfrm>
            <a:off x="2962656"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5 (and sub-agents in Claude: Labs 6, 15)</a:t>
            </a:r>
          </a:p>
        </p:txBody>
      </p:sp>
      <p:sp>
        <p:nvSpPr>
          <p:cNvPr id="29" name="TextBox 28"/>
          <p:cNvSpPr txBox="1"/>
          <p:nvPr/>
        </p:nvSpPr>
        <p:spPr>
          <a:xfrm>
            <a:off x="7388352"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10, 11, 12</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Agent teams are experimental; your studio folder already has them switched on.</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AGENT TEAMS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Running an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 Claude Code. Describe the team in plain words.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110</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Already on</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Your studio folder switches agent teams on — nothing to set.</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Name the agent types</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"Spawn teammates using the agent types content-creator and creative-designer."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Watch</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 ↓ and Enter open a teammate; Ctrl+T shows the task list.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Steer</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Message any teammate directly; tell the Lead to wait.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Shut down</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"Ask the teammates to shut down" when done.</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Teammates load CLAUDE.md, skills and connectors — but not the Lead's conversation. One team per session.</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HUMAN IN THE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Human in the Loop, Enforced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rule in a prompt persuades. The publisher kit builds a gate that holds.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Only people approve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You type "approved &lt;id&gt; by &lt;your name&gt;". The gate reads your own message — an agent cannot write one.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approved words go out</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approval stores a hash. Edit one word and publish --live refuses until a person approves again.</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 hook stops agents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gate blocks agents from approving, editing the approval records, or publishing unapproved items.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THE GATE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the Gate Works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Already in your studio folder. You never run it — you just type.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112</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Submit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Lead puts a checked piece up for review.</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read</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post, the image, the email or the video.</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type</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"approved &lt;id&gt; by &lt;your name&gt;" — or "changes &lt;id&gt;: what to fix".</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Recorded</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Your name, the time and a fingerprint of the exact words.</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Publish</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Only approved, unchanged pieces. Edit one word and it needs you again.</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The gate is a hook: it reads your own message, and blocks any agent that tries to approve or publish on its own.</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DISTRIBUTION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Publishing APIs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publish.mjs is a dry run by default. Tokens live only in .env.</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CHANNEL</a:t>
            </a:r>
          </a:p>
        </p:txBody>
      </p:sp>
      <p:sp>
        <p:nvSpPr>
          <p:cNvPr id="10" name="TextBox 9"/>
          <p:cNvSpPr txBox="1"/>
          <p:nvPr/>
        </p:nvSpPr>
        <p:spPr>
          <a:xfrm>
            <a:off x="2520086" y="2203703"/>
            <a:ext cx="481523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ENDPOINT</a:t>
            </a:r>
          </a:p>
        </p:txBody>
      </p:sp>
      <p:sp>
        <p:nvSpPr>
          <p:cNvPr id="11" name="TextBox 10"/>
          <p:cNvSpPr txBox="1"/>
          <p:nvPr/>
        </p:nvSpPr>
        <p:spPr>
          <a:xfrm>
            <a:off x="7609636"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PERMISSION</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LinkedIn</a:t>
            </a:r>
          </a:p>
        </p:txBody>
      </p:sp>
      <p:sp>
        <p:nvSpPr>
          <p:cNvPr id="14" name="TextBox 13"/>
          <p:cNvSpPr txBox="1"/>
          <p:nvPr/>
        </p:nvSpPr>
        <p:spPr>
          <a:xfrm>
            <a:off x="2520086" y="2560320"/>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api.linkedin.com/rest/posts  (LinkedIn-Version: YYYYMM)</a:t>
            </a:r>
          </a:p>
        </p:txBody>
      </p:sp>
      <p:sp>
        <p:nvSpPr>
          <p:cNvPr id="15" name="TextBox 14"/>
          <p:cNvSpPr txBox="1"/>
          <p:nvPr/>
        </p:nvSpPr>
        <p:spPr>
          <a:xfrm>
            <a:off x="7609636" y="2560320"/>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w_member_social — your own profile</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Facebook</a:t>
            </a:r>
          </a:p>
        </p:txBody>
      </p:sp>
      <p:sp>
        <p:nvSpPr>
          <p:cNvPr id="17" name="TextBox 16"/>
          <p:cNvSpPr txBox="1"/>
          <p:nvPr/>
        </p:nvSpPr>
        <p:spPr>
          <a:xfrm>
            <a:off x="2520086" y="3273552"/>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graph.facebook.com/&lt;version&gt;/&lt;page-id&gt;/feed</a:t>
            </a:r>
          </a:p>
        </p:txBody>
      </p:sp>
      <p:sp>
        <p:nvSpPr>
          <p:cNvPr id="18" name="TextBox 17"/>
          <p:cNvSpPr txBox="1"/>
          <p:nvPr/>
        </p:nvSpPr>
        <p:spPr>
          <a:xfrm>
            <a:off x="7609636" y="3273552"/>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Page token: pages_manage_posts</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YouTube</a:t>
            </a:r>
          </a:p>
        </p:txBody>
      </p:sp>
      <p:sp>
        <p:nvSpPr>
          <p:cNvPr id="21" name="TextBox 20"/>
          <p:cNvSpPr txBox="1"/>
          <p:nvPr/>
        </p:nvSpPr>
        <p:spPr>
          <a:xfrm>
            <a:off x="2520086" y="3986784"/>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Resumable upload to youtube/v3/videos, privacy private</a:t>
            </a:r>
          </a:p>
        </p:txBody>
      </p:sp>
      <p:sp>
        <p:nvSpPr>
          <p:cNvPr id="22" name="TextBox 21"/>
          <p:cNvSpPr txBox="1"/>
          <p:nvPr/>
        </p:nvSpPr>
        <p:spPr>
          <a:xfrm>
            <a:off x="7609636" y="3986784"/>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youtube.upload; unaudited projects stay private</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Newsletter</a:t>
            </a:r>
          </a:p>
        </p:txBody>
      </p:sp>
      <p:sp>
        <p:nvSpPr>
          <p:cNvPr id="24" name="TextBox 23"/>
          <p:cNvSpPr txBox="1"/>
          <p:nvPr/>
        </p:nvSpPr>
        <p:spPr>
          <a:xfrm>
            <a:off x="2520086" y="4700016"/>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API — HTML + text files, then Gmail drafts</a:t>
            </a:r>
          </a:p>
        </p:txBody>
      </p:sp>
      <p:sp>
        <p:nvSpPr>
          <p:cNvPr id="25" name="TextBox 24"/>
          <p:cNvSpPr txBox="1"/>
          <p:nvPr/>
        </p:nvSpPr>
        <p:spPr>
          <a:xfrm>
            <a:off x="7609636" y="4700016"/>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Consent = yes, unsubscribed = no</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No accounts? Every lab works in dry-run mode: you see the exact request that would be sent.</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10, a demo: one LinkedIn and one Facebook post, each with a visual.</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brief and the calendar; assigns the posts.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posts with hooks, UTM links, disclaimers.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Creative Designer</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image per post, with alt text.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review</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fact-check and fin-compliance; fixes go back.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Type "approved &lt;id&gt; by &lt;name&gt;"; dry run, then go.</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10</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Week 1 of the campaign starts Monday. As a demo, one LinkedIn post and one Facebook post, each with a visual — and Rachel's one rule: nothing goes out unless a person approved that exact version.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two posts with images, reviewed, approved by you and posted by you (or, optionally, through the API)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 LinkedIn, Facebook</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publisher kit and its hook · an agent team: creator, designer, Lead · teammates message each other · human approval → you post</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10".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Get the latest kit  </a:t>
            </a:r>
            <a:r>
              <a:rPr sz="1550">
                <a:solidFill>
                  <a:srgbClr val="6B6862"/>
                </a:solidFill>
                <a:latin typeface="Calibri"/>
              </a:rPr>
              <a:t>Copy and paste Prompt A. Claude downloads the newest course files into your folder and starts your website. Your own work stays as it is.</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Test the gate  </a:t>
            </a:r>
            <a:r>
              <a:rPr sz="1550">
                <a:solidFill>
                  <a:srgbClr val="6B6862"/>
                </a:solidFill>
                <a:latin typeface="Calibri"/>
              </a:rPr>
              <a:t>Ask Claude to approve a post itself. The gate must block it.</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Start the team  </a:t>
            </a:r>
            <a:r>
              <a:rPr sz="1550">
                <a:solidFill>
                  <a:srgbClr val="6B6862"/>
                </a:solidFill>
                <a:latin typeface="Calibri"/>
              </a:rPr>
              <a:t>After Claude says the kit is up to date, copy and paste Prompt B. The Lead starts two teammates and tells you as each one starts and finishes.</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Watch them talk  </a:t>
            </a:r>
            <a:r>
              <a:rPr sz="1550">
                <a:solidFill>
                  <a:srgbClr val="6B6862"/>
                </a:solidFill>
                <a:latin typeface="Calibri"/>
              </a:rPr>
              <a:t>The review page opens with a Team chat: the designer asking the creator for each hook, and the Lead's fixes.</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9" name="TextBox 8"/>
          <p:cNvSpPr txBox="1"/>
          <p:nvPr/>
        </p:nvSpPr>
        <p:spPr>
          <a:xfrm>
            <a:off x="1078992" y="208483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Approve as a person  </a:t>
            </a:r>
            <a:r>
              <a:rPr sz="1550">
                <a:solidFill>
                  <a:srgbClr val="6B6862"/>
                </a:solidFill>
                <a:latin typeface="Calibri"/>
              </a:rPr>
              <a:t>Review in the artifact (or open the review email and click its link). Click Approve or Request changes on each post, then Copy in the bottom bar and paste into the chat.</a:t>
            </a:r>
          </a:p>
        </p:txBody>
      </p:sp>
      <p:sp>
        <p:nvSpPr>
          <p:cNvPr id="10" name="Oval 9"/>
          <p:cNvSpPr/>
          <p:nvPr/>
        </p:nvSpPr>
        <p:spPr>
          <a:xfrm>
            <a:off x="548640" y="299008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11" name="TextBox 10"/>
          <p:cNvSpPr txBox="1"/>
          <p:nvPr/>
        </p:nvSpPr>
        <p:spPr>
          <a:xfrm>
            <a:off x="1078992" y="295351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Get ready to post  </a:t>
            </a:r>
            <a:r>
              <a:rPr sz="1550">
                <a:solidFill>
                  <a:srgbClr val="6B6862"/>
                </a:solidFill>
                <a:latin typeface="Calibri"/>
              </a:rPr>
              <a:t>After you have approved the posts, copy and paste Prompt C. Each post appears with a Copy button for its text, and the folder with the two images opens on your computer.</a:t>
            </a:r>
          </a:p>
        </p:txBody>
      </p:sp>
      <p:sp>
        <p:nvSpPr>
          <p:cNvPr id="12" name="Oval 11"/>
          <p:cNvSpPr/>
          <p:nvPr/>
        </p:nvSpPr>
        <p:spPr>
          <a:xfrm>
            <a:off x="548640" y="385876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8</a:t>
            </a:r>
          </a:p>
        </p:txBody>
      </p:sp>
      <p:sp>
        <p:nvSpPr>
          <p:cNvPr id="13" name="TextBox 12"/>
          <p:cNvSpPr txBox="1"/>
          <p:nvPr/>
        </p:nvSpPr>
        <p:spPr>
          <a:xfrm>
            <a:off x="1078992" y="382219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Post it yourself  </a:t>
            </a:r>
            <a:r>
              <a:rPr sz="1550">
                <a:solidFill>
                  <a:srgbClr val="6B6862"/>
                </a:solidFill>
                <a:latin typeface="Calibri"/>
              </a:rPr>
              <a:t>Paste the text, add the image, Post — on LinkedIn and a test Facebook Page. Or stop at the preview.</a:t>
            </a:r>
          </a:p>
        </p:txBody>
      </p:sp>
      <p:sp>
        <p:nvSpPr>
          <p:cNvPr id="14" name="Oval 13"/>
          <p:cNvSpPr/>
          <p:nvPr/>
        </p:nvSpPr>
        <p:spPr>
          <a:xfrm>
            <a:off x="548640" y="472744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9</a:t>
            </a:r>
          </a:p>
        </p:txBody>
      </p:sp>
      <p:sp>
        <p:nvSpPr>
          <p:cNvPr id="15" name="TextBox 14"/>
          <p:cNvSpPr txBox="1"/>
          <p:nvPr/>
        </p:nvSpPr>
        <p:spPr>
          <a:xfrm>
            <a:off x="1078992" y="469087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Optional: post through the apps  </a:t>
            </a:r>
            <a:r>
              <a:rPr sz="1550">
                <a:solidFill>
                  <a:srgbClr val="6B6862"/>
                </a:solidFill>
                <a:latin typeface="Calibri"/>
              </a:rPr>
              <a:t>Follow "Optional: post through LinkedIn and Facebook" in this lab's README.</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118</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get the latest kit</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Bring this studio up to date with the course kit. Download each file below from https://raw.githubusercontent.com/tertiarycourses/TGS-2023036153-Multi-AI-Agents-Workflow-for-Content-Creation/main/labs_claude/horizon-studio/ into the same place here, replacing the old copy:</a:t>
            </a:r>
          </a:p>
          <a:p>
            <a:pPr>
              <a:lnSpc>
                <a:spcPct val="110000"/>
              </a:lnSpc>
              <a:defRPr sz="1700" b="0">
                <a:solidFill>
                  <a:srgbClr val="21201C"/>
                </a:solidFill>
                <a:latin typeface="Calibri"/>
              </a:defRPr>
            </a:pPr>
            <a:r>
              <a:t>.claude/settings.json; scripts/approve-chat.mjs, gate-hook.mjs, lib.mjs, publish.mjs, serve-site.mjs and submit.mjs; data/publishing-spec.md, channel-formats.md, connect-accounts.md, env.example, turning-55-brief.md and turning-55-draft.md. Touch nothing else. Then add these rules to CLAUDE.md if they are missing: every post links to http://localhost:8080/ with UTM tags, never a claude.ai artifact link; a person approves by typing "approved &lt;id&gt; by &lt;name&gt;" in the chat; never ask me to run a command. Then start my website and tell me in one line that the kit is up to date.</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119</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social team</a:t>
            </a:r>
          </a:p>
        </p:txBody>
      </p:sp>
      <p:sp>
        <p:nvSpPr>
          <p:cNvPr id="9" name="TextBox 8"/>
          <p:cNvSpPr txBox="1"/>
          <p:nvPr/>
        </p:nvSpPr>
        <p:spPr>
          <a:xfrm>
            <a:off x="822960" y="2313432"/>
            <a:ext cx="10515600" cy="3694874"/>
          </a:xfrm>
          <a:prstGeom prst="rect">
            <a:avLst/>
          </a:prstGeom>
          <a:noFill/>
        </p:spPr>
        <p:txBody>
          <a:bodyPr wrap="square" lIns="18288" rIns="18288" tIns="9144" bIns="9144">
            <a:spAutoFit/>
          </a:bodyPr>
          <a:lstStyle/>
          <a:p>
            <a:pPr>
              <a:lnSpc>
                <a:spcPct val="110000"/>
              </a:lnSpc>
              <a:defRPr sz="1250" b="0">
                <a:solidFill>
                  <a:srgbClr val="21201C"/>
                </a:solidFill>
                <a:latin typeface="Calibri"/>
              </a:defRPr>
            </a:pPr>
            <a:r>
              <a:t>Create an agent team for Week 1 social from data/social-brief.md and strategy/calendar.csv. Spawn two teammates using the agent types content-creator and creative-designer; you are the Lead.</a:t>
            </a:r>
          </a:p>
          <a:p>
            <a:pPr>
              <a:lnSpc>
                <a:spcPct val="110000"/>
              </a:lnSpc>
              <a:defRPr sz="1250" b="0">
                <a:solidFill>
                  <a:srgbClr val="21201C"/>
                </a:solidFill>
                <a:latin typeface="Calibri"/>
              </a:defRPr>
            </a:pPr>
            <a:r>
              <a:t>- content-creator: 1 LinkedIn + 1 Facebook post with linkedin-post, facebook-post and copywriting, one file each in content/social/week-01/, with the frontmatter in data/publishing-spec.md. Each post links to my website, http://localhost:8080/, with UTM tags.</a:t>
            </a:r>
          </a:p>
          <a:p>
            <a:pPr>
              <a:lnSpc>
                <a:spcPct val="110000"/>
              </a:lnSpc>
              <a:defRPr sz="1250" b="0">
                <a:solidFill>
                  <a:srgbClr val="21201C"/>
                </a:solidFill>
                <a:latin typeface="Calibri"/>
              </a:defRPr>
            </a:pPr>
            <a:r>
              <a:t>- creative-designer: one image per post (a rendered card in Horizon colours: LinkedIn 1200 x 627, Facebook 1080 x 1080) with alt text; message the creator for each post's hook before designing. Save each as a PNG beside its post and fill in the post's image and alt lines.</a:t>
            </a:r>
          </a:p>
          <a:p>
            <a:pPr>
              <a:lnSpc>
                <a:spcPct val="110000"/>
              </a:lnSpc>
              <a:defRPr sz="1250" b="0">
                <a:solidFill>
                  <a:srgbClr val="21201C"/>
                </a:solidFill>
                <a:latin typeface="Calibri"/>
              </a:defRPr>
            </a:pPr>
            <a:r>
              <a:t>- You: fact-check and fin-compliance on every post and image; message fixes to the teammate who owns it. Before you start, ask me how I will review: in the artifact, or by email (then ask for the approver's address). When a post passes, submit it for review with scripts/submit.mjs. Publish the two posts as an artifact. At the top, a Team chat: the messages the teammates and you sent each other, in order, each with who sent it. Then each post as it will look in the feed, with its image and alt text; under each post put two working buttons (JavaScript): Approve turns the card green; Request changes opens a box for my note. A bar at the bottom asks my name once, builds the exact lines to paste in the chat ("approved &lt;id&gt; by &lt;name&gt;", "changes &lt;id&gt;: &lt;note&gt;") and has a Copy button that says "Copied - now paste it in the chat". Keep the lines on screen in case copying is blocked. If I chose email, send ONE review email to the approver with Gmail: the artifact link and what passed the checks. Send nothing else; publish nothing. Write for a business owner, in plain English: no codes, IDs, file names or line numbers; start with what it means and what I do next. Save a Word copy (.docx) of each result.</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120</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ready to post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For each Week 1 post approved in review/approvals.csv, publish a "ready to post" artifact: the post text with a Copy button, its image, and the steps to post it by hand on LinkedIn or our Facebook Page. Then open the folder with the two images on my computer. Publish nothing yourself.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Subagents report to one boss; teammates also talk to each other. A designer who can ask the writer for the hook makes a better image.</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121</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post do you expect to do best,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Lead send back to the writer,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Is anything here not ready to post? Explain in plain English.</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122</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gate stopped Claude from approving.</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teammates ran; the Lead said when each started and finished.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Team chat shows the designer and the creator messaging each other.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posts with images from the designer, alt text and UTM links.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reviewed in the artifact or by email and pasted the approval in the chat;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posted the approved text and image yourself (or, optionally, through the API after you said go).</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3</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11: three specialists, one email and one page, consent first.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issue and the landing-page copy.</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Website Designer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checklist page, page-qa, then a Claude artifact.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Growth Analyst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Recipients by consent: 31 of 40.</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everything; the build waits for you.</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Drafts</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Gmail drafts — one to you to test. Nothing sent.</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CONSENT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Consent Decides Who Gets Mail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PDPA, applied by an agent that counts.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124</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Opt-in only</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consent = yes and unsubscribed = no. Everyone else goes to excluded.csv with a reason.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Every email carries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unsubscribe link, Horizon's address and the short disclaimer.</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page collects little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Name, email, a required consent box, a separate unticked newsletter opt-in.</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Sunny Sunday email books chats most cheaply. November's issue promotes a new landing page for the free checklist — and must reach only the 31 people who opted in.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November newsletter, its recipient list, the landing page published, and Gmail drafts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 Claude artifact,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creator writes, website designer builds the lead-magnet page, analyst filters by consent, the Lead checks · drafts only</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11".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campaign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words  </a:t>
            </a:r>
            <a:r>
              <a:rPr sz="1300">
                <a:solidFill>
                  <a:srgbClr val="6B6862"/>
                </a:solidFill>
                <a:latin typeface="Calibri"/>
              </a:rPr>
              <a:t>Review the issue in the artifact (or the review email's link). Click Approve or Request changes, then Copy and paste into the chat.</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the page  </a:t>
            </a:r>
            <a:r>
              <a:rPr sz="1300">
                <a:solidFill>
                  <a:srgbClr val="6B6862"/>
                </a:solidFill>
                <a:latin typeface="Calibri"/>
              </a:rPr>
              <a:t>The website designer runs page-qa and publishes web/checklist/ as a Claude artifact.</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list  </a:t>
            </a:r>
            <a:r>
              <a:rPr sz="1300">
                <a:solidFill>
                  <a:srgbClr val="6B6862"/>
                </a:solidFill>
                <a:latin typeface="Calibri"/>
              </a:rPr>
              <a:t>Only people with consent = yes and unsubscribed = no are on the recipient list.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drafts  </a:t>
            </a:r>
            <a:r>
              <a:rPr sz="1300">
                <a:solidFill>
                  <a:srgbClr val="6B6862"/>
                </a:solidFill>
                <a:latin typeface="Calibri"/>
              </a:rPr>
              <a:t>After the page is published and the list checked, copy and paste Prompt B.</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Send one test  </a:t>
            </a:r>
            <a:r>
              <a:rPr sz="1300">
                <a:solidFill>
                  <a:srgbClr val="6B6862"/>
                </a:solidFill>
                <a:latin typeface="Calibri"/>
              </a:rPr>
              <a:t>Send only the draft addressed to yourself, and read it on your phone.</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127</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newsletter team</a:t>
            </a:r>
          </a:p>
        </p:txBody>
      </p:sp>
      <p:sp>
        <p:nvSpPr>
          <p:cNvPr id="9" name="TextBox 8"/>
          <p:cNvSpPr txBox="1"/>
          <p:nvPr/>
        </p:nvSpPr>
        <p:spPr>
          <a:xfrm>
            <a:off x="822960" y="2313432"/>
            <a:ext cx="10515600" cy="3822700"/>
          </a:xfrm>
          <a:prstGeom prst="rect">
            <a:avLst/>
          </a:prstGeom>
          <a:noFill/>
        </p:spPr>
        <p:txBody>
          <a:bodyPr wrap="square" lIns="18288" rIns="18288" tIns="9144" bIns="9144">
            <a:spAutoFit/>
          </a:bodyPr>
          <a:lstStyle/>
          <a:p>
            <a:pPr>
              <a:lnSpc>
                <a:spcPct val="110000"/>
              </a:lnSpc>
              <a:defRPr sz="1380" b="0">
                <a:solidFill>
                  <a:srgbClr val="21201C"/>
                </a:solidFill>
                <a:latin typeface="Calibri"/>
              </a:defRPr>
            </a:pPr>
            <a:r>
              <a:t>Create an agent team for the November Sunny Sunday email (data/newsletter-brief.md, data/newsletter-spec.md) and its landing page (data/landing-page-brief.md). Spawn three teammates:</a:t>
            </a:r>
          </a:p>
          <a:p>
            <a:pPr>
              <a:lnSpc>
                <a:spcPct val="110000"/>
              </a:lnSpc>
              <a:defRPr sz="1380" b="0">
                <a:solidFill>
                  <a:srgbClr val="21201C"/>
                </a:solidFill>
                <a:latin typeface="Calibri"/>
              </a:defRPr>
            </a:pPr>
            <a:r>
              <a:t>content-creator, website-designer and growth-analyst.</a:t>
            </a:r>
          </a:p>
          <a:p>
            <a:pPr>
              <a:lnSpc>
                <a:spcPct val="110000"/>
              </a:lnSpc>
              <a:defRPr sz="1380" b="0">
                <a:solidFill>
                  <a:srgbClr val="21201C"/>
                </a:solidFill>
                <a:latin typeface="Calibri"/>
              </a:defRPr>
            </a:pPr>
            <a:r>
              <a:t>- content-creator: issue.md (id nl-2026-11) with newsletter, and the landing-page copy.</a:t>
            </a:r>
          </a:p>
          <a:p>
            <a:pPr>
              <a:lnSpc>
                <a:spcPct val="110000"/>
              </a:lnSpc>
              <a:defRPr sz="1380" b="0">
                <a:solidFill>
                  <a:srgbClr val="21201C"/>
                </a:solidFill>
                <a:latin typeface="Calibri"/>
              </a:defRPr>
            </a:pPr>
            <a:r>
              <a:t>- website-designer: web/checklist/index.html with lead-magnet, web-design and landing-page from the approved copy; page-qa.</a:t>
            </a:r>
          </a:p>
          <a:p>
            <a:pPr>
              <a:lnSpc>
                <a:spcPct val="110000"/>
              </a:lnSpc>
              <a:defRPr sz="1380" b="0">
                <a:solidFill>
                  <a:srgbClr val="21201C"/>
                </a:solidFill>
                <a:latin typeface="Calibri"/>
              </a:defRPr>
            </a:pPr>
            <a:r>
              <a:t>- growth-analyst: recipients.csv and excluded.csv from data/subscribers.csv. Before you start, ask me how I will review: in the artifact, or by email (then ask for the approver's address). You check everything, then submit nl-2026-11 and publish the issue as an artifact, laid out as the email, with the counts of recipients and excluded, and two working buttons (JavaScript): Approve turns the page green; Request changes opens a box for my note. A bar at the bottom asks my name once, builds the exact line to paste in the chat ("approved &lt;id&gt; by &lt;name&gt;" or "changes &lt;id&gt;: &lt;note&gt;") and has a Copy button that says "Copied - now paste it in the chat". Keep the line on screen in case copying is blocked. If I chose email, send ONE review email to the approver with Gmail: the artifact link and what passed the checks. Only after I approve, build newsletter.html and .txt and publish the page as an artifact. Write for a business owner, in plain English: no codes, IDs, file names or line numbers; start with what it means and what I do next. Save a Word copy (.docx) of each result.</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128</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Gmail drafts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Using the Gmail connector, create a DRAFT of newsletter.html for each address in recipients.csv, plus one draft addressed to me only. Send nothing. Publish a report as an artifact: how many drafts, how many people were excluded, and why, in a table.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Consent decides who gets mail — not the agent and not the deadline. Marketing to people who did not opt in breaks the PDPA.</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129</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 email in three sentences. What do we want readers to do?</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was left off the mailing list,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landing-page check look at, and did it pass?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specialists worked on the campaign; the Lead checked all.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reviewed nl-2026-11 in the artifact or by email and approved it in the chat before the build.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landing page passed page-qa and is published.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recipient list holds 31 people; 9 are excluded, with reasons.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email has unsubscribe, address and disclaimer.</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Drafts only — nothing was sent to the list.</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4</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12: the team writes and designs; you approve twice.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Strategist and Creator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angle, then 5–7 scenes with words on screen and a description with chapters and an AI disclosure.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Creative Designer</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Storyboard, thumbnail, then the render with video-render — ffmpeg, 1920×1080, under 90 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Upload privately</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Approve the words, then the finished video. It uploads as private; a person makes it public.</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132</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Pre-retirees say they would rather watch than read. Rachel wants the first 'Money in Plain English' video, uploaded privately until she has watched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script, storyboard and thumbnail, the video, and a private YouTube upload (or dry run)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render, upload)</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strategist angle · creator script · designer storyboard, thumbnail and render · approve twice · private upload</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133</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Script it as a team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script  </a:t>
            </a:r>
            <a:r>
              <a:rPr sz="1300">
                <a:solidFill>
                  <a:srgbClr val="6B6862"/>
                </a:solidFill>
                <a:latin typeface="Calibri"/>
              </a:rPr>
              <a:t>Read the scenes, title and description in the storyboard artifact; type: approved yt-ep01-script by &lt;your name&gt;.</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Render it  </a:t>
            </a:r>
            <a:r>
              <a:rPr sz="1300">
                <a:solidFill>
                  <a:srgbClr val="6B6862"/>
                </a:solidFill>
                <a:latin typeface="Calibri"/>
              </a:rPr>
              <a:t>After you approve the script, copy and paste Prompt B. The designer runs video-render.</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video  </a:t>
            </a:r>
            <a:r>
              <a:rPr sz="1300">
                <a:solidFill>
                  <a:srgbClr val="6B6862"/>
                </a:solidFill>
                <a:latin typeface="Calibri"/>
              </a:rPr>
              <a:t>Ask the Lead to submit the video, watch ep01.mp4 to the end, then approve yt-ep01.</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Upload  </a:t>
            </a:r>
            <a:r>
              <a:rPr sz="1300">
                <a:solidFill>
                  <a:srgbClr val="6B6862"/>
                </a:solidFill>
                <a:latin typeface="Calibri"/>
              </a:rPr>
              <a:t>After you approve the video, copy and paste Prompt C. It goes up as private.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Disclose  </a:t>
            </a:r>
            <a:r>
              <a:rPr sz="1300">
                <a:solidFill>
                  <a:srgbClr val="6B6862"/>
                </a:solidFill>
                <a:latin typeface="Calibri"/>
              </a:rPr>
              <a:t>In YouTube Studio, answer the altered or synthetic content question before making it public.</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134</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video team</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Create an agent team for YouTube episode 1 from data/youtube-brief.md. Spawn three teammates:</a:t>
            </a:r>
          </a:p>
          <a:p>
            <a:pPr>
              <a:lnSpc>
                <a:spcPct val="110000"/>
              </a:lnSpc>
              <a:defRPr sz="1700" b="0">
                <a:solidFill>
                  <a:srgbClr val="21201C"/>
                </a:solidFill>
                <a:latin typeface="Calibri"/>
              </a:defRPr>
            </a:pPr>
            <a:r>
              <a:t>growth-strategist (the angle and hook), content-creator (content/video/ep01/scenes.json, 5-7 scenes, and ep01.md with title, tags, description, chapters and the AI disclosure) and creative-designer (a storyboard of the scenes and a thumbnail, using brand-visuals). You fact-check and fin-compliance the script, then submit it as yt-ep01-script. Publish nothing. Publish the storyboard as an artifact: one frame per scene with its words, visual and timing, and the thumbnail. Write for a business owner, in plain English: no codes, IDs, file names or line numbers; start with what it means and what I do next. Save a Word copy (.docx) of each result.</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135</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PROMPTS B and C — Claude Code: render and upload</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PROMPT B</a:t>
            </a:r>
          </a:p>
          <a:p>
            <a:pPr>
              <a:lnSpc>
                <a:spcPct val="110000"/>
              </a:lnSpc>
              <a:defRPr sz="1700" b="0">
                <a:solidFill>
                  <a:srgbClr val="21201C"/>
                </a:solidFill>
                <a:latin typeface="Calibri"/>
              </a:defRPr>
            </a:pPr>
            <a:r>
              <a:t>Use the creative-designer subagent with video-render on the approved scenes.json → content/video/ep01/ep01.mp4 (data/video-spec.md). Check its length and size. Do not change approved words. Publish the checks as an artifact: length, size, resolution and every scene, PASS or FAIL.</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PROMPT C</a:t>
            </a:r>
          </a:p>
          <a:p>
            <a:pPr>
              <a:lnSpc>
                <a:spcPct val="110000"/>
              </a:lnSpc>
              <a:defRPr sz="1700" b="0">
                <a:solidFill>
                  <a:srgbClr val="21201C"/>
                </a:solidFill>
                <a:latin typeface="Calibri"/>
              </a:defRPr>
            </a:pPr>
            <a:r>
              <a:t>Do a dry run of the YouTube upload for yt-ep01 (scripts/publish.mjs). If I say "go", upload it for real — as PRIVATE. Publish the request, then the YouTube Studio link, as an artifact.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Approve twice: once for the words, once for the finished video. Rendering can break what the script got right.</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Walk me through the video scene by scene, in plain English.</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figure on screen should I double-check, and against what?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AI disclosure say, and why do we need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creator and designer each delivered their part.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the script, then the finished video.</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ep01.mp4 is 1920x1080, under 90 seconds, every scene present.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on screen matches Horizon's 2026 facts.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description has chapters, link, disclaimer and AI disclosure.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upload is private (or the dry run printed the request).</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campaigns, every piece checked by the Lead and approved by a person. But the team stops when you close the laptop.</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Gate  ·  Lab 10</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People approve, hashes hold, a hook stops agents.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Campaigns  ·  Labs 10–12</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Social week, newsletter + landing page, the video.</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team that works every week on its own — and rules to govern it. That is Topic 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4</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Content Distribution, Strategy Guidelines and Responsible AI Practices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5: always on, with a scheduled task</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Responsible AI for financial content</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Measure the patterns; write the team playbook</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Agent teams at work: argue a strategy, then a QA loop</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139</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Skill to Schedule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13: do the job once, keep it as a skill, let a schedule run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140</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Do</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Growth Analyst writes the weekly report once, from Drive.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Fix the sections until the report is right.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Skill</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campaign-report holds the procedure.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Schedule</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scheduled task runs it every Monday at 8am.</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It leaves a Gmail draft — a person decides.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Pause scheduled tasks you are not using.</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Automate the Preparation, Not the Decision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What a scheduled agent should and should not do for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Prepare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data, run the skill, draft the report, flag what needs a decision.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 never send</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Write "draft only — never send, publish or approve" in the skill AND the schedule.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Keep a human gate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schedule fills an inbox. A named person still decides.</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142</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must keep working after class. Rachel wants the Growth Analyst's report in her inbox every Monday — as a draft she decides 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scheduled task that drafts the weekly growth report every Monday at 8am, and one draft in Gmail</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(skill, routine, Drive,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Growth Analyst's campaign-report skill · do · verify · schedule · draft-only delivery</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143</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13".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Put the data on Drive  </a:t>
            </a:r>
            <a:r>
              <a:rPr sz="1300">
                <a:solidFill>
                  <a:srgbClr val="6B6862"/>
                </a:solidFill>
                <a:latin typeface="Calibri"/>
              </a:rPr>
              <a:t>Ask: "Upload data/campaign-results.csv to my Google Drive folder Horizon Studio as a plain file, replacing any old copy."</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Do it once  </a:t>
            </a:r>
            <a:r>
              <a:rPr sz="1300">
                <a:solidFill>
                  <a:srgbClr val="6B6862"/>
                </a:solidFill>
                <a:latin typeface="Calibri"/>
              </a:rPr>
              <a:t>Copy and paste Prompt A. Refine the report until it is right.</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Schedule it  </a:t>
            </a:r>
            <a:r>
              <a:rPr sz="1300">
                <a:solidFill>
                  <a:srgbClr val="6B6862"/>
                </a:solidFill>
                <a:latin typeface="Calibri"/>
              </a:rPr>
              <a:t>After the report is right, copy and paste Prompt B into the instructions of a new routine: Routines → New routine → Local, Mondays at 8am.</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Run it now  </a:t>
            </a:r>
            <a:r>
              <a:rPr sz="1300">
                <a:solidFill>
                  <a:srgbClr val="6B6862"/>
                </a:solidFill>
                <a:latin typeface="Calibri"/>
              </a:rPr>
              <a:t>Click Run now once, approve any permission prompts, then open the Gmail draft.</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Pause it  </a:t>
            </a:r>
            <a:r>
              <a:rPr sz="1300">
                <a:solidFill>
                  <a:srgbClr val="6B6862"/>
                </a:solidFill>
                <a:latin typeface="Calibri"/>
              </a:rPr>
              <a:t>After class, pause the routine.</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144</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do it once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Horizon's Growth Analyst. Using Google Drive, read campaign-results.csv in the Horizon Studio folder. Use the campaign-report skill and data/weekly-report-brief.md. Leave the report as a Gmail DRAFT to me, subject "Horizon weekly growth report" and today's date. Send nothing. Also publish the report as an artifact: cost per chat by channel as a chart, and the budget split. Write for a business owner, in plain English: no codes, IDs, file names or line numbers; start with what it means and what I do next. Save a Word copy (.docx) of each result.</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145</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routine</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the campaign-report skill as Horizon's Growth Analyst. Read campaign-results.csv in the Horizon Studio folder on Google Drive and follow weekly-report-brief.md. Leave the report as a draft email to me in Gmail with the subject "Horizon weekly growth report" and today's date. Do not send it, and do not publish or approve anything.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Automate the preparation, not the decision. The schedule fills an inbox; a person still decides.</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What is the one decision this report asks me to make?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channel gets us a chat most cheaply, and how sure are you?</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would you change in next month's budget,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report used the campaign-report skill from your folder.</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report names the cheapest channel per chat (the newsletter).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recommends a budget split with a reason per channel.</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scheduled task runs Mondays at 8am with draft-only instructions.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manual run left a draft — nothing was sent.</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task is paused after class.</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RESPONSIBLE AI</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Responsible AI in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risk has a control you built in this course.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148</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RISK</a:t>
            </a:r>
          </a:p>
        </p:txBody>
      </p:sp>
      <p:sp>
        <p:nvSpPr>
          <p:cNvPr id="10" name="TextBox 9"/>
          <p:cNvSpPr txBox="1"/>
          <p:nvPr/>
        </p:nvSpPr>
        <p:spPr>
          <a:xfrm>
            <a:off x="3405225"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CONTROL</a:t>
            </a:r>
          </a:p>
        </p:txBody>
      </p:sp>
      <p:sp>
        <p:nvSpPr>
          <p:cNvPr id="11" name="TextBox 10"/>
          <p:cNvSpPr txBox="1"/>
          <p:nvPr/>
        </p:nvSpPr>
        <p:spPr>
          <a:xfrm>
            <a:off x="8937345"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WHERE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Wrong figure</a:t>
            </a:r>
          </a:p>
        </p:txBody>
      </p:sp>
      <p:sp>
        <p:nvSpPr>
          <p:cNvPr id="14" name="TextBox 13"/>
          <p:cNvSpPr txBox="1"/>
          <p:nvPr/>
        </p:nvSpPr>
        <p:spPr>
          <a:xfrm>
            <a:off x="3405225" y="2560320"/>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skill; the Lead's review; facts sheet</a:t>
            </a:r>
          </a:p>
        </p:txBody>
      </p:sp>
      <p:sp>
        <p:nvSpPr>
          <p:cNvPr id="15" name="TextBox 14"/>
          <p:cNvSpPr txBox="1"/>
          <p:nvPr/>
        </p:nvSpPr>
        <p:spPr>
          <a:xfrm>
            <a:off x="8937345" y="2560320"/>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5, 10–12</a:t>
            </a:r>
          </a:p>
        </p:txBody>
      </p:sp>
      <p:sp>
        <p:nvSpPr>
          <p:cNvPr id="16" name="TextBox 15"/>
          <p:cNvSpPr txBox="1"/>
          <p:nvPr/>
        </p:nvSpPr>
        <p:spPr>
          <a:xfrm>
            <a:off x="749808" y="3084575"/>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Read as advice or a promise</a:t>
            </a:r>
          </a:p>
        </p:txBody>
      </p:sp>
      <p:sp>
        <p:nvSpPr>
          <p:cNvPr id="17" name="TextBox 16"/>
          <p:cNvSpPr txBox="1"/>
          <p:nvPr/>
        </p:nvSpPr>
        <p:spPr>
          <a:xfrm>
            <a:off x="3405225" y="3084575"/>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fin-compliance; disclaimers; no returns</a:t>
            </a:r>
          </a:p>
        </p:txBody>
      </p:sp>
      <p:sp>
        <p:nvSpPr>
          <p:cNvPr id="18" name="TextBox 17"/>
          <p:cNvSpPr txBox="1"/>
          <p:nvPr/>
        </p:nvSpPr>
        <p:spPr>
          <a:xfrm>
            <a:off x="8937345" y="3084575"/>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10–12</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An agent with too much access</a:t>
            </a:r>
          </a:p>
        </p:txBody>
      </p:sp>
      <p:sp>
        <p:nvSpPr>
          <p:cNvPr id="21" name="TextBox 20"/>
          <p:cNvSpPr txBox="1"/>
          <p:nvPr/>
        </p:nvSpPr>
        <p:spPr>
          <a:xfrm>
            <a:off x="3405225" y="3608831"/>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Least-privilege connectors per agent</a:t>
            </a:r>
          </a:p>
        </p:txBody>
      </p:sp>
      <p:sp>
        <p:nvSpPr>
          <p:cNvPr id="22" name="TextBox 21"/>
          <p:cNvSpPr txBox="1"/>
          <p:nvPr/>
        </p:nvSpPr>
        <p:spPr>
          <a:xfrm>
            <a:off x="8937345" y="3608831"/>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23" name="TextBox 22"/>
          <p:cNvSpPr txBox="1"/>
          <p:nvPr/>
        </p:nvSpPr>
        <p:spPr>
          <a:xfrm>
            <a:off x="749808" y="4133087"/>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Unapproved post</a:t>
            </a:r>
          </a:p>
        </p:txBody>
      </p:sp>
      <p:sp>
        <p:nvSpPr>
          <p:cNvPr id="24" name="TextBox 23"/>
          <p:cNvSpPr txBox="1"/>
          <p:nvPr/>
        </p:nvSpPr>
        <p:spPr>
          <a:xfrm>
            <a:off x="3405225" y="4133087"/>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Approval typed by a person, hash, gate</a:t>
            </a:r>
          </a:p>
        </p:txBody>
      </p:sp>
      <p:sp>
        <p:nvSpPr>
          <p:cNvPr id="25" name="TextBox 24"/>
          <p:cNvSpPr txBox="1"/>
          <p:nvPr/>
        </p:nvSpPr>
        <p:spPr>
          <a:xfrm>
            <a:off x="8937345" y="4133087"/>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10</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Marketing without consent</a:t>
            </a:r>
          </a:p>
        </p:txBody>
      </p:sp>
      <p:sp>
        <p:nvSpPr>
          <p:cNvPr id="28" name="TextBox 27"/>
          <p:cNvSpPr txBox="1"/>
          <p:nvPr/>
        </p:nvSpPr>
        <p:spPr>
          <a:xfrm>
            <a:off x="3405225" y="4657344"/>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Analyst filters by consent</a:t>
            </a:r>
          </a:p>
        </p:txBody>
      </p:sp>
      <p:sp>
        <p:nvSpPr>
          <p:cNvPr id="29" name="TextBox 28"/>
          <p:cNvSpPr txBox="1"/>
          <p:nvPr/>
        </p:nvSpPr>
        <p:spPr>
          <a:xfrm>
            <a:off x="8937345" y="4657344"/>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11</a:t>
            </a:r>
          </a:p>
        </p:txBody>
      </p:sp>
      <p:sp>
        <p:nvSpPr>
          <p:cNvPr id="30" name="TextBox 29"/>
          <p:cNvSpPr txBox="1"/>
          <p:nvPr/>
        </p:nvSpPr>
        <p:spPr>
          <a:xfrm>
            <a:off x="749808" y="5181599"/>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Undisclosed AI media</a:t>
            </a:r>
          </a:p>
        </p:txBody>
      </p:sp>
      <p:sp>
        <p:nvSpPr>
          <p:cNvPr id="31" name="TextBox 30"/>
          <p:cNvSpPr txBox="1"/>
          <p:nvPr/>
        </p:nvSpPr>
        <p:spPr>
          <a:xfrm>
            <a:off x="3405225" y="5181599"/>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Description line + YouTube disclosure</a:t>
            </a:r>
          </a:p>
        </p:txBody>
      </p:sp>
      <p:sp>
        <p:nvSpPr>
          <p:cNvPr id="32" name="TextBox 31"/>
          <p:cNvSpPr txBox="1"/>
          <p:nvPr/>
        </p:nvSpPr>
        <p:spPr>
          <a:xfrm>
            <a:off x="8937345" y="5181599"/>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12</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Keep keys in .env, client data out of prompts, and the approval records for audit.</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MEASURE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What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14: the numbers decide next month — and which patterns earn their tokens.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149</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Cost per chat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Spend ÷ chats booked shows which channel works: email first, YouTube last.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Defects before a person</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Lead that catches mistakes saves the reviewer's time; one agent alone caught none.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playbook</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Roster, instructions, skills, connectors, approval matrix, incidents — so the team runs without you.</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Eight weeks in. Rachel asks which ways of running agents earned their tokens, and how the team runs safely after you leave.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agent-pattern comparison and the team playbook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compare agent patterns · the roster: instructions, skills, connectors · approval matrix · responsible-AI controls</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14".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data  </a:t>
            </a:r>
            <a:r>
              <a:rPr sz="1550">
                <a:solidFill>
                  <a:srgbClr val="6B6862"/>
                </a:solidFill>
                <a:latin typeface="Calibri"/>
              </a:rPr>
              <a:t>The assets are already in data/. Open one and skim it.</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Compare the patterns  </a:t>
            </a:r>
            <a:r>
              <a:rPr sz="1550">
                <a:solidFill>
                  <a:srgbClr val="6B6862"/>
                </a:solidFill>
                <a:latin typeface="Calibri"/>
              </a:rPr>
              <a:t>Copy and paste Prompt A.</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playbook  </a:t>
            </a:r>
            <a:r>
              <a:rPr sz="1550">
                <a:solidFill>
                  <a:srgbClr val="6B6862"/>
                </a:solidFill>
                <a:latin typeface="Calibri"/>
              </a:rPr>
              <a:t>After the Lead shows the comparison, copy and paste Prompt B.</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Review it as Rachel  </a:t>
            </a:r>
            <a:r>
              <a:rPr sz="1550">
                <a:solidFill>
                  <a:srgbClr val="6B6862"/>
                </a:solidFill>
                <a:latin typeface="Calibri"/>
              </a:rPr>
              <a:t>Add one rule of your own and say why.</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152</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compare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data/run-log.csv compare the patterns we used — one agent, subagents, agent teams and the scheduled task — on minutes, tokens, defects caught before a person and human edits. Which pattern pays off for which job? Save reports/agent-comparison.md. Publish it as an artifact: one chart per measure, comparing the patterns. Write for a business owner, in plain English: no codes, IDs, file names or line numbers; start with what it means and what I do next. Save a Word copy (.docx) of each result.</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153</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playbook</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strategy/team-playbook.md with data/playbook-outline.md. Include the roster: for each agent its instructions file in .claude/agents/, its skills, connectors, model and what it may never do; the approval matrix by risk; the rules in data/responsible-ai-checklist.md; and what to do when a wrong post goes out. Then run fin-compliance on it. Publish the playbook as an artifact: the roster as cards, the approval matrix as a table.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Teams cost more tokens. The run log shows what you buy with them: defects caught before a person, and fewer edits.</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154</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In one line each: when should we use one agent, subagents and an agent team?</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must approve a post that has a CPF figure in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 wrong post went out. What are the first three things we do?</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155</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comparison shows the one-agent baseline caught 0 defects.</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says which pattern suits which job, with numbers.</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roster lists all six agents with skills and connectors.</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approval matrix says who approves CPF and tax figures.</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has an incident procedure, and your own rule.</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AGENT TEAMS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vs Agent Teams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Same work, different wiring: who spawns whom, and who talks to whom.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156</a:t>
            </a:r>
          </a:p>
        </p:txBody>
      </p:sp>
      <p:sp>
        <p:nvSpPr>
          <p:cNvPr id="8" name="TextBox 7"/>
          <p:cNvSpPr txBox="1"/>
          <p:nvPr/>
        </p:nvSpPr>
        <p:spPr>
          <a:xfrm>
            <a:off x="548640" y="2039112"/>
            <a:ext cx="2743200" cy="256032"/>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SUBAGENTS</a:t>
            </a:r>
          </a:p>
        </p:txBody>
      </p:sp>
      <p:sp>
        <p:nvSpPr>
          <p:cNvPr id="9" name="Rounded Rectangle 8"/>
          <p:cNvSpPr/>
          <p:nvPr/>
        </p:nvSpPr>
        <p:spPr>
          <a:xfrm>
            <a:off x="2308860" y="2359151"/>
            <a:ext cx="2286000" cy="457200"/>
          </a:xfrm>
          <a:prstGeom prst="roundRect">
            <a:avLst>
              <a:gd name="adj" fmla="val 18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350" b="1">
                <a:solidFill>
                  <a:srgbClr val="FFFFFF"/>
                </a:solidFill>
                <a:latin typeface="Calibri"/>
              </a:defRPr>
            </a:pPr>
            <a:r>
              <a:t>Main Agent</a:t>
            </a:r>
          </a:p>
        </p:txBody>
      </p:sp>
      <p:cxnSp>
        <p:nvCxnSpPr>
          <p:cNvPr id="10" name="Connector 9"/>
          <p:cNvCxnSpPr/>
          <p:nvPr/>
        </p:nvCxnSpPr>
        <p:spPr>
          <a:xfrm flipH="1">
            <a:off x="1879092" y="2816351"/>
            <a:ext cx="1069847"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229868"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12" name="Connector 11"/>
          <p:cNvCxnSpPr/>
          <p:nvPr/>
        </p:nvCxnSpPr>
        <p:spPr>
          <a:xfrm>
            <a:off x="1879092"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924812"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14" name="Oval 13"/>
          <p:cNvSpPr/>
          <p:nvPr/>
        </p:nvSpPr>
        <p:spPr>
          <a:xfrm>
            <a:off x="1376172"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15" name="Connector 14"/>
          <p:cNvCxnSpPr/>
          <p:nvPr/>
        </p:nvCxnSpPr>
        <p:spPr>
          <a:xfrm>
            <a:off x="1879092"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451860" y="2816351"/>
            <a:ext cx="0"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802636"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18" name="Connector 17"/>
          <p:cNvCxnSpPr/>
          <p:nvPr/>
        </p:nvCxnSpPr>
        <p:spPr>
          <a:xfrm>
            <a:off x="3451860"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97580"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20" name="Oval 19"/>
          <p:cNvSpPr/>
          <p:nvPr/>
        </p:nvSpPr>
        <p:spPr>
          <a:xfrm>
            <a:off x="2948940"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21" name="Connector 20"/>
          <p:cNvCxnSpPr/>
          <p:nvPr/>
        </p:nvCxnSpPr>
        <p:spPr>
          <a:xfrm>
            <a:off x="3451860"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54780" y="2816351"/>
            <a:ext cx="1069848"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375404"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24" name="Connector 23"/>
          <p:cNvCxnSpPr/>
          <p:nvPr/>
        </p:nvCxnSpPr>
        <p:spPr>
          <a:xfrm>
            <a:off x="5024628"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070348"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26" name="Oval 25"/>
          <p:cNvSpPr/>
          <p:nvPr/>
        </p:nvSpPr>
        <p:spPr>
          <a:xfrm>
            <a:off x="4521708"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27" name="Connector 26"/>
          <p:cNvCxnSpPr/>
          <p:nvPr/>
        </p:nvCxnSpPr>
        <p:spPr>
          <a:xfrm>
            <a:off x="5024628"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640580" y="2980944"/>
            <a:ext cx="731520" cy="219456"/>
          </a:xfrm>
          <a:prstGeom prst="rect">
            <a:avLst/>
          </a:prstGeom>
          <a:noFill/>
        </p:spPr>
        <p:txBody>
          <a:bodyPr wrap="square" lIns="18288" rIns="18288" tIns="9144" bIns="9144">
            <a:spAutoFit/>
          </a:bodyPr>
          <a:lstStyle/>
          <a:p>
            <a:pPr>
              <a:lnSpc>
                <a:spcPct val="100000"/>
              </a:lnSpc>
              <a:defRPr sz="950" b="1">
                <a:solidFill>
                  <a:srgbClr val="D97757"/>
                </a:solidFill>
                <a:latin typeface="Calibri"/>
              </a:defRPr>
            </a:pPr>
            <a:r>
              <a:t>spawn</a:t>
            </a:r>
          </a:p>
        </p:txBody>
      </p:sp>
      <p:cxnSp>
        <p:nvCxnSpPr>
          <p:cNvPr id="29" name="Connector 28"/>
          <p:cNvCxnSpPr/>
          <p:nvPr/>
        </p:nvCxnSpPr>
        <p:spPr>
          <a:xfrm flipH="1">
            <a:off x="658368" y="4901183"/>
            <a:ext cx="4366260" cy="0"/>
          </a:xfrm>
          <a:prstGeom prst="line">
            <a:avLst/>
          </a:prstGeom>
          <a:ln w="22225">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58368" y="2587751"/>
            <a:ext cx="0" cy="2313432"/>
          </a:xfrm>
          <a:prstGeom prst="line">
            <a:avLst/>
          </a:prstGeom>
          <a:ln w="22225">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58368" y="2587751"/>
            <a:ext cx="1650492" cy="0"/>
          </a:xfrm>
          <a:prstGeom prst="line">
            <a:avLst/>
          </a:prstGeom>
          <a:ln w="22225">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696212" y="4937759"/>
            <a:ext cx="4206240" cy="237744"/>
          </a:xfrm>
          <a:prstGeom prst="rect">
            <a:avLst/>
          </a:prstGeom>
          <a:noFill/>
        </p:spPr>
        <p:txBody>
          <a:bodyPr wrap="square" lIns="18288" rIns="18288" tIns="9144" bIns="9144">
            <a:spAutoFit/>
          </a:bodyPr>
          <a:lstStyle/>
          <a:p>
            <a:pPr>
              <a:lnSpc>
                <a:spcPct val="100000"/>
              </a:lnSpc>
              <a:defRPr sz="950" b="1">
                <a:solidFill>
                  <a:srgbClr val="6B6862"/>
                </a:solidFill>
                <a:latin typeface="Calibri"/>
              </a:defRPr>
            </a:pPr>
            <a:r>
              <a:t>report results back — subagents never talk to each other</a:t>
            </a:r>
          </a:p>
        </p:txBody>
      </p:sp>
      <p:cxnSp>
        <p:nvCxnSpPr>
          <p:cNvPr id="33" name="Connector 32"/>
          <p:cNvCxnSpPr/>
          <p:nvPr/>
        </p:nvCxnSpPr>
        <p:spPr>
          <a:xfrm>
            <a:off x="6053328" y="2039112"/>
            <a:ext cx="0" cy="3465576"/>
          </a:xfrm>
          <a:prstGeom prst="line">
            <a:avLst/>
          </a:prstGeom>
          <a:ln w="15875">
            <a:solidFill>
              <a:srgbClr val="DCD8CF"/>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263640" y="2039112"/>
            <a:ext cx="2743200" cy="256032"/>
          </a:xfrm>
          <a:prstGeom prst="rect">
            <a:avLst/>
          </a:prstGeom>
          <a:noFill/>
        </p:spPr>
        <p:txBody>
          <a:bodyPr wrap="square" lIns="18288" rIns="18288" tIns="9144" bIns="9144">
            <a:spAutoFit/>
          </a:bodyPr>
          <a:lstStyle/>
          <a:p>
            <a:pPr>
              <a:lnSpc>
                <a:spcPct val="100000"/>
              </a:lnSpc>
              <a:defRPr sz="1200" b="1">
                <a:solidFill>
                  <a:srgbClr val="3A7D7B"/>
                </a:solidFill>
                <a:latin typeface="Calibri"/>
              </a:defRPr>
            </a:pPr>
            <a:r>
              <a:t>AGENT TEAM</a:t>
            </a:r>
          </a:p>
        </p:txBody>
      </p:sp>
      <p:sp>
        <p:nvSpPr>
          <p:cNvPr id="35" name="Rounded Rectangle 34"/>
          <p:cNvSpPr/>
          <p:nvPr/>
        </p:nvSpPr>
        <p:spPr>
          <a:xfrm>
            <a:off x="7795259" y="2359151"/>
            <a:ext cx="2286000" cy="457200"/>
          </a:xfrm>
          <a:prstGeom prst="roundRect">
            <a:avLst>
              <a:gd name="adj" fmla="val 18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350" b="1">
                <a:solidFill>
                  <a:srgbClr val="FFFFFF"/>
                </a:solidFill>
                <a:latin typeface="Calibri"/>
              </a:defRPr>
            </a:pPr>
            <a:r>
              <a:t>Team Lead</a:t>
            </a:r>
          </a:p>
        </p:txBody>
      </p:sp>
      <p:cxnSp>
        <p:nvCxnSpPr>
          <p:cNvPr id="36" name="Connector 35"/>
          <p:cNvCxnSpPr/>
          <p:nvPr/>
        </p:nvCxnSpPr>
        <p:spPr>
          <a:xfrm>
            <a:off x="8938259" y="2816351"/>
            <a:ext cx="0" cy="41148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011411" y="2907791"/>
            <a:ext cx="2377440" cy="219456"/>
          </a:xfrm>
          <a:prstGeom prst="rect">
            <a:avLst/>
          </a:prstGeom>
          <a:noFill/>
        </p:spPr>
        <p:txBody>
          <a:bodyPr wrap="square" lIns="18288" rIns="18288" tIns="9144" bIns="9144">
            <a:spAutoFit/>
          </a:bodyPr>
          <a:lstStyle/>
          <a:p>
            <a:pPr>
              <a:lnSpc>
                <a:spcPct val="100000"/>
              </a:lnSpc>
              <a:defRPr sz="950" b="1">
                <a:solidFill>
                  <a:srgbClr val="3A7D7B"/>
                </a:solidFill>
                <a:latin typeface="Calibri"/>
              </a:defRPr>
            </a:pPr>
            <a:r>
              <a:t>spawn team &amp; assign tasks</a:t>
            </a:r>
          </a:p>
        </p:txBody>
      </p:sp>
      <p:sp>
        <p:nvSpPr>
          <p:cNvPr id="38" name="Rounded Rectangle 37"/>
          <p:cNvSpPr/>
          <p:nvPr/>
        </p:nvSpPr>
        <p:spPr>
          <a:xfrm>
            <a:off x="6309359" y="3227831"/>
            <a:ext cx="5257800" cy="2103120"/>
          </a:xfrm>
          <a:prstGeom prst="roundRect">
            <a:avLst>
              <a:gd name="adj" fmla="val 6000"/>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537959" y="3392423"/>
            <a:ext cx="4800600" cy="402336"/>
          </a:xfrm>
          <a:prstGeom prst="roundRect">
            <a:avLst>
              <a:gd name="adj" fmla="val 18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250" b="1">
                <a:solidFill>
                  <a:srgbClr val="3A7D7B"/>
                </a:solidFill>
                <a:latin typeface="Calibri"/>
              </a:defRPr>
            </a:pPr>
            <a:r>
              <a:t>Shared Task List</a:t>
            </a:r>
          </a:p>
        </p:txBody>
      </p:sp>
      <p:cxnSp>
        <p:nvCxnSpPr>
          <p:cNvPr id="40" name="Connector 39"/>
          <p:cNvCxnSpPr/>
          <p:nvPr/>
        </p:nvCxnSpPr>
        <p:spPr>
          <a:xfrm>
            <a:off x="7228331"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6565392"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42" name="Connector 41"/>
          <p:cNvCxnSpPr/>
          <p:nvPr/>
        </p:nvCxnSpPr>
        <p:spPr>
          <a:xfrm>
            <a:off x="7228331"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274051"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cxnSp>
        <p:nvCxnSpPr>
          <p:cNvPr id="44" name="Connector 43"/>
          <p:cNvCxnSpPr/>
          <p:nvPr/>
        </p:nvCxnSpPr>
        <p:spPr>
          <a:xfrm>
            <a:off x="8938259"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8275319"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46" name="Connector 45"/>
          <p:cNvCxnSpPr/>
          <p:nvPr/>
        </p:nvCxnSpPr>
        <p:spPr>
          <a:xfrm>
            <a:off x="7918703" y="4636007"/>
            <a:ext cx="329185" cy="0"/>
          </a:xfrm>
          <a:prstGeom prst="line">
            <a:avLst/>
          </a:prstGeom>
          <a:ln w="19050">
            <a:solidFill>
              <a:srgbClr val="5B4B8A"/>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938259"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983980"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cxnSp>
        <p:nvCxnSpPr>
          <p:cNvPr id="49" name="Connector 48"/>
          <p:cNvCxnSpPr/>
          <p:nvPr/>
        </p:nvCxnSpPr>
        <p:spPr>
          <a:xfrm>
            <a:off x="10648188"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9985248"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51" name="Connector 50"/>
          <p:cNvCxnSpPr/>
          <p:nvPr/>
        </p:nvCxnSpPr>
        <p:spPr>
          <a:xfrm>
            <a:off x="9628632" y="4636007"/>
            <a:ext cx="329184" cy="0"/>
          </a:xfrm>
          <a:prstGeom prst="line">
            <a:avLst/>
          </a:prstGeom>
          <a:ln w="19050">
            <a:solidFill>
              <a:srgbClr val="5B4B8A"/>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648188"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693908"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54" name="TextBox 53"/>
          <p:cNvSpPr txBox="1"/>
          <p:nvPr/>
        </p:nvSpPr>
        <p:spPr>
          <a:xfrm>
            <a:off x="7306056" y="3941063"/>
            <a:ext cx="1554480" cy="219456"/>
          </a:xfrm>
          <a:prstGeom prst="rect">
            <a:avLst/>
          </a:prstGeom>
          <a:noFill/>
        </p:spPr>
        <p:txBody>
          <a:bodyPr wrap="square" lIns="18288" rIns="18288" tIns="9144" bIns="9144">
            <a:spAutoFit/>
          </a:bodyPr>
          <a:lstStyle/>
          <a:p>
            <a:pPr algn="ctr">
              <a:lnSpc>
                <a:spcPct val="100000"/>
              </a:lnSpc>
              <a:defRPr sz="950" b="1">
                <a:solidFill>
                  <a:srgbClr val="3A7D7B"/>
                </a:solidFill>
                <a:latin typeface="Calibri"/>
              </a:defRPr>
            </a:pPr>
            <a:r>
              <a:t>claim &amp; update tasks</a:t>
            </a:r>
          </a:p>
        </p:txBody>
      </p:sp>
      <p:sp>
        <p:nvSpPr>
          <p:cNvPr id="55" name="TextBox 54"/>
          <p:cNvSpPr txBox="1"/>
          <p:nvPr/>
        </p:nvSpPr>
        <p:spPr>
          <a:xfrm>
            <a:off x="7306056" y="4983479"/>
            <a:ext cx="1554480" cy="219456"/>
          </a:xfrm>
          <a:prstGeom prst="rect">
            <a:avLst/>
          </a:prstGeom>
          <a:noFill/>
        </p:spPr>
        <p:txBody>
          <a:bodyPr wrap="square" lIns="18288" rIns="18288" tIns="9144" bIns="9144">
            <a:spAutoFit/>
          </a:bodyPr>
          <a:lstStyle/>
          <a:p>
            <a:pPr algn="ctr">
              <a:lnSpc>
                <a:spcPct val="100000"/>
              </a:lnSpc>
              <a:defRPr sz="950" b="1">
                <a:solidFill>
                  <a:srgbClr val="5B4B8A"/>
                </a:solidFill>
                <a:latin typeface="Calibri"/>
              </a:defRPr>
            </a:pPr>
            <a:r>
              <a:t>message each other</a:t>
            </a:r>
          </a:p>
        </p:txBody>
      </p:sp>
      <p:sp>
        <p:nvSpPr>
          <p:cNvPr id="56" name="Rounded Rectangle 55"/>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Subagents report back to one agent. Teammates share a task list and talk to each other.</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USE CASE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Team That Argues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15, Part 1: test a strategy before Horizon spends on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157</a:t>
            </a:r>
          </a:p>
        </p:txBody>
      </p:sp>
      <p:sp>
        <p:nvSpPr>
          <p:cNvPr id="8" name="Rounded Rectangle 7"/>
          <p:cNvSpPr/>
          <p:nvPr/>
        </p:nvSpPr>
        <p:spPr>
          <a:xfrm>
            <a:off x="548640"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394959"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Advocate · growth-strategist</a:t>
            </a:r>
          </a:p>
        </p:txBody>
      </p:sp>
      <p:sp>
        <p:nvSpPr>
          <p:cNvPr id="11" name="Rectangle 10"/>
          <p:cNvSpPr/>
          <p:nvPr/>
        </p:nvSpPr>
        <p:spPr>
          <a:xfrm>
            <a:off x="804672" y="3008375"/>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889503"/>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Argues FOR the "Turning 55" CPF explainer</a:t>
            </a:r>
          </a:p>
        </p:txBody>
      </p:sp>
      <p:sp>
        <p:nvSpPr>
          <p:cNvPr id="13" name="Rectangle 12"/>
          <p:cNvSpPr/>
          <p:nvPr/>
        </p:nvSpPr>
        <p:spPr>
          <a:xfrm>
            <a:off x="804672" y="3898391"/>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779519"/>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Cites results, personas and the facts sheet</a:t>
            </a:r>
          </a:p>
        </p:txBody>
      </p:sp>
      <p:sp>
        <p:nvSpPr>
          <p:cNvPr id="15" name="Rectangle 14"/>
          <p:cNvSpPr/>
          <p:nvPr/>
        </p:nvSpPr>
        <p:spPr>
          <a:xfrm>
            <a:off x="804672" y="4788407"/>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669535"/>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Answers the critic directly — two rebuttals</a:t>
            </a:r>
          </a:p>
        </p:txBody>
      </p:sp>
      <p:sp>
        <p:nvSpPr>
          <p:cNvPr id="17" name="Rounded Rectangle 16"/>
          <p:cNvSpPr/>
          <p:nvPr/>
        </p:nvSpPr>
        <p:spPr>
          <a:xfrm>
            <a:off x="6217919"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19" y="2084831"/>
            <a:ext cx="5394959"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1"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Critic · growth-analyst</a:t>
            </a:r>
          </a:p>
        </p:txBody>
      </p:sp>
      <p:sp>
        <p:nvSpPr>
          <p:cNvPr id="20" name="Rectangle 19"/>
          <p:cNvSpPr/>
          <p:nvPr/>
        </p:nvSpPr>
        <p:spPr>
          <a:xfrm>
            <a:off x="6473951" y="3008375"/>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93407" y="2889503"/>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Argues AGAINST it — cost, timing, audience</a:t>
            </a:r>
          </a:p>
        </p:txBody>
      </p:sp>
      <p:sp>
        <p:nvSpPr>
          <p:cNvPr id="22" name="Rectangle 21"/>
          <p:cNvSpPr/>
          <p:nvPr/>
        </p:nvSpPr>
        <p:spPr>
          <a:xfrm>
            <a:off x="6473951" y="3898391"/>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7" y="3779519"/>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Every point backed by a file, not an opinion</a:t>
            </a:r>
          </a:p>
        </p:txBody>
      </p:sp>
      <p:sp>
        <p:nvSpPr>
          <p:cNvPr id="24" name="Rectangle 23"/>
          <p:cNvSpPr/>
          <p:nvPr/>
        </p:nvSpPr>
        <p:spPr>
          <a:xfrm>
            <a:off x="6473951" y="4788407"/>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7" y="4669535"/>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The Lead judges; a person makes the call</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USE CASE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15, Part 2: a failed audit goes straight back to the writer — not through the Lead.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158</a:t>
            </a:r>
          </a:p>
        </p:txBody>
      </p:sp>
      <p:sp>
        <p:nvSpPr>
          <p:cNvPr id="8" name="Rounded Rectangle 7"/>
          <p:cNvSpPr/>
          <p:nvPr/>
        </p:nvSpPr>
        <p:spPr>
          <a:xfrm>
            <a:off x="548640" y="2587752"/>
            <a:ext cx="2606040" cy="1097280"/>
          </a:xfrm>
          <a:prstGeom prst="roundRect">
            <a:avLst>
              <a:gd name="adj" fmla="val 6000"/>
            </a:avLst>
          </a:prstGeom>
          <a:solidFill>
            <a:srgbClr val="FFFFFF"/>
          </a:solidFill>
          <a:ln w="22225">
            <a:solidFill>
              <a:srgbClr val="5B4B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87752"/>
            <a:ext cx="2606040"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52344"/>
            <a:ext cx="2276856" cy="329184"/>
          </a:xfrm>
          <a:prstGeom prst="rect">
            <a:avLst/>
          </a:prstGeom>
          <a:noFill/>
        </p:spPr>
        <p:txBody>
          <a:bodyPr wrap="square" lIns="18288" rIns="18288" tIns="9144" bIns="9144">
            <a:spAutoFit/>
          </a:bodyPr>
          <a:lstStyle/>
          <a:p>
            <a:pPr>
              <a:lnSpc>
                <a:spcPct val="100000"/>
              </a:lnSpc>
              <a:defRPr sz="1500" b="1">
                <a:solidFill>
                  <a:srgbClr val="21201C"/>
                </a:solidFill>
                <a:latin typeface="Cambria"/>
              </a:defRPr>
            </a:pPr>
            <a:r>
              <a:t>Writer</a:t>
            </a:r>
          </a:p>
        </p:txBody>
      </p:sp>
      <p:sp>
        <p:nvSpPr>
          <p:cNvPr id="11" name="TextBox 10"/>
          <p:cNvSpPr txBox="1"/>
          <p:nvPr/>
        </p:nvSpPr>
        <p:spPr>
          <a:xfrm>
            <a:off x="713232" y="3118104"/>
            <a:ext cx="2276856" cy="530352"/>
          </a:xfrm>
          <a:prstGeom prst="rect">
            <a:avLst/>
          </a:prstGeom>
          <a:noFill/>
        </p:spPr>
        <p:txBody>
          <a:bodyPr wrap="square" lIns="18288" rIns="18288" tIns="9144" bIns="9144">
            <a:spAutoFit/>
          </a:bodyPr>
          <a:lstStyle/>
          <a:p>
            <a:pPr>
              <a:lnSpc>
                <a:spcPct val="105000"/>
              </a:lnSpc>
              <a:defRPr sz="1100" b="0">
                <a:solidFill>
                  <a:srgbClr val="6B6862"/>
                </a:solidFill>
                <a:latin typeface="Calibri"/>
              </a:defRPr>
            </a:pPr>
            <a:r>
              <a:t>content-creator: rewrites the intern's draft into an email and a video script.</a:t>
            </a:r>
          </a:p>
        </p:txBody>
      </p:sp>
      <p:sp>
        <p:nvSpPr>
          <p:cNvPr id="12" name="Rounded Rectangle 11"/>
          <p:cNvSpPr/>
          <p:nvPr/>
        </p:nvSpPr>
        <p:spPr>
          <a:xfrm>
            <a:off x="4160520" y="2587752"/>
            <a:ext cx="2606040" cy="1097280"/>
          </a:xfrm>
          <a:prstGeom prst="roundRect">
            <a:avLst>
              <a:gd name="adj" fmla="val 6000"/>
            </a:avLst>
          </a:prstGeom>
          <a:solidFill>
            <a:srgbClr val="FFFFFF"/>
          </a:solid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60520" y="2587752"/>
            <a:ext cx="26060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5112" y="2752344"/>
            <a:ext cx="2276856" cy="329184"/>
          </a:xfrm>
          <a:prstGeom prst="rect">
            <a:avLst/>
          </a:prstGeom>
          <a:noFill/>
        </p:spPr>
        <p:txBody>
          <a:bodyPr wrap="square" lIns="18288" rIns="18288" tIns="9144" bIns="9144">
            <a:spAutoFit/>
          </a:bodyPr>
          <a:lstStyle/>
          <a:p>
            <a:pPr>
              <a:lnSpc>
                <a:spcPct val="100000"/>
              </a:lnSpc>
              <a:defRPr sz="1500" b="1">
                <a:solidFill>
                  <a:srgbClr val="21201C"/>
                </a:solidFill>
                <a:latin typeface="Cambria"/>
              </a:defRPr>
            </a:pPr>
            <a:r>
              <a:t>QA Auditor</a:t>
            </a:r>
          </a:p>
        </p:txBody>
      </p:sp>
      <p:sp>
        <p:nvSpPr>
          <p:cNvPr id="15" name="TextBox 14"/>
          <p:cNvSpPr txBox="1"/>
          <p:nvPr/>
        </p:nvSpPr>
        <p:spPr>
          <a:xfrm>
            <a:off x="4325112" y="3118104"/>
            <a:ext cx="2276856" cy="530352"/>
          </a:xfrm>
          <a:prstGeom prst="rect">
            <a:avLst/>
          </a:prstGeom>
          <a:noFill/>
        </p:spPr>
        <p:txBody>
          <a:bodyPr wrap="square" lIns="18288" rIns="18288" tIns="9144" bIns="9144">
            <a:spAutoFit/>
          </a:bodyPr>
          <a:lstStyle/>
          <a:p>
            <a:pPr>
              <a:lnSpc>
                <a:spcPct val="105000"/>
              </a:lnSpc>
              <a:defRPr sz="1100" b="0">
                <a:solidFill>
                  <a:srgbClr val="6B6862"/>
                </a:solidFill>
                <a:latin typeface="Calibri"/>
              </a:defRPr>
            </a:pPr>
            <a:r>
              <a:t>fact-check + fin-compliance; PASS or FAIL per check, every round logged.</a:t>
            </a:r>
          </a:p>
        </p:txBody>
      </p:sp>
      <p:cxnSp>
        <p:nvCxnSpPr>
          <p:cNvPr id="16" name="Connector 15"/>
          <p:cNvCxnSpPr/>
          <p:nvPr/>
        </p:nvCxnSpPr>
        <p:spPr>
          <a:xfrm>
            <a:off x="3209544" y="2898648"/>
            <a:ext cx="896112" cy="0"/>
          </a:xfrm>
          <a:prstGeom prst="line">
            <a:avLst/>
          </a:prstGeom>
          <a:ln w="2540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154680" y="2624328"/>
            <a:ext cx="1005839" cy="237744"/>
          </a:xfrm>
          <a:prstGeom prst="rect">
            <a:avLst/>
          </a:prstGeom>
          <a:noFill/>
        </p:spPr>
        <p:txBody>
          <a:bodyPr wrap="square" lIns="18288" rIns="18288" tIns="9144" bIns="9144">
            <a:spAutoFit/>
          </a:bodyPr>
          <a:lstStyle/>
          <a:p>
            <a:pPr algn="ctr">
              <a:lnSpc>
                <a:spcPct val="100000"/>
              </a:lnSpc>
              <a:defRPr sz="1050" b="1">
                <a:solidFill>
                  <a:srgbClr val="5B4B8A"/>
                </a:solidFill>
                <a:latin typeface="Calibri"/>
              </a:defRPr>
            </a:pPr>
            <a:r>
              <a:t>draft</a:t>
            </a:r>
          </a:p>
        </p:txBody>
      </p:sp>
      <p:cxnSp>
        <p:nvCxnSpPr>
          <p:cNvPr id="18" name="Connector 17"/>
          <p:cNvCxnSpPr/>
          <p:nvPr/>
        </p:nvCxnSpPr>
        <p:spPr>
          <a:xfrm flipH="1">
            <a:off x="3209544" y="3374136"/>
            <a:ext cx="896112" cy="0"/>
          </a:xfrm>
          <a:prstGeom prst="line">
            <a:avLst/>
          </a:prstGeom>
          <a:ln w="25400">
            <a:solidFill>
              <a:srgbClr val="D97757"/>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154680" y="3410712"/>
            <a:ext cx="1005839"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FAIL → fixes</a:t>
            </a:r>
          </a:p>
        </p:txBody>
      </p:sp>
      <p:cxnSp>
        <p:nvCxnSpPr>
          <p:cNvPr id="20" name="Connector 19"/>
          <p:cNvCxnSpPr/>
          <p:nvPr/>
        </p:nvCxnSpPr>
        <p:spPr>
          <a:xfrm>
            <a:off x="6803136" y="3136392"/>
            <a:ext cx="640080" cy="0"/>
          </a:xfrm>
          <a:prstGeom prst="line">
            <a:avLst/>
          </a:prstGeom>
          <a:ln w="2540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784848" y="2843784"/>
            <a:ext cx="640080" cy="237744"/>
          </a:xfrm>
          <a:prstGeom prst="rect">
            <a:avLst/>
          </a:prstGeom>
          <a:noFill/>
        </p:spPr>
        <p:txBody>
          <a:bodyPr wrap="square" lIns="18288" rIns="18288" tIns="9144" bIns="9144">
            <a:spAutoFit/>
          </a:bodyPr>
          <a:lstStyle/>
          <a:p>
            <a:pPr algn="ctr">
              <a:lnSpc>
                <a:spcPct val="100000"/>
              </a:lnSpc>
              <a:defRPr sz="1050" b="1">
                <a:solidFill>
                  <a:srgbClr val="3A7D7B"/>
                </a:solidFill>
                <a:latin typeface="Calibri"/>
              </a:defRPr>
            </a:pPr>
            <a:r>
              <a:t>PASS</a:t>
            </a:r>
          </a:p>
        </p:txBody>
      </p:sp>
      <p:sp>
        <p:nvSpPr>
          <p:cNvPr id="22" name="Rounded Rectangle 21"/>
          <p:cNvSpPr/>
          <p:nvPr/>
        </p:nvSpPr>
        <p:spPr>
          <a:xfrm>
            <a:off x="7516368" y="2587752"/>
            <a:ext cx="1280159" cy="1097280"/>
          </a:xfrm>
          <a:prstGeom prst="roundRect">
            <a:avLst>
              <a:gd name="adj" fmla="val 6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26096" y="2752344"/>
            <a:ext cx="1060703" cy="310896"/>
          </a:xfrm>
          <a:prstGeom prst="rect">
            <a:avLst/>
          </a:prstGeom>
          <a:noFill/>
        </p:spPr>
        <p:txBody>
          <a:bodyPr wrap="square" lIns="18288" rIns="18288" tIns="9144" bIns="9144">
            <a:spAutoFit/>
          </a:bodyPr>
          <a:lstStyle/>
          <a:p>
            <a:pPr>
              <a:lnSpc>
                <a:spcPct val="100000"/>
              </a:lnSpc>
              <a:defRPr sz="1300" b="1">
                <a:solidFill>
                  <a:srgbClr val="21201C"/>
                </a:solidFill>
                <a:latin typeface="Cambria"/>
              </a:defRPr>
            </a:pPr>
            <a:r>
              <a:t>Designer</a:t>
            </a:r>
          </a:p>
        </p:txBody>
      </p:sp>
      <p:sp>
        <p:nvSpPr>
          <p:cNvPr id="24" name="TextBox 23"/>
          <p:cNvSpPr txBox="1"/>
          <p:nvPr/>
        </p:nvSpPr>
        <p:spPr>
          <a:xfrm>
            <a:off x="7626096" y="3099816"/>
            <a:ext cx="1060703" cy="548640"/>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Asks the writer for the headline; one image.</a:t>
            </a:r>
          </a:p>
        </p:txBody>
      </p:sp>
      <p:sp>
        <p:nvSpPr>
          <p:cNvPr id="25" name="Rounded Rectangle 24"/>
          <p:cNvSpPr/>
          <p:nvPr/>
        </p:nvSpPr>
        <p:spPr>
          <a:xfrm>
            <a:off x="8924544" y="2587752"/>
            <a:ext cx="1280159" cy="1097280"/>
          </a:xfrm>
          <a:prstGeom prst="roundRect">
            <a:avLst>
              <a:gd name="adj" fmla="val 6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34272" y="2752344"/>
            <a:ext cx="1060703" cy="310896"/>
          </a:xfrm>
          <a:prstGeom prst="rect">
            <a:avLst/>
          </a:prstGeom>
          <a:noFill/>
        </p:spPr>
        <p:txBody>
          <a:bodyPr wrap="square" lIns="18288" rIns="18288" tIns="9144" bIns="9144">
            <a:spAutoFit/>
          </a:bodyPr>
          <a:lstStyle/>
          <a:p>
            <a:pPr>
              <a:lnSpc>
                <a:spcPct val="100000"/>
              </a:lnSpc>
              <a:defRPr sz="1300" b="1">
                <a:solidFill>
                  <a:srgbClr val="21201C"/>
                </a:solidFill>
                <a:latin typeface="Cambria"/>
              </a:defRPr>
            </a:pPr>
            <a:r>
              <a:t>Lead</a:t>
            </a:r>
          </a:p>
        </p:txBody>
      </p:sp>
      <p:sp>
        <p:nvSpPr>
          <p:cNvPr id="27" name="TextBox 26"/>
          <p:cNvSpPr txBox="1"/>
          <p:nvPr/>
        </p:nvSpPr>
        <p:spPr>
          <a:xfrm>
            <a:off x="9034272" y="3099816"/>
            <a:ext cx="1060703" cy="548640"/>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Submits for approval; never rewrites.</a:t>
            </a:r>
          </a:p>
        </p:txBody>
      </p:sp>
      <p:cxnSp>
        <p:nvCxnSpPr>
          <p:cNvPr id="28" name="Connector 27"/>
          <p:cNvCxnSpPr/>
          <p:nvPr/>
        </p:nvCxnSpPr>
        <p:spPr>
          <a:xfrm>
            <a:off x="8805672" y="3136392"/>
            <a:ext cx="109728"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0332720" y="2587752"/>
            <a:ext cx="1280159" cy="10972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42448" y="2752344"/>
            <a:ext cx="1060703" cy="310896"/>
          </a:xfrm>
          <a:prstGeom prst="rect">
            <a:avLst/>
          </a:prstGeom>
          <a:noFill/>
        </p:spPr>
        <p:txBody>
          <a:bodyPr wrap="square" lIns="18288" rIns="18288" tIns="9144" bIns="9144">
            <a:spAutoFit/>
          </a:bodyPr>
          <a:lstStyle/>
          <a:p>
            <a:pPr>
              <a:lnSpc>
                <a:spcPct val="100000"/>
              </a:lnSpc>
              <a:defRPr sz="1300" b="1">
                <a:solidFill>
                  <a:srgbClr val="FFFFFF"/>
                </a:solidFill>
                <a:latin typeface="Cambria"/>
              </a:defRPr>
            </a:pPr>
            <a:r>
              <a:t>Person</a:t>
            </a:r>
          </a:p>
        </p:txBody>
      </p:sp>
      <p:sp>
        <p:nvSpPr>
          <p:cNvPr id="31" name="TextBox 30"/>
          <p:cNvSpPr txBox="1"/>
          <p:nvPr/>
        </p:nvSpPr>
        <p:spPr>
          <a:xfrm>
            <a:off x="10442448" y="3099816"/>
            <a:ext cx="1060703" cy="548640"/>
          </a:xfrm>
          <a:prstGeom prst="rect">
            <a:avLst/>
          </a:prstGeom>
          <a:noFill/>
        </p:spPr>
        <p:txBody>
          <a:bodyPr wrap="square" lIns="18288" rIns="18288" tIns="9144" bIns="9144">
            <a:spAutoFit/>
          </a:bodyPr>
          <a:lstStyle/>
          <a:p>
            <a:pPr>
              <a:lnSpc>
                <a:spcPct val="105000"/>
              </a:lnSpc>
              <a:defRPr sz="1050" b="0">
                <a:solidFill>
                  <a:srgbClr val="C9C4B9"/>
                </a:solidFill>
                <a:latin typeface="Calibri"/>
              </a:defRPr>
            </a:pPr>
            <a:r>
              <a:t>Approves the exact version.</a:t>
            </a:r>
          </a:p>
        </p:txBody>
      </p:sp>
      <p:cxnSp>
        <p:nvCxnSpPr>
          <p:cNvPr id="32" name="Connector 31"/>
          <p:cNvCxnSpPr/>
          <p:nvPr/>
        </p:nvCxnSpPr>
        <p:spPr>
          <a:xfrm>
            <a:off x="10213848" y="3136392"/>
            <a:ext cx="109728"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050792"/>
            <a:ext cx="5486400" cy="256032"/>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THE AUDIT FAILS WHEN</a:t>
            </a:r>
          </a:p>
        </p:txBody>
      </p:sp>
      <p:sp>
        <p:nvSpPr>
          <p:cNvPr id="34" name="Oval 33"/>
          <p:cNvSpPr/>
          <p:nvPr/>
        </p:nvSpPr>
        <p:spPr>
          <a:xfrm>
            <a:off x="548640" y="437997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1</a:t>
            </a:r>
          </a:p>
        </p:txBody>
      </p:sp>
      <p:sp>
        <p:nvSpPr>
          <p:cNvPr id="35" name="TextBox 34"/>
          <p:cNvSpPr txBox="1"/>
          <p:nvPr/>
        </p:nvSpPr>
        <p:spPr>
          <a:xfrm>
            <a:off x="932688" y="438912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figure is not in facts-2026.md</a:t>
            </a:r>
          </a:p>
        </p:txBody>
      </p:sp>
      <p:sp>
        <p:nvSpPr>
          <p:cNvPr id="36" name="Oval 35"/>
          <p:cNvSpPr/>
          <p:nvPr/>
        </p:nvSpPr>
        <p:spPr>
          <a:xfrm>
            <a:off x="548640" y="474573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2</a:t>
            </a:r>
          </a:p>
        </p:txBody>
      </p:sp>
      <p:sp>
        <p:nvSpPr>
          <p:cNvPr id="37" name="TextBox 36"/>
          <p:cNvSpPr txBox="1"/>
          <p:nvPr/>
        </p:nvSpPr>
        <p:spPr>
          <a:xfrm>
            <a:off x="932688" y="475488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promise of savings or returns</a:t>
            </a:r>
          </a:p>
        </p:txBody>
      </p:sp>
      <p:sp>
        <p:nvSpPr>
          <p:cNvPr id="38" name="Oval 37"/>
          <p:cNvSpPr/>
          <p:nvPr/>
        </p:nvSpPr>
        <p:spPr>
          <a:xfrm>
            <a:off x="6126479" y="437997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3</a:t>
            </a:r>
          </a:p>
        </p:txBody>
      </p:sp>
      <p:sp>
        <p:nvSpPr>
          <p:cNvPr id="39" name="TextBox 38"/>
          <p:cNvSpPr txBox="1"/>
          <p:nvPr/>
        </p:nvSpPr>
        <p:spPr>
          <a:xfrm>
            <a:off x="6510527" y="438912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Advice ("everyone should…")</a:t>
            </a:r>
          </a:p>
        </p:txBody>
      </p:sp>
      <p:sp>
        <p:nvSpPr>
          <p:cNvPr id="40" name="Oval 39"/>
          <p:cNvSpPr/>
          <p:nvPr/>
        </p:nvSpPr>
        <p:spPr>
          <a:xfrm>
            <a:off x="6126479" y="474573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4</a:t>
            </a:r>
          </a:p>
        </p:txBody>
      </p:sp>
      <p:sp>
        <p:nvSpPr>
          <p:cNvPr id="41" name="TextBox 40"/>
          <p:cNvSpPr txBox="1"/>
          <p:nvPr/>
        </p:nvSpPr>
        <p:spPr>
          <a:xfrm>
            <a:off x="6510527" y="475488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wrong age or a missing disclaimer</a:t>
            </a:r>
          </a:p>
        </p:txBody>
      </p:sp>
      <p:sp>
        <p:nvSpPr>
          <p:cNvPr id="42" name="Rounded Rectangle 41"/>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Three rounds at most — then the Lead escalates to a person.</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January is for people turning 55. Before Horizon spends on a CPF explainer for them, Rachel wants it argued both ways — and the intern's draft checked until it passes.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decision (pros, cons, verdict), then an email, a video script and a thumbnail that passed QA, submitted for your approval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teams: Lead, teammates, shared task list, direct messages)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an advocate and a critic argue the pros and cons · the Lead judges · a writer and a QA Auditor loop until PASS · FAIL goes straight back to the writer · human approval</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15".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Part 1: the debate  </a:t>
            </a:r>
            <a:r>
              <a:rPr sz="1300">
                <a:solidFill>
                  <a:srgbClr val="6B6862"/>
                </a:solidFill>
                <a:latin typeface="Calibri"/>
              </a:rPr>
              <a:t>Copy and paste Prompt A. The advocate and the critic message each other; the decision page shows their debate.</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t>
            </a:r>
            <a:r>
              <a:rPr sz="1300">
                <a:solidFill>
                  <a:srgbClr val="6B6862"/>
                </a:solidFill>
                <a:latin typeface="Calibri"/>
              </a:rPr>
              <a:t>Read the decision artifact. Reply "go", "go with conditions" or "no-go" — the call is yours.</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Part 2: the QA loop  </a:t>
            </a:r>
            <a:r>
              <a:rPr sz="1300">
                <a:solidFill>
                  <a:srgbClr val="6B6862"/>
                </a:solidFill>
                <a:latin typeface="Calibri"/>
              </a:rPr>
              <a:t>After you have made the call, copy and paste Prompt B. The audit fails on round 1; watch the auditor message the writer directly.</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as a person  </a:t>
            </a:r>
            <a:r>
              <a:rPr sz="1300">
                <a:solidFill>
                  <a:srgbClr val="6B6862"/>
                </a:solidFill>
                <a:latin typeface="Calibri"/>
              </a:rPr>
              <a:t>Read the pieces and the QA artifact, then type in the chat: approved &lt;id&gt; by &lt;your name&gt; (or: changes &lt;id&gt;: what to fix).</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Shut down  </a:t>
            </a:r>
            <a:r>
              <a:rPr sz="1300">
                <a:solidFill>
                  <a:srgbClr val="6B6862"/>
                </a:solidFill>
                <a:latin typeface="Calibri"/>
              </a:rPr>
              <a:t>After you have approved the pieces, copy and paste Prompt C. The Lead stops each teammate and cleans up the team.</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161</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strategy debate</a:t>
            </a:r>
          </a:p>
        </p:txBody>
      </p:sp>
      <p:sp>
        <p:nvSpPr>
          <p:cNvPr id="9" name="TextBox 8"/>
          <p:cNvSpPr txBox="1"/>
          <p:nvPr/>
        </p:nvSpPr>
        <p:spPr>
          <a:xfrm>
            <a:off x="822960" y="2313432"/>
            <a:ext cx="10515600" cy="3831221"/>
          </a:xfrm>
          <a:prstGeom prst="rect">
            <a:avLst/>
          </a:prstGeom>
          <a:noFill/>
        </p:spPr>
        <p:txBody>
          <a:bodyPr wrap="square" lIns="18288" rIns="18288" tIns="9144" bIns="9144">
            <a:spAutoFit/>
          </a:bodyPr>
          <a:lstStyle/>
          <a:p>
            <a:pPr>
              <a:lnSpc>
                <a:spcPct val="110000"/>
              </a:lnSpc>
              <a:defRPr sz="1580" b="0">
                <a:solidFill>
                  <a:srgbClr val="21201C"/>
                </a:solidFill>
                <a:latin typeface="Calibri"/>
              </a:defRPr>
            </a:pPr>
            <a:r>
              <a:t>Create an agent team to test the strategy in data/turning-55-brief.md before we spend on it. You are the Lead and the judge: do not argue. Spawn two teammates:</a:t>
            </a:r>
          </a:p>
          <a:p>
            <a:pPr>
              <a:lnSpc>
                <a:spcPct val="110000"/>
              </a:lnSpc>
              <a:defRPr sz="1580" b="0">
                <a:solidFill>
                  <a:srgbClr val="21201C"/>
                </a:solidFill>
                <a:latin typeface="Calibri"/>
              </a:defRPr>
            </a:pPr>
            <a:r>
              <a:t>- advocate, using the agent type growth-strategist:</a:t>
            </a:r>
          </a:p>
          <a:p>
            <a:pPr>
              <a:lnSpc>
                <a:spcPct val="110000"/>
              </a:lnSpc>
              <a:defRPr sz="1580" b="0">
                <a:solidFill>
                  <a:srgbClr val="21201C"/>
                </a:solidFill>
                <a:latin typeface="Calibri"/>
              </a:defRPr>
            </a:pPr>
            <a:r>
              <a:t>  argue FOR the strategy.</a:t>
            </a:r>
          </a:p>
          <a:p>
            <a:pPr>
              <a:lnSpc>
                <a:spcPct val="110000"/>
              </a:lnSpc>
              <a:defRPr sz="1580" b="0">
                <a:solidFill>
                  <a:srgbClr val="21201C"/>
                </a:solidFill>
                <a:latin typeface="Calibri"/>
              </a:defRPr>
            </a:pPr>
            <a:r>
              <a:t>- critic, using the agent type growth-analyst:</a:t>
            </a:r>
          </a:p>
          <a:p>
            <a:pPr>
              <a:lnSpc>
                <a:spcPct val="110000"/>
              </a:lnSpc>
              <a:defRPr sz="1580" b="0">
                <a:solidFill>
                  <a:srgbClr val="21201C"/>
                </a:solidFill>
                <a:latin typeface="Calibri"/>
              </a:defRPr>
            </a:pPr>
            <a:r>
              <a:t>  argue AGAINST it.</a:t>
            </a:r>
          </a:p>
          <a:p>
            <a:pPr>
              <a:lnSpc>
                <a:spcPct val="110000"/>
              </a:lnSpc>
              <a:defRPr sz="1580" b="0">
                <a:solidFill>
                  <a:srgbClr val="21201C"/>
                </a:solidFill>
                <a:latin typeface="Calibri"/>
              </a:defRPr>
            </a:pPr>
            <a:r>
              <a:t>- Both: cite data/campaign-results.csv, strategy/personas.md, data/facts-2026.md or data/compliance-checklist.md for every point; message each other directly; rebut twice at most.</a:t>
            </a:r>
          </a:p>
          <a:p>
            <a:pPr>
              <a:lnSpc>
                <a:spcPct val="110000"/>
              </a:lnSpc>
              <a:defRPr sz="1580" b="0">
                <a:solidFill>
                  <a:srgbClr val="21201C"/>
                </a:solidFill>
                <a:latin typeface="Calibri"/>
              </a:defRPr>
            </a:pPr>
            <a:r>
              <a:t>- You: write strategy/turning-55-decision.md with the pros, the cons, your verdict (go / go with conditions / no-go) and the conditions. Publish the decision as an artifact with the verdict on top, the pros and cons in two columns, the debate (the messages the advocate and critic sent each other, in order) and what I do next. Then wait for my decision. Write for a business owner, in plain English: no codes, IDs, file names or line numbers; start with what it means and what I do next. Save a Word copy (.docx) of each result.</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162</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QA loop</a:t>
            </a:r>
          </a:p>
        </p:txBody>
      </p:sp>
      <p:sp>
        <p:nvSpPr>
          <p:cNvPr id="9" name="TextBox 8"/>
          <p:cNvSpPr txBox="1"/>
          <p:nvPr/>
        </p:nvSpPr>
        <p:spPr>
          <a:xfrm>
            <a:off x="822960" y="2313432"/>
            <a:ext cx="10515600" cy="3728961"/>
          </a:xfrm>
          <a:prstGeom prst="rect">
            <a:avLst/>
          </a:prstGeom>
          <a:noFill/>
        </p:spPr>
        <p:txBody>
          <a:bodyPr wrap="square" lIns="18288" rIns="18288" tIns="9144" bIns="9144">
            <a:spAutoFit/>
          </a:bodyPr>
          <a:lstStyle/>
          <a:p>
            <a:pPr>
              <a:lnSpc>
                <a:spcPct val="110000"/>
              </a:lnSpc>
              <a:defRPr sz="1650" b="0">
                <a:solidFill>
                  <a:srgbClr val="21201C"/>
                </a:solidFill>
                <a:latin typeface="Calibri"/>
              </a:defRPr>
            </a:pPr>
            <a:r>
              <a:t>Clean up the debate team, then create a new agent team for Part 2 of data/turning-55-brief.md, using my decision. Spawn three teammates:</a:t>
            </a:r>
          </a:p>
          <a:p>
            <a:pPr>
              <a:lnSpc>
                <a:spcPct val="110000"/>
              </a:lnSpc>
              <a:defRPr sz="1650" b="0">
                <a:solidFill>
                  <a:srgbClr val="21201C"/>
                </a:solidFill>
                <a:latin typeface="Calibri"/>
              </a:defRPr>
            </a:pPr>
            <a:r>
              <a:t>- writer, agent type content-creator: rewrite data/turning-55-draft.md into content/turning-55/email.md and content/turning-55/video-script.md.</a:t>
            </a:r>
          </a:p>
          <a:p>
            <a:pPr>
              <a:lnSpc>
                <a:spcPct val="110000"/>
              </a:lnSpc>
              <a:defRPr sz="1650" b="0">
                <a:solidFill>
                  <a:srgbClr val="21201C"/>
                </a:solidFill>
                <a:latin typeface="Calibri"/>
              </a:defRPr>
            </a:pPr>
            <a:r>
              <a:t>- qa-auditor: audit each piece with fact-check and fin-compliance; write review/turning-55-qa.md, one section per round, PASS or FAIL per check. On FAIL, message the writer directly with the lines to fix and audit again. Three rounds at most.</a:t>
            </a:r>
          </a:p>
          <a:p>
            <a:pPr>
              <a:lnSpc>
                <a:spcPct val="110000"/>
              </a:lnSpc>
              <a:defRPr sz="1650" b="0">
                <a:solidFill>
                  <a:srgbClr val="21201C"/>
                </a:solidFill>
                <a:latin typeface="Calibri"/>
              </a:defRPr>
            </a:pPr>
            <a:r>
              <a:t>- designer, agent type creative-designer: once a piece passes, ask the writer for its headline and make one thumbnail with alt text.</a:t>
            </a:r>
          </a:p>
          <a:p>
            <a:pPr>
              <a:lnSpc>
                <a:spcPct val="110000"/>
              </a:lnSpc>
              <a:defRPr sz="1650" b="0">
                <a:solidFill>
                  <a:srgbClr val="21201C"/>
                </a:solidFill>
                <a:latin typeface="Calibri"/>
              </a:defRPr>
            </a:pPr>
            <a:r>
              <a:t>- You, the Lead: never write or fix content. When everything passes, submit each piece with scripts/submit.mjs. Publish nothing. Publish the QA report as an artifact, one row per round, PASS or FAIL per check, in colour. Write for a business owner, in plain English: no codes, IDs, file names or line numbers; start with what it means and what I do next. Save a Word copy (.docx) of each result.</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163</a:t>
            </a:r>
          </a:p>
        </p:txBody>
      </p:sp>
      <p:sp>
        <p:nvSpPr>
          <p:cNvPr id="7" name="Rounded Rectangle 6"/>
          <p:cNvSpPr/>
          <p:nvPr/>
        </p:nvSpPr>
        <p:spPr>
          <a:xfrm>
            <a:off x="548640" y="1783080"/>
            <a:ext cx="11064240" cy="140243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shut down</a:t>
            </a:r>
          </a:p>
        </p:txBody>
      </p:sp>
      <p:sp>
        <p:nvSpPr>
          <p:cNvPr id="9" name="TextBox 8"/>
          <p:cNvSpPr txBox="1"/>
          <p:nvPr/>
        </p:nvSpPr>
        <p:spPr>
          <a:xfrm>
            <a:off x="822960" y="2313432"/>
            <a:ext cx="10515600" cy="65262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Ask every teammate to shut down, then clean up the team. Show me the final task list and how many QA rounds each piece needed. Publish it as an artifact.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Use subagents when only the result matters; use a team when the agents must talk — to argue, or to send work back. Every teammate is its own Claude session, so teams cost more tokens.</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164</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Summarise the debate: the best point for, the best point against, and your verdict.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failed in the first QA round, in plain English?</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How many rounds did each piece need,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165</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advocate and the critic messaged each other; every point cites a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decision has pros, cons, a verdict — and you made the call.</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Round 1 of the QA report FAILED: the FRS figure, CPF LIFE "from 55", the promised payout, the advice and the missing disclaimer.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auditor sent the fixes to the writer directly; a later round PASSED.</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by typing in the chat;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Both teams were shut down and cleaned up.</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SUMMARY · KEY CONCEPTS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Each Pattern Is Triggered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ways your team runs. The difference is what sets each one off.</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166</a:t>
            </a:r>
          </a:p>
        </p:txBody>
      </p:sp>
      <p:sp>
        <p:nvSpPr>
          <p:cNvPr id="8" name="Rounded Rectangle 7"/>
          <p:cNvSpPr/>
          <p:nvPr/>
        </p:nvSpPr>
        <p:spPr>
          <a:xfrm>
            <a:off x="548640"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2095804" cy="68580"/>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2322576"/>
            <a:ext cx="1766620" cy="310896"/>
          </a:xfrm>
          <a:prstGeom prst="roundRect">
            <a:avLst>
              <a:gd name="adj" fmla="val 50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DELEGATION</a:t>
            </a:r>
          </a:p>
        </p:txBody>
      </p:sp>
      <p:sp>
        <p:nvSpPr>
          <p:cNvPr id="11" name="TextBox 10"/>
          <p:cNvSpPr txBox="1"/>
          <p:nvPr/>
        </p:nvSpPr>
        <p:spPr>
          <a:xfrm>
            <a:off x="713232"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Subagents</a:t>
            </a:r>
          </a:p>
        </p:txBody>
      </p:sp>
      <p:sp>
        <p:nvSpPr>
          <p:cNvPr id="12" name="TextBox 11"/>
          <p:cNvSpPr txBox="1"/>
          <p:nvPr/>
        </p:nvSpPr>
        <p:spPr>
          <a:xfrm>
            <a:off x="713232"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starts them when you ask — or when a task matches an agent's description.</a:t>
            </a:r>
          </a:p>
        </p:txBody>
      </p:sp>
      <p:sp>
        <p:nvSpPr>
          <p:cNvPr id="13" name="TextBox 12"/>
          <p:cNvSpPr txBox="1"/>
          <p:nvPr/>
        </p:nvSpPr>
        <p:spPr>
          <a:xfrm>
            <a:off x="713232"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14" name="TextBox 13"/>
          <p:cNvSpPr txBox="1"/>
          <p:nvPr/>
        </p:nvSpPr>
        <p:spPr>
          <a:xfrm>
            <a:off x="713232"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"use subagents,</a:t>
            </a:r>
          </a:p>
          <a:p>
            <a:pPr>
              <a:lnSpc>
                <a:spcPct val="100000"/>
              </a:lnSpc>
              <a:defRPr sz="1050" b="0">
                <a:solidFill>
                  <a:srgbClr val="21201C"/>
                </a:solidFill>
                <a:latin typeface="Courier New"/>
              </a:defRPr>
            </a:pPr>
            <a:r>
              <a:t>one per role"</a:t>
            </a:r>
          </a:p>
        </p:txBody>
      </p:sp>
      <p:sp>
        <p:nvSpPr>
          <p:cNvPr id="15" name="Rectangle 14"/>
          <p:cNvSpPr/>
          <p:nvPr/>
        </p:nvSpPr>
        <p:spPr>
          <a:xfrm>
            <a:off x="713232"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.claude/agents/</a:t>
            </a:r>
          </a:p>
        </p:txBody>
      </p:sp>
      <p:sp>
        <p:nvSpPr>
          <p:cNvPr id="17" name="Rounded Rectangle 16"/>
          <p:cNvSpPr/>
          <p:nvPr/>
        </p:nvSpPr>
        <p:spPr>
          <a:xfrm>
            <a:off x="2790748"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90748" y="2084831"/>
            <a:ext cx="2095804"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55340" y="2322576"/>
            <a:ext cx="1766620"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THE LEAD</a:t>
            </a:r>
          </a:p>
        </p:txBody>
      </p:sp>
      <p:sp>
        <p:nvSpPr>
          <p:cNvPr id="20" name="TextBox 19"/>
          <p:cNvSpPr txBox="1"/>
          <p:nvPr/>
        </p:nvSpPr>
        <p:spPr>
          <a:xfrm>
            <a:off x="2955340"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Agent teams</a:t>
            </a:r>
          </a:p>
        </p:txBody>
      </p:sp>
      <p:sp>
        <p:nvSpPr>
          <p:cNvPr id="21" name="TextBox 20"/>
          <p:cNvSpPr txBox="1"/>
          <p:nvPr/>
        </p:nvSpPr>
        <p:spPr>
          <a:xfrm>
            <a:off x="2955340"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spawns teammates who share a task list and message each other.</a:t>
            </a:r>
          </a:p>
        </p:txBody>
      </p:sp>
      <p:sp>
        <p:nvSpPr>
          <p:cNvPr id="22" name="TextBox 21"/>
          <p:cNvSpPr txBox="1"/>
          <p:nvPr/>
        </p:nvSpPr>
        <p:spPr>
          <a:xfrm>
            <a:off x="2955340"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23" name="TextBox 22"/>
          <p:cNvSpPr txBox="1"/>
          <p:nvPr/>
        </p:nvSpPr>
        <p:spPr>
          <a:xfrm>
            <a:off x="2955340"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"spawn teammates</a:t>
            </a:r>
          </a:p>
          <a:p>
            <a:pPr>
              <a:lnSpc>
                <a:spcPct val="100000"/>
              </a:lnSpc>
              <a:defRPr sz="1050" b="0">
                <a:solidFill>
                  <a:srgbClr val="21201C"/>
                </a:solidFill>
                <a:latin typeface="Courier New"/>
              </a:defRPr>
            </a:pPr>
            <a:r>
              <a:t>using agent types…"</a:t>
            </a:r>
          </a:p>
        </p:txBody>
      </p:sp>
      <p:sp>
        <p:nvSpPr>
          <p:cNvPr id="24" name="Rectangle 23"/>
          <p:cNvSpPr/>
          <p:nvPr/>
        </p:nvSpPr>
        <p:spPr>
          <a:xfrm>
            <a:off x="2955340"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55340"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 Code (experimental)</a:t>
            </a:r>
          </a:p>
        </p:txBody>
      </p:sp>
      <p:sp>
        <p:nvSpPr>
          <p:cNvPr id="26" name="Rounded Rectangle 25"/>
          <p:cNvSpPr/>
          <p:nvPr/>
        </p:nvSpPr>
        <p:spPr>
          <a:xfrm>
            <a:off x="5032857"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32857" y="2084831"/>
            <a:ext cx="2095804"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197449" y="2322576"/>
            <a:ext cx="1766620" cy="310896"/>
          </a:xfrm>
          <a:prstGeom prst="roundRect">
            <a:avLst>
              <a:gd name="adj" fmla="val 50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DEMAND</a:t>
            </a:r>
          </a:p>
        </p:txBody>
      </p:sp>
      <p:sp>
        <p:nvSpPr>
          <p:cNvPr id="29" name="TextBox 28"/>
          <p:cNvSpPr txBox="1"/>
          <p:nvPr/>
        </p:nvSpPr>
        <p:spPr>
          <a:xfrm>
            <a:off x="5197449"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Skills</a:t>
            </a:r>
          </a:p>
        </p:txBody>
      </p:sp>
      <p:sp>
        <p:nvSpPr>
          <p:cNvPr id="30" name="TextBox 29"/>
          <p:cNvSpPr txBox="1"/>
          <p:nvPr/>
        </p:nvSpPr>
        <p:spPr>
          <a:xfrm>
            <a:off x="5197449"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Loaded when the task matches the description. Free until then.</a:t>
            </a:r>
          </a:p>
        </p:txBody>
      </p:sp>
      <p:sp>
        <p:nvSpPr>
          <p:cNvPr id="31" name="TextBox 30"/>
          <p:cNvSpPr txBox="1"/>
          <p:nvPr/>
        </p:nvSpPr>
        <p:spPr>
          <a:xfrm>
            <a:off x="5197449"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32" name="TextBox 31"/>
          <p:cNvSpPr txBox="1"/>
          <p:nvPr/>
        </p:nvSpPr>
        <p:spPr>
          <a:xfrm>
            <a:off x="5197449"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campaign-brief</a:t>
            </a:r>
          </a:p>
          <a:p>
            <a:pPr>
              <a:lnSpc>
                <a:spcPct val="100000"/>
              </a:lnSpc>
              <a:defRPr sz="1050" b="0">
                <a:solidFill>
                  <a:srgbClr val="21201C"/>
                </a:solidFill>
                <a:latin typeface="Courier New"/>
              </a:defRPr>
            </a:pPr>
            <a:r>
              <a:t>video-render</a:t>
            </a:r>
          </a:p>
        </p:txBody>
      </p:sp>
      <p:sp>
        <p:nvSpPr>
          <p:cNvPr id="33" name="Rectangle 32"/>
          <p:cNvSpPr/>
          <p:nvPr/>
        </p:nvSpPr>
        <p:spPr>
          <a:xfrm>
            <a:off x="5197449"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97449"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.claude/skills/</a:t>
            </a:r>
          </a:p>
        </p:txBody>
      </p:sp>
      <p:sp>
        <p:nvSpPr>
          <p:cNvPr id="35" name="Rounded Rectangle 34"/>
          <p:cNvSpPr/>
          <p:nvPr/>
        </p:nvSpPr>
        <p:spPr>
          <a:xfrm>
            <a:off x="7274966"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74966" y="2084831"/>
            <a:ext cx="2095804"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439558" y="2322576"/>
            <a:ext cx="1766620" cy="310896"/>
          </a:xfrm>
          <a:prstGeom prst="roundRect">
            <a:avLst>
              <a:gd name="adj" fmla="val 50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AN EVENT</a:t>
            </a:r>
          </a:p>
        </p:txBody>
      </p:sp>
      <p:sp>
        <p:nvSpPr>
          <p:cNvPr id="38" name="TextBox 37"/>
          <p:cNvSpPr txBox="1"/>
          <p:nvPr/>
        </p:nvSpPr>
        <p:spPr>
          <a:xfrm>
            <a:off x="7439558"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Hooks</a:t>
            </a:r>
          </a:p>
        </p:txBody>
      </p:sp>
      <p:sp>
        <p:nvSpPr>
          <p:cNvPr id="39" name="TextBox 38"/>
          <p:cNvSpPr txBox="1"/>
          <p:nvPr/>
        </p:nvSpPr>
        <p:spPr>
          <a:xfrm>
            <a:off x="7439558"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every time an event fires — before a tool runs. The model cannot skip them.</a:t>
            </a:r>
          </a:p>
        </p:txBody>
      </p:sp>
      <p:sp>
        <p:nvSpPr>
          <p:cNvPr id="40" name="TextBox 39"/>
          <p:cNvSpPr txBox="1"/>
          <p:nvPr/>
        </p:nvSpPr>
        <p:spPr>
          <a:xfrm>
            <a:off x="7439558"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41" name="TextBox 40"/>
          <p:cNvSpPr txBox="1"/>
          <p:nvPr/>
        </p:nvSpPr>
        <p:spPr>
          <a:xfrm>
            <a:off x="7439558"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PreToolUse:</a:t>
            </a:r>
          </a:p>
          <a:p>
            <a:pPr>
              <a:lnSpc>
                <a:spcPct val="100000"/>
              </a:lnSpc>
              <a:defRPr sz="1050" b="0">
                <a:solidFill>
                  <a:srgbClr val="21201C"/>
                </a:solidFill>
                <a:latin typeface="Courier New"/>
              </a:defRPr>
            </a:pPr>
            <a:r>
              <a:t>gate-hook.mjs</a:t>
            </a:r>
          </a:p>
        </p:txBody>
      </p:sp>
      <p:sp>
        <p:nvSpPr>
          <p:cNvPr id="42" name="Rectangle 41"/>
          <p:cNvSpPr/>
          <p:nvPr/>
        </p:nvSpPr>
        <p:spPr>
          <a:xfrm>
            <a:off x="7439558"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39558"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.claude/settings.json</a:t>
            </a:r>
          </a:p>
        </p:txBody>
      </p:sp>
      <p:sp>
        <p:nvSpPr>
          <p:cNvPr id="44" name="Rounded Rectangle 43"/>
          <p:cNvSpPr/>
          <p:nvPr/>
        </p:nvSpPr>
        <p:spPr>
          <a:xfrm>
            <a:off x="9517075"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17075" y="2084831"/>
            <a:ext cx="2095804" cy="68580"/>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681667" y="2322576"/>
            <a:ext cx="1766620" cy="310896"/>
          </a:xfrm>
          <a:prstGeom prst="roundRect">
            <a:avLst>
              <a:gd name="adj" fmla="val 50000"/>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THE CLOCK</a:t>
            </a:r>
          </a:p>
        </p:txBody>
      </p:sp>
      <p:sp>
        <p:nvSpPr>
          <p:cNvPr id="47" name="TextBox 46"/>
          <p:cNvSpPr txBox="1"/>
          <p:nvPr/>
        </p:nvSpPr>
        <p:spPr>
          <a:xfrm>
            <a:off x="9681667"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Scheduled tasks</a:t>
            </a:r>
          </a:p>
        </p:txBody>
      </p:sp>
      <p:sp>
        <p:nvSpPr>
          <p:cNvPr id="48" name="TextBox 47"/>
          <p:cNvSpPr txBox="1"/>
          <p:nvPr/>
        </p:nvSpPr>
        <p:spPr>
          <a:xfrm>
            <a:off x="9681667"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a skill on a schedule and leave the result for a person.</a:t>
            </a:r>
          </a:p>
        </p:txBody>
      </p:sp>
      <p:sp>
        <p:nvSpPr>
          <p:cNvPr id="49" name="TextBox 48"/>
          <p:cNvSpPr txBox="1"/>
          <p:nvPr/>
        </p:nvSpPr>
        <p:spPr>
          <a:xfrm>
            <a:off x="9681667"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50" name="TextBox 49"/>
          <p:cNvSpPr txBox="1"/>
          <p:nvPr/>
        </p:nvSpPr>
        <p:spPr>
          <a:xfrm>
            <a:off x="9681667"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Mondays 8am:</a:t>
            </a:r>
          </a:p>
          <a:p>
            <a:pPr>
              <a:lnSpc>
                <a:spcPct val="100000"/>
              </a:lnSpc>
              <a:defRPr sz="1050" b="0">
                <a:solidFill>
                  <a:srgbClr val="21201C"/>
                </a:solidFill>
                <a:latin typeface="Courier New"/>
              </a:defRPr>
            </a:pPr>
            <a:r>
              <a:t>campaign-report</a:t>
            </a:r>
          </a:p>
        </p:txBody>
      </p:sp>
      <p:sp>
        <p:nvSpPr>
          <p:cNvPr id="51" name="Rectangle 50"/>
          <p:cNvSpPr/>
          <p:nvPr/>
        </p:nvSpPr>
        <p:spPr>
          <a:xfrm>
            <a:off x="9681667"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81667"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a:t>
            </a:r>
          </a:p>
        </p:txBody>
      </p:sp>
      <p:sp>
        <p:nvSpPr>
          <p:cNvPr id="53" name="Rounded Rectangle 5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Who decides?  You: the approval  ·  the model: delegation and skills  ·  the system, every time: hooks and the clock</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WRAP 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Horizon: One Team, Five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days, one regulated business — the Claude Edition.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Form</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Lead and five agents: instructions, skills, connectors.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 1, personas, cadence and a calendar.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Create</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Social week, newsletter + landing page, video.</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Govern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human gate, least privilege, a playbook.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Run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as a draft.</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21201C"/>
        </a:solidFill>
      </p:bgPr>
    </p:bg>
    <p:spTree>
      <p:nvGrpSpPr>
        <p:cNvPr id="1" name=""/>
        <p:cNvGrpSpPr/>
        <p:nvPr/>
      </p:nvGrpSpPr>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3"/>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4"/>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5"/>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BEFORE YOU GO</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169</a:t>
            </a:r>
            <a:endParaRPr lang="en-US" sz="900" dirty="0"/>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AFTER THE COURSE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Practice Exam: Claude Certified Associate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exams.tertiaryinfotech.com/practice-exams/anthropic/anthropic-ccao-foundations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170</a:t>
            </a:r>
          </a:p>
        </p:txBody>
      </p:sp>
      <p:sp>
        <p:nvSpPr>
          <p:cNvPr id="8" name="Rectangle 7"/>
          <p:cNvSpPr/>
          <p:nvPr/>
        </p:nvSpPr>
        <p:spPr>
          <a:xfrm>
            <a:off x="512064" y="2048255"/>
            <a:ext cx="5312876" cy="359359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ractice-exam.png">
            <a:hlinkClick r:id="rId3"/>
          </p:cNvPr>
          <p:cNvPicPr>
            <a:picLocks noChangeAspect="1"/>
          </p:cNvPicPr>
          <p:nvPr/>
        </p:nvPicPr>
        <p:blipFill>
          <a:blip r:embed="rId2"/>
          <a:stretch>
            <a:fillRect/>
          </a:stretch>
        </p:blipFill>
        <p:spPr>
          <a:xfrm>
            <a:off x="548640" y="2084831"/>
            <a:ext cx="5239724" cy="3520439"/>
          </a:xfrm>
          <a:prstGeom prst="rect">
            <a:avLst/>
          </a:prstGeom>
        </p:spPr>
      </p:pic>
      <p:sp>
        <p:nvSpPr>
          <p:cNvPr id="10" name="TextBox 9"/>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PRACTICE EXAM   </a:t>
            </a:r>
            <a:r>
              <a:rPr sz="1000" b="0">
                <a:solidFill>
                  <a:srgbClr val="21201C"/>
                </a:solidFill>
                <a:latin typeface="Calibri"/>
                <a:hlinkClick r:id="rId3"/>
              </a:rPr>
              <a:t>exams.tertiaryinfotech.com/practice-exams/anthropic/anthropic-ccao-foundations</a:t>
            </a:r>
          </a:p>
        </p:txBody>
      </p:sp>
      <p:sp>
        <p:nvSpPr>
          <p:cNvPr id="11" name="Rectangle 10"/>
          <p:cNvSpPr/>
          <p:nvPr/>
        </p:nvSpPr>
        <p:spPr>
          <a:xfrm>
            <a:off x="6154124"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292" y="2130551"/>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CCAO-F · Foundations</a:t>
            </a:r>
          </a:p>
        </p:txBody>
      </p:sp>
      <p:sp>
        <p:nvSpPr>
          <p:cNvPr id="13" name="TextBox 12"/>
          <p:cNvSpPr txBox="1"/>
          <p:nvPr/>
        </p:nvSpPr>
        <p:spPr>
          <a:xfrm>
            <a:off x="6355292" y="2459735"/>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For professionals who use Claude as a productivity tool.</a:t>
            </a:r>
          </a:p>
        </p:txBody>
      </p:sp>
      <p:sp>
        <p:nvSpPr>
          <p:cNvPr id="14" name="Rectangle 13"/>
          <p:cNvSpPr/>
          <p:nvPr/>
        </p:nvSpPr>
        <p:spPr>
          <a:xfrm>
            <a:off x="6154124"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292" y="3300983"/>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What it covers</a:t>
            </a:r>
          </a:p>
        </p:txBody>
      </p:sp>
      <p:sp>
        <p:nvSpPr>
          <p:cNvPr id="16" name="TextBox 15"/>
          <p:cNvSpPr txBox="1"/>
          <p:nvPr/>
        </p:nvSpPr>
        <p:spPr>
          <a:xfrm>
            <a:off x="6355292" y="3630167"/>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Prompting and task execution, output evaluation, model selection, workflow integration, responsible use.</a:t>
            </a:r>
          </a:p>
        </p:txBody>
      </p:sp>
      <p:sp>
        <p:nvSpPr>
          <p:cNvPr id="17" name="Rectangle 16"/>
          <p:cNvSpPr/>
          <p:nvPr/>
        </p:nvSpPr>
        <p:spPr>
          <a:xfrm>
            <a:off x="6154124"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292" y="4471416"/>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Try it free</a:t>
            </a:r>
          </a:p>
        </p:txBody>
      </p:sp>
      <p:sp>
        <p:nvSpPr>
          <p:cNvPr id="19" name="TextBox 18"/>
          <p:cNvSpPr txBox="1"/>
          <p:nvPr/>
        </p:nvSpPr>
        <p:spPr>
          <a:xfrm>
            <a:off x="6355292" y="4800600"/>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Start with the free practice teaser; exam mode is 60 questions in 120 minutes.</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171</a:t>
            </a:r>
            <a:endParaRPr lang="en-US" sz="900" dirty="0"/>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2"/>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173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 AI Agents Workflow for Content Creation (Claude Edition) (TGS-2023036153)</dc:title>
  <dc:subject>WSQ course slide deck</dc:subject>
  <dc:creator>Tertiary Infotech Academy Pte Ltd</dc:creator>
  <cp:lastModifiedBy>Dr. Alfred Ang</cp:lastModifiedBy>
  <cp:revision>1</cp:revision>
  <dcterms:created xsi:type="dcterms:W3CDTF">2026-06-27T18:49:35Z</dcterms:created>
  <dcterms:modified xsi:type="dcterms:W3CDTF">2026-06-27T18:49:35Z</dcterms:modified>
  <dc:description>Version 3.5 — Claude Edition — 10 October 2026</dc:description>
</cp:coreProperties>
</file>