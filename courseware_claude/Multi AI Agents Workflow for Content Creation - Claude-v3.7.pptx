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0"/>
    <p:sldId id="265" r:id="rId11"/>
    <p:sldId id="266" r:id="rId12"/>
    <p:sldId id="318" r:id="rId64"/>
    <p:sldId id="326" r:id="rId73"/>
    <p:sldId id="327" r:id="rId60"/>
    <p:sldId id="328" r:id="rId59"/>
    <p:sldId id="329" r:id="rId77"/>
    <p:sldId id="330" r:id="rId78"/>
    <p:sldId id="331" r:id="rId79"/>
    <p:sldId id="332" r:id="rId80"/>
    <p:sldId id="333" r:id="rId81"/>
    <p:sldId id="334" r:id="rId82"/>
    <p:sldId id="335" r:id="rId83"/>
    <p:sldId id="274" r:id="rId20"/>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483" r:id="rId231"/>
    <p:sldId id="317" r:id="rId63"/>
    <p:sldId id="484" r:id="rId232"/>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20" Type="http://schemas.openxmlformats.org/officeDocument/2006/relationships/slide" Target="slides/slide21.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TGS-2023036153-Multi-AI-Agents-Workflow-for-Content-Creation/"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TGS-2023036153-Multi-AI-Agents-Workflow-for-Content-Creation/"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hyperlink" Target="https://exams.tertiaryinfotech.com/practice-exams/anthropic/anthropic-ccao-foundations" TargetMode="Externa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CLAUDE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3.7  ·  11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Claude and Claude Code.</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OVERVIEW · PRICING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Claude Plans and Pricing</a:t>
            </a:r>
            <a:endParaRPr lang="en-US" sz="3000" dirty="0"/>
          </a:p>
        </p:txBody>
      </p:sp>
      <p:sp>
        <p:nvSpPr>
          <p:cNvPr id="4" name="Text 2"/>
          <p:cNvSpPr/>
          <p:nvPr/>
        </p:nvSpPr>
        <p:spPr>
          <a:xfrm>
            <a:off x="548640" y="1645920"/>
            <a:ext cx="11064240" cy="45720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Claude and Claude Code are included in every paid plan (from Pro up). The API is pay-as-you-go. Prices in US dollars.</a:t>
            </a:r>
            <a:endParaRPr lang="en-US" sz="1500" dirty="0"/>
          </a:p>
        </p:txBody>
      </p:sp>
      <p:sp>
        <p:nvSpPr>
          <p:cNvPr id="5" name="Shape 3"/>
          <p:cNvSpPr/>
          <p:nvPr/>
        </p:nvSpPr>
        <p:spPr>
          <a:xfrm>
            <a:off x="548640"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22960"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60120" y="2606040"/>
            <a:ext cx="292608" cy="292608"/>
          </a:xfrm>
          <a:prstGeom prst="rect">
            <a:avLst/>
          </a:prstGeom>
        </p:spPr>
      </p:pic>
      <p:sp>
        <p:nvSpPr>
          <p:cNvPr id="8" name="Text 5"/>
          <p:cNvSpPr/>
          <p:nvPr/>
        </p:nvSpPr>
        <p:spPr>
          <a:xfrm>
            <a:off x="822960"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Pro</a:t>
            </a:r>
            <a:endParaRPr lang="en-US" sz="1600" dirty="0"/>
          </a:p>
        </p:txBody>
      </p:sp>
      <p:sp>
        <p:nvSpPr>
          <p:cNvPr id="9" name="Text 6"/>
          <p:cNvSpPr/>
          <p:nvPr/>
        </p:nvSpPr>
        <p:spPr>
          <a:xfrm>
            <a:off x="822960"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$17/mo (annual) · $20 monthly. Enough for every lab.</a:t>
            </a:r>
            <a:endParaRPr lang="en-US" sz="1250" dirty="0"/>
          </a:p>
        </p:txBody>
      </p:sp>
      <p:sp>
        <p:nvSpPr>
          <p:cNvPr id="10" name="Shape 7"/>
          <p:cNvSpPr/>
          <p:nvPr/>
        </p:nvSpPr>
        <p:spPr>
          <a:xfrm>
            <a:off x="3367278"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3641598"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778758" y="2606040"/>
            <a:ext cx="292608" cy="292608"/>
          </a:xfrm>
          <a:prstGeom prst="rect">
            <a:avLst/>
          </a:prstGeom>
        </p:spPr>
      </p:pic>
      <p:sp>
        <p:nvSpPr>
          <p:cNvPr id="13" name="Text 9"/>
          <p:cNvSpPr/>
          <p:nvPr/>
        </p:nvSpPr>
        <p:spPr>
          <a:xfrm>
            <a:off x="3641598"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Max</a:t>
            </a:r>
            <a:endParaRPr lang="en-US" sz="1600" dirty="0"/>
          </a:p>
        </p:txBody>
      </p:sp>
      <p:sp>
        <p:nvSpPr>
          <p:cNvPr id="14" name="Text 10"/>
          <p:cNvSpPr/>
          <p:nvPr/>
        </p:nvSpPr>
        <p:spPr>
          <a:xfrm>
            <a:off x="3641598"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From $100/mo — 5× or 20× more usage than Pro.</a:t>
            </a:r>
            <a:endParaRPr lang="en-US" sz="1250" dirty="0"/>
          </a:p>
        </p:txBody>
      </p:sp>
      <p:sp>
        <p:nvSpPr>
          <p:cNvPr id="15" name="Shape 11"/>
          <p:cNvSpPr/>
          <p:nvPr/>
        </p:nvSpPr>
        <p:spPr>
          <a:xfrm>
            <a:off x="6185916"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6" name="Shape 12"/>
          <p:cNvSpPr/>
          <p:nvPr/>
        </p:nvSpPr>
        <p:spPr>
          <a:xfrm>
            <a:off x="6460236"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597396" y="2606040"/>
            <a:ext cx="292608" cy="292608"/>
          </a:xfrm>
          <a:prstGeom prst="rect">
            <a:avLst/>
          </a:prstGeom>
        </p:spPr>
      </p:pic>
      <p:sp>
        <p:nvSpPr>
          <p:cNvPr id="18" name="Text 13"/>
          <p:cNvSpPr/>
          <p:nvPr/>
        </p:nvSpPr>
        <p:spPr>
          <a:xfrm>
            <a:off x="6460236"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Team</a:t>
            </a:r>
            <a:endParaRPr lang="en-US" sz="1600" dirty="0"/>
          </a:p>
        </p:txBody>
      </p:sp>
      <p:sp>
        <p:nvSpPr>
          <p:cNvPr id="19" name="Text 14"/>
          <p:cNvSpPr/>
          <p:nvPr/>
        </p:nvSpPr>
        <p:spPr>
          <a:xfrm>
            <a:off x="6460236"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standard · $100/seat premium (annual; $25 / $125 monthly).</a:t>
            </a:r>
            <a:endParaRPr lang="en-US" sz="1250" dirty="0"/>
          </a:p>
        </p:txBody>
      </p:sp>
      <p:sp>
        <p:nvSpPr>
          <p:cNvPr id="20" name="Shape 15"/>
          <p:cNvSpPr/>
          <p:nvPr/>
        </p:nvSpPr>
        <p:spPr>
          <a:xfrm>
            <a:off x="9004554"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1" name="Shape 16"/>
          <p:cNvSpPr/>
          <p:nvPr/>
        </p:nvSpPr>
        <p:spPr>
          <a:xfrm>
            <a:off x="9278874"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416034" y="2606040"/>
            <a:ext cx="292608" cy="292608"/>
          </a:xfrm>
          <a:prstGeom prst="rect">
            <a:avLst/>
          </a:prstGeom>
        </p:spPr>
      </p:pic>
      <p:sp>
        <p:nvSpPr>
          <p:cNvPr id="23" name="Text 17"/>
          <p:cNvSpPr/>
          <p:nvPr/>
        </p:nvSpPr>
        <p:spPr>
          <a:xfrm>
            <a:off x="9278874"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Enterprise</a:t>
            </a:r>
            <a:endParaRPr lang="en-US" sz="1600" dirty="0"/>
          </a:p>
        </p:txBody>
      </p:sp>
      <p:sp>
        <p:nvSpPr>
          <p:cNvPr id="24" name="Text 18"/>
          <p:cNvSpPr/>
          <p:nvPr/>
        </p:nvSpPr>
        <p:spPr>
          <a:xfrm>
            <a:off x="9278874"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 usage at API rates. Contact sales.</a:t>
            </a:r>
            <a:endParaRPr lang="en-US" sz="1250" dirty="0"/>
          </a:p>
        </p:txBody>
      </p:sp>
      <p:sp>
        <p:nvSpPr>
          <p:cNvPr id="25" name="Shape 19"/>
          <p:cNvSpPr/>
          <p:nvPr/>
        </p:nvSpPr>
        <p:spPr>
          <a:xfrm>
            <a:off x="548640" y="4892040"/>
            <a:ext cx="11064240" cy="777240"/>
          </a:xfrm>
          <a:prstGeom prst="roundRect">
            <a:avLst>
              <a:gd name="adj" fmla="val 9412"/>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6" name="Text 20"/>
          <p:cNvSpPr/>
          <p:nvPr/>
        </p:nvSpPr>
        <p:spPr>
          <a:xfrm>
            <a:off x="822960" y="4892040"/>
            <a:ext cx="10515600" cy="7772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API per million tokens (in/out):  </a:t>
            </a:r>
            <a:pPr indent="0" marL="0">
              <a:buNone/>
            </a:pPr>
            <a:r>
              <a:rPr lang="en-US" sz="1400" dirty="0">
                <a:solidFill>
                  <a:srgbClr val="E8E5DE"/>
                </a:solidFill>
                <a:latin typeface="Calibri" pitchFamily="34" charset="0"/>
                <a:ea typeface="Calibri" pitchFamily="34" charset="-122"/>
                <a:cs typeface="Calibri" pitchFamily="34" charset="-120"/>
              </a:rPr>
              <a:t>Fable 5.1 $10/$50  ·  Opus 5.5 $4/$20  ·  Sonnet 5.5 $2/$10  ·  Haiku 5.5 from $0.10/$0.50</a:t>
            </a:r>
            <a:endParaRPr lang="en-US" sz="1400" dirty="0"/>
          </a:p>
        </p:txBody>
      </p:sp>
      <p:sp>
        <p:nvSpPr>
          <p:cNvPr id="27" name="Text 21"/>
          <p:cNvSpPr/>
          <p:nvPr/>
        </p:nvSpPr>
        <p:spPr>
          <a:xfrm>
            <a:off x="548640" y="58064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Free plan: chat only, no Claude Code. Prices as of 8 Oct 2026 — verify at claude.com/pricing.</a:t>
            </a:r>
            <a:endParaRPr lang="en-US" sz="1300" dirty="0"/>
          </a:p>
        </p:txBody>
      </p:sp>
      <p:sp>
        <p:nvSpPr>
          <p:cNvPr id="28" name="Text 22"/>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9" name="Text 23"/>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0" name="Text 2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170</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the first blog article. Labs 6–8.</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Lead magnet, social week, newsletter + landing page, video — behind a human gate. Labs 9–12.</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agent teams at work. Labs 13–15.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Agent team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 content</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week · 11 Newsletter + landing page · 12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Playbook · 15 Agent teams: debate + QA loop</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15 — the team keeps what it learns.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Code Mode, Every Lab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desktop app in Code mode (&lt;/&gt;), in your horizon-studio folder — every lab. You type plain English, never code.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260238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1, 2, 3, 4, 5, 6, 7, 8, 9, 10, 11, 12, 13, 14, 15</a:t>
            </a:r>
          </a:p>
        </p:txBody>
      </p:sp>
      <p:sp>
        <p:nvSpPr>
          <p:cNvPr id="15" name="TextBox 14"/>
          <p:cNvSpPr txBox="1"/>
          <p:nvPr/>
        </p:nvSpPr>
        <p:spPr>
          <a:xfrm>
            <a:off x="6060643" y="2560320"/>
            <a:ext cx="5479084"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Everything: the team's folder, agents, skills, connectors, artifacts and routines. Each lab starts a new session named after the lab.</a:t>
            </a:r>
          </a:p>
        </p:txBody>
      </p:sp>
      <p:sp>
        <p:nvSpPr>
          <p:cNvPr id="16" name="Rounded Rectangle 1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Everything the team makes is saved in horizon-studio, so the next lab's session picks up where the last one stopped.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9:00–10:40  Topic 3 ·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10:50–12:35  Labs 11–12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13:20–15:00  Topic 4 · Labs 13–14</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15:10–16:00 Agent teams lab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agents, the tools, and Horizon's story</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Claude Suite of Products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Anthropic's products all run on the same Claude models — they differ in where they run and who they are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Chat and Cowork, now one app — web, desktop and mobile. Ask, write, analyse; work on a folder of files.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agentic tool for building: terminal, VS Code, the desktop Code tab and the web.</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Design</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Polished UI, prototypes and front-end designs from a prompt.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apps such as Excel, PowerPoint and Outlook.</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browser agent that reads pages, clicks and fills forms in your own Chrome.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Speeds up research workflows for scientists and labs.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(Chat + Cowork)?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 and Cowork are now one product: Claude, in the desktop app on a paid plan. In this course every lab runs in Code mode instead, so your folder is always in view.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Ask, draft, analyse and research with web search; projects keep shared files and instructions.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Cowork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Works on a folder on your computer: plans and runs multi-step tasks, and runs sub-agents in parallel when asked.</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Connectors and skills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Google Drive, Gmail, Calendar, Microsoft 365; build your own skills with /skill-creator.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Artifacts and scheduled tasks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and documents shared by link; tasks that run on a schedule from an Instructions field.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 agentic tool: describe a goal in plain English and Claude plans, writes, runs and checks the work — editing files, running commands and using tools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Runs where you 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terminal, VS Code, the Claude desktop Code tab and the web.</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multi-step tasks and acts on them — not just answers or autocompletes.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Tool-using</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Reads and writes files, runs commands, calls MCP connectors and publishes artifacts.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Extensible — the team's home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CLAUDE.md, subagents, agent teams, skills and hooks. You build Horizon's team here (Labs 1–5, 10–12).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for Microsoft, Chrome and Science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Claude models, working inside the apps you already use. Not needed for the labs — good to know.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 Excel, PowerPoint, Word and Outlook — working on the file you have open.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extension that lets Claude navigate, click, type and fill forms in your browser, with your sign-ins. You approve sensitive actions.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for researchers and labs: literature review, data analysis and connections to scientific tools and databases.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and Hermes Agent; Claude Code agent teams talk to each other.</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Code and Claude in class; also Codex, Gemini CLI and OpenClaw.</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CLAUDE.md,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Claude Code session running a campaign (Labs 1–5, 10–12).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Claude</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CLAUDE.md and an agent file.</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tertiarycourses.github.io/TGS-2023036153-Multi-AI-Agents-Workflow-for-Content-Creation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Edition: two Claude products, one studio.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 in Code mode: agent and skill files, subagents, agent teams, the approval gate, routines, the video</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1–15</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artifacts</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result from Lab 5 on; Horizon's website (given), your blog post and the landing page</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5–15</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Customize</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Connectors (Drive, Gmail, Calendar, Firecrawl) and the Marketing plugin — added once, used by both</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Rounded Rectangle 2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Claude and Claude Code in one app</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No commands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The trainer readies Claude Code</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and artifacts need a Pro, Max, Team or Enterprise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a:t>
            </a:r>
            <a:r>
              <a:rPr sz="1350">
                <a:solidFill>
                  <a:srgbClr val="6B6862"/>
                </a:solidFill>
                <a:latin typeface="Calibri"/>
              </a:rPr>
              <a:t>Open it from the desktop app; the trainer has set it up before class.</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with your claude.ai account  </a:t>
            </a:r>
            <a:r>
              <a:rPr sz="1350">
                <a:solidFill>
                  <a:srgbClr val="6B6862"/>
                </a:solidFill>
                <a:latin typeface="Calibri"/>
              </a:rPr>
              <a:t>Connectors, plugins and artifacts need it — not an API key.</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Already installed for you  </a:t>
            </a:r>
            <a:r>
              <a:rPr sz="1350">
                <a:solidFill>
                  <a:srgbClr val="6B6862"/>
                </a:solidFill>
                <a:latin typeface="Calibri"/>
              </a:rPr>
              <a:t>The helpers behind the approval gate and the video. You never run them yourself.</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team charter every agent reads at the start of every session. Under 60 lines.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horizon-studio/ with CLAUDE.md, the shared data,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CLAUDE.md as the team charter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tertiarycourses.github.io/TGS-2023036153-Multi-AI-Agents-Workflow-for-Content-Creation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Code mode and the folder  </a:t>
            </a:r>
            <a:r>
              <a:rPr sz="1550">
                <a:solidFill>
                  <a:srgbClr val="6B6862"/>
                </a:solidFill>
                <a:latin typeface="Calibri"/>
              </a:rPr>
              <a:t>In the Claude desktop app switch to Code mode (the &lt;/&gt; button at the top), not Work mode — Code shows every file and opens artifacts beside the chat. Under Project or folder choose Add folder (not New project) and pick the ready-made labs_claude/horizon-studio.</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Trust it  </a:t>
            </a:r>
            <a:r>
              <a:rPr sz="1550">
                <a:solidFill>
                  <a:srgbClr val="6B6862"/>
                </a:solidFill>
                <a:latin typeface="Calibri"/>
              </a:rPr>
              <a:t>Sign in with your claude.ai account and trust the folder. Click the session title at the top and rename it "Lab 1" — every lab gets its own session.</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Copy and paste Prompt A.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Claude saves data/team-design.md, copy and paste Prompt B. Open CLAUDE.md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Labs 8 and 9 add to it, and every post links to it. Check the calculator shows S$693,138.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charter</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CLAUDE.md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A person approves by typing "approved &lt;id&gt; by &lt;name&gt;" in the chat; never ask me to run a command, open a terminal or edit a file.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a claude.ai artifact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 shows horizon-studio as the chosen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an agent-team teammate.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.claude/agents/content-creator.md</a:t>
            </a:r>
          </a:p>
        </p:txBody>
      </p:sp>
      <p:sp>
        <p:nvSpPr>
          <p:cNvPr id="11" name="TextBox 10"/>
          <p:cNvSpPr txBox="1"/>
          <p:nvPr/>
        </p:nvSpPr>
        <p:spPr>
          <a:xfrm>
            <a:off x="822959" y="2724911"/>
            <a:ext cx="10515600" cy="3588745"/>
          </a:xfrm>
          <a:prstGeom prst="rect">
            <a:avLst/>
          </a:prstGeom>
          <a:noFill/>
        </p:spPr>
        <p:txBody>
          <a:bodyPr wrap="square" lIns="18288" rIns="18288" tIns="9144" bIns="9144">
            <a:spAutoFit/>
          </a:bodyPr>
          <a:lstStyle/>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name: content-creator</a:t>
            </a:r>
          </a:p>
          <a:p>
            <a:pPr>
              <a:lnSpc>
                <a:spcPct val="114000"/>
              </a:lnSpc>
              <a:defRPr sz="900" b="0">
                <a:solidFill>
                  <a:srgbClr val="E8E5DE"/>
                </a:solidFill>
                <a:latin typeface="Courier New"/>
              </a:defRPr>
            </a:pPr>
            <a:r>
              <a:t>description: Use for Horizon copy — posts, newsletter,</a:t>
            </a:r>
          </a:p>
          <a:p>
            <a:pPr>
              <a:lnSpc>
                <a:spcPct val="114000"/>
              </a:lnSpc>
              <a:defRPr sz="900" b="0">
                <a:solidFill>
                  <a:srgbClr val="E8E5DE"/>
                </a:solidFill>
                <a:latin typeface="Courier New"/>
              </a:defRPr>
            </a:pPr>
            <a:r>
              <a:t>  video scripts and page copy, in the Sunny voice.</a:t>
            </a:r>
          </a:p>
          <a:p>
            <a:pPr>
              <a:lnSpc>
                <a:spcPct val="114000"/>
              </a:lnSpc>
              <a:defRPr sz="900" b="0">
                <a:solidFill>
                  <a:srgbClr val="E8E5DE"/>
                </a:solidFill>
                <a:latin typeface="Courier New"/>
              </a:defRPr>
            </a:pPr>
            <a:r>
              <a:t>tools: Read, Write, Edit, Grep, Glob</a:t>
            </a:r>
          </a:p>
          <a:p>
            <a:pPr>
              <a:lnSpc>
                <a:spcPct val="114000"/>
              </a:lnSpc>
              <a:defRPr sz="900" b="0">
                <a:solidFill>
                  <a:srgbClr val="E8E5DE"/>
                </a:solidFill>
                <a:latin typeface="Courier New"/>
              </a:defRPr>
            </a:pPr>
            <a:r>
              <a:t>model: sonnet</a:t>
            </a:r>
          </a:p>
          <a:p>
            <a:pPr>
              <a:lnSpc>
                <a:spcPct val="114000"/>
              </a:lnSpc>
              <a:defRPr sz="900" b="0">
                <a:solidFill>
                  <a:srgbClr val="E8E5DE"/>
                </a:solidFill>
                <a:latin typeface="Courier New"/>
              </a:defRPr>
            </a:pPr>
            <a:r>
              <a:t>skills:</a:t>
            </a:r>
          </a:p>
          <a:p>
            <a:pPr>
              <a:lnSpc>
                <a:spcPct val="114000"/>
              </a:lnSpc>
              <a:defRPr sz="900" b="0">
                <a:solidFill>
                  <a:srgbClr val="E8E5DE"/>
                </a:solidFill>
                <a:latin typeface="Courier New"/>
              </a:defRPr>
            </a:pPr>
            <a:r>
              <a:t>  - sunny-voice</a:t>
            </a:r>
          </a:p>
          <a:p>
            <a:pPr>
              <a:lnSpc>
                <a:spcPct val="114000"/>
              </a:lnSpc>
              <a:defRPr sz="900" b="0">
                <a:solidFill>
                  <a:srgbClr val="E8E5DE"/>
                </a:solidFill>
                <a:latin typeface="Courier New"/>
              </a:defRPr>
            </a:pPr>
            <a:r>
              <a:t>  - copywriting</a:t>
            </a:r>
          </a:p>
          <a:p>
            <a:pPr>
              <a:lnSpc>
                <a:spcPct val="114000"/>
              </a:lnSpc>
              <a:defRPr sz="900" b="0">
                <a:solidFill>
                  <a:srgbClr val="E8E5DE"/>
                </a:solidFill>
                <a:latin typeface="Courier New"/>
              </a:defRPr>
            </a:pPr>
            <a:r>
              <a:t>  - channel-formats</a:t>
            </a:r>
          </a:p>
          <a:p>
            <a:pPr>
              <a:lnSpc>
                <a:spcPct val="114000"/>
              </a:lnSpc>
              <a:defRPr sz="900" b="0">
                <a:solidFill>
                  <a:srgbClr val="E8E5DE"/>
                </a:solidFill>
                <a:latin typeface="Courier New"/>
              </a:defRPr>
            </a:pPr>
            <a:r>
              <a:t>  - linkedin-post</a:t>
            </a:r>
          </a:p>
          <a:p>
            <a:pPr>
              <a:lnSpc>
                <a:spcPct val="114000"/>
              </a:lnSpc>
              <a:defRPr sz="900" b="0">
                <a:solidFill>
                  <a:srgbClr val="E8E5DE"/>
                </a:solidFill>
                <a:latin typeface="Courier New"/>
              </a:defRPr>
            </a:pPr>
            <a:r>
              <a:t>  - facebook-post</a:t>
            </a:r>
          </a:p>
          <a:p>
            <a:pPr>
              <a:lnSpc>
                <a:spcPct val="114000"/>
              </a:lnSpc>
              <a:defRPr sz="900" b="0">
                <a:solidFill>
                  <a:srgbClr val="E8E5DE"/>
                </a:solidFill>
                <a:latin typeface="Courier New"/>
              </a:defRPr>
            </a:pPr>
            <a:r>
              <a:t>  - blog-post</a:t>
            </a:r>
          </a:p>
          <a:p>
            <a:pPr>
              <a:lnSpc>
                <a:spcPct val="114000"/>
              </a:lnSpc>
              <a:defRPr sz="900" b="0">
                <a:solidFill>
                  <a:srgbClr val="E8E5DE"/>
                </a:solidFill>
                <a:latin typeface="Courier New"/>
              </a:defRPr>
            </a:pPr>
            <a:r>
              <a:t>  - newsletter</a:t>
            </a:r>
          </a:p>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You are Horizon Wealth Planning's Content Creator.</a:t>
            </a:r>
          </a:p>
          <a:p>
            <a:pPr>
              <a:lnSpc>
                <a:spcPct val="114000"/>
              </a:lnSpc>
              <a:defRPr sz="900" b="0">
                <a:solidFill>
                  <a:srgbClr val="E8E5DE"/>
                </a:solidFill>
                <a:latin typeface="Courier New"/>
              </a:defRPr>
            </a:pPr>
            <a:r>
              <a:t>## What you read   the brief, facts-2026.md, brand.md</a:t>
            </a:r>
          </a:p>
          <a:p>
            <a:pPr>
              <a:lnSpc>
                <a:spcPct val="114000"/>
              </a:lnSpc>
              <a:defRPr sz="900" b="0">
                <a:solidFill>
                  <a:srgbClr val="E8E5DE"/>
                </a:solidFill>
                <a:latin typeface="Courier New"/>
              </a:defRPr>
            </a:pPr>
            <a:r>
              <a:t>## What you deliver   content files, ready for review</a:t>
            </a:r>
          </a:p>
          <a:p>
            <a:pPr>
              <a:lnSpc>
                <a:spcPct val="114000"/>
              </a:lnSpc>
              <a:defRPr sz="900" b="0">
                <a:solidFill>
                  <a:srgbClr val="E8E5DE"/>
                </a:solidFill>
                <a:latin typeface="Courier New"/>
              </a:defRPr>
            </a:pPr>
            <a:r>
              <a:t>## Connectors   Google Drive (docs), Gmail (drafts only)</a:t>
            </a:r>
          </a:p>
          <a:p>
            <a:pPr>
              <a:lnSpc>
                <a:spcPct val="114000"/>
              </a:lnSpc>
              <a:defRPr sz="900" b="0">
                <a:solidFill>
                  <a:srgbClr val="E8E5DE"/>
                </a:solidFill>
                <a:latin typeface="Courier New"/>
              </a:defRPr>
            </a:pPr>
            <a:r>
              <a:t>## Never   add a number not on the facts sheet; send;</a:t>
            </a:r>
          </a:p>
          <a:p>
            <a:pPr>
              <a:lnSpc>
                <a:spcPct val="114000"/>
              </a:lnSpc>
              <a:defRPr sz="900" b="0">
                <a:solidFill>
                  <a:srgbClr val="E8E5DE"/>
                </a:solidFill>
                <a:latin typeface="Courier New"/>
              </a:defRPr>
            </a:pPr>
            <a:r>
              <a:t>           approve or publish for real</a:t>
            </a:r>
          </a:p>
          <a:p>
            <a:pPr>
              <a:lnSpc>
                <a:spcPct val="114000"/>
              </a:lnSpc>
              <a:defRPr sz="900" b="0">
                <a:solidFill>
                  <a:srgbClr val="E8E5DE"/>
                </a:solidFill>
                <a:latin typeface="Courier New"/>
              </a:defRPr>
            </a:pPr>
            <a:r>
              <a:t>## Report back   what, where, anything unverified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description decides when Claude delegates to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.claude/agents/: growth-strategist, content-creator, creative-designer, website-designer, growth-analyst</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 files)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subagent files in .claude/agents/ · name, description, tools, model · the Lead is your session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.claude/agents/,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.claude/agents/content-creator.md.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five subagents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project subagents in .claude/agents/ — growth-strategist, content-creator, creative-designer, website-designer and growth-analyst. Each file has:</a:t>
            </a:r>
          </a:p>
          <a:p>
            <a:pPr>
              <a:lnSpc>
                <a:spcPct val="110000"/>
              </a:lnSpc>
              <a:defRPr sz="1700" b="0">
                <a:solidFill>
                  <a:srgbClr val="21201C"/>
                </a:solidFill>
                <a:latin typeface="Calibri"/>
              </a:defRPr>
            </a:pPr>
            <a:r>
              <a:t>- frontmatter: name; a description that says when to use it; tools; model (opus for the strategist, sonnet for the others)</a:t>
            </a:r>
          </a:p>
          <a:p>
            <a:pPr>
              <a:lnSpc>
                <a:spcPct val="110000"/>
              </a:lnSpc>
              <a:defRPr sz="1700" b="0">
                <a:solidFill>
                  <a:srgbClr val="21201C"/>
                </a:solidFill>
                <a:latin typeface="Calibri"/>
              </a:defRPr>
            </a:pPr>
            <a:r>
              <a:t>- a body with: the job, what it reads, what it delivers, the connectors it may use, what it must never do, and how it reports back. No skills line yet — we add skills in Lab 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see the team</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subagents in .claude/agents/. For each, show the file name, the name, the one-line description and the model, in a table. Then confirm there are five, and that none of them is the Marketing Team Lead — the Lead is this session. If any other file is there, list it and ask me before moving it to _archive/.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each of the five subagents once, in parallel.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.claude/agents/,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has a name, a "use when" description, tools and a model.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session acts as the Marketing Team Lead.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.claude/skills/ — Claude Code reads them from your folder.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.claude/skills/,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(.claude/skills/)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.claude/skills/, copy and paste Prompt B, then C to list every skill. The Lead's two go in CLAUDE.md, not a file.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data/skills-spec.md. Create the twenty skills in .claude/skills/&lt;name&gt;/SKILL.md. Each has frontmatter (name, and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list to each subagent in .claude/agents/ with its skills from data/skills-spec.md. Leave any other agent file as it is. Add to CLAUDE.md that the Lead (this session) runs fact-check and fin-compliance on everything before showing it to me.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.claude/skills/. Show each skill, its owner (a subagent, or the Lead) and its "Use when" line in a table. Confirm there are twenty, that each specialist has the skills the spec gives it, and that fact-check and fin-compliance belong to the Lead (this session).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(CLAUDE.md) short and put procedures in skills.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.claude/skills/, each with a SKILL.md.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Connectors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Add once in the desktop app: Customize → Connectors, and the Marketing plugin.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tools line removes what it does not need.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desktop app (Customize → Connectors),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Customize → Connectors: Google Drive · Gmail (drafts) · Google Calendar · Firecrawl · /plugin: Marketing (by Anthropic) · built-in browser · least privilege per agent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connectors  </a:t>
            </a:r>
            <a:r>
              <a:rPr sz="1300">
                <a:solidFill>
                  <a:srgbClr val="6B6862"/>
                </a:solidFill>
                <a:latin typeface="Calibri"/>
              </a:rPr>
              <a:t>Desktop app: Customize → Connectors → Discover. Add (+) Google Drive, Gmail, Google Calendar and Firecrawl; sign in to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plugin  </a:t>
            </a:r>
            <a:r>
              <a:rPr sz="1300">
                <a:solidFill>
                  <a:srgbClr val="6B6862"/>
                </a:solidFill>
                <a:latin typeface="Calibri"/>
              </a:rPr>
              <a:t>In the chat type /plugin marketplace add anthropics/knowledge-work-plugins, then /plugin install marketing@knowledge-work-plugins.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a:t>
            </a:r>
            <a:r>
              <a:rPr sz="1300">
                <a:solidFill>
                  <a:srgbClr val="6B6862"/>
                </a:solidFill>
                <a:latin typeface="Calibri"/>
              </a:rPr>
              <a:t>Start a new session. Type /mcp: the four connectors are listed. Type /plugin: Marketing is installed.</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"Create a Google Drive folder named Horizon Studio and upload every file in data/ to it as plain files — do not convert them."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Give each agent its connectors  </a:t>
            </a:r>
            <a:r>
              <a:rPr sz="1300">
                <a:solidFill>
                  <a:srgbClr val="6B6862"/>
                </a:solidFill>
                <a:latin typeface="Calibri"/>
              </a:rPr>
              <a:t>Copy and paste Prompt A, then start a new session so the agents reload.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After the new session opens, copy and paste Prompt B — one small job per agent, each on its own connector.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give each agent its connectors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data/connectors-setup.md. For each subagent in .claude/agents/, replace its tools line with the one given there, add the disallowedTools line where one is given, and update its "Connectors" section: what it may use, and that Gmail is drafts only. Change nothing else.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test each agent</a:t>
            </a:r>
          </a:p>
        </p:txBody>
      </p:sp>
      <p:sp>
        <p:nvSpPr>
          <p:cNvPr id="9" name="TextBox 8"/>
          <p:cNvSpPr txBox="1"/>
          <p:nvPr/>
        </p:nvSpPr>
        <p:spPr>
          <a:xfrm>
            <a:off x="822960" y="2313432"/>
            <a:ext cx="10515600" cy="3166529"/>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First tell me which connectors and plugins you can use. Then run these five checks, each by its own subagent:</a:t>
            </a:r>
          </a:p>
          <a:p>
            <a:pPr>
              <a:lnSpc>
                <a:spcPct val="110000"/>
              </a:lnSpc>
              <a:defRPr sz="1650" b="0">
                <a:solidFill>
                  <a:srgbClr val="21201C"/>
                </a:solidFill>
                <a:latin typeface="Calibri"/>
              </a:defRPr>
            </a:pPr>
            <a:r>
              <a:t>1. growth-strategist: Firecrawl — search for one 2026 news item about financial planning in Singapore, scrape it and cite it.</a:t>
            </a:r>
          </a:p>
          <a:p>
            <a:pPr>
              <a:lnSpc>
                <a:spcPct val="110000"/>
              </a:lnSpc>
              <a:defRPr sz="1650" b="0">
                <a:solidFill>
                  <a:srgbClr val="21201C"/>
                </a:solidFill>
                <a:latin typeface="Calibri"/>
              </a:defRPr>
            </a:pPr>
            <a:r>
              <a:t>2. growth-analyst: Google Drive — read firm-metrics.csv from Horizon Studio; report average monthly enquiries.</a:t>
            </a:r>
          </a:p>
          <a:p>
            <a:pPr>
              <a:lnSpc>
                <a:spcPct val="110000"/>
              </a:lnSpc>
              <a:defRPr sz="1650" b="0">
                <a:solidFill>
                  <a:srgbClr val="21201C"/>
                </a:solidFill>
                <a:latin typeface="Calibri"/>
              </a:defRPr>
            </a:pPr>
            <a:r>
              <a:t>3. content-creator: Gmail — a DRAFT to me with the subject "Connector test". Do not send.</a:t>
            </a:r>
          </a:p>
          <a:p>
            <a:pPr>
              <a:lnSpc>
                <a:spcPct val="110000"/>
              </a:lnSpc>
              <a:defRPr sz="1650" b="0">
                <a:solidFill>
                  <a:srgbClr val="21201C"/>
                </a:solidFill>
                <a:latin typeface="Calibri"/>
              </a:defRPr>
            </a:pPr>
            <a:r>
              <a:t>4. creative-designer: render a 1080x1080 test card in Horizon colours and save it in content/test/.</a:t>
            </a:r>
          </a:p>
          <a:p>
            <a:pPr>
              <a:lnSpc>
                <a:spcPct val="110000"/>
              </a:lnSpc>
              <a:defRPr sz="1650" b="0">
                <a:solidFill>
                  <a:srgbClr val="21201C"/>
                </a:solidFill>
                <a:latin typeface="Calibri"/>
              </a:defRPr>
            </a:pPr>
            <a:r>
              <a:t>5. website-designer: built-in browser — open our own copy of the site (web/site/index.html) at 375px wide and report any problem. Report each result in one line. If a check fails, say which tool was missing.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/mcp lists Google Drive, Gmail, Google Calendar and Firecrawl; /plugin shows Marketing.</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 the top five open as an artifact beside the chat.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in the artifact's Ideas tab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research and ideas</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Publish the top five as an artifact — one card per idea with its score, persona and funnel stage — and a box at the top that tells me what to do next. Then stop.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storyboard</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Publish the brief and the storyboard as an artifact with a tab for the brief (goal, audience, message, call to action); a tab for the five beats side by side, each with its claim and source, and the three variants below; and the issues in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and publish it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(three analyst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 cards appear,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three analysts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Publish the personas as an artifact: one card each, with the key counts as small bar charts and the confidence label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requirements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Publish it as an artifact: one card per persona with a one-line summary on top and the answers under plain headings, then one table comparing the three personas side by side.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Publish it as an artifact: a chart per channel of the extra clicks against the unfollows, and the hours. Write for a business owner, in plain English: no codes, IDs, file names or line numbers; start with what it means and what I do next. Save a Word copy (.docx) of each result.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strategist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Publish the four weeks as an artifact: a calendar grid by channel, review dates marked, hours per week.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prompt, the whole job</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draft, fact-check, fix and post — a quick blog in one go. A person still reads it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Straight onto your copy of the site</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article lands on the copy of Horizon's site in your folder, opened in your browser. The public site never changes.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 the voice, the facts and the rules.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and posted on your own copy of Horizon's website, opened in your browser,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(Firecrawl, your Horizon skills) → your copy of Horizon's website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post to the blog on your copy of the website · a person reads it last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and post it  </a:t>
            </a:r>
            <a:r>
              <a:rPr sz="1550">
                <a:solidFill>
                  <a:srgbClr val="6B6862"/>
                </a:solidFill>
                <a:latin typeface="Calibri"/>
              </a:rPr>
              <a:t>Copy and paste the prompt. Claude researches, writes, checks and fixes the article, then posts it to your copy of Horizon's website.</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on the site  </a:t>
            </a:r>
            <a:r>
              <a:rPr sz="1550">
                <a:solidFill>
                  <a:srgbClr val="6B6862"/>
                </a:solidFill>
                <a:latin typeface="Calibri"/>
              </a:rPr>
              <a:t>Your copy of the website opens in your browser: your article is first under "From our blog". Say what to change, if anything.</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Claude Code: a quick blog</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and post it to the website. Use the blog-post, sunny-voice, fact-check and fin-compliance skills.</a:t>
            </a:r>
          </a:p>
          <a:p>
            <a:pPr>
              <a:lnSpc>
                <a:spcPct val="110000"/>
              </a:lnSpc>
              <a:defRPr sz="1700" b="0">
                <a:solidFill>
                  <a:srgbClr val="21201C"/>
                </a:solidFill>
                <a:latin typeface="Calibri"/>
              </a:defRPr>
            </a:pPr>
            <a:r>
              <a:t>1. Pick one topic from strategy/storyboard.md that a Singaporean would search for. Use Firecrawl to find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data/facts-2026.md, one call to action (book a free 30-minute chat) and the full disclaimer → content/blog/&lt;slug&gt;.md.</a:t>
            </a:r>
          </a:p>
          <a:p>
            <a:pPr>
              <a:lnSpc>
                <a:spcPct val="110000"/>
              </a:lnSpc>
              <a:defRPr sz="1700" b="0">
                <a:solidFill>
                  <a:srgbClr val="21201C"/>
                </a:solidFill>
                <a:latin typeface="Calibri"/>
              </a:defRPr>
            </a:pPr>
            <a:r>
              <a:t>3. Run fact-check and fin-compliance; fix every issue and list each fix in one line.</a:t>
            </a:r>
          </a:p>
          <a:p>
            <a:pPr>
              <a:lnSpc>
                <a:spcPct val="110000"/>
              </a:lnSpc>
              <a:defRPr sz="1700" b="0">
                <a:solidFill>
                  <a:srgbClr val="21201C"/>
                </a:solidFill>
                <a:latin typeface="Calibri"/>
              </a:defRPr>
            </a:pPr>
            <a:r>
              <a:t>4. Add it to the blog in web/site/index.html as one new post, built like the posts already there. Change nothing else on the site. Then start my website if it is not running, and open it.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article is first under "From our blog" on your copy of the website.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or an agent team?</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lead magnet: a checklist people want, and its emails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Artifacts: printable pages, cards and previews.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page (artifact and PDF) and on your copy of Horizon's website, and three welcome emails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(artifact, Gmail drafts, Marketing plugin,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as an artifact · the Marketing plugin's email sequence · newsletter and sunny-voice · drafts only</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The checklist opens as an artifact; ask in the chat for any change.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Put it on the website  </a:t>
            </a:r>
            <a:r>
              <a:rPr sz="1550">
                <a:solidFill>
                  <a:srgbClr val="6B6862"/>
                </a:solidFill>
                <a:latin typeface="Calibri"/>
              </a:rPr>
              <a:t>After the checks pass, copy and paste Prompt D. Your copy of the website opens in your browser, with the checklist behind an email box.</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publish it as an artifact. Save a PDF of it in content/lead-magnet/. Write for a business owner, in plain English: no codes, IDs, file names or line numbers; start with what it means and what I do next. Save a Word copy (.docx) of each result.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welcome emails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Marketing plugin's email sequence to write three welcome emails for people who download the checklist: day 0 (here it is), day 3 (the item most people miss — the retirement number), day 7 (book a free chat). Follow the newsletter and sunny-voice skills → content/email/welcome-sequence.md. Then, using the Gmail connector, create the three emails as DRAFTS in my Gmail, addressed to me. Send nothing. Publish the three emails as an artifact: one tab per email, laid out as it will look in the inbox. Write for a business owner, in plain English: no codes, IDs, file names or line numbers; start with what it means and what I do next. Save a Word copy (.docx) of each result.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check it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Publish the table as an artifact, coloured by severity. Write for a business owner, in plain English: no codes, IDs, file names or line numbers; start with what it means and what I do next. Save a Word copy (.docx) of each result.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Claude Code: put it on the website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the checked Money Check-up Checklist to Horizon's website in web/site/index.html, as a new section before the reviews, in the site's style:</a:t>
            </a:r>
          </a:p>
          <a:p>
            <a:pPr>
              <a:lnSpc>
                <a:spcPct val="110000"/>
              </a:lnSpc>
              <a:defRPr sz="1700" b="0">
                <a:solidFill>
                  <a:srgbClr val="21201C"/>
                </a:solidFill>
                <a:latin typeface="Calibri"/>
              </a:defRPr>
            </a:pPr>
            <a:r>
              <a:t>the title and promise, what's inside, and an email box with a required consent tick box. Once a valid email is entered, show the ten items as tick boxes and a "Print or save as PDF" button. Add "Free checklist" to the menu. Change nothing else on the site. Then start my website if it is not running, and open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is on your copy of the website: email and consent first, then the ten tick boxes.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brief</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copy</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images</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shares hooks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asks for copy</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flags segments</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5 (and sub-agents in Claude: Labs 6, 15)</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11, 12</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your studio folder already has them switched on.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 Claude Code.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Already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studio folder switches agent teams on — nothing to set.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Name the agent types</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teammates using the agent types content-creator and creative-designer."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Teammates load CLAUDE.md, skills and connectors — but not the Lead's conversation. One team per session.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You type "approved &lt;id&gt; by &lt;your name&gt;". The gate reads your own message — an agent cannot write one.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blocks agents from approving, editing the approval records, or publishing unapproved items.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THE GATE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Gate Works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Already in your studio folder. You never run it — you just type.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puts a checked piece up for review.</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read</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post, the image, the email or the video.</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type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"approved &lt;id&gt; by &lt;your name&gt;" — or "changes &lt;id&gt;: what to fix".</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Recorded</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name, the time and a fingerprint of the exact words.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Only approved, unchanged pieces. Edit one word and it needs you again.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gate is a hook: it reads your own message, and blocks any agent that tries to approve or publish on its own.</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on the review page and paste the line in the chat; then post it yourself (or, optionally, through the API).</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by you (or, optionally, through the API)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and its hook · an agent team: creator, designer, Lead · teammates message each other · human approval → you post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10".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Claude to approve a post itself. The gate (set up in your folder since Lab 1) must block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team  </a:t>
            </a:r>
            <a:r>
              <a:rPr sz="1300">
                <a:solidFill>
                  <a:srgbClr val="6B6862"/>
                </a:solidFill>
                <a:latin typeface="Calibri"/>
              </a:rPr>
              <a:t>Copy and paste Prompt A. The Lead starts two teammates and tells you as each one starts and finishes.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Watch them talk  </a:t>
            </a:r>
            <a:r>
              <a:rPr sz="1300">
                <a:solidFill>
                  <a:srgbClr val="6B6862"/>
                </a:solidFill>
                <a:latin typeface="Calibri"/>
              </a:rPr>
              <a:t>The review page opens with a Team chat: the designer asking the creator for each hook, and the Lead's fixes.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Review in the artifact or the review email. Click Approve or Request changes, then Copy and paste into the chat.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Get ready to post  </a:t>
            </a:r>
            <a:r>
              <a:rPr sz="1300">
                <a:solidFill>
                  <a:srgbClr val="6B6862"/>
                </a:solidFill>
                <a:latin typeface="Calibri"/>
              </a:rPr>
              <a:t>After you have approved the posts, copy and paste Prompt B. Each post gets a Copy button, and the folder with the two images opens.</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Post it yourself  </a:t>
            </a:r>
            <a:r>
              <a:rPr sz="1300">
                <a:solidFill>
                  <a:srgbClr val="6B6862"/>
                </a:solidFill>
                <a:latin typeface="Calibri"/>
              </a:rPr>
              <a:t>Paste the text, add the image, Post — on LinkedIn and a test Facebook Page. Or stop at the preview.</a:t>
            </a:r>
          </a:p>
        </p:txBody>
      </p:sp>
      <p:sp>
        <p:nvSpPr>
          <p:cNvPr id="22" name="Oval 21"/>
          <p:cNvSpPr/>
          <p:nvPr/>
        </p:nvSpPr>
        <p:spPr>
          <a:xfrm>
            <a:off x="621792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23" name="TextBox 22"/>
          <p:cNvSpPr txBox="1"/>
          <p:nvPr/>
        </p:nvSpPr>
        <p:spPr>
          <a:xfrm>
            <a:off x="674827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Optional: post through the apps  </a:t>
            </a:r>
            <a:r>
              <a:rPr sz="1300">
                <a:solidFill>
                  <a:srgbClr val="6B6862"/>
                </a:solidFill>
                <a:latin typeface="Calibri"/>
              </a:rPr>
              <a:t>Follow "Optional: post through LinkedIn and Facebook" in this lab's README.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social team</a:t>
            </a:r>
          </a:p>
        </p:txBody>
      </p:sp>
      <p:sp>
        <p:nvSpPr>
          <p:cNvPr id="9" name="TextBox 8"/>
          <p:cNvSpPr txBox="1"/>
          <p:nvPr/>
        </p:nvSpPr>
        <p:spPr>
          <a:xfrm>
            <a:off x="822960" y="2313432"/>
            <a:ext cx="10515600" cy="3694874"/>
          </a:xfrm>
          <a:prstGeom prst="rect">
            <a:avLst/>
          </a:prstGeom>
          <a:noFill/>
        </p:spPr>
        <p:txBody>
          <a:bodyPr wrap="square" lIns="18288" rIns="18288" tIns="9144" bIns="9144">
            <a:spAutoFit/>
          </a:bodyPr>
          <a:lstStyle/>
          <a:p>
            <a:pPr>
              <a:lnSpc>
                <a:spcPct val="110000"/>
              </a:lnSpc>
              <a:defRPr sz="1250" b="0">
                <a:solidFill>
                  <a:srgbClr val="21201C"/>
                </a:solidFill>
                <a:latin typeface="Calibri"/>
              </a:defRPr>
            </a:pPr>
            <a:r>
              <a:t>Create an agent team for Week 1 social from data/social-brief.md and strategy/calendar.csv. Spawn two teammates using the agent types content-creator and creative-designer; you are the Lead.</a:t>
            </a:r>
          </a:p>
          <a:p>
            <a:pPr>
              <a:lnSpc>
                <a:spcPct val="110000"/>
              </a:lnSpc>
              <a:defRPr sz="125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250" b="0">
                <a:solidFill>
                  <a:srgbClr val="21201C"/>
                </a:solidFill>
                <a:latin typeface="Calibri"/>
              </a:defRPr>
            </a:pPr>
            <a:r>
              <a:t>- creative-designer: one image per post (a rendered card in Horizon colours: LinkedIn 1200 x 627, Facebook 1080 x 1080) with alt text; message the creator for each post's hook before designing. Save each as a PNG beside its post and fill in the post's image and alt lines.</a:t>
            </a:r>
          </a:p>
          <a:p>
            <a:pPr>
              <a:lnSpc>
                <a:spcPct val="110000"/>
              </a:lnSpc>
              <a:defRPr sz="1250" b="0">
                <a:solidFill>
                  <a:srgbClr val="21201C"/>
                </a:solidFill>
                <a:latin typeface="Calibri"/>
              </a:defRPr>
            </a:pPr>
            <a:r>
              <a:t>- You: fact-check and fin-compliance on every post and image; message fixes to the teammate who owns it. Before you start, ask me how I will review: in the artifact, or by email (then ask for the approver's address). When a post passes, submit it for review with scripts/submit.mjs. Publish the two posts as an artifact. At the top, a Team chat: the messages the teammates and you sent each other, in order, each with who sent it. Then each post as it will look in the feed, with its image and alt text; under each post put two working buttons (JavaScript): Approve turns the card green; Request changes opens a box for my note. A bar at the bottom asks my name once, builds the exact lines to paste in the chat ("approved &lt;id&gt; by &lt;name&gt;", "changes &lt;id&gt;: &lt;note&gt;") and has a Copy button that says "Copied - now paste it in the chat". Keep the lines on screen in case copying is blocked. If I chose email, send ONE review email to the approver with Gmail: the artifact link and what passed the checks. Send nothing else;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ready to post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each Week 1 post approved in review/approvals.csv, publish a "ready to post" artifact: the post text with a Copy button, its image, and the steps to post it by hand on LinkedIn or our Facebook Page. Then open the folder with the two images on my computer. Publish nothing yourself.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A designer who can ask the writer for the hook makes a better image.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gate stopped Claude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teammates ran; the Lead said when each started and finished.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Team chat shows the designer and the creator messaging each other.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from the designer, alt text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in the artifact or by email and pasted the approval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posted the approved text and image yourself (or, optionally, through the API after you said go).</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a Claude artifact.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artifact,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Review the issue in the artifact (or the review email's link). Click Approve or Request changes, then Copy and paste into the chat.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a Claude artifact.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newsletter team</a:t>
            </a:r>
          </a:p>
        </p:txBody>
      </p:sp>
      <p:sp>
        <p:nvSpPr>
          <p:cNvPr id="9" name="TextBox 8"/>
          <p:cNvSpPr txBox="1"/>
          <p:nvPr/>
        </p:nvSpPr>
        <p:spPr>
          <a:xfrm>
            <a:off x="822960" y="2313432"/>
            <a:ext cx="10515600" cy="3822700"/>
          </a:xfrm>
          <a:prstGeom prst="rect">
            <a:avLst/>
          </a:prstGeom>
          <a:noFill/>
        </p:spPr>
        <p:txBody>
          <a:bodyPr wrap="square" lIns="18288" rIns="18288" tIns="9144" bIns="9144">
            <a:spAutoFit/>
          </a:bodyPr>
          <a:lstStyle/>
          <a:p>
            <a:pPr>
              <a:lnSpc>
                <a:spcPct val="110000"/>
              </a:lnSpc>
              <a:defRPr sz="1380" b="0">
                <a:solidFill>
                  <a:srgbClr val="21201C"/>
                </a:solidFill>
                <a:latin typeface="Calibri"/>
              </a:defRPr>
            </a:pPr>
            <a:r>
              <a:t>Create an agent team for the November Sunny Sunday email (data/newsletter-brief.md, data/newsletter-spec.md) and its landing page (data/landing-page-brief.md). Spawn three teammates:</a:t>
            </a:r>
          </a:p>
          <a:p>
            <a:pPr>
              <a:lnSpc>
                <a:spcPct val="110000"/>
              </a:lnSpc>
              <a:defRPr sz="1380" b="0">
                <a:solidFill>
                  <a:srgbClr val="21201C"/>
                </a:solidFill>
                <a:latin typeface="Calibri"/>
              </a:defRPr>
            </a:pPr>
            <a:r>
              <a:t>content-creator, website-designer and growth-analyst.</a:t>
            </a:r>
          </a:p>
          <a:p>
            <a:pPr>
              <a:lnSpc>
                <a:spcPct val="110000"/>
              </a:lnSpc>
              <a:defRPr sz="1380" b="0">
                <a:solidFill>
                  <a:srgbClr val="21201C"/>
                </a:solidFill>
                <a:latin typeface="Calibri"/>
              </a:defRPr>
            </a:pPr>
            <a:r>
              <a:t>- content-creator: issue.md (id nl-2026-11) with newsletter, and the landing-page copy.</a:t>
            </a:r>
          </a:p>
          <a:p>
            <a:pPr>
              <a:lnSpc>
                <a:spcPct val="110000"/>
              </a:lnSpc>
              <a:defRPr sz="1380" b="0">
                <a:solidFill>
                  <a:srgbClr val="21201C"/>
                </a:solidFill>
                <a:latin typeface="Calibri"/>
              </a:defRPr>
            </a:pPr>
            <a:r>
              <a:t>- website-designer: web/checklist/index.html with lead-magnet, web-design and landing-page from the approved copy; page-qa.</a:t>
            </a:r>
          </a:p>
          <a:p>
            <a:pPr>
              <a:lnSpc>
                <a:spcPct val="110000"/>
              </a:lnSpc>
              <a:defRPr sz="1380" b="0">
                <a:solidFill>
                  <a:srgbClr val="21201C"/>
                </a:solidFill>
                <a:latin typeface="Calibri"/>
              </a:defRPr>
            </a:pPr>
            <a:r>
              <a:t>- growth-analyst: recipients.csv and excluded.csv from data/subscribers.csv. Before you start, ask me how I will review: in the artifact, or by email (then ask for the approver's address). You check everything, then submit nl-2026-11 and publish the issue as an artifact, laid out as the email, with the counts of recipients and excluded, and two working buttons (JavaScript): Approve turns the page green; Request changes opens a box for my note. A bar at the bottom asks my name once, builds the exact line to paste in the chat ("approved &lt;id&gt; by &lt;name&gt;" or "changes &lt;id&gt;: &lt;note&gt;") and has a Copy button that says "Copied - now paste it in the chat". Keep the line on screen in case copying is blocked. If I chose email, send ONE review email to the approver with Gmail: the artifact link and what passed the checks. Only after I approve, build newsletter.html and .txt and publish the page as an artifact. Write for a business owner, in plain English: no codes, IDs, file names or line numbers; start with what it means and what I do next. Save a Word copy (.docx) of each result.</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newsletter.html for each address in recipients.csv, plus one draft addressed to me only. Send nothing. Publish a report as an artifact: how many drafts, how many people were excluded, and why,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nl-2026-11 in the artifact or by email and approved it in the chat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in the storyboard artifact; type: approved yt-ep01-script by &lt;your name&gt;.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video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storyboard of the scenes and a thumbnail, using brand-visuals). You fact-check and fin-compliance the script, then submit it as yt-ep01-script. Publish nothing. Publish the storyboard as an artifact: one frame per scene with its words, visual and timing, and the thumbnail. Write for a business owner, in plain English: no codes, IDs, file names or line numbers; start with what it means and what I do next. Save a Word copy (.docx) of each result.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Claude Code: render and upload</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its length and size. Do not change approved words. Publish the checks as an artifact: length, size, resolution and every scene, PASS or FAIL.</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Do a dry run of the YouTube upload for yt-ep01 (scripts/publish.mjs). If I say "go", upload it for real — as PRIVATE. Publish the request, then the YouTube Studio link,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10</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Agent teams at work: argue a strategy, then a QA loop</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Pause scheduled tasks you are not using.</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(skill, routine,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13".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Do it once  </a:t>
            </a:r>
            <a:r>
              <a:rPr sz="1550">
                <a:solidFill>
                  <a:srgbClr val="6B6862"/>
                </a:solidFill>
                <a:latin typeface="Calibri"/>
              </a:rPr>
              <a:t>Copy and paste Prompt A. Refine the report until it is right.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Schedule it  </a:t>
            </a:r>
            <a:r>
              <a:rPr sz="1550">
                <a:solidFill>
                  <a:srgbClr val="6B6862"/>
                </a:solidFill>
                <a:latin typeface="Calibri"/>
              </a:rPr>
              <a:t>After the report is right, copy and paste Prompt B into the instructions of a new routine: Routines → New routine → Local, Mondays at 8am.</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Run it now  </a:t>
            </a:r>
            <a:r>
              <a:rPr sz="1550">
                <a:solidFill>
                  <a:srgbClr val="6B6862"/>
                </a:solidFill>
                <a:latin typeface="Calibri"/>
              </a:rPr>
              <a:t>Click Run now once, approve any permission prompts, then open the Gmail draft.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Pause it  </a:t>
            </a:r>
            <a:r>
              <a:rPr sz="1550">
                <a:solidFill>
                  <a:srgbClr val="6B6862"/>
                </a:solidFill>
                <a:latin typeface="Calibri"/>
              </a:rPr>
              <a:t>After class, pause the routine.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do it once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Horizon's Growth Analyst. Using Google Drive, read campaign-results.csv in the Horizon Studio folder. Use the campaign-report skill and data/weekly-report-brief.md. Leave the report as a Gmail DRAFT to me, subject "Horizon weekly growth report" and today's date. Send nothing. Also publish the report as an artifact: cost per chat by channel as a chart, and the budget split. Write for a business owner, in plain English: no codes, IDs, file names or line numbers; start with what it means and what I do next. Save a Word copy (.docx) of each result.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routine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 campaign-report skill as Horizon's Growth Analyst. Read campaign-results.csv in the Horizon Studio folder on Google Drive and follow weekly-report-brief.md. Leave the report as a draft email to me in Gmail with the subject "Horizon weekly growth report" and today's date. Do not send it, and do not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used the campaign-report skill from your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 typed by a person, hash, gate</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and the team playbook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14".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Copy and paste Prompt A.</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After the Lead shows the comparison, copy and 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compare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agent teams and the scheduled task — on minutes, tokens, defects caught before a person and human edits. Which pattern pays off for which job? Save reports/agent-comparison.md. Publish it as an artifact: one chart per measure, comparing the patterns. Write for a business owner, in plain English: no codes, IDs, file names or line numbers; start with what it means and what I do next. Save a Word copy (.docx) of each result.</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playbook</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.claude/agents/, its skills, connectors, model and what it may never do; the approval matrix by risk; the rules in data/responsible-ai-checklist.md; and what to do when a wrong post goes out. Then run fin-compliance on it. Publish the playbook as an artifact: the roster as cards, the approval matrix as a table.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an agent team?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Same work, different wiring: who spawns whom, and who talks to whom.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8" name="TextBox 7"/>
          <p:cNvSpPr txBox="1"/>
          <p:nvPr/>
        </p:nvSpPr>
        <p:spPr>
          <a:xfrm>
            <a:off x="548640" y="2039112"/>
            <a:ext cx="2743200" cy="256032"/>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SUBAGENTS</a:t>
            </a:r>
          </a:p>
        </p:txBody>
      </p:sp>
      <p:sp>
        <p:nvSpPr>
          <p:cNvPr id="9" name="Rounded Rectangle 8"/>
          <p:cNvSpPr/>
          <p:nvPr/>
        </p:nvSpPr>
        <p:spPr>
          <a:xfrm>
            <a:off x="2308860"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Main Agent</a:t>
            </a:r>
          </a:p>
        </p:txBody>
      </p:sp>
      <p:cxnSp>
        <p:nvCxnSpPr>
          <p:cNvPr id="10" name="Connector 9"/>
          <p:cNvCxnSpPr/>
          <p:nvPr/>
        </p:nvCxnSpPr>
        <p:spPr>
          <a:xfrm flipH="1">
            <a:off x="1879092" y="2816351"/>
            <a:ext cx="1069847"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229868"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2" name="Connector 11"/>
          <p:cNvCxnSpPr/>
          <p:nvPr/>
        </p:nvCxnSpPr>
        <p:spPr>
          <a:xfrm>
            <a:off x="1879092"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24812"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14" name="Oval 13"/>
          <p:cNvSpPr/>
          <p:nvPr/>
        </p:nvSpPr>
        <p:spPr>
          <a:xfrm>
            <a:off x="1376172"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15" name="Connector 14"/>
          <p:cNvCxnSpPr/>
          <p:nvPr/>
        </p:nvCxnSpPr>
        <p:spPr>
          <a:xfrm>
            <a:off x="1879092"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1860" y="2816351"/>
            <a:ext cx="0"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02636"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8" name="Connector 17"/>
          <p:cNvCxnSpPr/>
          <p:nvPr/>
        </p:nvCxnSpPr>
        <p:spPr>
          <a:xfrm>
            <a:off x="3451860"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97580"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0" name="Oval 19"/>
          <p:cNvSpPr/>
          <p:nvPr/>
        </p:nvSpPr>
        <p:spPr>
          <a:xfrm>
            <a:off x="2948940"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1" name="Connector 20"/>
          <p:cNvCxnSpPr/>
          <p:nvPr/>
        </p:nvCxnSpPr>
        <p:spPr>
          <a:xfrm>
            <a:off x="3451860"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54780" y="2816351"/>
            <a:ext cx="1069848"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5404"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24" name="Connector 23"/>
          <p:cNvCxnSpPr/>
          <p:nvPr/>
        </p:nvCxnSpPr>
        <p:spPr>
          <a:xfrm>
            <a:off x="5024628"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0348"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6" name="Oval 25"/>
          <p:cNvSpPr/>
          <p:nvPr/>
        </p:nvSpPr>
        <p:spPr>
          <a:xfrm>
            <a:off x="4521708"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7" name="Connector 26"/>
          <p:cNvCxnSpPr/>
          <p:nvPr/>
        </p:nvCxnSpPr>
        <p:spPr>
          <a:xfrm>
            <a:off x="5024628"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40580" y="2980944"/>
            <a:ext cx="731520" cy="219456"/>
          </a:xfrm>
          <a:prstGeom prst="rect">
            <a:avLst/>
          </a:prstGeom>
          <a:noFill/>
        </p:spPr>
        <p:txBody>
          <a:bodyPr wrap="square" lIns="18288" rIns="18288" tIns="9144" bIns="9144">
            <a:spAutoFit/>
          </a:bodyPr>
          <a:lstStyle/>
          <a:p>
            <a:pPr>
              <a:lnSpc>
                <a:spcPct val="100000"/>
              </a:lnSpc>
              <a:defRPr sz="950" b="1">
                <a:solidFill>
                  <a:srgbClr val="D97757"/>
                </a:solidFill>
                <a:latin typeface="Calibri"/>
              </a:defRPr>
            </a:pPr>
            <a:r>
              <a:t>spawn</a:t>
            </a:r>
          </a:p>
        </p:txBody>
      </p:sp>
      <p:cxnSp>
        <p:nvCxnSpPr>
          <p:cNvPr id="29" name="Connector 28"/>
          <p:cNvCxnSpPr/>
          <p:nvPr/>
        </p:nvCxnSpPr>
        <p:spPr>
          <a:xfrm flipH="1">
            <a:off x="658368" y="4901183"/>
            <a:ext cx="4366260" cy="0"/>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58368" y="2587751"/>
            <a:ext cx="0" cy="2313432"/>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58368" y="2587751"/>
            <a:ext cx="1650492" cy="0"/>
          </a:xfrm>
          <a:prstGeom prst="line">
            <a:avLst/>
          </a:prstGeom>
          <a:ln w="22225">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96212" y="4937759"/>
            <a:ext cx="4206240" cy="237744"/>
          </a:xfrm>
          <a:prstGeom prst="rect">
            <a:avLst/>
          </a:prstGeom>
          <a:noFill/>
        </p:spPr>
        <p:txBody>
          <a:bodyPr wrap="square" lIns="18288" rIns="18288" tIns="9144" bIns="9144">
            <a:spAutoFit/>
          </a:bodyPr>
          <a:lstStyle/>
          <a:p>
            <a:pPr>
              <a:lnSpc>
                <a:spcPct val="100000"/>
              </a:lnSpc>
              <a:defRPr sz="950" b="1">
                <a:solidFill>
                  <a:srgbClr val="6B6862"/>
                </a:solidFill>
                <a:latin typeface="Calibri"/>
              </a:defRPr>
            </a:pPr>
            <a:r>
              <a:t>report results back — subagents never talk to each other</a:t>
            </a:r>
          </a:p>
        </p:txBody>
      </p:sp>
      <p:cxnSp>
        <p:nvCxnSpPr>
          <p:cNvPr id="33" name="Connector 32"/>
          <p:cNvCxnSpPr/>
          <p:nvPr/>
        </p:nvCxnSpPr>
        <p:spPr>
          <a:xfrm>
            <a:off x="6053328" y="2039112"/>
            <a:ext cx="0" cy="3465576"/>
          </a:xfrm>
          <a:prstGeom prst="line">
            <a:avLst/>
          </a:prstGeom>
          <a:ln w="15875">
            <a:solidFill>
              <a:srgbClr val="DCD8C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63640" y="2039112"/>
            <a:ext cx="2743200" cy="256032"/>
          </a:xfrm>
          <a:prstGeom prst="rect">
            <a:avLst/>
          </a:prstGeom>
          <a:noFill/>
        </p:spPr>
        <p:txBody>
          <a:bodyPr wrap="square" lIns="18288" rIns="18288" tIns="9144" bIns="9144">
            <a:spAutoFit/>
          </a:bodyPr>
          <a:lstStyle/>
          <a:p>
            <a:pPr>
              <a:lnSpc>
                <a:spcPct val="100000"/>
              </a:lnSpc>
              <a:defRPr sz="1200" b="1">
                <a:solidFill>
                  <a:srgbClr val="3A7D7B"/>
                </a:solidFill>
                <a:latin typeface="Calibri"/>
              </a:defRPr>
            </a:pPr>
            <a:r>
              <a:t>AGENT TEAM</a:t>
            </a:r>
          </a:p>
        </p:txBody>
      </p:sp>
      <p:sp>
        <p:nvSpPr>
          <p:cNvPr id="35" name="Rounded Rectangle 34"/>
          <p:cNvSpPr/>
          <p:nvPr/>
        </p:nvSpPr>
        <p:spPr>
          <a:xfrm>
            <a:off x="7795259"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Team Lead</a:t>
            </a:r>
          </a:p>
        </p:txBody>
      </p:sp>
      <p:cxnSp>
        <p:nvCxnSpPr>
          <p:cNvPr id="36" name="Connector 35"/>
          <p:cNvCxnSpPr/>
          <p:nvPr/>
        </p:nvCxnSpPr>
        <p:spPr>
          <a:xfrm>
            <a:off x="8938259" y="2816351"/>
            <a:ext cx="0" cy="41148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011411" y="2907791"/>
            <a:ext cx="2377440" cy="219456"/>
          </a:xfrm>
          <a:prstGeom prst="rect">
            <a:avLst/>
          </a:prstGeom>
          <a:noFill/>
        </p:spPr>
        <p:txBody>
          <a:bodyPr wrap="square" lIns="18288" rIns="18288" tIns="9144" bIns="9144">
            <a:spAutoFit/>
          </a:bodyPr>
          <a:lstStyle/>
          <a:p>
            <a:pPr>
              <a:lnSpc>
                <a:spcPct val="100000"/>
              </a:lnSpc>
              <a:defRPr sz="950" b="1">
                <a:solidFill>
                  <a:srgbClr val="3A7D7B"/>
                </a:solidFill>
                <a:latin typeface="Calibri"/>
              </a:defRPr>
            </a:pPr>
            <a:r>
              <a:t>spawn team &amp; assign tasks</a:t>
            </a:r>
          </a:p>
        </p:txBody>
      </p:sp>
      <p:sp>
        <p:nvSpPr>
          <p:cNvPr id="38" name="Rounded Rectangle 37"/>
          <p:cNvSpPr/>
          <p:nvPr/>
        </p:nvSpPr>
        <p:spPr>
          <a:xfrm>
            <a:off x="6309359" y="3227831"/>
            <a:ext cx="5257800" cy="2103120"/>
          </a:xfrm>
          <a:prstGeom prst="roundRect">
            <a:avLst>
              <a:gd name="adj" fmla="val 6000"/>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37959" y="3392423"/>
            <a:ext cx="4800600" cy="402336"/>
          </a:xfrm>
          <a:prstGeom prst="roundRect">
            <a:avLst>
              <a:gd name="adj" fmla="val 18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250" b="1">
                <a:solidFill>
                  <a:srgbClr val="3A7D7B"/>
                </a:solidFill>
                <a:latin typeface="Calibri"/>
              </a:defRPr>
            </a:pPr>
            <a:r>
              <a:t>Shared Task List</a:t>
            </a:r>
          </a:p>
        </p:txBody>
      </p:sp>
      <p:cxnSp>
        <p:nvCxnSpPr>
          <p:cNvPr id="40" name="Connector 39"/>
          <p:cNvCxnSpPr/>
          <p:nvPr/>
        </p:nvCxnSpPr>
        <p:spPr>
          <a:xfrm>
            <a:off x="7228331"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565392"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2" name="Connector 41"/>
          <p:cNvCxnSpPr/>
          <p:nvPr/>
        </p:nvCxnSpPr>
        <p:spPr>
          <a:xfrm>
            <a:off x="7228331"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274051"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4" name="Connector 43"/>
          <p:cNvCxnSpPr/>
          <p:nvPr/>
        </p:nvCxnSpPr>
        <p:spPr>
          <a:xfrm>
            <a:off x="8938259"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275319"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6" name="Connector 45"/>
          <p:cNvCxnSpPr/>
          <p:nvPr/>
        </p:nvCxnSpPr>
        <p:spPr>
          <a:xfrm>
            <a:off x="7918703" y="4636007"/>
            <a:ext cx="329185"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938259"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83980"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9" name="Connector 48"/>
          <p:cNvCxnSpPr/>
          <p:nvPr/>
        </p:nvCxnSpPr>
        <p:spPr>
          <a:xfrm>
            <a:off x="10648188"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985248"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51" name="Connector 50"/>
          <p:cNvCxnSpPr/>
          <p:nvPr/>
        </p:nvCxnSpPr>
        <p:spPr>
          <a:xfrm>
            <a:off x="9628632" y="4636007"/>
            <a:ext cx="329184"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648188"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693908"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54" name="TextBox 53"/>
          <p:cNvSpPr txBox="1"/>
          <p:nvPr/>
        </p:nvSpPr>
        <p:spPr>
          <a:xfrm>
            <a:off x="7306056" y="3941063"/>
            <a:ext cx="1554480" cy="219456"/>
          </a:xfrm>
          <a:prstGeom prst="rect">
            <a:avLst/>
          </a:prstGeom>
          <a:noFill/>
        </p:spPr>
        <p:txBody>
          <a:bodyPr wrap="square" lIns="18288" rIns="18288" tIns="9144" bIns="9144">
            <a:spAutoFit/>
          </a:bodyPr>
          <a:lstStyle/>
          <a:p>
            <a:pPr algn="ctr">
              <a:lnSpc>
                <a:spcPct val="100000"/>
              </a:lnSpc>
              <a:defRPr sz="950" b="1">
                <a:solidFill>
                  <a:srgbClr val="3A7D7B"/>
                </a:solidFill>
                <a:latin typeface="Calibri"/>
              </a:defRPr>
            </a:pPr>
            <a:r>
              <a:t>claim &amp; update tasks</a:t>
            </a:r>
          </a:p>
        </p:txBody>
      </p:sp>
      <p:sp>
        <p:nvSpPr>
          <p:cNvPr id="55" name="TextBox 54"/>
          <p:cNvSpPr txBox="1"/>
          <p:nvPr/>
        </p:nvSpPr>
        <p:spPr>
          <a:xfrm>
            <a:off x="7306056" y="4983479"/>
            <a:ext cx="1554480" cy="219456"/>
          </a:xfrm>
          <a:prstGeom prst="rect">
            <a:avLst/>
          </a:prstGeom>
          <a:noFill/>
        </p:spPr>
        <p:txBody>
          <a:bodyPr wrap="square" lIns="18288" rIns="18288" tIns="9144" bIns="9144">
            <a:spAutoFit/>
          </a:bodyPr>
          <a:lstStyle/>
          <a:p>
            <a:pPr algn="ctr">
              <a:lnSpc>
                <a:spcPct val="100000"/>
              </a:lnSpc>
              <a:defRPr sz="950" b="1">
                <a:solidFill>
                  <a:srgbClr val="5B4B8A"/>
                </a:solidFill>
                <a:latin typeface="Calibri"/>
              </a:defRPr>
            </a:pPr>
            <a:r>
              <a:t>message each other</a:t>
            </a:r>
          </a:p>
        </p:txBody>
      </p:sp>
      <p:sp>
        <p:nvSpPr>
          <p:cNvPr id="56" name="Rounded Rectangle 55"/>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Subagents report back to one agent. Teammates share a task list and talk to each other.</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Team That Argues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1: test a strategy before Horizon spends on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Advocate · growth-strategist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FOR the "Turning 55" CPF explainer</a:t>
            </a:r>
          </a:p>
        </p:txBody>
      </p:sp>
      <p:sp>
        <p:nvSpPr>
          <p:cNvPr id="13" name="Rectangle 12"/>
          <p:cNvSpPr/>
          <p:nvPr/>
        </p:nvSpPr>
        <p:spPr>
          <a:xfrm>
            <a:off x="804672" y="3898391"/>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Cites results, personas and the facts sheet</a:t>
            </a:r>
          </a:p>
        </p:txBody>
      </p:sp>
      <p:sp>
        <p:nvSpPr>
          <p:cNvPr id="15" name="Rectangle 14"/>
          <p:cNvSpPr/>
          <p:nvPr/>
        </p:nvSpPr>
        <p:spPr>
          <a:xfrm>
            <a:off x="804672" y="478840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Answers the critic directly — two rebuttals</a:t>
            </a:r>
          </a:p>
        </p:txBody>
      </p:sp>
      <p:sp>
        <p:nvSpPr>
          <p:cNvPr id="17" name="Rounded Rectangle 16"/>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Critic · growth-analyst</a:t>
            </a:r>
          </a:p>
        </p:txBody>
      </p:sp>
      <p:sp>
        <p:nvSpPr>
          <p:cNvPr id="20" name="Rectangle 19"/>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AGAINST it — cost, timing, audience</a:t>
            </a:r>
          </a:p>
        </p:txBody>
      </p:sp>
      <p:sp>
        <p:nvSpPr>
          <p:cNvPr id="22" name="Rectangle 21"/>
          <p:cNvSpPr/>
          <p:nvPr/>
        </p:nvSpPr>
        <p:spPr>
          <a:xfrm>
            <a:off x="6473951" y="3898391"/>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Every point backed by a file, not an opinion</a:t>
            </a:r>
          </a:p>
        </p:txBody>
      </p:sp>
      <p:sp>
        <p:nvSpPr>
          <p:cNvPr id="24" name="Rectangle 23"/>
          <p:cNvSpPr/>
          <p:nvPr/>
        </p:nvSpPr>
        <p:spPr>
          <a:xfrm>
            <a:off x="6473951" y="478840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Lead judges; a person makes the call</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2: a failed audit goes straight back to the writer — not through the Lead.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8" name="Rounded Rectangle 7"/>
          <p:cNvSpPr/>
          <p:nvPr/>
        </p:nvSpPr>
        <p:spPr>
          <a:xfrm>
            <a:off x="548640" y="2587752"/>
            <a:ext cx="2606040" cy="1097280"/>
          </a:xfrm>
          <a:prstGeom prst="roundRect">
            <a:avLst>
              <a:gd name="adj" fmla="val 6000"/>
            </a:avLst>
          </a:prstGeom>
          <a:solidFill>
            <a:srgbClr val="FFFFFF"/>
          </a:solidFill>
          <a:ln w="2222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87752"/>
            <a:ext cx="2606040"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Writer</a:t>
            </a:r>
          </a:p>
        </p:txBody>
      </p:sp>
      <p:sp>
        <p:nvSpPr>
          <p:cNvPr id="11" name="TextBox 10"/>
          <p:cNvSpPr txBox="1"/>
          <p:nvPr/>
        </p:nvSpPr>
        <p:spPr>
          <a:xfrm>
            <a:off x="71323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content-creator: rewrites the intern's draft into an email and a video script.</a:t>
            </a:r>
          </a:p>
        </p:txBody>
      </p:sp>
      <p:sp>
        <p:nvSpPr>
          <p:cNvPr id="12" name="Rounded Rectangle 11"/>
          <p:cNvSpPr/>
          <p:nvPr/>
        </p:nvSpPr>
        <p:spPr>
          <a:xfrm>
            <a:off x="4160520" y="2587752"/>
            <a:ext cx="2606040" cy="1097280"/>
          </a:xfrm>
          <a:prstGeom prst="roundRect">
            <a:avLst>
              <a:gd name="adj" fmla="val 6000"/>
            </a:avLst>
          </a:prstGeom>
          <a:solidFill>
            <a:srgbClr val="FFFFFF"/>
          </a:solid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587752"/>
            <a:ext cx="26060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QA Auditor</a:t>
            </a:r>
          </a:p>
        </p:txBody>
      </p:sp>
      <p:sp>
        <p:nvSpPr>
          <p:cNvPr id="15" name="TextBox 14"/>
          <p:cNvSpPr txBox="1"/>
          <p:nvPr/>
        </p:nvSpPr>
        <p:spPr>
          <a:xfrm>
            <a:off x="432511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fact-check + fin-compliance; PASS or FAIL per check, every round logged.</a:t>
            </a:r>
          </a:p>
        </p:txBody>
      </p:sp>
      <p:cxnSp>
        <p:nvCxnSpPr>
          <p:cNvPr id="16" name="Connector 15"/>
          <p:cNvCxnSpPr/>
          <p:nvPr/>
        </p:nvCxnSpPr>
        <p:spPr>
          <a:xfrm>
            <a:off x="3209544" y="2898648"/>
            <a:ext cx="896112" cy="0"/>
          </a:xfrm>
          <a:prstGeom prst="line">
            <a:avLst/>
          </a:prstGeom>
          <a:ln w="2540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54680" y="2624328"/>
            <a:ext cx="1005839" cy="237744"/>
          </a:xfrm>
          <a:prstGeom prst="rect">
            <a:avLst/>
          </a:prstGeom>
          <a:noFill/>
        </p:spPr>
        <p:txBody>
          <a:bodyPr wrap="square" lIns="18288" rIns="18288" tIns="9144" bIns="9144">
            <a:spAutoFit/>
          </a:bodyPr>
          <a:lstStyle/>
          <a:p>
            <a:pPr algn="ctr">
              <a:lnSpc>
                <a:spcPct val="100000"/>
              </a:lnSpc>
              <a:defRPr sz="1050" b="1">
                <a:solidFill>
                  <a:srgbClr val="5B4B8A"/>
                </a:solidFill>
                <a:latin typeface="Calibri"/>
              </a:defRPr>
            </a:pPr>
            <a:r>
              <a:t>draft</a:t>
            </a:r>
          </a:p>
        </p:txBody>
      </p:sp>
      <p:cxnSp>
        <p:nvCxnSpPr>
          <p:cNvPr id="18" name="Connector 17"/>
          <p:cNvCxnSpPr/>
          <p:nvPr/>
        </p:nvCxnSpPr>
        <p:spPr>
          <a:xfrm flipH="1">
            <a:off x="3209544" y="3374136"/>
            <a:ext cx="896112" cy="0"/>
          </a:xfrm>
          <a:prstGeom prst="line">
            <a:avLst/>
          </a:prstGeom>
          <a:ln w="25400">
            <a:solidFill>
              <a:srgbClr val="D97757"/>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3410712"/>
            <a:ext cx="1005839"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FAIL → fixes</a:t>
            </a:r>
          </a:p>
        </p:txBody>
      </p:sp>
      <p:cxnSp>
        <p:nvCxnSpPr>
          <p:cNvPr id="20" name="Connector 19"/>
          <p:cNvCxnSpPr/>
          <p:nvPr/>
        </p:nvCxnSpPr>
        <p:spPr>
          <a:xfrm>
            <a:off x="6803136" y="3136392"/>
            <a:ext cx="640080" cy="0"/>
          </a:xfrm>
          <a:prstGeom prst="line">
            <a:avLst/>
          </a:prstGeom>
          <a:ln w="2540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843784"/>
            <a:ext cx="640080" cy="237744"/>
          </a:xfrm>
          <a:prstGeom prst="rect">
            <a:avLst/>
          </a:prstGeom>
          <a:noFill/>
        </p:spPr>
        <p:txBody>
          <a:bodyPr wrap="square" lIns="18288" rIns="18288" tIns="9144" bIns="9144">
            <a:spAutoFit/>
          </a:bodyPr>
          <a:lstStyle/>
          <a:p>
            <a:pPr algn="ctr">
              <a:lnSpc>
                <a:spcPct val="100000"/>
              </a:lnSpc>
              <a:defRPr sz="1050" b="1">
                <a:solidFill>
                  <a:srgbClr val="3A7D7B"/>
                </a:solidFill>
                <a:latin typeface="Calibri"/>
              </a:defRPr>
            </a:pPr>
            <a:r>
              <a:t>PASS</a:t>
            </a:r>
          </a:p>
        </p:txBody>
      </p:sp>
      <p:sp>
        <p:nvSpPr>
          <p:cNvPr id="22" name="Rounded Rectangle 21"/>
          <p:cNvSpPr/>
          <p:nvPr/>
        </p:nvSpPr>
        <p:spPr>
          <a:xfrm>
            <a:off x="7516368"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Designer</a:t>
            </a:r>
          </a:p>
        </p:txBody>
      </p:sp>
      <p:sp>
        <p:nvSpPr>
          <p:cNvPr id="24" name="TextBox 23"/>
          <p:cNvSpPr txBox="1"/>
          <p:nvPr/>
        </p:nvSpPr>
        <p:spPr>
          <a:xfrm>
            <a:off x="7626096"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Asks the writer for the headline; one image.</a:t>
            </a:r>
          </a:p>
        </p:txBody>
      </p:sp>
      <p:sp>
        <p:nvSpPr>
          <p:cNvPr id="25" name="Rounded Rectangle 24"/>
          <p:cNvSpPr/>
          <p:nvPr/>
        </p:nvSpPr>
        <p:spPr>
          <a:xfrm>
            <a:off x="8924544"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Lead</a:t>
            </a:r>
          </a:p>
        </p:txBody>
      </p:sp>
      <p:sp>
        <p:nvSpPr>
          <p:cNvPr id="27" name="TextBox 26"/>
          <p:cNvSpPr txBox="1"/>
          <p:nvPr/>
        </p:nvSpPr>
        <p:spPr>
          <a:xfrm>
            <a:off x="9034272"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Submits for approval; never rewrites.</a:t>
            </a:r>
          </a:p>
        </p:txBody>
      </p:sp>
      <p:cxnSp>
        <p:nvCxnSpPr>
          <p:cNvPr id="28" name="Connector 27"/>
          <p:cNvCxnSpPr/>
          <p:nvPr/>
        </p:nvCxnSpPr>
        <p:spPr>
          <a:xfrm>
            <a:off x="8805672"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332720" y="2587752"/>
            <a:ext cx="1280159" cy="10972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2448" y="2752344"/>
            <a:ext cx="1060703" cy="310896"/>
          </a:xfrm>
          <a:prstGeom prst="rect">
            <a:avLst/>
          </a:prstGeom>
          <a:noFill/>
        </p:spPr>
        <p:txBody>
          <a:bodyPr wrap="square" lIns="18288" rIns="18288" tIns="9144" bIns="9144">
            <a:spAutoFit/>
          </a:bodyPr>
          <a:lstStyle/>
          <a:p>
            <a:pPr>
              <a:lnSpc>
                <a:spcPct val="100000"/>
              </a:lnSpc>
              <a:defRPr sz="1300" b="1">
                <a:solidFill>
                  <a:srgbClr val="FFFFFF"/>
                </a:solidFill>
                <a:latin typeface="Cambria"/>
              </a:defRPr>
            </a:pPr>
            <a:r>
              <a:t>Person</a:t>
            </a:r>
          </a:p>
        </p:txBody>
      </p:sp>
      <p:sp>
        <p:nvSpPr>
          <p:cNvPr id="31" name="TextBox 30"/>
          <p:cNvSpPr txBox="1"/>
          <p:nvPr/>
        </p:nvSpPr>
        <p:spPr>
          <a:xfrm>
            <a:off x="10442448" y="3099816"/>
            <a:ext cx="1060703" cy="548640"/>
          </a:xfrm>
          <a:prstGeom prst="rect">
            <a:avLst/>
          </a:prstGeom>
          <a:noFill/>
        </p:spPr>
        <p:txBody>
          <a:bodyPr wrap="square" lIns="18288" rIns="18288" tIns="9144" bIns="9144">
            <a:spAutoFit/>
          </a:bodyPr>
          <a:lstStyle/>
          <a:p>
            <a:pPr>
              <a:lnSpc>
                <a:spcPct val="105000"/>
              </a:lnSpc>
              <a:defRPr sz="1050" b="0">
                <a:solidFill>
                  <a:srgbClr val="C9C4B9"/>
                </a:solidFill>
                <a:latin typeface="Calibri"/>
              </a:defRPr>
            </a:pPr>
            <a:r>
              <a:t>Approves the exact version.</a:t>
            </a:r>
          </a:p>
        </p:txBody>
      </p:sp>
      <p:cxnSp>
        <p:nvCxnSpPr>
          <p:cNvPr id="32" name="Connector 31"/>
          <p:cNvCxnSpPr/>
          <p:nvPr/>
        </p:nvCxnSpPr>
        <p:spPr>
          <a:xfrm>
            <a:off x="10213848"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050792"/>
            <a:ext cx="54864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THE AUDIT FAILS WHEN</a:t>
            </a:r>
          </a:p>
        </p:txBody>
      </p:sp>
      <p:sp>
        <p:nvSpPr>
          <p:cNvPr id="34" name="Oval 33"/>
          <p:cNvSpPr/>
          <p:nvPr/>
        </p:nvSpPr>
        <p:spPr>
          <a:xfrm>
            <a:off x="548640"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1</a:t>
            </a:r>
          </a:p>
        </p:txBody>
      </p:sp>
      <p:sp>
        <p:nvSpPr>
          <p:cNvPr id="35" name="TextBox 34"/>
          <p:cNvSpPr txBox="1"/>
          <p:nvPr/>
        </p:nvSpPr>
        <p:spPr>
          <a:xfrm>
            <a:off x="932688"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figure is not in facts-2026.md</a:t>
            </a:r>
          </a:p>
        </p:txBody>
      </p:sp>
      <p:sp>
        <p:nvSpPr>
          <p:cNvPr id="36" name="Oval 35"/>
          <p:cNvSpPr/>
          <p:nvPr/>
        </p:nvSpPr>
        <p:spPr>
          <a:xfrm>
            <a:off x="548640"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2</a:t>
            </a:r>
          </a:p>
        </p:txBody>
      </p:sp>
      <p:sp>
        <p:nvSpPr>
          <p:cNvPr id="37" name="TextBox 36"/>
          <p:cNvSpPr txBox="1"/>
          <p:nvPr/>
        </p:nvSpPr>
        <p:spPr>
          <a:xfrm>
            <a:off x="932688"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promise of savings or returns</a:t>
            </a:r>
          </a:p>
        </p:txBody>
      </p:sp>
      <p:sp>
        <p:nvSpPr>
          <p:cNvPr id="38" name="Oval 37"/>
          <p:cNvSpPr/>
          <p:nvPr/>
        </p:nvSpPr>
        <p:spPr>
          <a:xfrm>
            <a:off x="6126479"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3</a:t>
            </a:r>
          </a:p>
        </p:txBody>
      </p:sp>
      <p:sp>
        <p:nvSpPr>
          <p:cNvPr id="39" name="TextBox 38"/>
          <p:cNvSpPr txBox="1"/>
          <p:nvPr/>
        </p:nvSpPr>
        <p:spPr>
          <a:xfrm>
            <a:off x="6510527"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Advice ("everyone should…")</a:t>
            </a:r>
          </a:p>
        </p:txBody>
      </p:sp>
      <p:sp>
        <p:nvSpPr>
          <p:cNvPr id="40" name="Oval 39"/>
          <p:cNvSpPr/>
          <p:nvPr/>
        </p:nvSpPr>
        <p:spPr>
          <a:xfrm>
            <a:off x="6126479"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4</a:t>
            </a:r>
          </a:p>
        </p:txBody>
      </p:sp>
      <p:sp>
        <p:nvSpPr>
          <p:cNvPr id="41" name="TextBox 40"/>
          <p:cNvSpPr txBox="1"/>
          <p:nvPr/>
        </p:nvSpPr>
        <p:spPr>
          <a:xfrm>
            <a:off x="6510527"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wrong age or a missing disclaimer</a:t>
            </a:r>
          </a:p>
        </p:txBody>
      </p:sp>
      <p:sp>
        <p:nvSpPr>
          <p:cNvPr id="42" name="Rounded Rectangle 4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Three rounds at most — then the Lead escalates to a person.</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January is for people turning 55. Before Horizon spends on a CPF explainer for them, Rachel wants it argued both ways — and the intern's draft checked until it passes.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decision (pros, cons, verdict), then an email, a video script and a thumbnail that passed QA, submitted for your approval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teams: Lead, teammates, shared task list, direct messages)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advocate and a critic argue the pros and cons · the Lead judges · a writer and a QA Auditor loop until PASS · FAIL goes straight back to the writer · human approval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1: the debate  </a:t>
            </a:r>
            <a:r>
              <a:rPr sz="1300">
                <a:solidFill>
                  <a:srgbClr val="6B6862"/>
                </a:solidFill>
                <a:latin typeface="Calibri"/>
              </a:rPr>
              <a:t>Copy and paste Prompt A. The advocate and the critic message each other; the decision page shows their debate.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the decision artifact. Reply "go", "go with conditions" or "no-go" — the call is yours.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2: the QA loop  </a:t>
            </a:r>
            <a:r>
              <a:rPr sz="1300">
                <a:solidFill>
                  <a:srgbClr val="6B6862"/>
                </a:solidFill>
                <a:latin typeface="Calibri"/>
              </a:rPr>
              <a:t>After you have made the call, copy and paste Prompt B. The audit fails on round 1; watch the auditor message the writer directly.</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the pieces and the QA artifact, then type in the chat: approved &lt;id&gt; by &lt;your name&gt; (or: changes &lt;id&gt;: what to fix).</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Shut down  </a:t>
            </a:r>
            <a:r>
              <a:rPr sz="1300">
                <a:solidFill>
                  <a:srgbClr val="6B6862"/>
                </a:solidFill>
                <a:latin typeface="Calibri"/>
              </a:rPr>
              <a:t>After you have approved the pieces, copy and paste Prompt C. The Lead stops each teammate and cleans up the team.</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159</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strategy debate</a:t>
            </a:r>
          </a:p>
        </p:txBody>
      </p:sp>
      <p:sp>
        <p:nvSpPr>
          <p:cNvPr id="9" name="TextBox 8"/>
          <p:cNvSpPr txBox="1"/>
          <p:nvPr/>
        </p:nvSpPr>
        <p:spPr>
          <a:xfrm>
            <a:off x="822960" y="2313432"/>
            <a:ext cx="10515600" cy="3831221"/>
          </a:xfrm>
          <a:prstGeom prst="rect">
            <a:avLst/>
          </a:prstGeom>
          <a:noFill/>
        </p:spPr>
        <p:txBody>
          <a:bodyPr wrap="square" lIns="18288" rIns="18288" tIns="9144" bIns="9144">
            <a:spAutoFit/>
          </a:bodyPr>
          <a:lstStyle/>
          <a:p>
            <a:pPr>
              <a:lnSpc>
                <a:spcPct val="110000"/>
              </a:lnSpc>
              <a:defRPr sz="1580" b="0">
                <a:solidFill>
                  <a:srgbClr val="21201C"/>
                </a:solidFill>
                <a:latin typeface="Calibri"/>
              </a:defRPr>
            </a:pPr>
            <a:r>
              <a:t>Create an agent team to test the strategy in data/turning-55-brief.md before we spend on it. You are the Lead and the judge: do not argue. Spawn two teammates:</a:t>
            </a:r>
          </a:p>
          <a:p>
            <a:pPr>
              <a:lnSpc>
                <a:spcPct val="110000"/>
              </a:lnSpc>
              <a:defRPr sz="1580" b="0">
                <a:solidFill>
                  <a:srgbClr val="21201C"/>
                </a:solidFill>
                <a:latin typeface="Calibri"/>
              </a:defRPr>
            </a:pPr>
            <a:r>
              <a:t>- advocate, using the agent type growth-strategist:</a:t>
            </a:r>
          </a:p>
          <a:p>
            <a:pPr>
              <a:lnSpc>
                <a:spcPct val="110000"/>
              </a:lnSpc>
              <a:defRPr sz="1580" b="0">
                <a:solidFill>
                  <a:srgbClr val="21201C"/>
                </a:solidFill>
                <a:latin typeface="Calibri"/>
              </a:defRPr>
            </a:pPr>
            <a:r>
              <a:t>  argue FOR the strategy.</a:t>
            </a:r>
          </a:p>
          <a:p>
            <a:pPr>
              <a:lnSpc>
                <a:spcPct val="110000"/>
              </a:lnSpc>
              <a:defRPr sz="1580" b="0">
                <a:solidFill>
                  <a:srgbClr val="21201C"/>
                </a:solidFill>
                <a:latin typeface="Calibri"/>
              </a:defRPr>
            </a:pPr>
            <a:r>
              <a:t>- critic, using the agent type growth-analyst:</a:t>
            </a:r>
          </a:p>
          <a:p>
            <a:pPr>
              <a:lnSpc>
                <a:spcPct val="110000"/>
              </a:lnSpc>
              <a:defRPr sz="1580" b="0">
                <a:solidFill>
                  <a:srgbClr val="21201C"/>
                </a:solidFill>
                <a:latin typeface="Calibri"/>
              </a:defRPr>
            </a:pPr>
            <a:r>
              <a:t>  argue AGAINST it.</a:t>
            </a:r>
          </a:p>
          <a:p>
            <a:pPr>
              <a:lnSpc>
                <a:spcPct val="110000"/>
              </a:lnSpc>
              <a:defRPr sz="1580" b="0">
                <a:solidFill>
                  <a:srgbClr val="21201C"/>
                </a:solidFill>
                <a:latin typeface="Calibri"/>
              </a:defRPr>
            </a:pPr>
            <a:r>
              <a:t>- Both: cite data/campaign-results.csv, strategy/personas.md, data/facts-2026.md or data/compliance-checklist.md for every point; message each other directly; rebut twice at most.</a:t>
            </a:r>
          </a:p>
          <a:p>
            <a:pPr>
              <a:lnSpc>
                <a:spcPct val="110000"/>
              </a:lnSpc>
              <a:defRPr sz="1580" b="0">
                <a:solidFill>
                  <a:srgbClr val="21201C"/>
                </a:solidFill>
                <a:latin typeface="Calibri"/>
              </a:defRPr>
            </a:pPr>
            <a:r>
              <a:t>- You: write strategy/turning-55-decision.md with the pros, the cons, your verdict (go / go with conditions / no-go) and the conditions. Publish the decision as an artifact with the verdict on top, the pros and cons in two columns, the debate (the messages the advocate and critic sent each other, in order) and what I do next. Then wait for my decision. Write for a business owner, in plain English: no codes, IDs, file names or line numbers; start with what it means and what I do next. Save a Word copy (.docx) of each result.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160</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QA loop</a:t>
            </a:r>
          </a:p>
        </p:txBody>
      </p:sp>
      <p:sp>
        <p:nvSpPr>
          <p:cNvPr id="9" name="TextBox 8"/>
          <p:cNvSpPr txBox="1"/>
          <p:nvPr/>
        </p:nvSpPr>
        <p:spPr>
          <a:xfrm>
            <a:off x="822960" y="2313432"/>
            <a:ext cx="10515600" cy="3728961"/>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Clean up the debate team, then create a new agent team for Part 2 of data/turning-55-brief.md, using my decision. Spawn three teammates:</a:t>
            </a:r>
          </a:p>
          <a:p>
            <a:pPr>
              <a:lnSpc>
                <a:spcPct val="110000"/>
              </a:lnSpc>
              <a:defRPr sz="1650" b="0">
                <a:solidFill>
                  <a:srgbClr val="21201C"/>
                </a:solidFill>
                <a:latin typeface="Calibri"/>
              </a:defRPr>
            </a:pPr>
            <a:r>
              <a:t>- writer, agent type content-creator: rewrite data/turning-55-draft.md into content/turning-55/email.md and content/turning-55/video-script.md.</a:t>
            </a:r>
          </a:p>
          <a:p>
            <a:pPr>
              <a:lnSpc>
                <a:spcPct val="110000"/>
              </a:lnSpc>
              <a:defRPr sz="1650" b="0">
                <a:solidFill>
                  <a:srgbClr val="21201C"/>
                </a:solidFill>
                <a:latin typeface="Calibri"/>
              </a:defRPr>
            </a:pPr>
            <a:r>
              <a:t>- qa-auditor: audit each piece with fact-check and fin-compliance; write review/turning-55-qa.md, one section per round, PASS or FAIL per check. On FAIL, message the writer directly with the lines to fix and audit again. Three rounds at most.</a:t>
            </a:r>
          </a:p>
          <a:p>
            <a:pPr>
              <a:lnSpc>
                <a:spcPct val="110000"/>
              </a:lnSpc>
              <a:defRPr sz="1650" b="0">
                <a:solidFill>
                  <a:srgbClr val="21201C"/>
                </a:solidFill>
                <a:latin typeface="Calibri"/>
              </a:defRPr>
            </a:pPr>
            <a:r>
              <a:t>- designer, agent type creative-designer: once a piece passes, ask the writer for its headline and make one thumbnail with alt text.</a:t>
            </a:r>
          </a:p>
          <a:p>
            <a:pPr>
              <a:lnSpc>
                <a:spcPct val="110000"/>
              </a:lnSpc>
              <a:defRPr sz="1650" b="0">
                <a:solidFill>
                  <a:srgbClr val="21201C"/>
                </a:solidFill>
                <a:latin typeface="Calibri"/>
              </a:defRPr>
            </a:pPr>
            <a:r>
              <a:t>- You, the Lead: never write or fix content. When everything passes, submit each piece with scripts/submit.mjs. Publish nothing. Publish the QA report as an artifact, one row per round, PASS or FAIL per check,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161</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shut down</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Ask every teammate to shut down, then clean up the team. Show me the final task list and how many QA rounds each piece needed. Publish it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Use subagents when only the result matters; use a team when the agents must talk — to argue, or to send work back. Every teammate is its own Claude session, so teams cost more tokens.</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162</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debate: the best point for, the best point against, and your verdict.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failed in the first QA round,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How many rounds did each piece need,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advocate and the critic messaged each other; every point cites a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decision has pros, cons, a verdict — and you made the call.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Round 1 of the QA report FAILED: the FRS figure, CPF LIFE "from 55", the promised payout, the advice and the missing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auditor sent the fixes to the writer directly; a later round PASSED.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by typing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Both teams were shut down and cleaned up.</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164</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teammates</a:t>
            </a:r>
          </a:p>
          <a:p>
            <a:pPr>
              <a:lnSpc>
                <a:spcPct val="100000"/>
              </a:lnSpc>
              <a:defRPr sz="1050" b="0">
                <a:solidFill>
                  <a:srgbClr val="21201C"/>
                </a:solidFill>
                <a:latin typeface="Courier New"/>
              </a:defRPr>
            </a:pPr>
            <a:r>
              <a:t>using agent types…"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Claude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167</a:t>
            </a:r>
            <a:endParaRPr lang="en-US" sz="900" dirty="0"/>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AFTER THE COURSE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Practice Exam: Claude Certified Associate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exams.tertiaryinfotech.com/practice-exams/anthropic/anthropic-ccao-foundations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168</a:t>
            </a:r>
          </a:p>
        </p:txBody>
      </p:sp>
      <p:sp>
        <p:nvSpPr>
          <p:cNvPr id="8" name="Rectangle 7"/>
          <p:cNvSpPr/>
          <p:nvPr/>
        </p:nvSpPr>
        <p:spPr>
          <a:xfrm>
            <a:off x="512064" y="2048255"/>
            <a:ext cx="5312876"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actice-exam.png">
            <a:hlinkClick r:id="rId3"/>
          </p:cNvPr>
          <p:cNvPicPr>
            <a:picLocks noChangeAspect="1"/>
          </p:cNvPicPr>
          <p:nvPr/>
        </p:nvPicPr>
        <p:blipFill>
          <a:blip r:embed="rId2"/>
          <a:stretch>
            <a:fillRect/>
          </a:stretch>
        </p:blipFill>
        <p:spPr>
          <a:xfrm>
            <a:off x="548640" y="2084831"/>
            <a:ext cx="5239724"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PRACTICE EXAM   </a:t>
            </a:r>
            <a:r>
              <a:rPr sz="1000" b="0">
                <a:solidFill>
                  <a:srgbClr val="21201C"/>
                </a:solidFill>
                <a:latin typeface="Calibri"/>
                <a:hlinkClick r:id="rId3"/>
              </a:rPr>
              <a:t>exams.tertiaryinfotech.com/practice-exams/anthropic/anthropic-ccao-foundations</a:t>
            </a:r>
          </a:p>
        </p:txBody>
      </p:sp>
      <p:sp>
        <p:nvSpPr>
          <p:cNvPr id="11" name="Rectangle 10"/>
          <p:cNvSpPr/>
          <p:nvPr/>
        </p:nvSpPr>
        <p:spPr>
          <a:xfrm>
            <a:off x="6154124"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292" y="2130551"/>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CCAO-F · Foundations</a:t>
            </a:r>
          </a:p>
        </p:txBody>
      </p:sp>
      <p:sp>
        <p:nvSpPr>
          <p:cNvPr id="13" name="TextBox 12"/>
          <p:cNvSpPr txBox="1"/>
          <p:nvPr/>
        </p:nvSpPr>
        <p:spPr>
          <a:xfrm>
            <a:off x="6355292" y="2459735"/>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For professionals who use Claude as a productivity tool.</a:t>
            </a:r>
          </a:p>
        </p:txBody>
      </p:sp>
      <p:sp>
        <p:nvSpPr>
          <p:cNvPr id="14" name="Rectangle 13"/>
          <p:cNvSpPr/>
          <p:nvPr/>
        </p:nvSpPr>
        <p:spPr>
          <a:xfrm>
            <a:off x="6154124"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292" y="3300983"/>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What it covers</a:t>
            </a:r>
          </a:p>
        </p:txBody>
      </p:sp>
      <p:sp>
        <p:nvSpPr>
          <p:cNvPr id="16" name="TextBox 15"/>
          <p:cNvSpPr txBox="1"/>
          <p:nvPr/>
        </p:nvSpPr>
        <p:spPr>
          <a:xfrm>
            <a:off x="6355292" y="3630167"/>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Prompting and task execution, output evaluation, model selection, workflow integration, responsible use.</a:t>
            </a:r>
          </a:p>
        </p:txBody>
      </p:sp>
      <p:sp>
        <p:nvSpPr>
          <p:cNvPr id="17" name="Rectangle 16"/>
          <p:cNvSpPr/>
          <p:nvPr/>
        </p:nvSpPr>
        <p:spPr>
          <a:xfrm>
            <a:off x="6154124"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292" y="4471416"/>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Try it free</a:t>
            </a:r>
          </a:p>
        </p:txBody>
      </p:sp>
      <p:sp>
        <p:nvSpPr>
          <p:cNvPr id="19" name="TextBox 18"/>
          <p:cNvSpPr txBox="1"/>
          <p:nvPr/>
        </p:nvSpPr>
        <p:spPr>
          <a:xfrm>
            <a:off x="6355292" y="4800600"/>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Start with the free practice teaser; exam mode is 60 questions in 120 minutes.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169</a:t>
            </a:r>
            <a:endParaRPr lang="en-US" sz="900" dirty="0"/>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(Claude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3.7 — Claude Edition — 11 October 2026</dc:description>
</cp:coreProperties>
</file>