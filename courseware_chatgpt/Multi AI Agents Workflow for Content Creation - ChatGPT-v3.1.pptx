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326" r:id="rId73"/>
    <p:sldId id="327" r:id="rId60"/>
    <p:sldId id="328" r:id="rId59"/>
    <p:sldId id="329" r:id="rId77"/>
    <p:sldId id="330" r:id="rId78"/>
    <p:sldId id="331" r:id="rId79"/>
    <p:sldId id="332" r:id="rId80"/>
    <p:sldId id="333" r:id="rId81"/>
    <p:sldId id="334" r:id="rId82"/>
    <p:sldId id="264" r:id="rId10"/>
    <p:sldId id="265" r:id="rId11"/>
    <p:sldId id="266" r:id="rId12"/>
    <p:sldId id="318" r:id="rId64"/>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317" r:id="rId63"/>
    <p:sldId id="447" r:id="rId195"/>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59" Type="http://schemas.openxmlformats.org/officeDocument/2006/relationships/slide" Target="slides/slide70.xml"/><Relationship Id="rId60" Type="http://schemas.openxmlformats.org/officeDocument/2006/relationships/slide" Target="slides/slide69.xml"/><Relationship Id="rId63" Type="http://schemas.openxmlformats.org/officeDocument/2006/relationships/slide" Target="slides/slide65.xml"/><Relationship Id="rId64" Type="http://schemas.openxmlformats.org/officeDocument/2006/relationships/slide" Target="slides/slide66.xml"/><Relationship Id="rId65" Type="http://schemas.openxmlformats.org/officeDocument/2006/relationships/slide" Target="slides/slide67.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3" Type="http://schemas.openxmlformats.org/officeDocument/2006/relationships/slide" Target="slides/slide68.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11-4.png"/></Relationships>
</file>

<file path=ppt/slides/_rels/slide65.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image" Target="../media/image-62-6.png"/><Relationship Id="rId7" Type="http://schemas.openxmlformats.org/officeDocument/2006/relationships/image" Target="../media/image-62-7.png"/><Relationship Id="rId8" Type="http://schemas.openxmlformats.org/officeDocument/2006/relationships/image" Target="../media/image-62-8.png"/><Relationship Id="rId9" Type="http://schemas.openxmlformats.org/officeDocument/2006/relationships/image" Target="../media/image-62-9.png"/><Relationship Id="rId10" Type="http://schemas.openxmlformats.org/officeDocument/2006/relationships/slideLayout" Target="../slideLayouts/slideLayout1.xml"/><Relationship Id="rId11"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tertiarycourses.github.io/TGS-2023036153-Multi-AI-Agents-Workflow-for-Content-Creation/"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hatgpt.com/download/"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tertiarycourses.github.io/TGS-2023036153-Multi-AI-Agents-Workflow-for-Content-Creation/"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png"/><Relationship Id="rId3" Type="http://schemas.openxmlformats.org/officeDocument/2006/relationships/image" Target="../media/image-10-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WSQ COURSE  •  TGS-2023036153  •  CHATGPT EDITION</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Multi AI Agents Workflow</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Content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3.1  ·  9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1"/>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AI marketing teams of agents with ChatGPT and Codex.</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content work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Multi AI Agents Workflow for Content Creation</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75%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Required for funding eligibility.</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Briefing for Assessment</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Clear your space</a:t>
            </a:r>
            <a:endParaRPr lang="en-US" sz="14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Place phones and other materials under the table or on the floor.</a:t>
            </a:r>
            <a:endParaRPr lang="en-US" sz="115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No recording</a:t>
            </a:r>
            <a:endParaRPr lang="en-US" sz="14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No photos or recording of assessment materials.</a:t>
            </a:r>
            <a:endParaRPr lang="en-US" sz="115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Open book</a:t>
            </a:r>
            <a:endParaRPr lang="en-US" sz="14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Only slides, learner guide and approved materials are allowed.</a:t>
            </a:r>
            <a:endParaRPr lang="en-US" sz="115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Work individually</a:t>
            </a:r>
            <a:endParaRPr lang="en-US" sz="14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Complete the assessment on your own; no discussion.</a:t>
            </a:r>
            <a:endParaRPr lang="en-US" sz="115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Manage your time</a:t>
            </a:r>
            <a:endParaRPr lang="en-US" sz="14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Written Assessment then Practical Performance — watch the clock.</a:t>
            </a:r>
            <a:endParaRPr lang="en-US" sz="115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Appeals</a:t>
            </a:r>
            <a:endParaRPr lang="en-US" sz="14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150" dirty="0">
                <a:solidFill>
                  <a:srgbClr val="6B6862"/>
                </a:solidFill>
                <a:latin typeface="Calibri" pitchFamily="34" charset="0"/>
                <a:ea typeface="Calibri" pitchFamily="34" charset="-122"/>
                <a:cs typeface="Calibri" pitchFamily="34" charset="-120"/>
              </a:rPr>
              <a:t>An appeal process is available if you disagree with the outcome.</a:t>
            </a:r>
            <a:endParaRPr lang="en-US" sz="115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6"/>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Flow</a:t>
            </a:r>
            <a:endParaRPr lang="en-US" sz="3000" dirty="0"/>
          </a:p>
        </p:txBody>
      </p:sp>
      <p:sp>
        <p:nvSpPr>
          <p:cNvPr id="4" name="Text 2"/>
          <p:cNvSpPr/>
          <p:nvPr/>
        </p:nvSpPr>
        <p:spPr>
          <a:xfrm>
            <a:off x="548640" y="1691640"/>
            <a:ext cx="11064240" cy="457200"/>
          </a:xfrm>
          <a:prstGeom prst="rect">
            <a:avLst/>
          </a:prstGeom>
          <a:noFill/>
          <a:ln/>
        </p:spPr>
        <p:txBody>
          <a:bodyPr wrap="square" rtlCol="0" anchor="ctr"/>
          <a:lstStyle/>
          <a:p>
            <a:pPr indent="0" marL="0">
              <a:buNone/>
            </a:pPr>
            <a:r>
              <a:rPr lang="en-US" sz="1600" dirty="0">
                <a:solidFill>
                  <a:srgbClr val="21201C"/>
                </a:solidFill>
                <a:latin typeface="Calibri" pitchFamily="34" charset="0"/>
                <a:ea typeface="Calibri" pitchFamily="34" charset="-122"/>
                <a:cs typeface="Calibri" pitchFamily="34" charset="-120"/>
              </a:rPr>
              <a:t>At the assessment stage, follow these five steps in order.</a:t>
            </a:r>
            <a:endParaRPr lang="en-US" sz="1600" dirty="0"/>
          </a:p>
        </p:txBody>
      </p:sp>
      <p:sp>
        <p:nvSpPr>
          <p:cNvPr id="5" name="Shape 3"/>
          <p:cNvSpPr/>
          <p:nvPr/>
        </p:nvSpPr>
        <p:spPr>
          <a:xfrm>
            <a:off x="548640"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04672"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32688" y="2871216"/>
            <a:ext cx="256032" cy="256032"/>
          </a:xfrm>
          <a:prstGeom prst="rect">
            <a:avLst/>
          </a:prstGeom>
        </p:spPr>
      </p:pic>
      <p:sp>
        <p:nvSpPr>
          <p:cNvPr id="8" name="Text 5"/>
          <p:cNvSpPr/>
          <p:nvPr/>
        </p:nvSpPr>
        <p:spPr>
          <a:xfrm>
            <a:off x="804672"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1</a:t>
            </a:r>
            <a:endParaRPr lang="en-US" sz="1000" dirty="0"/>
          </a:p>
        </p:txBody>
      </p:sp>
      <p:sp>
        <p:nvSpPr>
          <p:cNvPr id="9" name="Text 6"/>
          <p:cNvSpPr/>
          <p:nvPr/>
        </p:nvSpPr>
        <p:spPr>
          <a:xfrm>
            <a:off x="804672"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TRAQOM</a:t>
            </a:r>
            <a:endParaRPr lang="en-US" sz="1400" dirty="0"/>
          </a:p>
        </p:txBody>
      </p:sp>
      <p:sp>
        <p:nvSpPr>
          <p:cNvPr id="10" name="Text 7"/>
          <p:cNvSpPr/>
          <p:nvPr/>
        </p:nvSpPr>
        <p:spPr>
          <a:xfrm>
            <a:off x="804672"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Scan the TRAQOM QR code on the LMS and complete the survey.</a:t>
            </a:r>
            <a:endParaRPr lang="en-US" sz="1100" dirty="0"/>
          </a:p>
        </p:txBody>
      </p:sp>
      <p:pic>
        <p:nvPicPr>
          <p:cNvPr id="11" name="Image 1" descr="preencoded.png">    </p:cNvPr>
          <p:cNvPicPr>
            <a:picLocks noChangeAspect="1"/>
          </p:cNvPicPr>
          <p:nvPr/>
        </p:nvPicPr>
        <p:blipFill>
          <a:blip r:embed="rId2"/>
          <a:stretch>
            <a:fillRect/>
          </a:stretch>
        </p:blipFill>
        <p:spPr>
          <a:xfrm>
            <a:off x="2596896" y="3813048"/>
            <a:ext cx="146304" cy="146304"/>
          </a:xfrm>
          <a:prstGeom prst="rect">
            <a:avLst/>
          </a:prstGeom>
        </p:spPr>
      </p:pic>
      <p:sp>
        <p:nvSpPr>
          <p:cNvPr id="12" name="Shape 8"/>
          <p:cNvSpPr/>
          <p:nvPr/>
        </p:nvSpPr>
        <p:spPr>
          <a:xfrm>
            <a:off x="2798064"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3" name="Shape 9"/>
          <p:cNvSpPr/>
          <p:nvPr/>
        </p:nvSpPr>
        <p:spPr>
          <a:xfrm>
            <a:off x="3054096"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3"/>
          <a:stretch>
            <a:fillRect/>
          </a:stretch>
        </p:blipFill>
        <p:spPr>
          <a:xfrm>
            <a:off x="3182112" y="2871216"/>
            <a:ext cx="256032" cy="256032"/>
          </a:xfrm>
          <a:prstGeom prst="rect">
            <a:avLst/>
          </a:prstGeom>
        </p:spPr>
      </p:pic>
      <p:sp>
        <p:nvSpPr>
          <p:cNvPr id="15" name="Text 10"/>
          <p:cNvSpPr/>
          <p:nvPr/>
        </p:nvSpPr>
        <p:spPr>
          <a:xfrm>
            <a:off x="3054096"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2</a:t>
            </a:r>
            <a:endParaRPr lang="en-US" sz="1000" dirty="0"/>
          </a:p>
        </p:txBody>
      </p:sp>
      <p:sp>
        <p:nvSpPr>
          <p:cNvPr id="16" name="Text 11"/>
          <p:cNvSpPr/>
          <p:nvPr/>
        </p:nvSpPr>
        <p:spPr>
          <a:xfrm>
            <a:off x="3054096"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Attendance</a:t>
            </a:r>
            <a:endParaRPr lang="en-US" sz="1400" dirty="0"/>
          </a:p>
        </p:txBody>
      </p:sp>
      <p:sp>
        <p:nvSpPr>
          <p:cNvPr id="17" name="Text 12"/>
          <p:cNvSpPr/>
          <p:nvPr/>
        </p:nvSpPr>
        <p:spPr>
          <a:xfrm>
            <a:off x="3054096"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Take the assessment digital attendance.</a:t>
            </a:r>
            <a:endParaRPr lang="en-US" sz="1100" dirty="0"/>
          </a:p>
        </p:txBody>
      </p:sp>
      <p:pic>
        <p:nvPicPr>
          <p:cNvPr id="18" name="Image 3" descr="preencoded.png">    </p:cNvPr>
          <p:cNvPicPr>
            <a:picLocks noChangeAspect="1"/>
          </p:cNvPicPr>
          <p:nvPr/>
        </p:nvPicPr>
        <p:blipFill>
          <a:blip r:embed="rId4"/>
          <a:stretch>
            <a:fillRect/>
          </a:stretch>
        </p:blipFill>
        <p:spPr>
          <a:xfrm>
            <a:off x="4846320" y="3813048"/>
            <a:ext cx="146304" cy="146304"/>
          </a:xfrm>
          <a:prstGeom prst="rect">
            <a:avLst/>
          </a:prstGeom>
        </p:spPr>
      </p:pic>
      <p:sp>
        <p:nvSpPr>
          <p:cNvPr id="19" name="Shape 13"/>
          <p:cNvSpPr/>
          <p:nvPr/>
        </p:nvSpPr>
        <p:spPr>
          <a:xfrm>
            <a:off x="5047488"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4"/>
          <p:cNvSpPr/>
          <p:nvPr/>
        </p:nvSpPr>
        <p:spPr>
          <a:xfrm>
            <a:off x="5303520"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21" name="Image 4" descr="preencoded.png">    </p:cNvPr>
          <p:cNvPicPr>
            <a:picLocks noChangeAspect="1"/>
          </p:cNvPicPr>
          <p:nvPr/>
        </p:nvPicPr>
        <p:blipFill>
          <a:blip r:embed="rId5"/>
          <a:stretch>
            <a:fillRect/>
          </a:stretch>
        </p:blipFill>
        <p:spPr>
          <a:xfrm>
            <a:off x="5431536" y="2871216"/>
            <a:ext cx="256032" cy="256032"/>
          </a:xfrm>
          <a:prstGeom prst="rect">
            <a:avLst/>
          </a:prstGeom>
        </p:spPr>
      </p:pic>
      <p:sp>
        <p:nvSpPr>
          <p:cNvPr id="22" name="Text 15"/>
          <p:cNvSpPr/>
          <p:nvPr/>
        </p:nvSpPr>
        <p:spPr>
          <a:xfrm>
            <a:off x="5303520"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3</a:t>
            </a:r>
            <a:endParaRPr lang="en-US" sz="1000" dirty="0"/>
          </a:p>
        </p:txBody>
      </p:sp>
      <p:sp>
        <p:nvSpPr>
          <p:cNvPr id="23" name="Text 16"/>
          <p:cNvSpPr/>
          <p:nvPr/>
        </p:nvSpPr>
        <p:spPr>
          <a:xfrm>
            <a:off x="5303520"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Assessment</a:t>
            </a:r>
            <a:endParaRPr lang="en-US" sz="1400" dirty="0"/>
          </a:p>
        </p:txBody>
      </p:sp>
      <p:sp>
        <p:nvSpPr>
          <p:cNvPr id="24" name="Text 17"/>
          <p:cNvSpPr/>
          <p:nvPr/>
        </p:nvSpPr>
        <p:spPr>
          <a:xfrm>
            <a:off x="5303520"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Complete the WA &amp; PP.</a:t>
            </a:r>
            <a:endParaRPr lang="en-US" sz="1100" dirty="0"/>
          </a:p>
        </p:txBody>
      </p:sp>
      <p:pic>
        <p:nvPicPr>
          <p:cNvPr id="25" name="Image 5" descr="preencoded.png">    </p:cNvPr>
          <p:cNvPicPr>
            <a:picLocks noChangeAspect="1"/>
          </p:cNvPicPr>
          <p:nvPr/>
        </p:nvPicPr>
        <p:blipFill>
          <a:blip r:embed="rId6"/>
          <a:stretch>
            <a:fillRect/>
          </a:stretch>
        </p:blipFill>
        <p:spPr>
          <a:xfrm>
            <a:off x="7095744" y="3813048"/>
            <a:ext cx="146304" cy="146304"/>
          </a:xfrm>
          <a:prstGeom prst="rect">
            <a:avLst/>
          </a:prstGeom>
        </p:spPr>
      </p:pic>
      <p:sp>
        <p:nvSpPr>
          <p:cNvPr id="26" name="Shape 18"/>
          <p:cNvSpPr/>
          <p:nvPr/>
        </p:nvSpPr>
        <p:spPr>
          <a:xfrm>
            <a:off x="7296912" y="2468880"/>
            <a:ext cx="1993392" cy="2834640"/>
          </a:xfrm>
          <a:prstGeom prst="roundRect">
            <a:avLst>
              <a:gd name="adj" fmla="val 3670"/>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7" name="Shape 19"/>
          <p:cNvSpPr/>
          <p:nvPr/>
        </p:nvSpPr>
        <p:spPr>
          <a:xfrm>
            <a:off x="7552944" y="2743200"/>
            <a:ext cx="512064" cy="512064"/>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8" name="Image 6" descr="preencoded.png">    </p:cNvPr>
          <p:cNvPicPr>
            <a:picLocks noChangeAspect="1"/>
          </p:cNvPicPr>
          <p:nvPr/>
        </p:nvPicPr>
        <p:blipFill>
          <a:blip r:embed="rId7"/>
          <a:stretch>
            <a:fillRect/>
          </a:stretch>
        </p:blipFill>
        <p:spPr>
          <a:xfrm>
            <a:off x="7680960" y="2871216"/>
            <a:ext cx="256032" cy="256032"/>
          </a:xfrm>
          <a:prstGeom prst="rect">
            <a:avLst/>
          </a:prstGeom>
        </p:spPr>
      </p:pic>
      <p:sp>
        <p:nvSpPr>
          <p:cNvPr id="29" name="Text 20"/>
          <p:cNvSpPr/>
          <p:nvPr/>
        </p:nvSpPr>
        <p:spPr>
          <a:xfrm>
            <a:off x="7552944"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4</a:t>
            </a:r>
            <a:endParaRPr lang="en-US" sz="1000" dirty="0"/>
          </a:p>
        </p:txBody>
      </p:sp>
      <p:sp>
        <p:nvSpPr>
          <p:cNvPr id="30" name="Text 21"/>
          <p:cNvSpPr/>
          <p:nvPr/>
        </p:nvSpPr>
        <p:spPr>
          <a:xfrm>
            <a:off x="7552944" y="3639312"/>
            <a:ext cx="1536192" cy="5029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Submit Answers</a:t>
            </a:r>
            <a:endParaRPr lang="en-US" sz="1400" dirty="0"/>
          </a:p>
        </p:txBody>
      </p:sp>
      <p:sp>
        <p:nvSpPr>
          <p:cNvPr id="31" name="Text 22"/>
          <p:cNvSpPr/>
          <p:nvPr/>
        </p:nvSpPr>
        <p:spPr>
          <a:xfrm>
            <a:off x="7552944" y="4160520"/>
            <a:ext cx="1572768" cy="1005840"/>
          </a:xfrm>
          <a:prstGeom prst="rect">
            <a:avLst/>
          </a:prstGeom>
          <a:noFill/>
          <a:ln/>
        </p:spPr>
        <p:txBody>
          <a:bodyPr wrap="square" rtlCol="0" anchor="ctr"/>
          <a:lstStyle/>
          <a:p>
            <a:pPr indent="0" marL="0">
              <a:buNone/>
            </a:pPr>
            <a:r>
              <a:rPr lang="en-US" sz="1100" dirty="0">
                <a:solidFill>
                  <a:srgbClr val="C9C4B9"/>
                </a:solidFill>
                <a:latin typeface="Calibri" pitchFamily="34" charset="0"/>
                <a:ea typeface="Calibri" pitchFamily="34" charset="-122"/>
                <a:cs typeface="Calibri" pitchFamily="34" charset="-120"/>
              </a:rPr>
              <a:t>Submit your assessment answers on the LMS.</a:t>
            </a:r>
            <a:endParaRPr lang="en-US" sz="1100" dirty="0"/>
          </a:p>
        </p:txBody>
      </p:sp>
      <p:pic>
        <p:nvPicPr>
          <p:cNvPr id="32" name="Image 7" descr="preencoded.png">    </p:cNvPr>
          <p:cNvPicPr>
            <a:picLocks noChangeAspect="1"/>
          </p:cNvPicPr>
          <p:nvPr/>
        </p:nvPicPr>
        <p:blipFill>
          <a:blip r:embed="rId8"/>
          <a:stretch>
            <a:fillRect/>
          </a:stretch>
        </p:blipFill>
        <p:spPr>
          <a:xfrm>
            <a:off x="9345168" y="3813048"/>
            <a:ext cx="146304" cy="146304"/>
          </a:xfrm>
          <a:prstGeom prst="rect">
            <a:avLst/>
          </a:prstGeom>
        </p:spPr>
      </p:pic>
      <p:sp>
        <p:nvSpPr>
          <p:cNvPr id="33" name="Shape 23"/>
          <p:cNvSpPr/>
          <p:nvPr/>
        </p:nvSpPr>
        <p:spPr>
          <a:xfrm>
            <a:off x="9546336" y="2468880"/>
            <a:ext cx="1993392" cy="2834640"/>
          </a:xfrm>
          <a:prstGeom prst="roundRect">
            <a:avLst>
              <a:gd name="adj" fmla="val 3670"/>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4" name="Shape 24"/>
          <p:cNvSpPr/>
          <p:nvPr/>
        </p:nvSpPr>
        <p:spPr>
          <a:xfrm>
            <a:off x="9802368" y="2743200"/>
            <a:ext cx="512064" cy="512064"/>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35" name="Image 8" descr="preencoded.png">    </p:cNvPr>
          <p:cNvPicPr>
            <a:picLocks noChangeAspect="1"/>
          </p:cNvPicPr>
          <p:nvPr/>
        </p:nvPicPr>
        <p:blipFill>
          <a:blip r:embed="rId9"/>
          <a:stretch>
            <a:fillRect/>
          </a:stretch>
        </p:blipFill>
        <p:spPr>
          <a:xfrm>
            <a:off x="9930384" y="2871216"/>
            <a:ext cx="256032" cy="256032"/>
          </a:xfrm>
          <a:prstGeom prst="rect">
            <a:avLst/>
          </a:prstGeom>
        </p:spPr>
      </p:pic>
      <p:sp>
        <p:nvSpPr>
          <p:cNvPr id="36" name="Text 25"/>
          <p:cNvSpPr/>
          <p:nvPr/>
        </p:nvSpPr>
        <p:spPr>
          <a:xfrm>
            <a:off x="9802368" y="3364992"/>
            <a:ext cx="1536192" cy="274320"/>
          </a:xfrm>
          <a:prstGeom prst="rect">
            <a:avLst/>
          </a:prstGeom>
          <a:noFill/>
          <a:ln/>
        </p:spPr>
        <p:txBody>
          <a:bodyPr wrap="square" rtlCol="0" anchor="ctr"/>
          <a:lstStyle/>
          <a:p>
            <a:pPr indent="0" marL="0">
              <a:buNone/>
            </a:pPr>
            <a:r>
              <a:rPr lang="en-US" sz="1000" b="1" spc="200" kern="0" dirty="0">
                <a:solidFill>
                  <a:srgbClr val="D97757"/>
                </a:solidFill>
                <a:latin typeface="Calibri" pitchFamily="34" charset="0"/>
                <a:ea typeface="Calibri" pitchFamily="34" charset="-122"/>
                <a:cs typeface="Calibri" pitchFamily="34" charset="-120"/>
              </a:rPr>
              <a:t>STEP 5</a:t>
            </a:r>
            <a:endParaRPr lang="en-US" sz="1000" dirty="0"/>
          </a:p>
        </p:txBody>
      </p:sp>
      <p:sp>
        <p:nvSpPr>
          <p:cNvPr id="37" name="Text 26"/>
          <p:cNvSpPr/>
          <p:nvPr/>
        </p:nvSpPr>
        <p:spPr>
          <a:xfrm>
            <a:off x="9802368" y="3639312"/>
            <a:ext cx="1536192" cy="502920"/>
          </a:xfrm>
          <a:prstGeom prst="rect">
            <a:avLst/>
          </a:prstGeom>
          <a:noFill/>
          <a:ln/>
        </p:spPr>
        <p:txBody>
          <a:bodyPr wrap="square" rtlCol="0" anchor="ctr"/>
          <a:lstStyle/>
          <a:p>
            <a:pPr indent="0" marL="0">
              <a:buNone/>
            </a:pPr>
            <a:r>
              <a:rPr lang="en-US" sz="1400" b="1" dirty="0">
                <a:solidFill>
                  <a:srgbClr val="21201C"/>
                </a:solidFill>
                <a:latin typeface="Cambria" pitchFamily="34" charset="0"/>
                <a:ea typeface="Cambria" pitchFamily="34" charset="-122"/>
                <a:cs typeface="Cambria" pitchFamily="34" charset="-120"/>
              </a:rPr>
              <a:t>Sign the Record</a:t>
            </a:r>
            <a:endParaRPr lang="en-US" sz="1400" dirty="0"/>
          </a:p>
        </p:txBody>
      </p:sp>
      <p:sp>
        <p:nvSpPr>
          <p:cNvPr id="38" name="Text 27"/>
          <p:cNvSpPr/>
          <p:nvPr/>
        </p:nvSpPr>
        <p:spPr>
          <a:xfrm>
            <a:off x="9802368" y="4160520"/>
            <a:ext cx="1572768" cy="1005840"/>
          </a:xfrm>
          <a:prstGeom prst="rect">
            <a:avLst/>
          </a:prstGeom>
          <a:noFill/>
          <a:ln/>
        </p:spPr>
        <p:txBody>
          <a:bodyPr wrap="square" rtlCol="0" anchor="ctr"/>
          <a:lstStyle/>
          <a:p>
            <a:pPr indent="0" marL="0">
              <a:buNone/>
            </a:pPr>
            <a:r>
              <a:rPr lang="en-US" sz="1100" dirty="0">
                <a:solidFill>
                  <a:srgbClr val="6B6862"/>
                </a:solidFill>
                <a:latin typeface="Calibri" pitchFamily="34" charset="0"/>
                <a:ea typeface="Calibri" pitchFamily="34" charset="-122"/>
                <a:cs typeface="Calibri" pitchFamily="34" charset="-120"/>
              </a:rPr>
              <a:t>Sign your Assessment Summary Record.</a:t>
            </a:r>
            <a:endParaRPr lang="en-US" sz="1100" dirty="0"/>
          </a:p>
        </p:txBody>
      </p:sp>
      <p:sp>
        <p:nvSpPr>
          <p:cNvPr id="39" name="Text 28"/>
          <p:cNvSpPr/>
          <p:nvPr/>
        </p:nvSpPr>
        <p:spPr>
          <a:xfrm>
            <a:off x="548640" y="55778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Courseware and the assessment are on the LMS: https://lms-tms.tertiaryinfotech.com/</a:t>
            </a:r>
            <a:endParaRPr lang="en-US" sz="1300" dirty="0"/>
          </a:p>
        </p:txBody>
      </p:sp>
      <p:sp>
        <p:nvSpPr>
          <p:cNvPr id="40" name="Text 29"/>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41" name="Text 30"/>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42" name="Text 31"/>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132</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WHAT YOU WILL ACHIEVE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Learning Outcomes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By the end of the two days you will be able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LO1 · Conceptualise</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Conceptualise content ideas that meet marketing objectives, and map them into digital storyboards.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LO2 · Identify</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Identify content requirements from customer preferences, and decide how often to publish.</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LO3 · Determine</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Determine content types and styles, and the modes and processes for distributing content.</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LO4 · Develop</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Develop guidelines for executing the content strategy, with suitable delivery modes and responsible AI practices.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 the team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specialists: instructions, skills, connectors (Labs 1–4).</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Campaign 1</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Research, ideas and a storyboard (Lab 5).</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Know the audience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requirements, cadence (Labs 6–7).</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Campaigns 2–4</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 (Labs 8–10).</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Campaign 5</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Always on: the weekly report; the playbook (11–12).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a:t>
            </a:r>
          </a:p>
        </p:txBody>
      </p:sp>
      <p:sp>
        <p:nvSpPr>
          <p:cNvPr id="8" name="Rectangle 7"/>
          <p:cNvSpPr/>
          <p:nvPr/>
        </p:nvSpPr>
        <p:spPr>
          <a:xfrm>
            <a:off x="512064" y="2048255"/>
            <a:ext cx="5705855"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632703"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tertiarycourses.github.io/TGS-2023036153-Multi-AI-Agents-Workflow-for-Content-Creation</a:t>
            </a:r>
          </a:p>
        </p:txBody>
      </p:sp>
      <p:sp>
        <p:nvSpPr>
          <p:cNvPr id="11" name="Rectangle 10"/>
          <p:cNvSpPr/>
          <p:nvPr/>
        </p:nvSpPr>
        <p:spPr>
          <a:xfrm>
            <a:off x="6547103"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1" y="2130551"/>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3" name="TextBox 12"/>
          <p:cNvSpPr txBox="1"/>
          <p:nvPr/>
        </p:nvSpPr>
        <p:spPr>
          <a:xfrm>
            <a:off x="6748271" y="2459735"/>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4" name="Rectangle 13"/>
          <p:cNvSpPr/>
          <p:nvPr/>
        </p:nvSpPr>
        <p:spPr>
          <a:xfrm>
            <a:off x="6547103"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1" y="3300983"/>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6" name="TextBox 15"/>
          <p:cNvSpPr txBox="1"/>
          <p:nvPr/>
        </p:nvSpPr>
        <p:spPr>
          <a:xfrm>
            <a:off x="6748271" y="3630167"/>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7" name="Rectangle 16"/>
          <p:cNvSpPr/>
          <p:nvPr/>
        </p:nvSpPr>
        <p:spPr>
          <a:xfrm>
            <a:off x="6547103"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1" y="4471416"/>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9" name="TextBox 18"/>
          <p:cNvSpPr txBox="1"/>
          <p:nvPr/>
        </p:nvSpPr>
        <p:spPr>
          <a:xfrm>
            <a:off x="6748271" y="4800600"/>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two skills and its own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962656"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6724497"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962656" y="2560320"/>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6724497" y="2560320"/>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158630" y="2560320"/>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962656" y="3084575"/>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6724497" y="3084575"/>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a:t>
            </a:r>
          </a:p>
        </p:txBody>
      </p:sp>
      <p:sp>
        <p:nvSpPr>
          <p:cNvPr id="21" name="TextBox 20"/>
          <p:cNvSpPr txBox="1"/>
          <p:nvPr/>
        </p:nvSpPr>
        <p:spPr>
          <a:xfrm>
            <a:off x="9158630" y="3084575"/>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962656" y="3608831"/>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6724497" y="3608831"/>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channel-formats</a:t>
            </a:r>
          </a:p>
        </p:txBody>
      </p:sp>
      <p:sp>
        <p:nvSpPr>
          <p:cNvPr id="26" name="TextBox 25"/>
          <p:cNvSpPr txBox="1"/>
          <p:nvPr/>
        </p:nvSpPr>
        <p:spPr>
          <a:xfrm>
            <a:off x="9158630" y="3608831"/>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962656" y="4133087"/>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6724497" y="4133087"/>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158630" y="4133087"/>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@Canva, $imagegen, ffmpeg in Codex</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962656" y="4657344"/>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6724497" y="4657344"/>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landing-page, page-qa</a:t>
            </a:r>
          </a:p>
        </p:txBody>
      </p:sp>
      <p:sp>
        <p:nvSpPr>
          <p:cNvPr id="35" name="TextBox 34"/>
          <p:cNvSpPr txBox="1"/>
          <p:nvPr/>
        </p:nvSpPr>
        <p:spPr>
          <a:xfrm>
            <a:off x="9158630" y="4657344"/>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@Sites (publish), @Computer Use (browser check)</a:t>
            </a:r>
          </a:p>
        </p:txBody>
      </p:sp>
      <p:sp>
        <p:nvSpPr>
          <p:cNvPr id="36" name="TextBox 35"/>
          <p:cNvSpPr txBox="1"/>
          <p:nvPr/>
        </p:nvSpPr>
        <p:spPr>
          <a:xfrm>
            <a:off x="749808" y="5181599"/>
            <a:ext cx="1938528"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962656" y="5181599"/>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6724497" y="5181599"/>
            <a:ext cx="215981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158630" y="5181599"/>
            <a:ext cx="238109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Python in Codex</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for This Edition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ChatGPT Edition: ChatGPT, ChatGPT Work and Codex in one app.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Project</a:t>
            </a:r>
          </a:p>
        </p:txBody>
      </p:sp>
      <p:sp>
        <p:nvSpPr>
          <p:cNvPr id="14" name="TextBox 13"/>
          <p:cNvSpPr txBox="1"/>
          <p:nvPr/>
        </p:nvSpPr>
        <p:spPr>
          <a:xfrm>
            <a:off x="3183940" y="2560320"/>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team's shared files and instructions</a:t>
            </a:r>
          </a:p>
        </p:txBody>
      </p:sp>
      <p:sp>
        <p:nvSpPr>
          <p:cNvPr id="15" name="TextBox 14"/>
          <p:cNvSpPr txBox="1"/>
          <p:nvPr/>
        </p:nvSpPr>
        <p:spPr>
          <a:xfrm>
            <a:off x="8494776" y="2560320"/>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a:t>
            </a:r>
          </a:p>
        </p:txBody>
      </p:sp>
      <p:sp>
        <p:nvSpPr>
          <p:cNvPr id="16" name="TextBox 15"/>
          <p:cNvSpPr txBox="1"/>
          <p:nvPr/>
        </p:nvSpPr>
        <p:spPr>
          <a:xfrm>
            <a:off x="749808" y="3189427"/>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Codex</a:t>
            </a:r>
          </a:p>
        </p:txBody>
      </p:sp>
      <p:sp>
        <p:nvSpPr>
          <p:cNvPr id="17" name="TextBox 16"/>
          <p:cNvSpPr txBox="1"/>
          <p:nvPr/>
        </p:nvSpPr>
        <p:spPr>
          <a:xfrm>
            <a:off x="3183940" y="3189427"/>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Lead's chat; role cards; skills; subagents; scripts; the video</a:t>
            </a:r>
          </a:p>
        </p:txBody>
      </p:sp>
      <p:sp>
        <p:nvSpPr>
          <p:cNvPr id="18" name="TextBox 17"/>
          <p:cNvSpPr txBox="1"/>
          <p:nvPr/>
        </p:nvSpPr>
        <p:spPr>
          <a:xfrm>
            <a:off x="8494776" y="3189427"/>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1–10, 12</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a:t>
            </a:r>
          </a:p>
        </p:txBody>
      </p:sp>
      <p:sp>
        <p:nvSpPr>
          <p:cNvPr id="21" name="TextBox 20"/>
          <p:cNvSpPr txBox="1"/>
          <p:nvPr/>
        </p:nvSpPr>
        <p:spPr>
          <a:xfrm>
            <a:off x="3183940" y="3818534"/>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Plugins (Drive, Gmail, Canva), skills, scheduled tasks</a:t>
            </a:r>
          </a:p>
        </p:txBody>
      </p:sp>
      <p:sp>
        <p:nvSpPr>
          <p:cNvPr id="22" name="TextBox 21"/>
          <p:cNvSpPr txBox="1"/>
          <p:nvPr/>
        </p:nvSpPr>
        <p:spPr>
          <a:xfrm>
            <a:off x="8494776" y="3818534"/>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4, 9, 11</a:t>
            </a:r>
          </a:p>
        </p:txBody>
      </p:sp>
      <p:sp>
        <p:nvSpPr>
          <p:cNvPr id="23" name="TextBox 22"/>
          <p:cNvSpPr txBox="1"/>
          <p:nvPr/>
        </p:nvSpPr>
        <p:spPr>
          <a:xfrm>
            <a:off x="749808" y="4447641"/>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@Sites</a:t>
            </a:r>
          </a:p>
        </p:txBody>
      </p:sp>
      <p:sp>
        <p:nvSpPr>
          <p:cNvPr id="24" name="TextBox 23"/>
          <p:cNvSpPr txBox="1"/>
          <p:nvPr/>
        </p:nvSpPr>
        <p:spPr>
          <a:xfrm>
            <a:off x="3183940" y="4447641"/>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campaign landing page; Horizon's website is given as a public link</a:t>
            </a:r>
          </a:p>
        </p:txBody>
      </p:sp>
      <p:sp>
        <p:nvSpPr>
          <p:cNvPr id="25" name="TextBox 24"/>
          <p:cNvSpPr txBox="1"/>
          <p:nvPr/>
        </p:nvSpPr>
        <p:spPr>
          <a:xfrm>
            <a:off x="8494776" y="4447641"/>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9</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2159812"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Dots · workspace agents</a:t>
            </a:r>
          </a:p>
        </p:txBody>
      </p:sp>
      <p:sp>
        <p:nvSpPr>
          <p:cNvPr id="28" name="TextBox 27"/>
          <p:cNvSpPr txBox="1"/>
          <p:nvPr/>
        </p:nvSpPr>
        <p:spPr>
          <a:xfrm>
            <a:off x="3183940" y="5076748"/>
            <a:ext cx="503651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Optional demo: an always-on Lead and shared agents</a:t>
            </a:r>
          </a:p>
        </p:txBody>
      </p:sp>
      <p:sp>
        <p:nvSpPr>
          <p:cNvPr id="29" name="TextBox 28"/>
          <p:cNvSpPr txBox="1"/>
          <p:nvPr/>
        </p:nvSpPr>
        <p:spPr>
          <a:xfrm>
            <a:off x="8494776" y="5076748"/>
            <a:ext cx="3044952"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13 (optional)</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topics over two days. Day 1 forms the team; Day 2 runs its campaigns.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Pentagon 7"/>
          <p:cNvSpPr/>
          <p:nvPr/>
        </p:nvSpPr>
        <p:spPr>
          <a:xfrm>
            <a:off x="548640" y="2084831"/>
            <a:ext cx="28346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6883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6883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2432304"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Ideation and Storyboarding</a:t>
            </a:r>
          </a:p>
        </p:txBody>
      </p:sp>
      <p:sp>
        <p:nvSpPr>
          <p:cNvPr id="12" name="TextBox 11"/>
          <p:cNvSpPr txBox="1"/>
          <p:nvPr/>
        </p:nvSpPr>
        <p:spPr>
          <a:xfrm>
            <a:off x="676656" y="3694176"/>
            <a:ext cx="2432304"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Campaign 1. Labs 1–5.</a:t>
            </a:r>
          </a:p>
        </p:txBody>
      </p:sp>
      <p:sp>
        <p:nvSpPr>
          <p:cNvPr id="13" name="Chevron 12"/>
          <p:cNvSpPr/>
          <p:nvPr/>
        </p:nvSpPr>
        <p:spPr>
          <a:xfrm>
            <a:off x="3291840" y="2084831"/>
            <a:ext cx="28346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33832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2962656"/>
            <a:ext cx="2596896"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Audience and Requirements</a:t>
            </a:r>
          </a:p>
        </p:txBody>
      </p:sp>
      <p:sp>
        <p:nvSpPr>
          <p:cNvPr id="17" name="TextBox 16"/>
          <p:cNvSpPr txBox="1"/>
          <p:nvPr/>
        </p:nvSpPr>
        <p:spPr>
          <a:xfrm>
            <a:off x="35112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from evidence; cadence and calendar. Labs 6–7.</a:t>
            </a:r>
          </a:p>
        </p:txBody>
      </p:sp>
      <p:sp>
        <p:nvSpPr>
          <p:cNvPr id="18" name="Chevron 17"/>
          <p:cNvSpPr/>
          <p:nvPr/>
        </p:nvSpPr>
        <p:spPr>
          <a:xfrm>
            <a:off x="6035040" y="2084831"/>
            <a:ext cx="28346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6126479"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79" y="2962656"/>
            <a:ext cx="2596896"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5"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Creation and Coordination</a:t>
            </a:r>
          </a:p>
        </p:txBody>
      </p:sp>
      <p:sp>
        <p:nvSpPr>
          <p:cNvPr id="22" name="TextBox 21"/>
          <p:cNvSpPr txBox="1"/>
          <p:nvPr/>
        </p:nvSpPr>
        <p:spPr>
          <a:xfrm>
            <a:off x="6254495"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 — behind a human gate. Labs 8–10.</a:t>
            </a:r>
          </a:p>
        </p:txBody>
      </p:sp>
      <p:sp>
        <p:nvSpPr>
          <p:cNvPr id="23" name="Chevron 22"/>
          <p:cNvSpPr/>
          <p:nvPr/>
        </p:nvSpPr>
        <p:spPr>
          <a:xfrm>
            <a:off x="8778240" y="2084831"/>
            <a:ext cx="28346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88696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2962656"/>
            <a:ext cx="2596896"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T4 · Distribution and Responsible AI</a:t>
            </a:r>
          </a:p>
        </p:txBody>
      </p:sp>
      <p:sp>
        <p:nvSpPr>
          <p:cNvPr id="27" name="TextBox 26"/>
          <p:cNvSpPr txBox="1"/>
          <p:nvPr/>
        </p:nvSpPr>
        <p:spPr>
          <a:xfrm>
            <a:off x="89976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the playbook; optional demo. Labs 11–13.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Thirteen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702807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Studio + website · 2 Instructions · 3 Skills · 4 Connectors</a:t>
            </a:r>
          </a:p>
        </p:txBody>
      </p:sp>
      <p:sp>
        <p:nvSpPr>
          <p:cNvPr id="15" name="TextBox 14"/>
          <p:cNvSpPr txBox="1"/>
          <p:nvPr/>
        </p:nvSpPr>
        <p:spPr>
          <a:xfrm>
            <a:off x="9158630" y="2560320"/>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form the team</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9158630" y="3189427"/>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Campaign 1</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a:t>
            </a:r>
          </a:p>
        </p:txBody>
      </p:sp>
      <p:sp>
        <p:nvSpPr>
          <p:cNvPr id="22" name="TextBox 21"/>
          <p:cNvSpPr txBox="1"/>
          <p:nvPr/>
        </p:nvSpPr>
        <p:spPr>
          <a:xfrm>
            <a:off x="9158630" y="3818534"/>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audience</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8 Social week · 9 Newsletter + landing page · 10 Video</a:t>
            </a:r>
          </a:p>
        </p:txBody>
      </p:sp>
      <p:sp>
        <p:nvSpPr>
          <p:cNvPr id="25" name="TextBox 24"/>
          <p:cNvSpPr txBox="1"/>
          <p:nvPr/>
        </p:nvSpPr>
        <p:spPr>
          <a:xfrm>
            <a:off x="9158630" y="4447641"/>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Campaigns 2–4</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11 Weekly report · 12 Playbook · 13 Optional demo</a:t>
            </a:r>
          </a:p>
        </p:txBody>
      </p:sp>
      <p:sp>
        <p:nvSpPr>
          <p:cNvPr id="29" name="TextBox 28"/>
          <p:cNvSpPr txBox="1"/>
          <p:nvPr/>
        </p:nvSpPr>
        <p:spPr>
          <a:xfrm>
            <a:off x="9158630" y="5076748"/>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T4 · Campaign 5</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12 — the team keeps what it learns.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(9:00 AM – 6:00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Tea breaks 10 min, lunch 45 min.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THE TEAM</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RUN THE CAMPAIGNS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9:00–10:30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9:00–10:10  Topic 3 · Lab 8</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10:40–12:40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10:20–12:05  Labs 9–10 · recap</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13:25–15:20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12:50–14:30  Topic 4 · Labs 11–12</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15:30–18:00  Topic 2 · Labs 6–7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14:40–16:00 Demo · summary · 16:00–18:00 Assessment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Day 2 assessment: Written Assessment 4:00–5:00 PM, Practical Performance 5:00–6:00 PM.</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Multi-AI-Agent Content Ideation and Digital Storyboarding</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one chatbot to a team of agents</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public website</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1: research, ideas and a storyboard</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OVERVIEW</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Prompts to Agent Teams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21</a:t>
            </a:r>
          </a:p>
        </p:txBody>
      </p:sp>
      <p:sp>
        <p:nvSpPr>
          <p:cNvPr id="7" name="Rectangle 6"/>
          <p:cNvSpPr/>
          <p:nvPr/>
        </p:nvSpPr>
        <p:spPr>
          <a:xfrm>
            <a:off x="1655064" y="3657600"/>
            <a:ext cx="8851392"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Prompt Engineering</a:t>
            </a:r>
          </a:p>
        </p:txBody>
      </p:sp>
      <p:sp>
        <p:nvSpPr>
          <p:cNvPr id="9" name="Oval 8"/>
          <p:cNvSpPr/>
          <p:nvPr/>
        </p:nvSpPr>
        <p:spPr>
          <a:xfrm>
            <a:off x="1271016"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Craft the wording of one prompt.</a:t>
            </a:r>
          </a:p>
        </p:txBody>
      </p:sp>
      <p:sp>
        <p:nvSpPr>
          <p:cNvPr id="11" name="TextBox 10"/>
          <p:cNvSpPr txBox="1"/>
          <p:nvPr/>
        </p:nvSpPr>
        <p:spPr>
          <a:xfrm>
            <a:off x="2807208"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Tools and MCP</a:t>
            </a:r>
          </a:p>
        </p:txBody>
      </p:sp>
      <p:sp>
        <p:nvSpPr>
          <p:cNvPr id="12" name="Oval 11"/>
          <p:cNvSpPr/>
          <p:nvPr/>
        </p:nvSpPr>
        <p:spPr>
          <a:xfrm>
            <a:off x="3483864"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2834640"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2024).</a:t>
            </a:r>
          </a:p>
        </p:txBody>
      </p:sp>
      <p:sp>
        <p:nvSpPr>
          <p:cNvPr id="14" name="TextBox 13"/>
          <p:cNvSpPr txBox="1"/>
          <p:nvPr/>
        </p:nvSpPr>
        <p:spPr>
          <a:xfrm>
            <a:off x="5020055"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Context Engineering</a:t>
            </a:r>
          </a:p>
        </p:txBody>
      </p:sp>
      <p:sp>
        <p:nvSpPr>
          <p:cNvPr id="15" name="Oval 14"/>
          <p:cNvSpPr/>
          <p:nvPr/>
        </p:nvSpPr>
        <p:spPr>
          <a:xfrm>
            <a:off x="5696712"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6" name="TextBox 15"/>
          <p:cNvSpPr txBox="1"/>
          <p:nvPr/>
        </p:nvSpPr>
        <p:spPr>
          <a:xfrm>
            <a:off x="5047488"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Fill the context with exactly what the next step needs: files, memory, retrieval, skills.</a:t>
            </a:r>
          </a:p>
        </p:txBody>
      </p:sp>
      <p:sp>
        <p:nvSpPr>
          <p:cNvPr id="17" name="TextBox 16"/>
          <p:cNvSpPr txBox="1"/>
          <p:nvPr/>
        </p:nvSpPr>
        <p:spPr>
          <a:xfrm>
            <a:off x="7232903"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Harness Engineering</a:t>
            </a:r>
          </a:p>
        </p:txBody>
      </p:sp>
      <p:sp>
        <p:nvSpPr>
          <p:cNvPr id="18" name="Oval 17"/>
          <p:cNvSpPr/>
          <p:nvPr/>
        </p:nvSpPr>
        <p:spPr>
          <a:xfrm>
            <a:off x="7909559"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9" name="TextBox 18"/>
          <p:cNvSpPr txBox="1"/>
          <p:nvPr/>
        </p:nvSpPr>
        <p:spPr>
          <a:xfrm>
            <a:off x="7260336"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Agents ship inside a harness — Claude Code, Codex: the loop, tools and checks around the model.</a:t>
            </a:r>
          </a:p>
        </p:txBody>
      </p:sp>
      <p:sp>
        <p:nvSpPr>
          <p:cNvPr id="20" name="TextBox 19"/>
          <p:cNvSpPr txBox="1"/>
          <p:nvPr/>
        </p:nvSpPr>
        <p:spPr>
          <a:xfrm>
            <a:off x="9445752" y="2148840"/>
            <a:ext cx="2121408" cy="640080"/>
          </a:xfrm>
          <a:prstGeom prst="rect">
            <a:avLst/>
          </a:prstGeom>
          <a:noFill/>
        </p:spPr>
        <p:txBody>
          <a:bodyPr wrap="square" lIns="18288" rIns="18288" tIns="9144" bIns="9144">
            <a:spAutoFit/>
          </a:bodyPr>
          <a:lstStyle/>
          <a:p>
            <a:pPr algn="ctr">
              <a:lnSpc>
                <a:spcPct val="100000"/>
              </a:lnSpc>
              <a:defRPr sz="1550" b="1">
                <a:solidFill>
                  <a:srgbClr val="21201C"/>
                </a:solidFill>
                <a:latin typeface="Cambria"/>
              </a:defRPr>
            </a:pPr>
            <a:r>
              <a:t>Agent Teams</a:t>
            </a:r>
          </a:p>
        </p:txBody>
      </p:sp>
      <p:sp>
        <p:nvSpPr>
          <p:cNvPr id="21" name="Oval 20"/>
          <p:cNvSpPr/>
          <p:nvPr/>
        </p:nvSpPr>
        <p:spPr>
          <a:xfrm>
            <a:off x="10122408" y="3282696"/>
            <a:ext cx="768096" cy="76809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22" name="TextBox 21"/>
          <p:cNvSpPr txBox="1"/>
          <p:nvPr/>
        </p:nvSpPr>
        <p:spPr>
          <a:xfrm>
            <a:off x="9473184" y="4251960"/>
            <a:ext cx="2066543"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Codex subagents, ChatGPT workspace agents and always-on Dots.</a:t>
            </a:r>
          </a:p>
        </p:txBody>
      </p:sp>
      <p:sp>
        <p:nvSpPr>
          <p:cNvPr id="23" name="TextBox 22"/>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One agent is a helper. A team with roles, a reviewer and a human gate is a marketing department.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AGENTS.md,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TOOLS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ChatGPT, ChatGPT Work and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desktop app. The toggle above the composer picks Chat or Work; the sidebar holds Codex.</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Codex — the team's home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Lead's chat; role cards; skills in .agents/skills/; subagents by asking; scripts and the video.</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ChatGPT and Work — the team's apps</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Project for shared files; plugins (Drive, Gmail, Canva); skills; scheduled tasks; @Sites.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Dots and workspace agents · optional</a:t>
            </a:r>
          </a:p>
        </p:txBody>
      </p:sp>
      <p:sp>
        <p:nvSpPr>
          <p:cNvPr id="19" name="TextBox 18"/>
          <p:cNvSpPr txBox="1"/>
          <p:nvPr/>
        </p:nvSpPr>
        <p:spPr>
          <a:xfrm>
            <a:off x="8308847"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always-on Lead (Pro, Business Premium) and shared agents (Business). A demo at the end.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Plan Has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Features by ChatGPT plan, checked 8 Oct 2026. Prices change — check chatgpt.com/pricing.</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4069079"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PLANS</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 THIS COURSE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ChatGPT Work, Codex</a:t>
            </a:r>
          </a:p>
        </p:txBody>
      </p:sp>
      <p:sp>
        <p:nvSpPr>
          <p:cNvPr id="14" name="TextBox 13"/>
          <p:cNvSpPr txBox="1"/>
          <p:nvPr/>
        </p:nvSpPr>
        <p:spPr>
          <a:xfrm>
            <a:off x="4069079"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Plus, Pro, Business, Enterprise</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lab</a:t>
            </a:r>
          </a:p>
        </p:txBody>
      </p:sp>
      <p:sp>
        <p:nvSpPr>
          <p:cNvPr id="16" name="TextBox 15"/>
          <p:cNvSpPr txBox="1"/>
          <p:nvPr/>
        </p:nvSpPr>
        <p:spPr>
          <a:xfrm>
            <a:off x="749808" y="3084575"/>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Sites</a:t>
            </a:r>
          </a:p>
        </p:txBody>
      </p:sp>
      <p:sp>
        <p:nvSpPr>
          <p:cNvPr id="17" name="TextBox 16"/>
          <p:cNvSpPr txBox="1"/>
          <p:nvPr/>
        </p:nvSpPr>
        <p:spPr>
          <a:xfrm>
            <a:off x="4069079"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Plus, Pro and workspaces (beta)</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9</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Plugins and skills</a:t>
            </a:r>
          </a:p>
        </p:txBody>
      </p:sp>
      <p:sp>
        <p:nvSpPr>
          <p:cNvPr id="21" name="TextBox 20"/>
          <p:cNvSpPr txBox="1"/>
          <p:nvPr/>
        </p:nvSpPr>
        <p:spPr>
          <a:xfrm>
            <a:off x="4069079"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Paid plans</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4, 11</a:t>
            </a:r>
          </a:p>
        </p:txBody>
      </p:sp>
      <p:sp>
        <p:nvSpPr>
          <p:cNvPr id="23" name="TextBox 22"/>
          <p:cNvSpPr txBox="1"/>
          <p:nvPr/>
        </p:nvSpPr>
        <p:spPr>
          <a:xfrm>
            <a:off x="749808" y="4133087"/>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Scheduled tasks</a:t>
            </a:r>
          </a:p>
        </p:txBody>
      </p:sp>
      <p:sp>
        <p:nvSpPr>
          <p:cNvPr id="24" name="TextBox 23"/>
          <p:cNvSpPr txBox="1"/>
          <p:nvPr/>
        </p:nvSpPr>
        <p:spPr>
          <a:xfrm>
            <a:off x="4069079"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Paid plans — 5 active on Plus, 15 on Pro</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Dots (first one included)</a:t>
            </a:r>
          </a:p>
        </p:txBody>
      </p:sp>
      <p:sp>
        <p:nvSpPr>
          <p:cNvPr id="28" name="TextBox 27"/>
          <p:cNvSpPr txBox="1"/>
          <p:nvPr/>
        </p:nvSpPr>
        <p:spPr>
          <a:xfrm>
            <a:off x="4069079"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Pro, Business Premium</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13 demo</a:t>
            </a:r>
          </a:p>
        </p:txBody>
      </p:sp>
      <p:sp>
        <p:nvSpPr>
          <p:cNvPr id="30" name="TextBox 29"/>
          <p:cNvSpPr txBox="1"/>
          <p:nvPr/>
        </p:nvSpPr>
        <p:spPr>
          <a:xfrm>
            <a:off x="749808" y="5181599"/>
            <a:ext cx="304495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Workspace agents</a:t>
            </a:r>
          </a:p>
        </p:txBody>
      </p:sp>
      <p:sp>
        <p:nvSpPr>
          <p:cNvPr id="31" name="TextBox 30"/>
          <p:cNvSpPr txBox="1"/>
          <p:nvPr/>
        </p:nvSpPr>
        <p:spPr>
          <a:xfrm>
            <a:off x="4069079"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Business, Enterprise, Edu</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13 demo</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This edition builds the team with skills and Codex subagents, so it works on Plus and Pro.</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chatgpt.com/download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macOS</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Download for macOS from the page</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Windows</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Opens the Microsoft Store listing</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Work, Codex and Sites need a paid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Download and install  </a:t>
            </a:r>
            <a:r>
              <a:rPr sz="1350">
                <a:solidFill>
                  <a:srgbClr val="6B6862"/>
                </a:solidFill>
                <a:latin typeface="Calibri"/>
              </a:rPr>
              <a:t>The new desktop app from chatgpt.com/download, not "ChatGPT Classic".</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a:t>
            </a:r>
            <a:r>
              <a:rPr sz="1350">
                <a:solidFill>
                  <a:srgbClr val="6B6862"/>
                </a:solidFill>
                <a:latin typeface="Calibri"/>
              </a:rPr>
              <a:t>On the plan you will use in class — limits follow the account.</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Find Chat, Work and Codex  </a:t>
            </a:r>
            <a:r>
              <a:rPr sz="1350">
                <a:solidFill>
                  <a:srgbClr val="6B6862"/>
                </a:solidFill>
                <a:latin typeface="Calibri"/>
              </a:rPr>
              <a:t>The toggle above the composer; Codex in the sidebar.</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Node.js 22, Python 3, ffmpeg  </a:t>
            </a:r>
            <a:r>
              <a:rPr sz="1350">
                <a:solidFill>
                  <a:srgbClr val="6B6862"/>
                </a:solidFill>
                <a:latin typeface="Calibri"/>
              </a:rPr>
              <a:t>For the publisher kit and the video (Pillow for Python).</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Project + AGENTS.md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Project files and instructions in ChatGPT; the charter in AGENTS.md for Codex.</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one public link every learner opens, with a GitHub Pages backup if artifacts or Sites are blocked.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put the website online.</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Horizon Marketing project, horizon-studio/ with AGENTS.md, and the public site link in the charter</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Project → Codex</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 ChatGPT Project with shared files · AGENTS.md · Horizon's public website</a:t>
            </a:r>
          </a:p>
        </p:txBody>
      </p:sp>
      <p:sp>
        <p:nvSpPr>
          <p:cNvPr id="18" name="TextBox 17"/>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2"/>
              </a:rPr>
              <a:t>tertiarycourses.github.io/TGS-2023036153-Multi-AI-Agents-Workflow-for-Content-Creation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ChatGPT Project → Codex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the folder  </a:t>
            </a:r>
            <a:r>
              <a:rPr sz="1300">
                <a:solidFill>
                  <a:srgbClr val="6B6862"/>
                </a:solidFill>
                <a:latin typeface="Calibri"/>
              </a:rPr>
              <a:t>In Codex create a local project and choose labs_chatgpt/horizon-studio. It is ready-made — do not create one.</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Make the Project  </a:t>
            </a:r>
            <a:r>
              <a:rPr sz="1300">
                <a:solidFill>
                  <a:srgbClr val="6B6862"/>
                </a:solidFill>
                <a:latin typeface="Calibri"/>
              </a:rPr>
              <a:t>In ChatGPT create the Project "Horizon Marketing" with the charter, brand, facts and compliance files; Prompt A is its instructions.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Design your team  </a:t>
            </a:r>
            <a:r>
              <a:rPr sz="1300">
                <a:solidFill>
                  <a:srgbClr val="6B6862"/>
                </a:solidFill>
                <a:latin typeface="Calibri"/>
              </a:rPr>
              <a:t>Paste Prompt B in Codex and answer as Horizon's owner. Pick your team — keep the six charter roles; the next labs build them.</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charter  </a:t>
            </a:r>
            <a:r>
              <a:rPr sz="1300">
                <a:solidFill>
                  <a:srgbClr val="6B6862"/>
                </a:solidFill>
                <a:latin typeface="Calibri"/>
              </a:rPr>
              <a:t>Paste Prompt C to write AGENTS.md.</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Open the website  </a:t>
            </a:r>
            <a:r>
              <a:rPr sz="1300">
                <a:solidFill>
                  <a:srgbClr val="6B6862"/>
                </a:solidFill>
                <a:latin typeface="Calibri"/>
              </a:rPr>
              <a:t>Open the Website link above — Horizon's public site, shared by everyone; you do not build it.</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Know the site  </a:t>
            </a:r>
            <a:r>
              <a:rPr sz="1300">
                <a:solidFill>
                  <a:srgbClr val="6B6862"/>
                </a:solidFill>
                <a:latin typeface="Calibri"/>
              </a:rPr>
              <a:t>Paste Prompt D. Then open the link on your phone and check the calculator shows S$693,138.</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ChatGPT Project: instructions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support Horizon Wealth Planning's AI marketing team. Use the project files: team-charter.md for who does what, brand.md for the voice and look, facts-2026.md for every number, and compliance-checklist.md before anything is shown to a person. Never publish or send anything.</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design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design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Codex: the charter</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AGENTS.md for this studio in four sections — What this is, The team, Rules, Files — under 60 lines. The team is the one I chose in data/team-design.md. Rules: every number comes from data/facts-2026.md; every piece passes fact-check and fin-compliance; nothing is published or sent without a person's approval.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D — Codex: know the site</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web/site/index.html, the local copy of Horizon's public website. In five bullets: who it is for, the offer, the main call to action, what the calculator does, and the disclaimer. Then add this line to the Files section of AGENTS.md:</a:t>
            </a:r>
          </a:p>
          <a:p>
            <a:pPr>
              <a:lnSpc>
                <a:spcPct val="110000"/>
              </a:lnSpc>
              <a:defRPr sz="1700" b="0">
                <a:solidFill>
                  <a:srgbClr val="21201C"/>
                </a:solidFill>
                <a:latin typeface="Calibri"/>
              </a:defRPr>
            </a:pPr>
            <a:r>
              <a:t>Public site (link in every post): https://tertiarycourses.github.io/TGS-2023036153-Multi-AI-Agents-Workflow-for-Content-Creation/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Set Up the Studio and Explore Horizon's Website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Horizon Marketing project holds the four files and the instructions.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names the public site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public site opens on a phone; the calculator shows S$693,138.</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role card in agents/. AGENTS.md tells Codex to use one subagent per role, each following its card.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8" name="Rounded Rectangle 7"/>
          <p:cNvSpPr/>
          <p:nvPr/>
        </p:nvSpPr>
        <p:spPr>
          <a:xfrm>
            <a:off x="548640" y="2084831"/>
            <a:ext cx="11064240" cy="3844610"/>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agents/content-creator.md</a:t>
            </a:r>
          </a:p>
        </p:txBody>
      </p:sp>
      <p:sp>
        <p:nvSpPr>
          <p:cNvPr id="11" name="TextBox 10"/>
          <p:cNvSpPr txBox="1"/>
          <p:nvPr/>
        </p:nvSpPr>
        <p:spPr>
          <a:xfrm>
            <a:off x="822959" y="2724911"/>
            <a:ext cx="10515600" cy="3076514"/>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 Content Creator — role card</a:t>
            </a:r>
          </a:p>
          <a:p>
            <a:pPr>
              <a:lnSpc>
                <a:spcPct val="114000"/>
              </a:lnSpc>
              <a:defRPr sz="1300" b="0">
                <a:solidFill>
                  <a:srgbClr val="E8E5DE"/>
                </a:solidFill>
                <a:latin typeface="Courier New"/>
              </a:defRPr>
            </a:pPr>
            <a:r>
              <a:t>You are Horizon Wealth Planning's Content Creator.</a:t>
            </a:r>
          </a:p>
          <a:p>
            <a:pPr>
              <a:lnSpc>
                <a:spcPct val="114000"/>
              </a:lnSpc>
              <a:defRPr sz="1300" b="0">
                <a:solidFill>
                  <a:srgbClr val="E8E5DE"/>
                </a:solidFill>
                <a:latin typeface="Courier New"/>
              </a:defRPr>
            </a:pPr>
            <a:r>
              <a:t>## What you read   the brief, facts-2026.md, brand.md</a:t>
            </a:r>
          </a:p>
          <a:p>
            <a:pPr>
              <a:lnSpc>
                <a:spcPct val="114000"/>
              </a:lnSpc>
              <a:defRPr sz="1300" b="0">
                <a:solidFill>
                  <a:srgbClr val="E8E5DE"/>
                </a:solidFill>
                <a:latin typeface="Courier New"/>
              </a:defRPr>
            </a:pPr>
            <a:r>
              <a:t>## What you deliver   content files, ready for review</a:t>
            </a:r>
          </a:p>
          <a:p>
            <a:pPr>
              <a:lnSpc>
                <a:spcPct val="114000"/>
              </a:lnSpc>
              <a:defRPr sz="1300" b="0">
                <a:solidFill>
                  <a:srgbClr val="E8E5DE"/>
                </a:solidFill>
                <a:latin typeface="Courier New"/>
              </a:defRPr>
            </a:pPr>
            <a:r>
              <a:t>## Skills   sunny-voice, channel-formats</a:t>
            </a:r>
          </a:p>
          <a:p>
            <a:pPr>
              <a:lnSpc>
                <a:spcPct val="114000"/>
              </a:lnSpc>
              <a:defRPr sz="1300" b="0">
                <a:solidFill>
                  <a:srgbClr val="E8E5DE"/>
                </a:solidFill>
                <a:latin typeface="Courier New"/>
              </a:defRPr>
            </a:pPr>
            <a:r>
              <a:t>## Plugins   @Google Drive (docs), @Gmail (drafts only)</a:t>
            </a:r>
          </a:p>
          <a:p>
            <a:pPr>
              <a:lnSpc>
                <a:spcPct val="114000"/>
              </a:lnSpc>
              <a:defRPr sz="1300" b="0">
                <a:solidFill>
                  <a:srgbClr val="E8E5DE"/>
                </a:solidFill>
                <a:latin typeface="Courier New"/>
              </a:defRPr>
            </a:pPr>
            <a:r>
              <a:t>## Never   add a number not on the facts sheet; send;</a:t>
            </a:r>
          </a:p>
          <a:p>
            <a:pPr>
              <a:lnSpc>
                <a:spcPct val="114000"/>
              </a:lnSpc>
              <a:defRPr sz="1300" b="0">
                <a:solidFill>
                  <a:srgbClr val="E8E5DE"/>
                </a:solidFill>
                <a:latin typeface="Courier New"/>
              </a:defRPr>
            </a:pPr>
            <a:r>
              <a:t>           run approve.mjs or publish --live</a:t>
            </a:r>
          </a:p>
          <a:p>
            <a:pPr>
              <a:lnSpc>
                <a:spcPct val="114000"/>
              </a:lnSpc>
              <a:defRPr sz="1300" b="0">
                <a:solidFill>
                  <a:srgbClr val="E8E5DE"/>
                </a:solidFill>
                <a:latin typeface="Courier New"/>
              </a:defRPr>
            </a:pPr>
            <a:r>
              <a:t>## Report back   what, where, anything unverified</a:t>
            </a:r>
          </a:p>
          <a:p>
            <a:pPr>
              <a:lnSpc>
                <a:spcPct val="114000"/>
              </a:lnSpc>
              <a:defRPr sz="1300" b="0">
                <a:solidFill>
                  <a:srgbClr val="E8E5DE"/>
                </a:solidFill>
                <a:latin typeface="Courier New"/>
              </a:defRPr>
            </a:pPr>
          </a:p>
          <a:p>
            <a:pPr>
              <a:lnSpc>
                <a:spcPct val="114000"/>
              </a:lnSpc>
              <a:defRPr sz="1300" b="0">
                <a:solidFill>
                  <a:srgbClr val="E8E5DE"/>
                </a:solidFill>
                <a:latin typeface="Courier New"/>
              </a:defRPr>
            </a:pPr>
            <a:r>
              <a:t># AGENTS.md — The marketing team</a:t>
            </a:r>
          </a:p>
          <a:p>
            <a:pPr>
              <a:lnSpc>
                <a:spcPct val="114000"/>
              </a:lnSpc>
              <a:defRPr sz="1300" b="0">
                <a:solidFill>
                  <a:srgbClr val="E8E5DE"/>
                </a:solidFill>
                <a:latin typeface="Courier New"/>
              </a:defRPr>
            </a:pPr>
            <a:r>
              <a:t>When I ask for the team, use subagents — one per</a:t>
            </a:r>
          </a:p>
          <a:p>
            <a:pPr>
              <a:lnSpc>
                <a:spcPct val="114000"/>
              </a:lnSpc>
              <a:defRPr sz="1300" b="0">
                <a:solidFill>
                  <a:srgbClr val="E8E5DE"/>
                </a:solidFill>
                <a:latin typeface="Courier New"/>
              </a:defRPr>
            </a:pPr>
            <a:r>
              <a:t>role — each following its card in agents/.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card name is how you ask for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agents/: five role cards, and the roster in AGENTS.md</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(role cards, subagents)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role cards in agents/ · the roster in AGENTS.md · subagents by asking</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(role cards, subagents)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the roles  </a:t>
            </a:r>
            <a:r>
              <a:rPr sz="1550">
                <a:solidFill>
                  <a:srgbClr val="6B6862"/>
                </a:solidFill>
                <a:latin typeface="Calibri"/>
              </a:rPr>
              <a:t>Open role-specs.md: one Lead and five specialists, each with a job, skills, connectors and limits.</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instructions  </a:t>
            </a:r>
            <a:r>
              <a:rPr sz="1550">
                <a:solidFill>
                  <a:srgbClr val="6B6862"/>
                </a:solidFill>
                <a:latin typeface="Calibri"/>
              </a:rPr>
              <a:t>Paste Prompt A.</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one closely  </a:t>
            </a:r>
            <a:r>
              <a:rPr sz="1550">
                <a:solidFill>
                  <a:srgbClr val="6B6862"/>
                </a:solidFill>
                <a:latin typeface="Calibri"/>
              </a:rPr>
              <a:t>Open agents/content-creator.md. Is the "Never" section strict enough for a regulated firm?</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Meet the team  </a:t>
            </a:r>
            <a:r>
              <a:rPr sz="1550">
                <a:solidFill>
                  <a:srgbClr val="6B6862"/>
                </a:solidFill>
                <a:latin typeface="Calibri"/>
              </a:rPr>
              <a:t>Paste Prompt B. Each agent introduces itself in one line — in its own context.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Tighten one  </a:t>
            </a:r>
            <a:r>
              <a:rPr sz="1550">
                <a:solidFill>
                  <a:srgbClr val="6B6862"/>
                </a:solidFill>
                <a:latin typeface="Calibri"/>
              </a:rPr>
              <a:t>Change one instruction you disagree with and save it. It is your team.</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five role cards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role cards in agents/ — growth-strategist.md, content-creator.md, creative-designer.md, website-designer.md and growth-analyst.md. Each has: the job, what it reads, what it delivers, the plugins it may use, what it must never do, and how it reports back. Then add "## The marketing team" to AGENTS.md: one line per agent pointing to its card, and the rule "when I ask for the team, use subagents — one per role — each following its card".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subagents — one per role, each following its card in agents/.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card has job, reads, delivers, plugins, never and report sections.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AGENTS.md lists the team and the subagent rule.</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Twelve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381944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 1</a:t>
            </a:r>
          </a:p>
        </p:txBody>
      </p:sp>
      <p:sp>
        <p:nvSpPr>
          <p:cNvPr id="11" name="TextBox 10"/>
          <p:cNvSpPr txBox="1"/>
          <p:nvPr/>
        </p:nvSpPr>
        <p:spPr>
          <a:xfrm>
            <a:off x="7720279" y="2203703"/>
            <a:ext cx="381944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 2</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a:t>
            </a:r>
          </a:p>
        </p:txBody>
      </p:sp>
      <p:sp>
        <p:nvSpPr>
          <p:cNvPr id="15" name="TextBox 14"/>
          <p:cNvSpPr txBox="1"/>
          <p:nvPr/>
        </p:nvSpPr>
        <p:spPr>
          <a:xfrm>
            <a:off x="7720279" y="2560320"/>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a:t>
            </a:r>
          </a:p>
        </p:txBody>
      </p:sp>
      <p:sp>
        <p:nvSpPr>
          <p:cNvPr id="18" name="TextBox 17"/>
          <p:cNvSpPr txBox="1"/>
          <p:nvPr/>
        </p:nvSpPr>
        <p:spPr>
          <a:xfrm>
            <a:off x="7720279" y="3084575"/>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campaign-brief</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a:t>
            </a:r>
          </a:p>
        </p:txBody>
      </p:sp>
      <p:sp>
        <p:nvSpPr>
          <p:cNvPr id="22" name="TextBox 21"/>
          <p:cNvSpPr txBox="1"/>
          <p:nvPr/>
        </p:nvSpPr>
        <p:spPr>
          <a:xfrm>
            <a:off x="7720279" y="3608831"/>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channel-formats</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a:t>
            </a:r>
          </a:p>
        </p:txBody>
      </p:sp>
      <p:sp>
        <p:nvSpPr>
          <p:cNvPr id="25" name="TextBox 24"/>
          <p:cNvSpPr txBox="1"/>
          <p:nvPr/>
        </p:nvSpPr>
        <p:spPr>
          <a:xfrm>
            <a:off x="7720279" y="4133087"/>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video-render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landing-page</a:t>
            </a:r>
          </a:p>
        </p:txBody>
      </p:sp>
      <p:sp>
        <p:nvSpPr>
          <p:cNvPr id="29" name="TextBox 28"/>
          <p:cNvSpPr txBox="1"/>
          <p:nvPr/>
        </p:nvSpPr>
        <p:spPr>
          <a:xfrm>
            <a:off x="7720279" y="4657344"/>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page-qa</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a:t>
            </a:r>
          </a:p>
        </p:txBody>
      </p:sp>
      <p:sp>
        <p:nvSpPr>
          <p:cNvPr id="32" name="TextBox 31"/>
          <p:cNvSpPr txBox="1"/>
          <p:nvPr/>
        </p:nvSpPr>
        <p:spPr>
          <a:xfrm>
            <a:off x="7720279" y="5181599"/>
            <a:ext cx="381944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campaign-report</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.agents/skills/ for Codex; @skill-creator for ChatGPT.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.agents/skills/campaign-brief/SKILL.md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twelve skills in .agents/skills/, wired to the agents that own them</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($skill-creator) → ChatGPT (@skill-creator)</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twelve skills: two per specialist, two for the Lead · SKILL.md · the "Use when" trigger · test without naming</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($skill-creator) → ChatGPT (@skill-creator)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twelve skills and who owns each.</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Paste Prompt B — each agent now knows its two skills; the Lead knows fact-check and fin-compliance.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Share with ChatGPT  </a:t>
            </a:r>
            <a:r>
              <a:rPr sz="1300">
                <a:solidFill>
                  <a:srgbClr val="6B6862"/>
                </a:solidFill>
                <a:latin typeface="Calibri"/>
              </a:rPr>
              <a:t>Use @skill-creator in ChatGPT to add sunny-voice, channel-formats and fin-compliance there too.</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twelve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$skill-creator Read data/skills-spec.md and create the twelve skills in .agents/skills/&lt;name&gt;/ SKILL.md. Each has a name,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line to each role card in agents/ with its two skills from data/skills-spec.md. Add to AGENTS.md that the Lead (this chat) runs fact-check and fin-compliance on everything before showing it to me.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(AGENTS.md) short and put procedures in skills.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Twelve folders in .agents/skills/, each with a SKILL.md.</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two skills.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channel-formats.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skills also appear in ChatGPT Skills.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Plugins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in Plugins; call them with @. Sites and $imagegen are built in.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@Canva, $imagegen, ffmpeg in Codex</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@Sites (publish), @Computer Use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Python in Codex</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card lists only the plugins it may call.</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plugins → Codex</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@Google Drive · @Gmail (drafts) · @Canva · @Computer Use · $imagegen · @Sites · least privilege per agent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ChatGPT plugins → Codex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Install the plugins  </a:t>
            </a:r>
            <a:r>
              <a:rPr sz="1550">
                <a:solidFill>
                  <a:srgbClr val="6B6862"/>
                </a:solidFill>
                <a:latin typeface="Calibri"/>
              </a:rPr>
              <a:t>Plugins: Google Drive, Gmail, Canva and Computer Use. Sites and $imagegen are built in.</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Use your own account  </a:t>
            </a:r>
            <a:r>
              <a:rPr sz="1550">
                <a:solidFill>
                  <a:srgbClr val="6B6862"/>
                </a:solidFill>
                <a:latin typeface="Calibri"/>
              </a:rPr>
              <a:t>Connect your personal Google account — never an employer's.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Put the data on Drive  </a:t>
            </a:r>
            <a:r>
              <a:rPr sz="1550">
                <a:solidFill>
                  <a:srgbClr val="6B6862"/>
                </a:solidFill>
                <a:latin typeface="Calibri"/>
              </a:rPr>
              <a:t>Upload data/ to a Drive folder named Horizon Studio.</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Test each agent  </a:t>
            </a:r>
            <a:r>
              <a:rPr sz="1550">
                <a:solidFill>
                  <a:srgbClr val="6B6862"/>
                </a:solidFill>
                <a:latin typeface="Calibri"/>
              </a:rPr>
              <a:t>Paste Prompt A — one small job per agent, each on its own plugin.</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limits  </a:t>
            </a:r>
            <a:r>
              <a:rPr sz="1550">
                <a:solidFill>
                  <a:srgbClr val="6B6862"/>
                </a:solidFill>
                <a:latin typeface="Calibri"/>
              </a:rPr>
              <a:t>Paste Prompt B.</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test each agent</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subagents, one per check, each following its role card:</a:t>
            </a:r>
          </a:p>
          <a:p>
            <a:pPr>
              <a:lnSpc>
                <a:spcPct val="110000"/>
              </a:lnSpc>
              <a:defRPr sz="1700" b="0">
                <a:solidFill>
                  <a:srgbClr val="21201C"/>
                </a:solidFill>
                <a:latin typeface="Calibri"/>
              </a:defRPr>
            </a:pPr>
            <a:r>
              <a:t>1. growth-strategist: web search — one 2026 news item about financial planning in Singapore, cited.</a:t>
            </a:r>
          </a:p>
          <a:p>
            <a:pPr>
              <a:lnSpc>
                <a:spcPct val="110000"/>
              </a:lnSpc>
              <a:defRPr sz="1700" b="0">
                <a:solidFill>
                  <a:srgbClr val="21201C"/>
                </a:solidFill>
                <a:latin typeface="Calibri"/>
              </a:defRPr>
            </a:pPr>
            <a:r>
              <a:t>2. growth-analyst: @Google Drive — read firm-metrics.csv from Horizon Studio; report average monthly enquiries.</a:t>
            </a:r>
          </a:p>
          <a:p>
            <a:pPr>
              <a:lnSpc>
                <a:spcPct val="110000"/>
              </a:lnSpc>
              <a:defRPr sz="1700" b="0">
                <a:solidFill>
                  <a:srgbClr val="21201C"/>
                </a:solidFill>
                <a:latin typeface="Calibri"/>
              </a:defRPr>
            </a:pPr>
            <a:r>
              <a:t>3. content-creator: @Gmail — a DRAFT to me with the subject "Connector test". Do not send.</a:t>
            </a:r>
          </a:p>
          <a:p>
            <a:pPr>
              <a:lnSpc>
                <a:spcPct val="110000"/>
              </a:lnSpc>
              <a:defRPr sz="1700" b="0">
                <a:solidFill>
                  <a:srgbClr val="21201C"/>
                </a:solidFill>
                <a:latin typeface="Calibri"/>
              </a:defRPr>
            </a:pPr>
            <a:r>
              <a:t>4. creative-designer: $imagegen — a 1080x1080 test image in Horizon colours; @Canva — list designs.</a:t>
            </a:r>
          </a:p>
          <a:p>
            <a:pPr>
              <a:lnSpc>
                <a:spcPct val="110000"/>
              </a:lnSpc>
              <a:defRPr sz="1700" b="0">
                <a:solidFill>
                  <a:srgbClr val="21201C"/>
                </a:solidFill>
                <a:latin typeface="Calibri"/>
              </a:defRPr>
            </a:pPr>
            <a:r>
              <a:t>5. website-designer: @Computer Use — open Horizon's public site at mobile width and report any problem. Report each result in one line.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least privilege</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Update the "Plugins" section of each role card in agents/ to match data/connectors-setup.md: what it may use, and that @Gmail is drafts-only. Remove any plugin a role does not need.</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Install the Plugins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four plugins are installed and connected.</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instructions list only the tools its job needs.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~50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research/ (competitors, funnel), strategy/ideas.md, strategy/storyboard.md with three channel variants</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in parallel)</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(subagents in parallel)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Paste Prompt A. Watch the strategist and the analyst run at the same time.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The Lead stops for you.</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and say why — the human concept checkpoint.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Paste Prompt B with your choice.</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claims  </a:t>
            </a:r>
            <a:r>
              <a:rPr sz="1300">
                <a:solidFill>
                  <a:srgbClr val="6B6862"/>
                </a:solidFill>
                <a:latin typeface="Calibri"/>
              </a:rPr>
              <a:t>Every beat's claim must have a source in facts-2026.md.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research and ideas</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 strategy/ideas.md. Show me the top five and stop — I will choose.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storyboard</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and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research/ has the competitor analysis and the funnel, cited.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strategy/ideas.md holds nine scored ideas with their authors.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Lead's fact-check and fin-compliance report came back.</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exists and has run its first campaign. But who exactly is it for — and how often should it publish?</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Formed  ·  Labs 1–4</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the public website, six agents with instructions, skills and connectors.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 1  ·  Lab 5</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Evidence about the audience and a cadence the team can deliver. That is Topic 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Audience Research and Content Requirement Analysis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Growth Analyst: personas from evidence</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Content requirements every agent can follow</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How often to publish: value, fatigue and capacity</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calendar the team will run</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strategy/personas.md and strategy/content-spec.md</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(analyst subagents)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(analyst subagents)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CSVs and templates are already in data/. Open one and skim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Analyse in parallel  </a:t>
            </a:r>
            <a:r>
              <a:rPr sz="1550">
                <a:solidFill>
                  <a:srgbClr val="6B6862"/>
                </a:solidFill>
                <a:latin typeface="Calibri"/>
              </a:rPr>
              <a:t>Paste Prompt A — three analyst subagents, one per file.</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Challenge a claim  </a:t>
            </a:r>
            <a:r>
              <a:rPr sz="1550">
                <a:solidFill>
                  <a:srgbClr val="6B6862"/>
                </a:solidFill>
                <a:latin typeface="Calibri"/>
              </a:rPr>
              <a:t>Pick one persona statement and ask: "which rows show that?"</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requirements  </a:t>
            </a:r>
            <a:r>
              <a:rPr sz="1550">
                <a:solidFill>
                  <a:srgbClr val="6B6862"/>
                </a:solidFill>
                <a:latin typeface="Calibri"/>
              </a:rPr>
              <a:t>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gaps  </a:t>
            </a:r>
            <a:r>
              <a:rPr sz="1550">
                <a:solidFill>
                  <a:srgbClr val="6B6862"/>
                </a:solidFill>
                <a:latin typeface="Calibri"/>
              </a:rPr>
              <a:t>The 60+ group must be LOW CONFIDENCE.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three analysts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requirements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strategy/content-spec.md with data/content-spec-template.md: for each persona the top 3 questions, channels, formats, length, tone, proof, call to action and never-say — each with the evidence (file and count) behind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content-spec.md has every field for every persona.</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strategy/cadence.md and strategy/calendar.csv</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(subagents)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Find the sweet spot  </a:t>
            </a:r>
            <a:r>
              <a:rPr sz="1550">
                <a:solidFill>
                  <a:srgbClr val="6B6862"/>
                </a:solidFill>
                <a:latin typeface="Calibri"/>
              </a:rPr>
              <a:t>Paste Prompt A.</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Question it  </a:t>
            </a:r>
            <a:r>
              <a:rPr sz="1550">
                <a:solidFill>
                  <a:srgbClr val="6B6862"/>
                </a:solidFill>
                <a:latin typeface="Calibri"/>
              </a:rPr>
              <a:t>Why is the newsletter not weekly? The answer is in the unsubscribes.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four weeks  </a:t>
            </a:r>
            <a:r>
              <a:rPr sz="1550">
                <a:solidFill>
                  <a:srgbClr val="6B6862"/>
                </a:solidFill>
                <a:latin typeface="Calibri"/>
              </a:rPr>
              <a:t>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buffers  </a:t>
            </a:r>
            <a:r>
              <a:rPr sz="1550">
                <a:solidFill>
                  <a:srgbClr val="6B6862"/>
                </a:solidFill>
                <a:latin typeface="Calibri"/>
              </a:rPr>
              <a:t>Every review date is two business days ahead; nothing on a holiday.</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analyst</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Show the numbers → strategy/cadence.md.</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strategist</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Show a week-by-week summary with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cadence.md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calendar.csv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Home</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Shared rules and facts; Horizon's public website (Lab 1).</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Team</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Six agents: instructions, skills, connectors (Labs 2–4).</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Campaign 1</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Research, ideas and a storyboard (Lab 5).</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Audience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and requirements from evidence (Lab 6).</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Cadence and a four-week calendar (Lab 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Multi-Channel Content Creation and Agent Workflow Coordination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and the Lead's review</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Human in the loop — enforced, not requested</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Campaigns 2–4: social week, newsletter + landing page, video</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approval to LinkedIn, Facebook, email and YouTube</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in Codex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No files to wire: ask directly, and Codex runs one subagent per role.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directly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"Use subagents — one per role, each following its card in agents/." Codex delegates when you ask.</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Watch the panel</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Subagents panel shows Active and Done. Click one to see its work and summary.</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They inherit your limits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Subagents run with your sandbox and permissions — keep workspace-write.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Parallel, Then Review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Subagents report back to the Lead; the Lead sends fixes back.</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reads the brief and splits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Parallel</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Creator and Designer work at the same time.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Combine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pairs each post with its image.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 to the right subagent.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Submit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Passed pieces wait in approvals.csv for a person.</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Subagents talk to the Lead, not to each other. The Lead's review is what makes parallel work safe.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approve.mjs refuses to run without an interactive terminal — an agent's tool call cannot approve.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PreToolUse hook blocks agents from running approve.mjs or publishing unapproved items — in Codex, you trust it first.</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HOOKS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Hook That Holds the Gate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Ask Codex to add it to .codex/hooks.json, then trust it. Exit code 2 blocks the call.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8" name="Rounded Rectangle 7"/>
          <p:cNvSpPr/>
          <p:nvPr/>
        </p:nvSpPr>
        <p:spPr>
          <a:xfrm>
            <a:off x="548640" y="2084831"/>
            <a:ext cx="11064240" cy="2237262"/>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Ask Codex</a:t>
            </a:r>
          </a:p>
        </p:txBody>
      </p:sp>
      <p:sp>
        <p:nvSpPr>
          <p:cNvPr id="11" name="TextBox 10"/>
          <p:cNvSpPr txBox="1"/>
          <p:nvPr/>
        </p:nvSpPr>
        <p:spPr>
          <a:xfrm>
            <a:off x="822959" y="2724911"/>
            <a:ext cx="10515600" cy="146916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Add a PreToolUse hook in .codex/hooks.json that runs</a:t>
            </a:r>
          </a:p>
          <a:p>
            <a:pPr>
              <a:lnSpc>
                <a:spcPct val="114000"/>
              </a:lnSpc>
              <a:defRPr sz="1300" b="0">
                <a:solidFill>
                  <a:srgbClr val="E8E5DE"/>
                </a:solidFill>
                <a:latin typeface="Courier New"/>
              </a:defRPr>
            </a:pPr>
            <a:r>
              <a:t>  node scripts/gate-hook.mjs</a:t>
            </a:r>
          </a:p>
          <a:p>
            <a:pPr>
              <a:lnSpc>
                <a:spcPct val="114000"/>
              </a:lnSpc>
              <a:defRPr sz="1300" b="0">
                <a:solidFill>
                  <a:srgbClr val="E8E5DE"/>
                </a:solidFill>
                <a:latin typeface="Courier New"/>
              </a:defRPr>
            </a:pPr>
            <a:r>
              <a:t>before every shell command. It must block any</a:t>
            </a:r>
          </a:p>
          <a:p>
            <a:pPr>
              <a:lnSpc>
                <a:spcPct val="114000"/>
              </a:lnSpc>
              <a:defRPr sz="1300" b="0">
                <a:solidFill>
                  <a:srgbClr val="E8E5DE"/>
                </a:solidFill>
                <a:latin typeface="Courier New"/>
              </a:defRPr>
            </a:pPr>
            <a:r>
              <a:t>command that runs approve.mjs, and any</a:t>
            </a:r>
          </a:p>
          <a:p>
            <a:pPr>
              <a:lnSpc>
                <a:spcPct val="114000"/>
              </a:lnSpc>
              <a:defRPr sz="1300" b="0">
                <a:solidFill>
                  <a:srgbClr val="E8E5DE"/>
                </a:solidFill>
                <a:latin typeface="Courier New"/>
              </a:defRPr>
            </a:pPr>
            <a:r>
              <a:t>publish.mjs --live whose item is not approved and</a:t>
            </a:r>
          </a:p>
          <a:p>
            <a:pPr>
              <a:lnSpc>
                <a:spcPct val="114000"/>
              </a:lnSpc>
              <a:defRPr sz="1300" b="0">
                <a:solidFill>
                  <a:srgbClr val="E8E5DE"/>
                </a:solidFill>
                <a:latin typeface="Courier New"/>
              </a:defRPr>
            </a:pPr>
            <a:r>
              <a:t>unchanged. Show me the hook, then ask me to trust it.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two LinkedIn and three Facebook posts,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Five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 in your own terminal; dry run, then go.</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~50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Week 1 of the campaign starts Monday: two LinkedIn posts and three Facebook posts, each with a visual — and Rachel's one rule: nothing goes out unless a person approved that exact version.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content/social/week-01/: five posts with images, reviewed, approved by you and posted (or dry-run)</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 LinkedIn, Facebook</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 creator and designer subagents in parallel · the Lead's review · human approval → post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(subagents) → LinkedIn, Facebook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Install the kit  </a:t>
            </a:r>
            <a:r>
              <a:rPr sz="1300">
                <a:solidFill>
                  <a:srgbClr val="6B6862"/>
                </a:solidFill>
                <a:latin typeface="Calibri"/>
              </a:rPr>
              <a:t>Copy publisher-kit/scripts into scripts/. Then ask Codex to add a hook that blocks any command running approve.mjs, and trust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the gate  </a:t>
            </a:r>
            <a:r>
              <a:rPr sz="1300">
                <a:solidFill>
                  <a:srgbClr val="6B6862"/>
                </a:solidFill>
                <a:latin typeface="Calibri"/>
              </a:rPr>
              <a:t>Ask Codex to approve anything. approve.mjs refuses without a person at a terminal.</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the team  </a:t>
            </a:r>
            <a:r>
              <a:rPr sz="1300">
                <a:solidFill>
                  <a:srgbClr val="6B6862"/>
                </a:solidFill>
                <a:latin typeface="Calibri"/>
              </a:rPr>
              <a:t>Paste Prompt A. Watch the Subagents panel: Active, then Done.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review  </a:t>
            </a:r>
            <a:r>
              <a:rPr sz="1300">
                <a:solidFill>
                  <a:srgbClr val="6B6862"/>
                </a:solidFill>
                <a:latin typeface="Calibri"/>
              </a:rPr>
              <a:t>The Lead's fact-check and fin-compliance table — at least one fix.</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In your own terminal: node scripts/approve.mjs &lt;id&gt; --by "Your Name".</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a:t>
            </a:r>
            <a:r>
              <a:rPr sz="1300">
                <a:solidFill>
                  <a:srgbClr val="6B6862"/>
                </a:solidFill>
                <a:latin typeface="Calibri"/>
              </a:rPr>
              <a:t>Paste Prompt B. Dry run first; --live only if your accounts are connected.</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social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Plan Week 1 social from data/social-brief.md and strategy/calendar.csv. Use subagents in parallel, each following its card:</a:t>
            </a:r>
          </a:p>
          <a:p>
            <a:pPr>
              <a:lnSpc>
                <a:spcPct val="110000"/>
              </a:lnSpc>
              <a:defRPr sz="1700" b="0">
                <a:solidFill>
                  <a:srgbClr val="21201C"/>
                </a:solidFill>
                <a:latin typeface="Calibri"/>
              </a:defRPr>
            </a:pPr>
            <a:r>
              <a:t>- content-creator: 2 LinkedIn + 3 Facebook posts, one file each in content/social/week-01/, with the frontmatter in data/publishing-spec.md.</a:t>
            </a:r>
          </a:p>
          <a:p>
            <a:pPr>
              <a:lnSpc>
                <a:spcPct val="110000"/>
              </a:lnSpc>
              <a:defRPr sz="1700" b="0">
                <a:solidFill>
                  <a:srgbClr val="21201C"/>
                </a:solidFill>
                <a:latin typeface="Calibri"/>
              </a:defRPr>
            </a:pPr>
            <a:r>
              <a:t>- creative-designer: one image per post with $imagegen (or @Canva) and alt text, from the brief. Then run fact-check and fin-compliance on every post and send each fix back to the right subagent. When a post passes, run node scripts/submit.mjs on it. Publish nothing.</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publish</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every Week 1 post approved in review/approvals.csv, run node scripts/publish.mjs &lt;id&gt; as a dry run and show me each request. Wait for me to say "go" before any --live run.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Parallel subagents are fast; the Lead's review is what makes them safe.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hook (or approve.mjs) stopped the agent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subagents ran in parallel; both reached Done.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Lead sent at least one fix back to a subagent.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posts with images, alt text, frontmatter and UTM links.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in your own terminal;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Dry runs printed every request; nothing went live unless you said go.</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Sites.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content/newsletter/2026-11/ (issue, HTML, text, recipients, excluded), web/checklist/ published, Gmail drafts</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 @Sites → ChatGPT Work (@Gmail)</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(subagents) → @Sites → ChatGPT Work (@Gmail)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Paste Prompt A.</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Read issue.md and the page copy; approve nl-2026-11 in your own terminal.</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@Sites.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recipients.csv: only consent = yes and unsubscribed = no.</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newsletter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for the November Sunny Sunday email (data/newsletter-brief.md, data/newsletter-spec.md) and its landing page (data/landing-page-brief.md). Use subagents:</a:t>
            </a:r>
          </a:p>
          <a:p>
            <a:pPr>
              <a:lnSpc>
                <a:spcPct val="110000"/>
              </a:lnSpc>
              <a:defRPr sz="1700" b="0">
                <a:solidFill>
                  <a:srgbClr val="21201C"/>
                </a:solidFill>
                <a:latin typeface="Calibri"/>
              </a:defRPr>
            </a:pPr>
            <a:r>
              <a:t>- content-creator: issue.md (id nl-2026-11) and the landing-page copy.</a:t>
            </a:r>
          </a:p>
          <a:p>
            <a:pPr>
              <a:lnSpc>
                <a:spcPct val="110000"/>
              </a:lnSpc>
              <a:defRPr sz="1700" b="0">
                <a:solidFill>
                  <a:srgbClr val="21201C"/>
                </a:solidFill>
                <a:latin typeface="Calibri"/>
              </a:defRPr>
            </a:pPr>
            <a:r>
              <a:t>- website-designer: web/checklist/index.html with landing-page; page-qa.</a:t>
            </a:r>
          </a:p>
          <a:p>
            <a:pPr>
              <a:lnSpc>
                <a:spcPct val="110000"/>
              </a:lnSpc>
              <a:defRPr sz="1700" b="0">
                <a:solidFill>
                  <a:srgbClr val="21201C"/>
                </a:solidFill>
                <a:latin typeface="Calibri"/>
              </a:defRPr>
            </a:pPr>
            <a:r>
              <a:t>- growth-analyst: recipients.csv and excluded.csv from data/subscribers.csv. Check everything, then submit nl-2026-11. After I approve, build newsletter.html and .txt, and deploy web/checklist with @Sites (Only those invited).</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ChatGPT Work: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@Gmail, create a DRAFT of the newsletter in content/newsletter/2026-11/newsletter.html (upload it) for each address in recipients.csv, plus one draft to me only. Send nothing. Report how many drafts and how many people were excluded,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nl-2026-11 in your own terminal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recipients.csv holds 31 people; excluded.csv lists 9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content/video/ep01/: scenes.json, thumbnail, ep01.mp4, ep01.md, and a private YouTube upload (or dry run)</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 $imagegen, render, upload)</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(subagents, $imagegen, render, upload)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Paste Prompt A.</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scenes.json and ep01.md; approve yt-ep01-script in your own terminal.</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Paste Prompt B. The designer runs video-render.</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Submit ep01.md, watch ep01.mp4 to the end, then approve yt-ep01.</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Paste Prompt C. It goes up as private.</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the video team</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the Lead for YouTube episode 1 (data/youtube-brief.md). Use subagents: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thumbnail with $imagegen, using brand-visuals). Fact-check and fin-compliance the script, then submit it as yt-ep01-script. Publish nothing.</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Codex: render and upload</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 with ffprobe. Do not change approved words.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Run node scripts/publish.mjs yt-ep01 as a dry run. If I say "go", run it with --live: it uploads as PRIVATE. Give me the YouTube Studio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facts-2026.md.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campaigns, every piece checked by the Lead and approved by a person. But the team stops when you close the laptop.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Gate  ·  Lab 8</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People approve, hashes hold, a hook stops agents.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Campaigns  ·  Labs 8–10</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Social week, newsletter + landing page, the video.</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works every week on its own — and rules to govern it. That is Topic 4.</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4</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Content Distribution, Strategy Guidelines and Responsible AI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5: always on, with a scheduled task</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for financial content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Measure the patterns; write the team playbook</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Optional demo: a Dot Team Lead and workspace agents</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Workflow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Scheduled runs appear in Scheduled; Plus allows 5 active tasks.</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Work (skill, scheduled task, @Drive, @Gmail)</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ChatGPT Work (skill, scheduled task, @Drive, @Gmail)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Upload campaign-results.csv to the Horizon Studio folder.</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Bring the skill  </a:t>
            </a:r>
            <a:r>
              <a:rPr sz="1300">
                <a:solidFill>
                  <a:srgbClr val="6B6862"/>
                </a:solidFill>
                <a:latin typeface="Calibri"/>
              </a:rPr>
              <a:t>Use @skill-creator to add campaign-report to ChatGPT.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Do it once  </a:t>
            </a:r>
            <a:r>
              <a:rPr sz="1300">
                <a:solidFill>
                  <a:srgbClr val="6B6862"/>
                </a:solidFill>
                <a:latin typeface="Calibri"/>
              </a:rPr>
              <a:t>Paste Prompt A. Refine the report until it is right.</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Schedule it  </a:t>
            </a:r>
            <a:r>
              <a:rPr sz="1300">
                <a:solidFill>
                  <a:srgbClr val="6B6862"/>
                </a:solidFill>
                <a:latin typeface="Calibri"/>
              </a:rPr>
              <a:t>Paste Prompt B. Runs appear in Scheduled.</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it now  </a:t>
            </a:r>
            <a:r>
              <a:rPr sz="1300">
                <a:solidFill>
                  <a:srgbClr val="6B6862"/>
                </a:solidFill>
                <a:latin typeface="Calibri"/>
              </a:rPr>
              <a:t>Run the task once and open the Gmail draft.</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Pause it  </a:t>
            </a:r>
            <a:r>
              <a:rPr sz="1300">
                <a:solidFill>
                  <a:srgbClr val="6B6862"/>
                </a:solidFill>
                <a:latin typeface="Calibri"/>
              </a:rPr>
              <a:t>After class, pause the scheduled task.</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A and B — ChatGPT Work</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A</a:t>
            </a:r>
          </a:p>
          <a:p>
            <a:pPr>
              <a:lnSpc>
                <a:spcPct val="110000"/>
              </a:lnSpc>
              <a:defRPr sz="1700" b="0">
                <a:solidFill>
                  <a:srgbClr val="21201C"/>
                </a:solidFill>
                <a:latin typeface="Calibri"/>
              </a:defRPr>
            </a:pPr>
            <a:r>
              <a:t>Act as Horizon's Growth Analyst. Using @Google Drive, read campaign-results.csv in the Horizon Studio folder. Use the campaign-report skill and weekly-report-brief.md. Leave the report as a @Gmail DRAFT to me, subject "Horizon weekly growth report" and today's date. Send nothing.</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Do this every Monday at 8am, as a scheduled task. Draft only — never send, publish or approve anything.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campaign-report skill is available in ChatGPT.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8–10</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8–10</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approve.mjs (people only), hash, hook</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8</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9</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reports/agent-comparison.md and strategy/team-playbook.md</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Codex (subagents)</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Codex (subagents)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Compare the patterns  </a:t>
            </a:r>
            <a:r>
              <a:rPr sz="1550">
                <a:solidFill>
                  <a:srgbClr val="6B6862"/>
                </a:solidFill>
                <a:latin typeface="Calibri"/>
              </a:rPr>
              <a:t>Paste Prompt A.</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playbook  </a:t>
            </a:r>
            <a:r>
              <a:rPr sz="1550">
                <a:solidFill>
                  <a:srgbClr val="6B6862"/>
                </a:solidFill>
                <a:latin typeface="Calibri"/>
              </a:rPr>
              <a:t>Paste Prompt B.</a:t>
            </a:r>
          </a:p>
        </p:txBody>
      </p:sp>
      <p:sp>
        <p:nvSpPr>
          <p:cNvPr id="14" name="Oval 13"/>
          <p:cNvSpPr/>
          <p:nvPr/>
        </p:nvSpPr>
        <p:spPr>
          <a:xfrm>
            <a:off x="548640" y="472744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69087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Review it as Rachel  </a:t>
            </a:r>
            <a:r>
              <a:rPr sz="1550">
                <a:solidFill>
                  <a:srgbClr val="6B6862"/>
                </a:solidFill>
                <a:latin typeface="Calibri"/>
              </a:rPr>
              <a:t>Add one rule of your own and say why.</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Codex: compare</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parallel subagents with a Lead review and the scheduled task — on minutes, tokens, defects caught before a person and human edits. Which pattern pays off for which job? Save reports/agent-comparison.md.</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Codex: the playbook</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agents/, its skills, connectors, model and what it may never do; the approval matrix by risk; the rules in data/responsible-ai-checklist.md; and what to do when a wrong post goes out. Then run fin-compliance on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agent-comparison.md shows the one-agent baseline caught 0 defects.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OPTIONAL DEMO · DOTS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Dots: Always-On Agent Coworkers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Announced at OpenAI DevDay, 29 September 2026. A demo, not assessed.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a Dot is</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persistent agent with its own cloud computer and browser that keeps working after you close the chat.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Kept in check</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Background research is read-only. Custom Rules permit, require approval for, or prohibit actions. Activity View shows its work.</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Who has it</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first Dot is included on Pro and Business Premium; Enterprise and Edu can try the beta.</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OPTIONAL DEMO · WORKSPACE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Workspace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Shared agents for Business, Enterprise and Edu workspaces.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Agents</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Click Agents in the sidebar.</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Describe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Describe the workflow — e.g. the weekly growth report.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Apps</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Add the approved apps it may use.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Trigger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Choose when it runs — e.g. weekly.</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Share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whole team uses the same agent.</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Same rule: draft, a person approves, then publish.</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54864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~25 MIN</a:t>
            </a:r>
          </a:p>
        </p:txBody>
      </p:sp>
      <p:sp>
        <p:nvSpPr>
          <p:cNvPr id="10" name="TextBox 9"/>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1" name="TextBox 10"/>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Optional. Rachel asks whether the Lead could work around the clock. The trainer shows a Dot as an always-on Team Lead and a workspace agent on a weekly trigger.</a:t>
            </a:r>
          </a:p>
        </p:txBody>
      </p:sp>
      <p:sp>
        <p:nvSpPr>
          <p:cNvPr id="12" name="Rounded Rectangle 11"/>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5" name="TextBox 14"/>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demo Dot with Custom Rules that block sending, and one workspace agent (Growth Analyst) on a weekly trigger</a:t>
            </a:r>
          </a:p>
        </p:txBody>
      </p:sp>
      <p:sp>
        <p:nvSpPr>
          <p:cNvPr id="16" name="TextBox 15"/>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ChatGPT Dots and workspace agents — trainer demo</a:t>
            </a:r>
          </a:p>
        </p:txBody>
      </p:sp>
      <p:sp>
        <p:nvSpPr>
          <p:cNvPr id="17" name="TextBox 16"/>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 Dot as an always-on Team Lead · Custom Rules · Activity View · workspace agents with apps and triggers</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ChatGPT Dots and workspace agents — trainer demo  ·  full step-by-step with reasoning is in your Learner Guide.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plan  </a:t>
            </a:r>
            <a:r>
              <a:rPr sz="1550">
                <a:solidFill>
                  <a:srgbClr val="6B6862"/>
                </a:solidFill>
                <a:latin typeface="Calibri"/>
              </a:rPr>
              <a:t>Dots: the first one is included on Pro and Business Premium. Workspace agents: Business, Enterprise, Edu.</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Make the Dot  </a:t>
            </a:r>
            <a:r>
              <a:rPr sz="1550">
                <a:solidFill>
                  <a:srgbClr val="6B6862"/>
                </a:solidFill>
                <a:latin typeface="Calibri"/>
              </a:rPr>
              <a:t>Give it the Team Lead's instructions and only the apps it needs.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Set Custom Rules  </a:t>
            </a:r>
            <a:r>
              <a:rPr sz="1550">
                <a:solidFill>
                  <a:srgbClr val="6B6862"/>
                </a:solidFill>
                <a:latin typeface="Calibri"/>
              </a:rPr>
              <a:t>Block sending, deleting and posting; require approval for anything account-affecting.</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Give it one job  </a:t>
            </a:r>
            <a:r>
              <a:rPr sz="1550">
                <a:solidFill>
                  <a:srgbClr val="6B6862"/>
                </a:solidFill>
                <a:latin typeface="Calibri"/>
              </a:rPr>
              <a:t>Paste the prompt. Watch the work in Activity View.</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Build a workspace agent  </a:t>
            </a:r>
            <a:r>
              <a:rPr sz="1550">
                <a:solidFill>
                  <a:srgbClr val="6B6862"/>
                </a:solidFill>
                <a:latin typeface="Calibri"/>
              </a:rPr>
              <a:t>Agents in the sidebar → describe the Growth Analyst's weekly report → add apps → choose a trigger.</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the Dot</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You are Horizon Wealth Planning's Marketing Team Lead. Every Monday, summarise the week's calendar from the Horizon Studio Drive folder, list anything due for review, and draft — never send — a short brief to me. Ask before any action outside reading and drafting.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Optional, not assessed. Always-on agents make the human gate more important, not less.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Optional Demo: a Dot Team Lead and Workspace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Dot has the Lead's instructions and only the apps it needs.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Custom Rules block sending and posting.</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Activity View shows what it did.</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workspace agent has apps and a weekly trigger.</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 role cards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AFTER THE WORK</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Lead review</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combines subagent results and sends fixes back before a person sees anything.</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fact-check</a:t>
            </a:r>
          </a:p>
          <a:p>
            <a:pPr>
              <a:lnSpc>
                <a:spcPct val="100000"/>
              </a:lnSpc>
              <a:defRPr sz="1050" b="0">
                <a:solidFill>
                  <a:srgbClr val="21201C"/>
                </a:solidFill>
                <a:latin typeface="Courier New"/>
              </a:defRPr>
            </a:pPr>
            <a:r>
              <a:t>fin-compliance</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AGENTS.md rule</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.agents/skills/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.codex/hooks.json (trusted)</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ChatGPT Work</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Five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 the ChatGPT Edition.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Workflow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agents: instructions, skills, connectors.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 1, personas, cadence and a calendar.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Govern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human gate, least privilege, a playbook.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as a draft.</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21201C"/>
        </a:solidFill>
      </p:bgPr>
    </p:bg>
    <p:spTree>
      <p:nvGrpSpPr>
        <p:cNvPr id="1" name=""/>
        <p:cNvGrpSpPr/>
        <p:nvPr/>
      </p:nvGrpSpPr>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548640" y="640080"/>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LEARNING MANAGEMENT SYSTEM</a:t>
            </a:r>
            <a:endParaRPr lang="en-US" sz="1200" dirty="0"/>
          </a:p>
        </p:txBody>
      </p:sp>
      <p:sp>
        <p:nvSpPr>
          <p:cNvPr id="4" name="Text 2"/>
          <p:cNvSpPr/>
          <p:nvPr/>
        </p:nvSpPr>
        <p:spPr>
          <a:xfrm>
            <a:off x="548640" y="960120"/>
            <a:ext cx="109728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Courseware &amp; Assessment on the LMS</a:t>
            </a:r>
            <a:endParaRPr lang="en-US" sz="2800" dirty="0"/>
          </a:p>
        </p:txBody>
      </p:sp>
      <p:sp>
        <p:nvSpPr>
          <p:cNvPr id="5" name="Shape 3"/>
          <p:cNvSpPr/>
          <p:nvPr/>
        </p:nvSpPr>
        <p:spPr>
          <a:xfrm>
            <a:off x="640080" y="210312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777240" y="2240280"/>
            <a:ext cx="274320" cy="274320"/>
          </a:xfrm>
          <a:prstGeom prst="rect">
            <a:avLst/>
          </a:prstGeom>
        </p:spPr>
      </p:pic>
      <p:sp>
        <p:nvSpPr>
          <p:cNvPr id="7" name="Text 4"/>
          <p:cNvSpPr/>
          <p:nvPr/>
        </p:nvSpPr>
        <p:spPr>
          <a:xfrm>
            <a:off x="1371600" y="205740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Download the courseware</a:t>
            </a:r>
            <a:endParaRPr lang="en-US" sz="1800" dirty="0"/>
          </a:p>
        </p:txBody>
      </p:sp>
      <p:sp>
        <p:nvSpPr>
          <p:cNvPr id="8" name="Text 5"/>
          <p:cNvSpPr/>
          <p:nvPr/>
        </p:nvSpPr>
        <p:spPr>
          <a:xfrm>
            <a:off x="1371600" y="246888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Get the slides and learner guide from the LMS for the open-book assessment.</a:t>
            </a:r>
            <a:endParaRPr lang="en-US" sz="1400" dirty="0"/>
          </a:p>
        </p:txBody>
      </p:sp>
      <p:sp>
        <p:nvSpPr>
          <p:cNvPr id="9" name="Shape 6"/>
          <p:cNvSpPr/>
          <p:nvPr/>
        </p:nvSpPr>
        <p:spPr>
          <a:xfrm>
            <a:off x="640080" y="315468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3"/>
          <a:stretch>
            <a:fillRect/>
          </a:stretch>
        </p:blipFill>
        <p:spPr>
          <a:xfrm>
            <a:off x="777240" y="3291840"/>
            <a:ext cx="274320" cy="274320"/>
          </a:xfrm>
          <a:prstGeom prst="rect">
            <a:avLst/>
          </a:prstGeom>
        </p:spPr>
      </p:pic>
      <p:sp>
        <p:nvSpPr>
          <p:cNvPr id="11" name="Text 7"/>
          <p:cNvSpPr/>
          <p:nvPr/>
        </p:nvSpPr>
        <p:spPr>
          <a:xfrm>
            <a:off x="1371600" y="310896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Take the assessment</a:t>
            </a:r>
            <a:endParaRPr lang="en-US" sz="1800" dirty="0"/>
          </a:p>
        </p:txBody>
      </p:sp>
      <p:sp>
        <p:nvSpPr>
          <p:cNvPr id="12" name="Text 8"/>
          <p:cNvSpPr/>
          <p:nvPr/>
        </p:nvSpPr>
        <p:spPr>
          <a:xfrm>
            <a:off x="1371600" y="352044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Complete the Written Assessment and Practical Performance on the LMS.</a:t>
            </a:r>
            <a:endParaRPr lang="en-US" sz="1400" dirty="0"/>
          </a:p>
        </p:txBody>
      </p:sp>
      <p:sp>
        <p:nvSpPr>
          <p:cNvPr id="13" name="Shape 9"/>
          <p:cNvSpPr/>
          <p:nvPr/>
        </p:nvSpPr>
        <p:spPr>
          <a:xfrm>
            <a:off x="640080" y="420624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4" name="Image 2" descr="preencoded.png">    </p:cNvPr>
          <p:cNvPicPr>
            <a:picLocks noChangeAspect="1"/>
          </p:cNvPicPr>
          <p:nvPr/>
        </p:nvPicPr>
        <p:blipFill>
          <a:blip r:embed="rId4"/>
          <a:stretch>
            <a:fillRect/>
          </a:stretch>
        </p:blipFill>
        <p:spPr>
          <a:xfrm>
            <a:off x="777240" y="4343400"/>
            <a:ext cx="274320" cy="274320"/>
          </a:xfrm>
          <a:prstGeom prst="rect">
            <a:avLst/>
          </a:prstGeom>
        </p:spPr>
      </p:pic>
      <p:sp>
        <p:nvSpPr>
          <p:cNvPr id="15" name="Text 10"/>
          <p:cNvSpPr/>
          <p:nvPr/>
        </p:nvSpPr>
        <p:spPr>
          <a:xfrm>
            <a:off x="1371600" y="4160520"/>
            <a:ext cx="59436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Log in</a:t>
            </a:r>
            <a:endParaRPr lang="en-US" sz="1800" dirty="0"/>
          </a:p>
        </p:txBody>
      </p:sp>
      <p:sp>
        <p:nvSpPr>
          <p:cNvPr id="16" name="Text 11"/>
          <p:cNvSpPr/>
          <p:nvPr/>
        </p:nvSpPr>
        <p:spPr>
          <a:xfrm>
            <a:off x="1371600" y="4572000"/>
            <a:ext cx="5943600" cy="4572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Use your enrolled account to access the course materials and assessment.</a:t>
            </a:r>
            <a:endParaRPr lang="en-US" sz="1400" dirty="0"/>
          </a:p>
        </p:txBody>
      </p:sp>
      <p:sp>
        <p:nvSpPr>
          <p:cNvPr id="17" name="Shape 12"/>
          <p:cNvSpPr/>
          <p:nvPr/>
        </p:nvSpPr>
        <p:spPr>
          <a:xfrm>
            <a:off x="640080" y="5440680"/>
            <a:ext cx="10881360" cy="640080"/>
          </a:xfrm>
          <a:prstGeom prst="roundRect">
            <a:avLst>
              <a:gd name="adj" fmla="val 14286"/>
            </a:avLst>
          </a:prstGeom>
          <a:solidFill>
            <a:srgbClr val="2E2C26"/>
          </a:solidFill>
          <a:ln/>
        </p:spPr>
        <p:txBody>
          <a:bodyPr/>
          <a:p/>
        </p:txBody>
      </p:sp>
      <p:sp>
        <p:nvSpPr>
          <p:cNvPr id="18" name="Text 13">
            <a:hlinkClick r:id="rIdundefined" tooltip=""/>
          </p:cNvPr>
          <p:cNvSpPr/>
          <p:nvPr/>
        </p:nvSpPr>
        <p:spPr>
          <a:xfrm>
            <a:off x="914400" y="5440680"/>
            <a:ext cx="10332720" cy="640080"/>
          </a:xfrm>
          <a:prstGeom prst="rect">
            <a:avLst/>
          </a:prstGeom>
          <a:noFill/>
          <a:ln/>
        </p:spPr>
        <p:txBody>
          <a:bodyPr wrap="square" rtlCol="0" anchor="ctr"/>
          <a:lstStyle/>
          <a:p>
            <a:pPr indent="0" marL="0">
              <a:buNone/>
            </a:pPr>
            <a:r>
              <a:rPr lang="en-US" sz="1600" b="1" u="sng" dirty="0">
                <a:solidFill>
                  <a:srgbClr val="D97757"/>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LMS:  </a:t>
            </a:r>
            <a:pPr indent="0" marL="0">
              <a:buNone/>
            </a:pPr>
            <a:r>
              <a:rPr lang="en-US" sz="1600" u="sng" dirty="0">
                <a:solidFill>
                  <a:srgbClr val="FFFFFF"/>
                </a:solidFill>
                <a:latin typeface="Calibri" pitchFamily="34" charset="0"/>
                <a:ea typeface="Calibri" pitchFamily="34" charset="-122"/>
                <a:cs typeface="Calibri"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https://lms-tms.tertiaryinfotech.com/</a:t>
            </a:r>
            <a:endParaRPr lang="en-US" sz="1600" dirty="0"/>
          </a:p>
        </p:txBody>
      </p:sp>
      <p:sp>
        <p:nvSpPr>
          <p:cNvPr id="19" name="Text 14"/>
          <p:cNvSpPr/>
          <p:nvPr/>
        </p:nvSpPr>
        <p:spPr>
          <a:xfrm>
            <a:off x="457200" y="6565392"/>
            <a:ext cx="6400800" cy="228600"/>
          </a:xfrm>
          <a:prstGeom prst="rect">
            <a:avLst/>
          </a:prstGeom>
          <a:noFill/>
          <a:ln/>
        </p:spPr>
        <p:txBody>
          <a:bodyPr wrap="square" rtlCol="0" anchor="ctr"/>
          <a:lstStyle/>
          <a:p>
            <a:pPr indent="0" marL="0">
              <a:buNone/>
            </a:pPr>
            <a:r>
              <a:rPr lang="en-US" sz="800" dirty="0">
                <a:solidFill>
                  <a:srgbClr val="6B6862"/>
                </a:solidFill>
                <a:latin typeface="Calibri" pitchFamily="34" charset="0"/>
                <a:ea typeface="Calibri" pitchFamily="34" charset="-122"/>
                <a:cs typeface="Calibri" pitchFamily="34" charset="-120"/>
              </a:rPr>
              <a:t>© Tertiary Infotech Academy Pte Ltd</a:t>
            </a:r>
            <a:endParaRPr lang="en-US" sz="800" dirty="0"/>
          </a:p>
        </p:txBody>
      </p:sp>
      <p:pic>
        <p:nvPicPr>
          <p:cNvPr id="90" name="LMS Screenshot" descr="lms-tms.tertiaryinfotech.com login page"/>
          <p:cNvPicPr>
            <a:picLocks noChangeAspect="1"/>
          </p:cNvPicPr>
          <p:nvPr/>
        </p:nvPicPr>
        <p:blipFill>
          <a:blip r:embed="rId5"/>
          <a:stretch>
            <a:fillRect/>
          </a:stretch>
        </p:blipFill>
        <p:spPr>
          <a:xfrm>
            <a:off x="8412480" y="1965960"/>
            <a:ext cx="2194560" cy="2700528"/>
          </a:xfrm>
          <a:prstGeom prst="roundRect">
            <a:avLst>
              <a:gd name="adj" fmla="val 3000"/>
            </a:avLst>
          </a:prstGeom>
          <a:effectLst>
            <a:outerShdw sx="100000" sy="100000" kx="0" ky="0" algn="bl" rotWithShape="0" blurRad="127000" dist="50800" dir="5400000">
              <a:srgbClr val="000000">
                <a:alpha val="30000"/>
              </a:srgbClr>
            </a:outerShdw>
          </a:effectLst>
        </p:spPr>
      </p:pic>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Certification &amp; TRAQOM Survey</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TRAQOM Survey (Mandatory)</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Complete the certification &amp; TRAQOM survey to receive your certificate.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Digital Attendance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Remember to take AM, PM and Assessment digital attendance — required for your funding.</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130</a:t>
            </a:r>
            <a:endParaRPr lang="en-US" sz="900" dirty="0"/>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Assessment &amp; Funding</a:t>
            </a:r>
            <a:endParaRPr lang="en-US" sz="3000" dirty="0"/>
          </a:p>
        </p:txBody>
      </p:sp>
      <p:sp>
        <p:nvSpPr>
          <p:cNvPr id="4" name="Shape 2"/>
          <p:cNvSpPr/>
          <p:nvPr/>
        </p:nvSpPr>
        <p:spPr>
          <a:xfrm>
            <a:off x="548640" y="1783080"/>
            <a:ext cx="5486400" cy="4023360"/>
          </a:xfrm>
          <a:prstGeom prst="roundRect">
            <a:avLst>
              <a:gd name="adj" fmla="val 1818"/>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2296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960120" y="2194560"/>
            <a:ext cx="292608" cy="292608"/>
          </a:xfrm>
          <a:prstGeom prst="rect">
            <a:avLst/>
          </a:prstGeom>
        </p:spPr>
      </p:pic>
      <p:sp>
        <p:nvSpPr>
          <p:cNvPr id="7" name="Text 4"/>
          <p:cNvSpPr/>
          <p:nvPr/>
        </p:nvSpPr>
        <p:spPr>
          <a:xfrm>
            <a:off x="1508760" y="2103120"/>
            <a:ext cx="4389120" cy="457200"/>
          </a:xfrm>
          <a:prstGeom prst="rect">
            <a:avLst/>
          </a:prstGeom>
          <a:noFill/>
          <a:ln/>
        </p:spPr>
        <p:txBody>
          <a:bodyPr wrap="square" rtlCol="0" anchor="ctr"/>
          <a:lstStyle/>
          <a:p>
            <a:pPr indent="0" marL="0">
              <a:buNone/>
            </a:pPr>
            <a:r>
              <a:rPr lang="en-US" sz="1900" b="1" dirty="0">
                <a:solidFill>
                  <a:srgbClr val="21201C"/>
                </a:solidFill>
                <a:latin typeface="Cambria" pitchFamily="34" charset="0"/>
                <a:ea typeface="Cambria" pitchFamily="34" charset="-122"/>
                <a:cs typeface="Cambria" pitchFamily="34" charset="-120"/>
              </a:rPr>
              <a:t>Final Assessment</a:t>
            </a:r>
            <a:endParaRPr lang="en-US" sz="1900" dirty="0"/>
          </a:p>
        </p:txBody>
      </p:sp>
      <p:sp>
        <p:nvSpPr>
          <p:cNvPr id="8" name="Text 5"/>
          <p:cNvSpPr/>
          <p:nvPr/>
        </p:nvSpPr>
        <p:spPr>
          <a:xfrm>
            <a:off x="868680" y="2880360"/>
            <a:ext cx="4937760" cy="2743200"/>
          </a:xfrm>
          <a:prstGeom prst="rect">
            <a:avLst/>
          </a:prstGeom>
          <a:noFill/>
          <a:ln/>
        </p:spPr>
        <p:txBody>
          <a:bodyPr wrap="square" rtlCol="0" anchor="ctr"/>
          <a:lstStyle/>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Written Assessment (WA) — 1 hour, starts 4:00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Practical Performance (PP) — 1 hour</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Format: Open book — class ends 6:00 PM</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Allowed: slides, learner guide &amp; approved materials only</a:t>
            </a:r>
            <a:endParaRPr lang="en-US" sz="1400" dirty="0"/>
          </a:p>
          <a:p>
            <a:pPr marL="342900" indent="-342900">
              <a:spcAft>
                <a:spcPts val="900"/>
              </a:spcAft>
              <a:buSzPct val="100000"/>
              <a:buChar char="•"/>
            </a:pPr>
            <a:r>
              <a:rPr lang="en-US" sz="1400" dirty="0">
                <a:solidFill>
                  <a:srgbClr val="21201C"/>
                </a:solidFill>
                <a:latin typeface="Calibri" pitchFamily="34" charset="0"/>
                <a:ea typeface="Calibri" pitchFamily="34" charset="-122"/>
                <a:cs typeface="Calibri" pitchFamily="34" charset="-120"/>
              </a:rPr>
              <a:t>Appeal process available</a:t>
            </a:r>
            <a:endParaRPr lang="en-US" sz="1400" dirty="0"/>
          </a:p>
        </p:txBody>
      </p:sp>
      <p:sp>
        <p:nvSpPr>
          <p:cNvPr id="9" name="Shape 6"/>
          <p:cNvSpPr/>
          <p:nvPr/>
        </p:nvSpPr>
        <p:spPr>
          <a:xfrm>
            <a:off x="6309360" y="1783080"/>
            <a:ext cx="5303520" cy="4023360"/>
          </a:xfrm>
          <a:prstGeom prst="roundRect">
            <a:avLst>
              <a:gd name="adj" fmla="val 1818"/>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83680" y="20574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720840" y="2194560"/>
            <a:ext cx="292608" cy="292608"/>
          </a:xfrm>
          <a:prstGeom prst="rect">
            <a:avLst/>
          </a:prstGeom>
        </p:spPr>
      </p:pic>
      <p:sp>
        <p:nvSpPr>
          <p:cNvPr id="12" name="Text 8"/>
          <p:cNvSpPr/>
          <p:nvPr/>
        </p:nvSpPr>
        <p:spPr>
          <a:xfrm>
            <a:off x="7269480" y="2103120"/>
            <a:ext cx="411480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Criteria for Funding</a:t>
            </a:r>
            <a:endParaRPr lang="en-US" sz="1900" dirty="0"/>
          </a:p>
        </p:txBody>
      </p:sp>
      <p:sp>
        <p:nvSpPr>
          <p:cNvPr id="13" name="Text 9"/>
          <p:cNvSpPr/>
          <p:nvPr/>
        </p:nvSpPr>
        <p:spPr>
          <a:xfrm>
            <a:off x="6629400" y="2926080"/>
            <a:ext cx="4754880" cy="2743200"/>
          </a:xfrm>
          <a:prstGeom prst="rect">
            <a:avLst/>
          </a:prstGeom>
          <a:noFill/>
          <a:ln/>
        </p:spPr>
        <p:txBody>
          <a:bodyPr wrap="square"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Minimum 75% attendance</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Based on SSG digital attendance records.</a:t>
            </a:r>
            <a:endParaRPr lang="en-US" sz="1500" dirty="0"/>
          </a:p>
          <a:p>
            <a:pPr indent="0" marL="0">
              <a:spcAft>
                <a:spcPts val="600"/>
              </a:spcAft>
              <a:buNone/>
            </a:pPr>
            <a:endParaRPr lang="en-US" sz="1500" dirty="0"/>
          </a:p>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Assessed as ‘Competent’</a:t>
            </a:r>
            <a:endParaRPr lang="en-US" sz="1500" dirty="0"/>
          </a:p>
          <a:p>
            <a:pPr indent="0" marL="0">
              <a:spcAft>
                <a:spcPts val="600"/>
              </a:spcAft>
              <a:buNone/>
            </a:pPr>
            <a:r>
              <a:rPr lang="en-US" sz="1500" dirty="0">
                <a:solidFill>
                  <a:srgbClr val="C9C4B9"/>
                </a:solidFill>
                <a:latin typeface="Calibri" pitchFamily="34" charset="0"/>
                <a:ea typeface="Calibri" pitchFamily="34" charset="-122"/>
                <a:cs typeface="Calibri" pitchFamily="34" charset="-120"/>
              </a:rPr>
              <a:t>Complete and pass both assessment components.</a:t>
            </a:r>
            <a:endParaRPr lang="en-US" sz="15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131</a:t>
            </a:r>
            <a:endParaRPr lang="en-US" sz="900" dirty="0"/>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Digital Attendance</a:t>
            </a:r>
            <a:endParaRPr lang="en-US" sz="3000" dirty="0"/>
          </a:p>
        </p:txBody>
      </p:sp>
      <p:sp>
        <p:nvSpPr>
          <p:cNvPr id="4" name="Shape 2"/>
          <p:cNvSpPr/>
          <p:nvPr/>
        </p:nvSpPr>
        <p:spPr>
          <a:xfrm>
            <a:off x="548640" y="182880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5" name="Image 0" descr="preencoded.png">    </p:cNvPr>
          <p:cNvPicPr>
            <a:picLocks noChangeAspect="1"/>
          </p:cNvPicPr>
          <p:nvPr/>
        </p:nvPicPr>
        <p:blipFill>
          <a:blip r:embed="rId2"/>
          <a:stretch>
            <a:fillRect/>
          </a:stretch>
        </p:blipFill>
        <p:spPr>
          <a:xfrm>
            <a:off x="685800" y="1965960"/>
            <a:ext cx="292608" cy="292608"/>
          </a:xfrm>
          <a:prstGeom prst="rect">
            <a:avLst/>
          </a:prstGeom>
        </p:spPr>
      </p:pic>
      <p:sp>
        <p:nvSpPr>
          <p:cNvPr id="6" name="Text 3"/>
          <p:cNvSpPr/>
          <p:nvPr/>
        </p:nvSpPr>
        <p:spPr>
          <a:xfrm>
            <a:off x="1371600" y="1874520"/>
            <a:ext cx="6583680" cy="1828800"/>
          </a:xfrm>
          <a:prstGeom prst="rect">
            <a:avLst/>
          </a:prstGeom>
          <a:noFill/>
          <a:ln/>
        </p:spPr>
        <p:txBody>
          <a:bodyPr wrap="square" rtlCol="0" anchor="ctr"/>
          <a:lstStyle/>
          <a:p>
            <a:pPr indent="0" marL="0">
              <a:spcAft>
                <a:spcPts val="1000"/>
              </a:spcAft>
              <a:buNone/>
            </a:pPr>
            <a:r>
              <a:rPr lang="en-US" sz="1700" b="1" dirty="0">
                <a:solidFill>
                  <a:srgbClr val="21201C"/>
                </a:solidFill>
                <a:latin typeface="Calibri" pitchFamily="34" charset="0"/>
                <a:ea typeface="Calibri" pitchFamily="34" charset="-122"/>
                <a:cs typeface="Calibri" pitchFamily="34" charset="-120"/>
              </a:rPr>
              <a:t>Attendance is mandatory for SSG funding.</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Take AM, PM and Assessment digital attendance for every session.</a:t>
            </a:r>
            <a:endParaRPr lang="en-US" sz="1700" dirty="0"/>
          </a:p>
          <a:p>
            <a:pPr indent="0" marL="0">
              <a:spcAft>
                <a:spcPts val="1000"/>
              </a:spcAft>
              <a:buNone/>
            </a:pPr>
            <a:r>
              <a:rPr lang="en-US" sz="1700" dirty="0">
                <a:solidFill>
                  <a:srgbClr val="21201C"/>
                </a:solidFill>
                <a:latin typeface="Calibri" pitchFamily="34" charset="0"/>
                <a:ea typeface="Calibri" pitchFamily="34" charset="-122"/>
                <a:cs typeface="Calibri" pitchFamily="34" charset="-120"/>
              </a:rPr>
              <a:t>Use the SSG / TMS QR code provided by your trainer.</a:t>
            </a:r>
            <a:endParaRPr lang="en-US" sz="1700" dirty="0"/>
          </a:p>
        </p:txBody>
      </p:sp>
      <p:sp>
        <p:nvSpPr>
          <p:cNvPr id="7" name="Shape 4"/>
          <p:cNvSpPr/>
          <p:nvPr/>
        </p:nvSpPr>
        <p:spPr>
          <a:xfrm>
            <a:off x="8229600" y="1828800"/>
            <a:ext cx="3383280" cy="2926080"/>
          </a:xfrm>
          <a:prstGeom prst="roundRect">
            <a:avLst>
              <a:gd name="adj" fmla="val 3125"/>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8" name="Text 5"/>
          <p:cNvSpPr/>
          <p:nvPr/>
        </p:nvSpPr>
        <p:spPr>
          <a:xfrm>
            <a:off x="8229600" y="2377440"/>
            <a:ext cx="3383280" cy="1828800"/>
          </a:xfrm>
          <a:prstGeom prst="rect">
            <a:avLst/>
          </a:prstGeom>
          <a:noFill/>
          <a:ln/>
        </p:spPr>
        <p:txBody>
          <a:bodyPr wrap="square" rtlCol="0" anchor="ctr"/>
          <a:lstStyle/>
          <a:p>
            <a:pPr algn="ctr" indent="0" marL="0">
              <a:buNone/>
            </a:pPr>
            <a:r>
              <a:rPr lang="en-US" sz="3000" b="1" dirty="0">
                <a:solidFill>
                  <a:srgbClr val="D97757"/>
                </a:solidFill>
                <a:latin typeface="Cambria" pitchFamily="34" charset="0"/>
                <a:ea typeface="Cambria" pitchFamily="34" charset="-122"/>
                <a:cs typeface="Cambria" pitchFamily="34" charset="-120"/>
              </a:rPr>
              <a:t>Minimum</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75%</a:t>
            </a:r>
            <a:endParaRPr lang="en-US" sz="3000" dirty="0"/>
          </a:p>
          <a:p>
            <a:pPr algn="ctr" indent="0" marL="0">
              <a:buNone/>
            </a:pPr>
            <a:r>
              <a:rPr lang="en-US" sz="3000" b="1" dirty="0">
                <a:solidFill>
                  <a:srgbClr val="D97757"/>
                </a:solidFill>
                <a:latin typeface="Cambria" pitchFamily="34" charset="0"/>
                <a:ea typeface="Cambria" pitchFamily="34" charset="-122"/>
                <a:cs typeface="Cambria" pitchFamily="34" charset="-120"/>
              </a:rPr>
              <a:t>attendance required</a:t>
            </a:r>
            <a:endParaRPr lang="en-US" sz="3000" dirty="0"/>
          </a:p>
        </p:txBody>
      </p:sp>
      <p:sp>
        <p:nvSpPr>
          <p:cNvPr id="9" name="Text 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0" name="Text 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Workflow for Content Creation</a:t>
            </a:r>
            <a:endParaRPr lang="en-US" sz="900" dirty="0"/>
          </a:p>
        </p:txBody>
      </p:sp>
      <p:sp>
        <p:nvSpPr>
          <p:cNvPr id="11" name="Text 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AI Agents Workflow for Content Creation (ChatGPT Edition) (TGS-2023036153)</dc:title>
  <dc:subject>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3.1 — ChatGPT Edition — 9 October 2026</dc:description>
</cp:coreProperties>
</file>