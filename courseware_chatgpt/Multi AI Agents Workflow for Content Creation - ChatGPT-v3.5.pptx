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4" r:id="rId10"/>
    <p:sldId id="265" r:id="rId11"/>
    <p:sldId id="266" r:id="rId12"/>
    <p:sldId id="318" r:id="rId64"/>
    <p:sldId id="326" r:id="rId73"/>
    <p:sldId id="327" r:id="rId60"/>
    <p:sldId id="328" r:id="rId59"/>
    <p:sldId id="329" r:id="rId77"/>
    <p:sldId id="330" r:id="rId78"/>
    <p:sldId id="331" r:id="rId79"/>
    <p:sldId id="332" r:id="rId80"/>
    <p:sldId id="333" r:id="rId81"/>
    <p:sldId id="334" r:id="rId82"/>
    <p:sldId id="335" r:id="rId83"/>
    <p:sldId id="336" r:id="rId84"/>
    <p:sldId id="337" r:id="rId85"/>
    <p:sldId id="338" r:id="rId86"/>
    <p:sldId id="339" r:id="rId87"/>
    <p:sldId id="340" r:id="rId88"/>
    <p:sldId id="341" r:id="rId89"/>
    <p:sldId id="342" r:id="rId90"/>
    <p:sldId id="343" r:id="rId91"/>
    <p:sldId id="344" r:id="rId92"/>
    <p:sldId id="345" r:id="rId93"/>
    <p:sldId id="346" r:id="rId94"/>
    <p:sldId id="347" r:id="rId95"/>
    <p:sldId id="348" r:id="rId96"/>
    <p:sldId id="349" r:id="rId97"/>
    <p:sldId id="350" r:id="rId98"/>
    <p:sldId id="351" r:id="rId99"/>
    <p:sldId id="352" r:id="rId100"/>
    <p:sldId id="353" r:id="rId101"/>
    <p:sldId id="354" r:id="rId102"/>
    <p:sldId id="355" r:id="rId103"/>
    <p:sldId id="356" r:id="rId104"/>
    <p:sldId id="357" r:id="rId105"/>
    <p:sldId id="358" r:id="rId106"/>
    <p:sldId id="359" r:id="rId107"/>
    <p:sldId id="360" r:id="rId108"/>
    <p:sldId id="361" r:id="rId109"/>
    <p:sldId id="362" r:id="rId110"/>
    <p:sldId id="363" r:id="rId111"/>
    <p:sldId id="364" r:id="rId112"/>
    <p:sldId id="365" r:id="rId113"/>
    <p:sldId id="366" r:id="rId114"/>
    <p:sldId id="367" r:id="rId115"/>
    <p:sldId id="368" r:id="rId116"/>
    <p:sldId id="369" r:id="rId117"/>
    <p:sldId id="370" r:id="rId118"/>
    <p:sldId id="371" r:id="rId119"/>
    <p:sldId id="372" r:id="rId120"/>
    <p:sldId id="373" r:id="rId121"/>
    <p:sldId id="374" r:id="rId122"/>
    <p:sldId id="375" r:id="rId123"/>
    <p:sldId id="376" r:id="rId124"/>
    <p:sldId id="377" r:id="rId125"/>
    <p:sldId id="378" r:id="rId126"/>
    <p:sldId id="379" r:id="rId127"/>
    <p:sldId id="380" r:id="rId128"/>
    <p:sldId id="381" r:id="rId129"/>
    <p:sldId id="382" r:id="rId130"/>
    <p:sldId id="383" r:id="rId131"/>
    <p:sldId id="384" r:id="rId132"/>
    <p:sldId id="385" r:id="rId133"/>
    <p:sldId id="386" r:id="rId134"/>
    <p:sldId id="387" r:id="rId135"/>
    <p:sldId id="388" r:id="rId136"/>
    <p:sldId id="389" r:id="rId137"/>
    <p:sldId id="390" r:id="rId138"/>
    <p:sldId id="391" r:id="rId139"/>
    <p:sldId id="392" r:id="rId140"/>
    <p:sldId id="393" r:id="rId141"/>
    <p:sldId id="394" r:id="rId142"/>
    <p:sldId id="395" r:id="rId143"/>
    <p:sldId id="396" r:id="rId144"/>
    <p:sldId id="397" r:id="rId145"/>
    <p:sldId id="398" r:id="rId146"/>
    <p:sldId id="399" r:id="rId147"/>
    <p:sldId id="400" r:id="rId148"/>
    <p:sldId id="401" r:id="rId149"/>
    <p:sldId id="402" r:id="rId150"/>
    <p:sldId id="403" r:id="rId151"/>
    <p:sldId id="404" r:id="rId152"/>
    <p:sldId id="405" r:id="rId153"/>
    <p:sldId id="406" r:id="rId154"/>
    <p:sldId id="407" r:id="rId155"/>
    <p:sldId id="408" r:id="rId156"/>
    <p:sldId id="409" r:id="rId157"/>
    <p:sldId id="410" r:id="rId158"/>
    <p:sldId id="411" r:id="rId159"/>
    <p:sldId id="412" r:id="rId160"/>
    <p:sldId id="413" r:id="rId161"/>
    <p:sldId id="414" r:id="rId162"/>
    <p:sldId id="415" r:id="rId163"/>
    <p:sldId id="416" r:id="rId164"/>
    <p:sldId id="417" r:id="rId165"/>
    <p:sldId id="418" r:id="rId166"/>
    <p:sldId id="419" r:id="rId167"/>
    <p:sldId id="420" r:id="rId168"/>
    <p:sldId id="421" r:id="rId169"/>
    <p:sldId id="422" r:id="rId170"/>
    <p:sldId id="423" r:id="rId171"/>
    <p:sldId id="424" r:id="rId172"/>
    <p:sldId id="425" r:id="rId173"/>
    <p:sldId id="426" r:id="rId174"/>
    <p:sldId id="427" r:id="rId175"/>
    <p:sldId id="428" r:id="rId176"/>
    <p:sldId id="429" r:id="rId177"/>
    <p:sldId id="430" r:id="rId178"/>
    <p:sldId id="431" r:id="rId179"/>
    <p:sldId id="432" r:id="rId180"/>
    <p:sldId id="433" r:id="rId181"/>
    <p:sldId id="434" r:id="rId182"/>
    <p:sldId id="435" r:id="rId183"/>
    <p:sldId id="436" r:id="rId184"/>
    <p:sldId id="437" r:id="rId185"/>
    <p:sldId id="438" r:id="rId186"/>
    <p:sldId id="439" r:id="rId187"/>
    <p:sldId id="440" r:id="rId188"/>
    <p:sldId id="441" r:id="rId189"/>
    <p:sldId id="442" r:id="rId190"/>
    <p:sldId id="443" r:id="rId191"/>
    <p:sldId id="444" r:id="rId192"/>
    <p:sldId id="445" r:id="rId193"/>
    <p:sldId id="446" r:id="rId194"/>
    <p:sldId id="447" r:id="rId195"/>
    <p:sldId id="448" r:id="rId196"/>
    <p:sldId id="449" r:id="rId197"/>
    <p:sldId id="450" r:id="rId198"/>
    <p:sldId id="451" r:id="rId199"/>
    <p:sldId id="452" r:id="rId200"/>
    <p:sldId id="453" r:id="rId201"/>
    <p:sldId id="454" r:id="rId202"/>
    <p:sldId id="455" r:id="rId203"/>
    <p:sldId id="456" r:id="rId204"/>
    <p:sldId id="457" r:id="rId205"/>
    <p:sldId id="458" r:id="rId206"/>
    <p:sldId id="459" r:id="rId207"/>
    <p:sldId id="460" r:id="rId208"/>
    <p:sldId id="461" r:id="rId209"/>
    <p:sldId id="462" r:id="rId210"/>
    <p:sldId id="463" r:id="rId211"/>
    <p:sldId id="464" r:id="rId212"/>
    <p:sldId id="465" r:id="rId213"/>
    <p:sldId id="466" r:id="rId214"/>
    <p:sldId id="467" r:id="rId215"/>
    <p:sldId id="468" r:id="rId216"/>
    <p:sldId id="469" r:id="rId217"/>
    <p:sldId id="470" r:id="rId218"/>
    <p:sldId id="471" r:id="rId219"/>
    <p:sldId id="472" r:id="rId220"/>
    <p:sldId id="473" r:id="rId221"/>
    <p:sldId id="474" r:id="rId222"/>
    <p:sldId id="317" r:id="rId63"/>
    <p:sldId id="475" r:id="rId223"/>
    <p:sldId id="319" r:id="rId65"/>
  </p:sldIdLst>
  <p:notesMasterIdLst>
    <p:notesMasterId r:id="rId6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59" Type="http://schemas.openxmlformats.org/officeDocument/2006/relationships/slide" Target="slides/slide70.xml"/><Relationship Id="rId60" Type="http://schemas.openxmlformats.org/officeDocument/2006/relationships/slide" Target="slides/slide69.xml"/><Relationship Id="rId63" Type="http://schemas.openxmlformats.org/officeDocument/2006/relationships/slide" Target="slides/slide65.xml"/><Relationship Id="rId64" Type="http://schemas.openxmlformats.org/officeDocument/2006/relationships/slide" Target="slides/slide66.xml"/><Relationship Id="rId65" Type="http://schemas.openxmlformats.org/officeDocument/2006/relationships/slide" Target="slides/slide67.xml"/><Relationship Id="rId66" Type="http://schemas.openxmlformats.org/officeDocument/2006/relationships/notesMaster" Target="notesMasters/notes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 Id="rId73" Type="http://schemas.openxmlformats.org/officeDocument/2006/relationships/slide" Target="slides/slide68.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hyperlink" Target="https://www.linkedin.com/in/angchewhoe/" TargetMode="External"/><Relationship Id="rId8" Type="http://schemas.openxmlformats.org/officeDocument/2006/relationships/image" Target="../media/image-4-7.png"/><Relationship Id="rId9" Type="http://schemas.openxmlformats.org/officeDocument/2006/relationships/hyperlink" Target="https://github.com/alfredang" TargetMode="External"/><Relationship Id="rId10" Type="http://schemas.openxmlformats.org/officeDocument/2006/relationships/slideLayout" Target="../slideLayouts/slideLayout1.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 Id="rId6" Type="http://schemas.openxmlformats.org/officeDocument/2006/relationships/image" Target="../media/image-11-4.png"/></Relationships>
</file>

<file path=ppt/slides/_rels/slide65.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image" Target="../media/image-62-3.png"/><Relationship Id="rId4" Type="http://schemas.openxmlformats.org/officeDocument/2006/relationships/image" Target="../media/image-62-4.png"/><Relationship Id="rId5" Type="http://schemas.openxmlformats.org/officeDocument/2006/relationships/image" Target="../media/image-62-5.png"/><Relationship Id="rId6" Type="http://schemas.openxmlformats.org/officeDocument/2006/relationships/image" Target="../media/image-62-6.png"/><Relationship Id="rId7" Type="http://schemas.openxmlformats.org/officeDocument/2006/relationships/image" Target="../media/image-62-7.png"/><Relationship Id="rId8" Type="http://schemas.openxmlformats.org/officeDocument/2006/relationships/image" Target="../media/image-62-8.png"/><Relationship Id="rId9" Type="http://schemas.openxmlformats.org/officeDocument/2006/relationships/image" Target="../media/image-62-9.png"/><Relationship Id="rId10" Type="http://schemas.openxmlformats.org/officeDocument/2006/relationships/slideLayout" Target="../slideLayouts/slideLayout1.xml"/><Relationship Id="rId11" Type="http://schemas.openxmlformats.org/officeDocument/2006/relationships/notesSlide" Target="../notesSlides/notesSlide62.xml"/></Relationships>
</file>

<file path=ppt/slides/_rels/slide66.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slideLayout" Target="../slideLayouts/slideLayout1.xml"/><Relationship Id="rId4" Type="http://schemas.openxmlformats.org/officeDocument/2006/relationships/notesSlide" Target="../notesSlides/notesSlide6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hyperlink" Target="https://tertiarycourses.github.io/TGS-2023036153-Multi-AI-Agents-Workflow-for-Content-Creation/" TargetMode="Externa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chatgpt.com/download/" TargetMode="Externa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tertiarycourses.github.io/TGS-2023036153-Multi-AI-Agents-Workflow-for-Content-Creation/" TargetMode="Externa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1.png"/><Relationship Id="rId3" Type="http://schemas.openxmlformats.org/officeDocument/2006/relationships/image" Target="../media/image-63-2.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0-2.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9509760" y="-1463040"/>
            <a:ext cx="4206240" cy="4206240"/>
          </a:xfrm>
          <a:prstGeom prst="ellipse">
            <a:avLst/>
          </a:prstGeom>
          <a:solidFill>
            <a:srgbClr val="D97757">
              <a:alpha val="18000"/>
            </a:srgbClr>
          </a:solidFill>
          <a:ln/>
        </p:spPr>
        <p:txBody>
          <a:bodyPr/>
          <a:p/>
        </p:txBody>
      </p:sp>
      <p:sp>
        <p:nvSpPr>
          <p:cNvPr id="3" name="Shape 1"/>
          <p:cNvSpPr/>
          <p:nvPr/>
        </p:nvSpPr>
        <p:spPr>
          <a:xfrm>
            <a:off x="10607040" y="4023360"/>
            <a:ext cx="3108960" cy="3108960"/>
          </a:xfrm>
          <a:prstGeom prst="ellipse">
            <a:avLst/>
          </a:prstGeom>
          <a:solidFill>
            <a:srgbClr val="3A7D7B">
              <a:alpha val="15000"/>
            </a:srgbClr>
          </a:solidFill>
          <a:ln/>
        </p:spPr>
        <p:txBody>
          <a:bodyPr/>
          <a:p/>
        </p:txBody>
      </p:sp>
      <p:sp>
        <p:nvSpPr>
          <p:cNvPr id="4" name="Text 2"/>
          <p:cNvSpPr/>
          <p:nvPr/>
        </p:nvSpPr>
        <p:spPr>
          <a:xfrm>
            <a:off x="822960" y="1371600"/>
            <a:ext cx="9144000" cy="365760"/>
          </a:xfrm>
          <a:prstGeom prst="rect">
            <a:avLst/>
          </a:prstGeom>
          <a:noFill/>
          <a:ln/>
        </p:spPr>
        <p:txBody>
          <a:bodyPr wrap="square" rtlCol="0" anchor="ctr"/>
          <a:lstStyle/>
          <a:p>
            <a:pPr indent="0" marL="0">
              <a:buNone/>
            </a:pPr>
            <a:r>
              <a:rPr lang="en-US" sz="1400" b="1" spc="300" kern="0" dirty="0">
                <a:solidFill>
                  <a:srgbClr val="D97757"/>
                </a:solidFill>
                <a:latin typeface="Calibri" pitchFamily="34" charset="0"/>
                <a:ea typeface="Calibri" pitchFamily="34" charset="-122"/>
                <a:cs typeface="Calibri" pitchFamily="34" charset="-120"/>
              </a:rPr>
              <a:t>WSQ COURSE  •  TGS-2023036153  •  CHATGPT EDITION</a:t>
            </a:r>
            <a:endParaRPr lang="en-US" sz="1400" dirty="0"/>
          </a:p>
        </p:txBody>
      </p:sp>
      <p:sp>
        <p:nvSpPr>
          <p:cNvPr id="5" name="Text 3"/>
          <p:cNvSpPr/>
          <p:nvPr/>
        </p:nvSpPr>
        <p:spPr>
          <a:xfrm>
            <a:off x="777240" y="1828800"/>
            <a:ext cx="10241280" cy="1920240"/>
          </a:xfrm>
          <a:prstGeom prst="rect">
            <a:avLst/>
          </a:prstGeom>
          <a:noFill/>
          <a:ln/>
        </p:spPr>
        <p:txBody>
          <a:bodyPr wrap="square" rtlCol="0" anchor="ctr"/>
          <a:lstStyle/>
          <a:p>
            <a:pPr indent="0" marL="0">
              <a:lnSpc>
                <a:spcPct val="100000"/>
              </a:lnSpc>
              <a:buNone/>
            </a:pPr>
            <a:r>
              <a:rPr lang="en-US" sz="5200" b="1" dirty="0">
                <a:solidFill>
                  <a:srgbClr val="FFFFFF"/>
                </a:solidFill>
                <a:latin typeface="Cambria" pitchFamily="34" charset="0"/>
                <a:ea typeface="Cambria" pitchFamily="34" charset="-122"/>
                <a:cs typeface="Cambria" pitchFamily="34" charset="-120"/>
              </a:rPr>
              <a:t>Multi AI Agents Workflow</a:t>
            </a:r>
            <a:endParaRPr lang="en-US" sz="5200" dirty="0"/>
          </a:p>
          <a:p>
            <a:pPr indent="0" marL="0">
              <a:lnSpc>
                <a:spcPct val="100000"/>
              </a:lnSpc>
              <a:buNone/>
            </a:pPr>
            <a:r>
              <a:rPr lang="en-US" sz="5200" b="1" dirty="0">
                <a:solidFill>
                  <a:srgbClr val="FFFFFF"/>
                </a:solidFill>
                <a:latin typeface="Cambria" pitchFamily="34" charset="0"/>
                <a:ea typeface="Cambria" pitchFamily="34" charset="-122"/>
                <a:cs typeface="Cambria" pitchFamily="34" charset="-120"/>
              </a:rPr>
              <a:t>for Content Creation</a:t>
            </a:r>
            <a:endParaRPr lang="en-US" sz="5200" dirty="0"/>
          </a:p>
        </p:txBody>
      </p:sp>
      <p:sp>
        <p:nvSpPr>
          <p:cNvPr id="6" name="Text 4"/>
          <p:cNvSpPr/>
          <p:nvPr/>
        </p:nvSpPr>
        <p:spPr>
          <a:xfrm>
            <a:off x="822960" y="5212080"/>
            <a:ext cx="10058400" cy="640080"/>
          </a:xfrm>
          <a:prstGeom prst="rect">
            <a:avLst/>
          </a:prstGeom>
          <a:noFill/>
          <a:ln/>
        </p:spPr>
        <p:txBody>
          <a:bodyPr wrap="square"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Tertiary Infotech Academy Pte Ltd</a:t>
            </a:r>
            <a:endParaRPr lang="en-US" sz="1500" dirty="0"/>
          </a:p>
          <a:p>
            <a:pPr indent="0" marL="0">
              <a:buNone/>
            </a:pPr>
            <a:r>
              <a:rPr lang="en-US" sz="1300" dirty="0">
                <a:solidFill>
                  <a:srgbClr val="B9B4A9"/>
                </a:solidFill>
                <a:latin typeface="Calibri" pitchFamily="34" charset="0"/>
                <a:ea typeface="Calibri" pitchFamily="34" charset="-122"/>
                <a:cs typeface="Calibri" pitchFamily="34" charset="-120"/>
              </a:rPr>
              <a:t>UEN: 201200696W</a:t>
            </a:r>
            <a:endParaRPr lang="en-US" sz="1500" dirty="0"/>
          </a:p>
        </p:txBody>
      </p:sp>
      <p:sp>
        <p:nvSpPr>
          <p:cNvPr id="7" name="Text 5"/>
          <p:cNvSpPr/>
          <p:nvPr/>
        </p:nvSpPr>
        <p:spPr>
          <a:xfrm>
            <a:off x="822960" y="6172200"/>
            <a:ext cx="10515600" cy="320040"/>
          </a:xfrm>
          <a:prstGeom prst="rect">
            <a:avLst/>
          </a:prstGeom>
          <a:noFill/>
          <a:ln/>
        </p:spPr>
        <p:txBody>
          <a:bodyPr wrap="square" rtlCol="0" anchor="ctr"/>
          <a:lstStyle/>
          <a:p>
            <a:pPr indent="0" marL="0">
              <a:buNone/>
            </a:pPr>
            <a:r>
              <a:rPr lang="en-US" sz="1200" dirty="0">
                <a:solidFill>
                  <a:srgbClr val="B9B4A9"/>
                </a:solidFill>
                <a:latin typeface="Calibri" pitchFamily="34" charset="0"/>
                <a:ea typeface="Calibri" pitchFamily="34" charset="-122"/>
                <a:cs typeface="Calibri" pitchFamily="34" charset="-120"/>
              </a:rPr>
              <a:t>www.tertiarycourses.com.sg   |   enquiry@tertiaryinfotech.com   |   +65 6100 0613</a:t>
            </a:r>
            <a:endParaRPr lang="en-US" sz="1200" dirty="0"/>
          </a:p>
        </p:txBody>
      </p:sp>
      <p:sp>
        <p:nvSpPr>
          <p:cNvPr id="8" name="Text 6"/>
          <p:cNvSpPr/>
          <p:nvPr/>
        </p:nvSpPr>
        <p:spPr>
          <a:xfrm>
            <a:off x="8778875" y="1371600"/>
            <a:ext cx="2864180" cy="365760"/>
          </a:xfrm>
          <a:prstGeom prst="rect">
            <a:avLst/>
          </a:prstGeom>
          <a:noFill/>
          <a:ln/>
        </p:spPr>
        <p:txBody>
          <a:bodyPr wrap="square" rtlCol="0" anchor="ctr"/>
          <a:lstStyle/>
          <a:p>
            <a:pPr algn="r" indent="0" marL="0">
              <a:buNone/>
            </a:pPr>
            <a:r>
              <a:rPr lang="en-US" sz="1300" dirty="0">
                <a:solidFill>
                  <a:srgbClr val="B9B4A9"/>
                </a:solidFill>
                <a:latin typeface="Calibri" pitchFamily="34" charset="0"/>
                <a:ea typeface="Calibri" pitchFamily="34" charset="-122"/>
                <a:cs typeface="Calibri" pitchFamily="34" charset="-120"/>
              </a:rPr>
              <a:t>Version 3.5  ·  10 Oct 2026</a:t>
            </a:r>
            <a:endParaRPr lang="en-US" sz="1300" dirty="0"/>
          </a:p>
        </p:txBody>
      </p:sp>
      <p:sp>
        <p:nvSpPr>
          <p:cNvPr id="9" name="Text 7"/>
          <p:cNvSpPr/>
          <p:nvPr/>
        </p:nvSpPr>
        <p:spPr>
          <a:xfrm>
            <a:off x="7162495" y="6355080"/>
            <a:ext cx="4572000" cy="274320"/>
          </a:xfrm>
          <a:prstGeom prst="rect">
            <a:avLst/>
          </a:prstGeom>
          <a:noFill/>
          <a:ln/>
        </p:spPr>
        <p:txBody>
          <a:bodyPr wrap="square" rtlCol="0" anchor="ctr"/>
          <a:lstStyle/>
          <a:p>
            <a:pPr algn="r" indent="0" marL="0">
              <a:buNone/>
            </a:pPr>
            <a:r>
              <a:rPr lang="en-US" sz="900" dirty="0">
                <a:solidFill>
                  <a:srgbClr val="8A867D"/>
                </a:solidFill>
                <a:latin typeface="Calibri" pitchFamily="34" charset="0"/>
                <a:ea typeface="Calibri" pitchFamily="34" charset="-122"/>
                <a:cs typeface="Calibri" pitchFamily="34" charset="-120"/>
              </a:rPr>
              <a:t>© Tertiary Infotech Academy Pte Ltd</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Digital Attendance</a:t>
            </a:r>
            <a:endParaRPr lang="en-US" sz="3000" dirty="0"/>
          </a:p>
        </p:txBody>
      </p:sp>
      <p:sp>
        <p:nvSpPr>
          <p:cNvPr id="4" name="Shape 2"/>
          <p:cNvSpPr/>
          <p:nvPr/>
        </p:nvSpPr>
        <p:spPr>
          <a:xfrm>
            <a:off x="548640" y="18288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5" name="Image 0" descr="preencoded.png">    </p:cNvPr>
          <p:cNvPicPr>
            <a:picLocks noChangeAspect="1"/>
          </p:cNvPicPr>
          <p:nvPr/>
        </p:nvPicPr>
        <p:blipFill>
          <a:blip r:embed="rId1"/>
          <a:stretch>
            <a:fillRect/>
          </a:stretch>
        </p:blipFill>
        <p:spPr>
          <a:xfrm>
            <a:off x="685800" y="1965960"/>
            <a:ext cx="292608" cy="292608"/>
          </a:xfrm>
          <a:prstGeom prst="rect">
            <a:avLst/>
          </a:prstGeom>
        </p:spPr>
      </p:pic>
      <p:sp>
        <p:nvSpPr>
          <p:cNvPr id="6" name="Text 3"/>
          <p:cNvSpPr/>
          <p:nvPr/>
        </p:nvSpPr>
        <p:spPr>
          <a:xfrm>
            <a:off x="1371600" y="1874520"/>
            <a:ext cx="6583680" cy="1828800"/>
          </a:xfrm>
          <a:prstGeom prst="rect">
            <a:avLst/>
          </a:prstGeom>
          <a:noFill/>
          <a:ln/>
        </p:spPr>
        <p:txBody>
          <a:bodyPr wrap="square" rtlCol="0" anchor="ctr"/>
          <a:lstStyle/>
          <a:p>
            <a:pPr indent="0" marL="0">
              <a:spcAft>
                <a:spcPts val="1000"/>
              </a:spcAft>
              <a:buNone/>
            </a:pPr>
            <a:r>
              <a:rPr lang="en-US" sz="1700" b="1" dirty="0">
                <a:solidFill>
                  <a:srgbClr val="21201C"/>
                </a:solidFill>
                <a:latin typeface="Calibri" pitchFamily="34" charset="0"/>
                <a:ea typeface="Calibri" pitchFamily="34" charset="-122"/>
                <a:cs typeface="Calibri" pitchFamily="34" charset="-120"/>
              </a:rPr>
              <a:t>Attendance is mandatory for SSG funding.</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Take AM, PM and Assessment digital attendance for every session.</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Use the SSG / TMS QR code provided by your trainer.</a:t>
            </a:r>
            <a:endParaRPr lang="en-US" sz="1700" dirty="0"/>
          </a:p>
        </p:txBody>
      </p:sp>
      <p:sp>
        <p:nvSpPr>
          <p:cNvPr id="7" name="Shape 4"/>
          <p:cNvSpPr/>
          <p:nvPr/>
        </p:nvSpPr>
        <p:spPr>
          <a:xfrm>
            <a:off x="8229600" y="1828800"/>
            <a:ext cx="3383280" cy="2926080"/>
          </a:xfrm>
          <a:prstGeom prst="roundRect">
            <a:avLst>
              <a:gd name="adj" fmla="val 3125"/>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8" name="Text 5"/>
          <p:cNvSpPr/>
          <p:nvPr/>
        </p:nvSpPr>
        <p:spPr>
          <a:xfrm>
            <a:off x="8229600" y="2377440"/>
            <a:ext cx="3383280" cy="1828800"/>
          </a:xfrm>
          <a:prstGeom prst="rect">
            <a:avLst/>
          </a:prstGeom>
          <a:noFill/>
          <a:ln/>
        </p:spPr>
        <p:txBody>
          <a:bodyPr wrap="square" rtlCol="0" anchor="ctr"/>
          <a:lstStyle/>
          <a:p>
            <a:pPr algn="ctr" indent="0" marL="0">
              <a:buNone/>
            </a:pPr>
            <a:r>
              <a:rPr lang="en-US" sz="3000" b="1" dirty="0">
                <a:solidFill>
                  <a:srgbClr val="D97757"/>
                </a:solidFill>
                <a:latin typeface="Cambria" pitchFamily="34" charset="0"/>
                <a:ea typeface="Cambria" pitchFamily="34" charset="-122"/>
                <a:cs typeface="Cambria" pitchFamily="34" charset="-120"/>
              </a:rPr>
              <a:t>Minimum</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75%</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attendance required</a:t>
            </a:r>
            <a:endParaRPr lang="en-US" sz="3000" dirty="0"/>
          </a:p>
        </p:txBody>
      </p:sp>
      <p:sp>
        <p:nvSpPr>
          <p:cNvPr id="9" name="Text 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0" name="Text 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1" name="Text 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INTRODUCTION</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About the Trainer</a:t>
            </a:r>
            <a:endParaRPr lang="en-US" sz="3000" dirty="0"/>
          </a:p>
        </p:txBody>
      </p:sp>
      <p:sp>
        <p:nvSpPr>
          <p:cNvPr id="4" name="Shape 2"/>
          <p:cNvSpPr/>
          <p:nvPr/>
        </p:nvSpPr>
        <p:spPr>
          <a:xfrm>
            <a:off x="548640" y="1737360"/>
            <a:ext cx="3291840" cy="3291840"/>
          </a:xfrm>
          <a:prstGeom prst="roundRect">
            <a:avLst>
              <a:gd name="adj" fmla="val 333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1874520" y="2103120"/>
            <a:ext cx="640080" cy="64008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2029968" y="2258568"/>
            <a:ext cx="329184" cy="329184"/>
          </a:xfrm>
          <a:prstGeom prst="rect">
            <a:avLst/>
          </a:prstGeom>
        </p:spPr>
      </p:pic>
      <p:sp>
        <p:nvSpPr>
          <p:cNvPr id="7" name="Text 4"/>
          <p:cNvSpPr/>
          <p:nvPr/>
        </p:nvSpPr>
        <p:spPr>
          <a:xfrm>
            <a:off x="548640" y="2926080"/>
            <a:ext cx="3291840" cy="54864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 Trainer Name ]</a:t>
            </a:r>
            <a:endParaRPr lang="en-US" sz="2000" dirty="0"/>
          </a:p>
        </p:txBody>
      </p:sp>
      <p:sp>
        <p:nvSpPr>
          <p:cNvPr id="8" name="Text 5"/>
          <p:cNvSpPr/>
          <p:nvPr/>
        </p:nvSpPr>
        <p:spPr>
          <a:xfrm>
            <a:off x="548640" y="3429000"/>
            <a:ext cx="3291840" cy="365760"/>
          </a:xfrm>
          <a:prstGeom prst="rect">
            <a:avLst/>
          </a:prstGeom>
          <a:noFill/>
          <a:ln/>
        </p:spPr>
        <p:txBody>
          <a:bodyPr wrap="square" rtlCol="0" anchor="ctr"/>
          <a:lstStyle/>
          <a:p>
            <a:pPr algn="ctr" indent="0" marL="0">
              <a:buNone/>
            </a:pPr>
            <a:r>
              <a:rPr lang="en-US" sz="1300" dirty="0">
                <a:solidFill>
                  <a:srgbClr val="D97757"/>
                </a:solidFill>
                <a:latin typeface="Calibri" pitchFamily="34" charset="0"/>
                <a:ea typeface="Calibri" pitchFamily="34" charset="-122"/>
                <a:cs typeface="Calibri" pitchFamily="34" charset="-120"/>
              </a:rPr>
              <a:t>[ Title / Role ]</a:t>
            </a:r>
            <a:endParaRPr lang="en-US" sz="1300" dirty="0"/>
          </a:p>
        </p:txBody>
      </p:sp>
      <p:sp>
        <p:nvSpPr>
          <p:cNvPr id="9" name="Shape 6"/>
          <p:cNvSpPr/>
          <p:nvPr/>
        </p:nvSpPr>
        <p:spPr>
          <a:xfrm>
            <a:off x="4206240" y="1828800"/>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2"/>
          <a:stretch>
            <a:fillRect/>
          </a:stretch>
        </p:blipFill>
        <p:spPr>
          <a:xfrm>
            <a:off x="4329684" y="1952244"/>
            <a:ext cx="256032" cy="256032"/>
          </a:xfrm>
          <a:prstGeom prst="rect">
            <a:avLst/>
          </a:prstGeom>
        </p:spPr>
      </p:pic>
      <p:sp>
        <p:nvSpPr>
          <p:cNvPr id="11" name="Text 7"/>
          <p:cNvSpPr/>
          <p:nvPr/>
        </p:nvSpPr>
        <p:spPr>
          <a:xfrm>
            <a:off x="4892040" y="1783080"/>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Qualifications:  ____________________________________________</a:t>
            </a:r>
            <a:endParaRPr lang="en-US" sz="1400" dirty="0"/>
          </a:p>
        </p:txBody>
      </p:sp>
      <p:sp>
        <p:nvSpPr>
          <p:cNvPr id="12" name="Shape 8"/>
          <p:cNvSpPr/>
          <p:nvPr/>
        </p:nvSpPr>
        <p:spPr>
          <a:xfrm>
            <a:off x="4206240" y="2670048"/>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3" name="Image 2" descr="preencoded.png">    </p:cNvPr>
          <p:cNvPicPr>
            <a:picLocks noChangeAspect="1"/>
          </p:cNvPicPr>
          <p:nvPr/>
        </p:nvPicPr>
        <p:blipFill>
          <a:blip r:embed="rId3"/>
          <a:stretch>
            <a:fillRect/>
          </a:stretch>
        </p:blipFill>
        <p:spPr>
          <a:xfrm>
            <a:off x="4329684" y="2793492"/>
            <a:ext cx="256032" cy="256032"/>
          </a:xfrm>
          <a:prstGeom prst="rect">
            <a:avLst/>
          </a:prstGeom>
        </p:spPr>
      </p:pic>
      <p:sp>
        <p:nvSpPr>
          <p:cNvPr id="14" name="Text 9"/>
          <p:cNvSpPr/>
          <p:nvPr/>
        </p:nvSpPr>
        <p:spPr>
          <a:xfrm>
            <a:off x="4892040" y="2624328"/>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Expertise:  _________________________________________________</a:t>
            </a:r>
            <a:endParaRPr lang="en-US" sz="1400" dirty="0"/>
          </a:p>
        </p:txBody>
      </p:sp>
      <p:sp>
        <p:nvSpPr>
          <p:cNvPr id="15" name="Shape 10"/>
          <p:cNvSpPr/>
          <p:nvPr/>
        </p:nvSpPr>
        <p:spPr>
          <a:xfrm>
            <a:off x="4206240" y="3511296"/>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6" name="Image 3" descr="preencoded.png">    </p:cNvPr>
          <p:cNvPicPr>
            <a:picLocks noChangeAspect="1"/>
          </p:cNvPicPr>
          <p:nvPr/>
        </p:nvPicPr>
        <p:blipFill>
          <a:blip r:embed="rId4"/>
          <a:stretch>
            <a:fillRect/>
          </a:stretch>
        </p:blipFill>
        <p:spPr>
          <a:xfrm>
            <a:off x="4329684" y="3634740"/>
            <a:ext cx="256032" cy="256032"/>
          </a:xfrm>
          <a:prstGeom prst="rect">
            <a:avLst/>
          </a:prstGeom>
        </p:spPr>
      </p:pic>
      <p:sp>
        <p:nvSpPr>
          <p:cNvPr id="17" name="Text 11"/>
          <p:cNvSpPr/>
          <p:nvPr/>
        </p:nvSpPr>
        <p:spPr>
          <a:xfrm>
            <a:off x="4892040" y="3465576"/>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Experience:  ________________________________________________</a:t>
            </a:r>
            <a:endParaRPr lang="en-US" sz="1400" dirty="0"/>
          </a:p>
        </p:txBody>
      </p:sp>
      <p:sp>
        <p:nvSpPr>
          <p:cNvPr id="18" name="Shape 12"/>
          <p:cNvSpPr/>
          <p:nvPr/>
        </p:nvSpPr>
        <p:spPr>
          <a:xfrm>
            <a:off x="4206240" y="4352544"/>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9" name="Image 4" descr="preencoded.png">    </p:cNvPr>
          <p:cNvPicPr>
            <a:picLocks noChangeAspect="1"/>
          </p:cNvPicPr>
          <p:nvPr/>
        </p:nvPicPr>
        <p:blipFill>
          <a:blip r:embed="rId5"/>
          <a:stretch>
            <a:fillRect/>
          </a:stretch>
        </p:blipFill>
        <p:spPr>
          <a:xfrm>
            <a:off x="4329684" y="4475988"/>
            <a:ext cx="256032" cy="256032"/>
          </a:xfrm>
          <a:prstGeom prst="rect">
            <a:avLst/>
          </a:prstGeom>
        </p:spPr>
      </p:pic>
      <p:sp>
        <p:nvSpPr>
          <p:cNvPr id="20" name="Text 13"/>
          <p:cNvSpPr/>
          <p:nvPr/>
        </p:nvSpPr>
        <p:spPr>
          <a:xfrm>
            <a:off x="4892040" y="4306824"/>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Contact / Profile:  __________________________________________</a:t>
            </a:r>
            <a:endParaRPr lang="en-US" sz="1400" dirty="0"/>
          </a:p>
        </p:txBody>
      </p:sp>
      <p:sp>
        <p:nvSpPr>
          <p:cNvPr id="21" name="Text 14"/>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22" name="Text 15"/>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23" name="Text 16"/>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INTRODUCTION</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About the Trainer</a:t>
            </a:r>
            <a:endParaRPr lang="en-US" sz="3000" dirty="0"/>
          </a:p>
        </p:txBody>
      </p:sp>
      <p:sp>
        <p:nvSpPr>
          <p:cNvPr id="4" name="Shape 2"/>
          <p:cNvSpPr/>
          <p:nvPr/>
        </p:nvSpPr>
        <p:spPr>
          <a:xfrm>
            <a:off x="548640" y="1737360"/>
            <a:ext cx="3291840" cy="3291840"/>
          </a:xfrm>
          <a:prstGeom prst="roundRect">
            <a:avLst>
              <a:gd name="adj" fmla="val 333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1874520" y="2103120"/>
            <a:ext cx="640080" cy="64008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2029968" y="2258568"/>
            <a:ext cx="329184" cy="329184"/>
          </a:xfrm>
          <a:prstGeom prst="rect">
            <a:avLst/>
          </a:prstGeom>
        </p:spPr>
      </p:pic>
      <p:sp>
        <p:nvSpPr>
          <p:cNvPr id="7" name="Text 4"/>
          <p:cNvSpPr/>
          <p:nvPr/>
        </p:nvSpPr>
        <p:spPr>
          <a:xfrm>
            <a:off x="548640" y="2926080"/>
            <a:ext cx="3291840" cy="548640"/>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Dr. Alfred Ang</a:t>
            </a:r>
            <a:endParaRPr lang="en-US" sz="2200" dirty="0"/>
          </a:p>
        </p:txBody>
      </p:sp>
      <p:sp>
        <p:nvSpPr>
          <p:cNvPr id="8" name="Text 5"/>
          <p:cNvSpPr/>
          <p:nvPr/>
        </p:nvSpPr>
        <p:spPr>
          <a:xfrm>
            <a:off x="548640" y="3429000"/>
            <a:ext cx="3291840" cy="365760"/>
          </a:xfrm>
          <a:prstGeom prst="rect">
            <a:avLst/>
          </a:prstGeom>
          <a:noFill/>
          <a:ln/>
        </p:spPr>
        <p:txBody>
          <a:bodyPr wrap="square" rtlCol="0" anchor="ctr"/>
          <a:lstStyle/>
          <a:p>
            <a:pPr algn="ctr" indent="0" marL="0">
              <a:buNone/>
            </a:pPr>
            <a:r>
              <a:rPr lang="en-US" sz="1300" dirty="0">
                <a:solidFill>
                  <a:srgbClr val="D97757"/>
                </a:solidFill>
                <a:latin typeface="Calibri" pitchFamily="34" charset="0"/>
                <a:ea typeface="Calibri" pitchFamily="34" charset="-122"/>
                <a:cs typeface="Calibri" pitchFamily="34" charset="-120"/>
              </a:rPr>
              <a:t>AI Trainer &amp; Engineer</a:t>
            </a:r>
            <a:endParaRPr lang="en-US" sz="1300" dirty="0"/>
          </a:p>
        </p:txBody>
      </p:sp>
      <p:sp>
        <p:nvSpPr>
          <p:cNvPr id="9" name="Shape 6"/>
          <p:cNvSpPr/>
          <p:nvPr/>
        </p:nvSpPr>
        <p:spPr>
          <a:xfrm>
            <a:off x="4206240" y="1828800"/>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2"/>
          <a:stretch>
            <a:fillRect/>
          </a:stretch>
        </p:blipFill>
        <p:spPr>
          <a:xfrm>
            <a:off x="4329684" y="1952244"/>
            <a:ext cx="256032" cy="256032"/>
          </a:xfrm>
          <a:prstGeom prst="rect">
            <a:avLst/>
          </a:prstGeom>
        </p:spPr>
      </p:pic>
      <p:sp>
        <p:nvSpPr>
          <p:cNvPr id="11" name="Text 7"/>
          <p:cNvSpPr/>
          <p:nvPr/>
        </p:nvSpPr>
        <p:spPr>
          <a:xfrm>
            <a:off x="4892040" y="1783080"/>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PhD-qualified trainer specialising in AI, software engineering and developer tooling.</a:t>
            </a:r>
            <a:endParaRPr lang="en-US" sz="1500" dirty="0"/>
          </a:p>
        </p:txBody>
      </p:sp>
      <p:sp>
        <p:nvSpPr>
          <p:cNvPr id="12" name="Shape 8"/>
          <p:cNvSpPr/>
          <p:nvPr/>
        </p:nvSpPr>
        <p:spPr>
          <a:xfrm>
            <a:off x="4206240" y="2633472"/>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3" name="Image 2" descr="preencoded.png">    </p:cNvPr>
          <p:cNvPicPr>
            <a:picLocks noChangeAspect="1"/>
          </p:cNvPicPr>
          <p:nvPr/>
        </p:nvPicPr>
        <p:blipFill>
          <a:blip r:embed="rId3"/>
          <a:stretch>
            <a:fillRect/>
          </a:stretch>
        </p:blipFill>
        <p:spPr>
          <a:xfrm>
            <a:off x="4329684" y="2756916"/>
            <a:ext cx="256032" cy="256032"/>
          </a:xfrm>
          <a:prstGeom prst="rect">
            <a:avLst/>
          </a:prstGeom>
        </p:spPr>
      </p:pic>
      <p:sp>
        <p:nvSpPr>
          <p:cNvPr id="14" name="Text 9"/>
          <p:cNvSpPr/>
          <p:nvPr/>
        </p:nvSpPr>
        <p:spPr>
          <a:xfrm>
            <a:off x="4892040" y="2587752"/>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Builds AI marketing teams of agents with ChatGPT and Codex.</a:t>
            </a:r>
            <a:endParaRPr lang="en-US" sz="1500" dirty="0"/>
          </a:p>
        </p:txBody>
      </p:sp>
      <p:sp>
        <p:nvSpPr>
          <p:cNvPr id="15" name="Shape 10"/>
          <p:cNvSpPr/>
          <p:nvPr/>
        </p:nvSpPr>
        <p:spPr>
          <a:xfrm>
            <a:off x="4206240" y="3438144"/>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6" name="Image 3" descr="preencoded.png">    </p:cNvPr>
          <p:cNvPicPr>
            <a:picLocks noChangeAspect="1"/>
          </p:cNvPicPr>
          <p:nvPr/>
        </p:nvPicPr>
        <p:blipFill>
          <a:blip r:embed="rId4"/>
          <a:stretch>
            <a:fillRect/>
          </a:stretch>
        </p:blipFill>
        <p:spPr>
          <a:xfrm>
            <a:off x="4329684" y="3561588"/>
            <a:ext cx="256032" cy="256032"/>
          </a:xfrm>
          <a:prstGeom prst="rect">
            <a:avLst/>
          </a:prstGeom>
        </p:spPr>
      </p:pic>
      <p:sp>
        <p:nvSpPr>
          <p:cNvPr id="17" name="Text 11"/>
          <p:cNvSpPr/>
          <p:nvPr/>
        </p:nvSpPr>
        <p:spPr>
          <a:xfrm>
            <a:off x="4892040" y="3392424"/>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Trains professionals across Singapore on practical, project-based AI skills.</a:t>
            </a:r>
            <a:endParaRPr lang="en-US" sz="1500" dirty="0"/>
          </a:p>
        </p:txBody>
      </p:sp>
      <p:sp>
        <p:nvSpPr>
          <p:cNvPr id="18" name="Shape 12"/>
          <p:cNvSpPr/>
          <p:nvPr/>
        </p:nvSpPr>
        <p:spPr>
          <a:xfrm>
            <a:off x="4206240" y="4242816"/>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9" name="Image 4" descr="preencoded.png">    </p:cNvPr>
          <p:cNvPicPr>
            <a:picLocks noChangeAspect="1"/>
          </p:cNvPicPr>
          <p:nvPr/>
        </p:nvPicPr>
        <p:blipFill>
          <a:blip r:embed="rId5"/>
          <a:stretch>
            <a:fillRect/>
          </a:stretch>
        </p:blipFill>
        <p:spPr>
          <a:xfrm>
            <a:off x="4329684" y="4366260"/>
            <a:ext cx="256032" cy="256032"/>
          </a:xfrm>
          <a:prstGeom prst="rect">
            <a:avLst/>
          </a:prstGeom>
        </p:spPr>
      </p:pic>
      <p:sp>
        <p:nvSpPr>
          <p:cNvPr id="20" name="Text 13"/>
          <p:cNvSpPr/>
          <p:nvPr/>
        </p:nvSpPr>
        <p:spPr>
          <a:xfrm>
            <a:off x="4892040" y="4197096"/>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Certifications: PMP, AWS, Microsoft, CompTIA, CKA, CKAD.</a:t>
            </a:r>
            <a:endParaRPr lang="en-US" sz="1500" dirty="0"/>
          </a:p>
        </p:txBody>
      </p:sp>
      <p:sp>
        <p:nvSpPr>
          <p:cNvPr id="21" name="Shape 14"/>
          <p:cNvSpPr/>
          <p:nvPr/>
        </p:nvSpPr>
        <p:spPr>
          <a:xfrm>
            <a:off x="4206240" y="5093208"/>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2" name="Image 5" descr="preencoded.png">    </p:cNvPr>
          <p:cNvPicPr>
            <a:picLocks noChangeAspect="1"/>
          </p:cNvPicPr>
          <p:nvPr/>
        </p:nvPicPr>
        <p:blipFill>
          <a:blip r:embed="rId6"/>
          <a:stretch>
            <a:fillRect/>
          </a:stretch>
        </p:blipFill>
        <p:spPr>
          <a:xfrm>
            <a:off x="4320540" y="5207508"/>
            <a:ext cx="274320" cy="274320"/>
          </a:xfrm>
          <a:prstGeom prst="rect">
            <a:avLst/>
          </a:prstGeom>
        </p:spPr>
      </p:pic>
      <p:sp>
        <p:nvSpPr>
          <p:cNvPr id="23" name="Text 15">
            <a:hlinkClick r:id="rId7" tooltip=""/>
          </p:cNvPr>
          <p:cNvSpPr/>
          <p:nvPr/>
        </p:nvSpPr>
        <p:spPr>
          <a:xfrm>
            <a:off x="4892040" y="5047488"/>
            <a:ext cx="6766560" cy="548640"/>
          </a:xfrm>
          <a:prstGeom prst="rect">
            <a:avLst/>
          </a:prstGeom>
          <a:noFill/>
          <a:ln/>
        </p:spPr>
        <p:txBody>
          <a:bodyPr wrap="square" rtlCol="0" anchor="ctr"/>
          <a:lstStyle/>
          <a:p>
            <a:pPr indent="0" marL="0">
              <a:buNone/>
            </a:pPr>
            <a:r>
              <a:rPr lang="en-US" sz="1500" u="sng" dirty="0">
                <a:solidFill>
                  <a:srgbClr val="21201C"/>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linkedin.com/in/angchewhoe</a:t>
            </a:r>
            <a:endParaRPr lang="en-US" sz="1500" dirty="0"/>
          </a:p>
        </p:txBody>
      </p:sp>
      <p:sp>
        <p:nvSpPr>
          <p:cNvPr id="24" name="Shape 16"/>
          <p:cNvSpPr/>
          <p:nvPr/>
        </p:nvSpPr>
        <p:spPr>
          <a:xfrm>
            <a:off x="8229600" y="5093208"/>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5" name="Image 6" descr="preencoded.png">    </p:cNvPr>
          <p:cNvPicPr>
            <a:picLocks noChangeAspect="1"/>
          </p:cNvPicPr>
          <p:nvPr/>
        </p:nvPicPr>
        <p:blipFill>
          <a:blip r:embed="rId8"/>
          <a:stretch>
            <a:fillRect/>
          </a:stretch>
        </p:blipFill>
        <p:spPr>
          <a:xfrm>
            <a:off x="8343900" y="5207508"/>
            <a:ext cx="274320" cy="274320"/>
          </a:xfrm>
          <a:prstGeom prst="rect">
            <a:avLst/>
          </a:prstGeom>
        </p:spPr>
      </p:pic>
      <p:sp>
        <p:nvSpPr>
          <p:cNvPr id="26" name="Text 17">
            <a:hlinkClick r:id="rId9" tooltip=""/>
          </p:cNvPr>
          <p:cNvSpPr/>
          <p:nvPr/>
        </p:nvSpPr>
        <p:spPr>
          <a:xfrm>
            <a:off x="8915400" y="5047488"/>
            <a:ext cx="2743200" cy="548640"/>
          </a:xfrm>
          <a:prstGeom prst="rect">
            <a:avLst/>
          </a:prstGeom>
          <a:noFill/>
          <a:ln/>
        </p:spPr>
        <p:txBody>
          <a:bodyPr wrap="square" rtlCol="0" anchor="ctr"/>
          <a:lstStyle/>
          <a:p>
            <a:pPr indent="0" marL="0">
              <a:buNone/>
            </a:pPr>
            <a:r>
              <a:rPr lang="en-US" sz="1500" u="sng" dirty="0">
                <a:solidFill>
                  <a:srgbClr val="21201C"/>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github.com/alfredang</a:t>
            </a:r>
            <a:endParaRPr lang="en-US" sz="1500" dirty="0"/>
          </a:p>
        </p:txBody>
      </p:sp>
      <p:sp>
        <p:nvSpPr>
          <p:cNvPr id="27" name="Text 18"/>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28" name="Text 19"/>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29" name="Text 20"/>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9692640" y="-1280160"/>
            <a:ext cx="4206240" cy="4206240"/>
          </a:xfrm>
          <a:prstGeom prst="ellipse">
            <a:avLst/>
          </a:prstGeom>
          <a:solidFill>
            <a:srgbClr val="D97757">
              <a:alpha val="17000"/>
            </a:srgbClr>
          </a:solidFill>
          <a:ln/>
        </p:spPr>
        <p:txBody>
          <a:bodyPr/>
          <a:p/>
        </p:txBody>
      </p:sp>
      <p:sp>
        <p:nvSpPr>
          <p:cNvPr id="3" name="Text 1"/>
          <p:cNvSpPr/>
          <p:nvPr/>
        </p:nvSpPr>
        <p:spPr>
          <a:xfrm>
            <a:off x="822960" y="1463040"/>
            <a:ext cx="10058400" cy="365760"/>
          </a:xfrm>
          <a:prstGeom prst="rect">
            <a:avLst/>
          </a:prstGeom>
          <a:noFill/>
          <a:ln/>
        </p:spPr>
        <p:txBody>
          <a:bodyPr wrap="square" rtlCol="0" anchor="ctr"/>
          <a:lstStyle/>
          <a:p>
            <a:pPr indent="0" marL="0">
              <a:buNone/>
            </a:pPr>
            <a:r>
              <a:rPr lang="en-US" sz="1400" b="1" spc="300" kern="0" dirty="0">
                <a:solidFill>
                  <a:srgbClr val="D97757"/>
                </a:solidFill>
                <a:latin typeface="Calibri" pitchFamily="34" charset="0"/>
                <a:ea typeface="Calibri" pitchFamily="34" charset="-122"/>
                <a:cs typeface="Calibri" pitchFamily="34" charset="-120"/>
              </a:rPr>
              <a:t>INTRODUCTION</a:t>
            </a:r>
            <a:endParaRPr lang="en-US" sz="1400" dirty="0"/>
          </a:p>
        </p:txBody>
      </p:sp>
      <p:sp>
        <p:nvSpPr>
          <p:cNvPr id="4" name="Text 2"/>
          <p:cNvSpPr/>
          <p:nvPr/>
        </p:nvSpPr>
        <p:spPr>
          <a:xfrm>
            <a:off x="777240" y="1874520"/>
            <a:ext cx="10058400" cy="91440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Let's Know Each Other</a:t>
            </a:r>
            <a:endParaRPr lang="en-US" sz="4000" dirty="0"/>
          </a:p>
        </p:txBody>
      </p:sp>
      <p:sp>
        <p:nvSpPr>
          <p:cNvPr id="5" name="Text 3"/>
          <p:cNvSpPr/>
          <p:nvPr/>
        </p:nvSpPr>
        <p:spPr>
          <a:xfrm>
            <a:off x="822960" y="2926080"/>
            <a:ext cx="10058400" cy="457200"/>
          </a:xfrm>
          <a:prstGeom prst="rect">
            <a:avLst/>
          </a:prstGeom>
          <a:noFill/>
          <a:ln/>
        </p:spPr>
        <p:txBody>
          <a:bodyPr wrap="square" rtlCol="0" anchor="ctr"/>
          <a:lstStyle/>
          <a:p>
            <a:pPr indent="0" marL="0">
              <a:buNone/>
            </a:pPr>
            <a:r>
              <a:rPr lang="en-US" sz="1700" dirty="0">
                <a:solidFill>
                  <a:srgbClr val="C9C4B9"/>
                </a:solidFill>
                <a:latin typeface="Calibri" pitchFamily="34" charset="0"/>
                <a:ea typeface="Calibri" pitchFamily="34" charset="-122"/>
                <a:cs typeface="Calibri" pitchFamily="34" charset="-120"/>
              </a:rPr>
              <a:t>Take a minute to introduce yourself to the class:</a:t>
            </a:r>
            <a:endParaRPr lang="en-US" sz="1700" dirty="0"/>
          </a:p>
        </p:txBody>
      </p:sp>
      <p:sp>
        <p:nvSpPr>
          <p:cNvPr id="6" name="Shape 4"/>
          <p:cNvSpPr/>
          <p:nvPr/>
        </p:nvSpPr>
        <p:spPr>
          <a:xfrm>
            <a:off x="822960"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7" name="Shape 5"/>
          <p:cNvSpPr/>
          <p:nvPr/>
        </p:nvSpPr>
        <p:spPr>
          <a:xfrm>
            <a:off x="1851660"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8" name="Image 0" descr="preencoded.png">    </p:cNvPr>
          <p:cNvPicPr>
            <a:picLocks noChangeAspect="1"/>
          </p:cNvPicPr>
          <p:nvPr/>
        </p:nvPicPr>
        <p:blipFill>
          <a:blip r:embed="rId1"/>
          <a:stretch>
            <a:fillRect/>
          </a:stretch>
        </p:blipFill>
        <p:spPr>
          <a:xfrm>
            <a:off x="1988820" y="4023360"/>
            <a:ext cx="274320" cy="274320"/>
          </a:xfrm>
          <a:prstGeom prst="rect">
            <a:avLst/>
          </a:prstGeom>
        </p:spPr>
      </p:pic>
      <p:sp>
        <p:nvSpPr>
          <p:cNvPr id="9" name="Text 6"/>
          <p:cNvSpPr/>
          <p:nvPr/>
        </p:nvSpPr>
        <p:spPr>
          <a:xfrm>
            <a:off x="960120"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Your name &amp; role</a:t>
            </a:r>
            <a:endParaRPr lang="en-US" sz="1400" dirty="0"/>
          </a:p>
        </p:txBody>
      </p:sp>
      <p:sp>
        <p:nvSpPr>
          <p:cNvPr id="10" name="Shape 7"/>
          <p:cNvSpPr/>
          <p:nvPr/>
        </p:nvSpPr>
        <p:spPr>
          <a:xfrm>
            <a:off x="3593592"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11" name="Shape 8"/>
          <p:cNvSpPr/>
          <p:nvPr/>
        </p:nvSpPr>
        <p:spPr>
          <a:xfrm>
            <a:off x="4622292"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2" name="Image 1" descr="preencoded.png">    </p:cNvPr>
          <p:cNvPicPr>
            <a:picLocks noChangeAspect="1"/>
          </p:cNvPicPr>
          <p:nvPr/>
        </p:nvPicPr>
        <p:blipFill>
          <a:blip r:embed="rId2"/>
          <a:stretch>
            <a:fillRect/>
          </a:stretch>
        </p:blipFill>
        <p:spPr>
          <a:xfrm>
            <a:off x="4759452" y="4023360"/>
            <a:ext cx="274320" cy="274320"/>
          </a:xfrm>
          <a:prstGeom prst="rect">
            <a:avLst/>
          </a:prstGeom>
        </p:spPr>
      </p:pic>
      <p:sp>
        <p:nvSpPr>
          <p:cNvPr id="13" name="Text 9"/>
          <p:cNvSpPr/>
          <p:nvPr/>
        </p:nvSpPr>
        <p:spPr>
          <a:xfrm>
            <a:off x="3730752"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What you do day to day</a:t>
            </a:r>
            <a:endParaRPr lang="en-US" sz="1400" dirty="0"/>
          </a:p>
        </p:txBody>
      </p:sp>
      <p:sp>
        <p:nvSpPr>
          <p:cNvPr id="14" name="Shape 10"/>
          <p:cNvSpPr/>
          <p:nvPr/>
        </p:nvSpPr>
        <p:spPr>
          <a:xfrm>
            <a:off x="6364224"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15" name="Shape 11"/>
          <p:cNvSpPr/>
          <p:nvPr/>
        </p:nvSpPr>
        <p:spPr>
          <a:xfrm>
            <a:off x="7392924"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6" name="Image 2" descr="preencoded.png">    </p:cNvPr>
          <p:cNvPicPr>
            <a:picLocks noChangeAspect="1"/>
          </p:cNvPicPr>
          <p:nvPr/>
        </p:nvPicPr>
        <p:blipFill>
          <a:blip r:embed="rId3"/>
          <a:stretch>
            <a:fillRect/>
          </a:stretch>
        </p:blipFill>
        <p:spPr>
          <a:xfrm>
            <a:off x="7530084" y="4023360"/>
            <a:ext cx="274320" cy="274320"/>
          </a:xfrm>
          <a:prstGeom prst="rect">
            <a:avLst/>
          </a:prstGeom>
        </p:spPr>
      </p:pic>
      <p:sp>
        <p:nvSpPr>
          <p:cNvPr id="17" name="Text 12"/>
          <p:cNvSpPr/>
          <p:nvPr/>
        </p:nvSpPr>
        <p:spPr>
          <a:xfrm>
            <a:off x="6501384"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Your content work today</a:t>
            </a:r>
            <a:endParaRPr lang="en-US" sz="1400" dirty="0"/>
          </a:p>
        </p:txBody>
      </p:sp>
      <p:sp>
        <p:nvSpPr>
          <p:cNvPr id="18" name="Shape 13"/>
          <p:cNvSpPr/>
          <p:nvPr/>
        </p:nvSpPr>
        <p:spPr>
          <a:xfrm>
            <a:off x="9134856"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19" name="Shape 14"/>
          <p:cNvSpPr/>
          <p:nvPr/>
        </p:nvSpPr>
        <p:spPr>
          <a:xfrm>
            <a:off x="10163556"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0" name="Image 3" descr="preencoded.png">    </p:cNvPr>
          <p:cNvPicPr>
            <a:picLocks noChangeAspect="1"/>
          </p:cNvPicPr>
          <p:nvPr/>
        </p:nvPicPr>
        <p:blipFill>
          <a:blip r:embed="rId4"/>
          <a:stretch>
            <a:fillRect/>
          </a:stretch>
        </p:blipFill>
        <p:spPr>
          <a:xfrm>
            <a:off x="10300716" y="4023360"/>
            <a:ext cx="274320" cy="274320"/>
          </a:xfrm>
          <a:prstGeom prst="rect">
            <a:avLst/>
          </a:prstGeom>
        </p:spPr>
      </p:pic>
      <p:sp>
        <p:nvSpPr>
          <p:cNvPr id="21" name="Text 15"/>
          <p:cNvSpPr/>
          <p:nvPr/>
        </p:nvSpPr>
        <p:spPr>
          <a:xfrm>
            <a:off x="9272016"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What you want from this course</a:t>
            </a:r>
            <a:endParaRPr lang="en-US" sz="1400" dirty="0"/>
          </a:p>
        </p:txBody>
      </p:sp>
      <p:sp>
        <p:nvSpPr>
          <p:cNvPr id="22" name="Text 1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8A867D"/>
                </a:solidFill>
                <a:latin typeface="Calibri" pitchFamily="34" charset="0"/>
                <a:ea typeface="Calibri" pitchFamily="34" charset="-122"/>
                <a:cs typeface="Calibri" pitchFamily="34" charset="-120"/>
              </a:rPr>
              <a:t>© Tertiary Infotech Academy Pte Ltd</a:t>
            </a:r>
            <a:endParaRPr lang="en-US" sz="900" dirty="0"/>
          </a:p>
        </p:txBody>
      </p:sp>
      <p:sp>
        <p:nvSpPr>
          <p:cNvPr id="23" name="Text 1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8A867D"/>
                </a:solidFill>
                <a:latin typeface="Calibri" pitchFamily="34" charset="0"/>
                <a:ea typeface="Calibri" pitchFamily="34" charset="-122"/>
                <a:cs typeface="Calibri" pitchFamily="34" charset="-120"/>
              </a:rPr>
              <a:t>Multi AI Agents Workflow for Content Creation</a:t>
            </a:r>
            <a:endParaRPr lang="en-US" sz="900" dirty="0"/>
          </a:p>
        </p:txBody>
      </p:sp>
      <p:sp>
        <p:nvSpPr>
          <p:cNvPr id="24" name="Text 1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8A867D"/>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Ground Rules</a:t>
            </a:r>
            <a:endParaRPr lang="en-US" sz="3000" dirty="0"/>
          </a:p>
        </p:txBody>
      </p:sp>
      <p:sp>
        <p:nvSpPr>
          <p:cNvPr id="4" name="Shape 2"/>
          <p:cNvSpPr/>
          <p:nvPr/>
        </p:nvSpPr>
        <p:spPr>
          <a:xfrm>
            <a:off x="548640"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777240"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900684" y="2180844"/>
            <a:ext cx="256032" cy="256032"/>
          </a:xfrm>
          <a:prstGeom prst="rect">
            <a:avLst/>
          </a:prstGeom>
        </p:spPr>
      </p:pic>
      <p:sp>
        <p:nvSpPr>
          <p:cNvPr id="7" name="Text 4"/>
          <p:cNvSpPr/>
          <p:nvPr/>
        </p:nvSpPr>
        <p:spPr>
          <a:xfrm>
            <a:off x="1417320" y="20299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Phones on silent</a:t>
            </a:r>
            <a:endParaRPr lang="en-US" sz="1500" dirty="0"/>
          </a:p>
        </p:txBody>
      </p:sp>
      <p:sp>
        <p:nvSpPr>
          <p:cNvPr id="8" name="Text 5"/>
          <p:cNvSpPr/>
          <p:nvPr/>
        </p:nvSpPr>
        <p:spPr>
          <a:xfrm>
            <a:off x="777240" y="25420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Step out quietly for calls or breaks.</a:t>
            </a:r>
            <a:endParaRPr lang="en-US" sz="1200" dirty="0"/>
          </a:p>
        </p:txBody>
      </p:sp>
      <p:sp>
        <p:nvSpPr>
          <p:cNvPr id="9" name="Shape 6"/>
          <p:cNvSpPr/>
          <p:nvPr/>
        </p:nvSpPr>
        <p:spPr>
          <a:xfrm>
            <a:off x="4325112"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4553712"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4677156" y="2180844"/>
            <a:ext cx="256032" cy="256032"/>
          </a:xfrm>
          <a:prstGeom prst="rect">
            <a:avLst/>
          </a:prstGeom>
        </p:spPr>
      </p:pic>
      <p:sp>
        <p:nvSpPr>
          <p:cNvPr id="12" name="Text 8"/>
          <p:cNvSpPr/>
          <p:nvPr/>
        </p:nvSpPr>
        <p:spPr>
          <a:xfrm>
            <a:off x="5193792" y="20299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Participate actively</a:t>
            </a:r>
            <a:endParaRPr lang="en-US" sz="1500" dirty="0"/>
          </a:p>
        </p:txBody>
      </p:sp>
      <p:sp>
        <p:nvSpPr>
          <p:cNvPr id="13" name="Text 9"/>
          <p:cNvSpPr/>
          <p:nvPr/>
        </p:nvSpPr>
        <p:spPr>
          <a:xfrm>
            <a:off x="4553712" y="25420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No question is stupid — ask freely.</a:t>
            </a:r>
            <a:endParaRPr lang="en-US" sz="1200" dirty="0"/>
          </a:p>
        </p:txBody>
      </p:sp>
      <p:sp>
        <p:nvSpPr>
          <p:cNvPr id="14" name="Shape 10"/>
          <p:cNvSpPr/>
          <p:nvPr/>
        </p:nvSpPr>
        <p:spPr>
          <a:xfrm>
            <a:off x="8101584"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5" name="Shape 11"/>
          <p:cNvSpPr/>
          <p:nvPr/>
        </p:nvSpPr>
        <p:spPr>
          <a:xfrm>
            <a:off x="8330184"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6" name="Image 2" descr="preencoded.png">    </p:cNvPr>
          <p:cNvPicPr>
            <a:picLocks noChangeAspect="1"/>
          </p:cNvPicPr>
          <p:nvPr/>
        </p:nvPicPr>
        <p:blipFill>
          <a:blip r:embed="rId3"/>
          <a:stretch>
            <a:fillRect/>
          </a:stretch>
        </p:blipFill>
        <p:spPr>
          <a:xfrm>
            <a:off x="8453628" y="2180844"/>
            <a:ext cx="256032" cy="256032"/>
          </a:xfrm>
          <a:prstGeom prst="rect">
            <a:avLst/>
          </a:prstGeom>
        </p:spPr>
      </p:pic>
      <p:sp>
        <p:nvSpPr>
          <p:cNvPr id="17" name="Text 12"/>
          <p:cNvSpPr/>
          <p:nvPr/>
        </p:nvSpPr>
        <p:spPr>
          <a:xfrm>
            <a:off x="8970264" y="20299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Mutual respect</a:t>
            </a:r>
            <a:endParaRPr lang="en-US" sz="1500" dirty="0"/>
          </a:p>
        </p:txBody>
      </p:sp>
      <p:sp>
        <p:nvSpPr>
          <p:cNvPr id="18" name="Text 13"/>
          <p:cNvSpPr/>
          <p:nvPr/>
        </p:nvSpPr>
        <p:spPr>
          <a:xfrm>
            <a:off x="8330184" y="25420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Agree to disagree; one conversation at a time.</a:t>
            </a:r>
            <a:endParaRPr lang="en-US" sz="1200" dirty="0"/>
          </a:p>
        </p:txBody>
      </p:sp>
      <p:sp>
        <p:nvSpPr>
          <p:cNvPr id="19" name="Shape 14"/>
          <p:cNvSpPr/>
          <p:nvPr/>
        </p:nvSpPr>
        <p:spPr>
          <a:xfrm>
            <a:off x="548640"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0" name="Shape 15"/>
          <p:cNvSpPr/>
          <p:nvPr/>
        </p:nvSpPr>
        <p:spPr>
          <a:xfrm>
            <a:off x="777240"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1" name="Image 3" descr="preencoded.png">    </p:cNvPr>
          <p:cNvPicPr>
            <a:picLocks noChangeAspect="1"/>
          </p:cNvPicPr>
          <p:nvPr/>
        </p:nvPicPr>
        <p:blipFill>
          <a:blip r:embed="rId4"/>
          <a:stretch>
            <a:fillRect/>
          </a:stretch>
        </p:blipFill>
        <p:spPr>
          <a:xfrm>
            <a:off x="900684" y="3781044"/>
            <a:ext cx="256032" cy="256032"/>
          </a:xfrm>
          <a:prstGeom prst="rect">
            <a:avLst/>
          </a:prstGeom>
        </p:spPr>
      </p:pic>
      <p:sp>
        <p:nvSpPr>
          <p:cNvPr id="22" name="Text 16"/>
          <p:cNvSpPr/>
          <p:nvPr/>
        </p:nvSpPr>
        <p:spPr>
          <a:xfrm>
            <a:off x="1417320" y="36301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Be punctual</a:t>
            </a:r>
            <a:endParaRPr lang="en-US" sz="1500" dirty="0"/>
          </a:p>
        </p:txBody>
      </p:sp>
      <p:sp>
        <p:nvSpPr>
          <p:cNvPr id="23" name="Text 17"/>
          <p:cNvSpPr/>
          <p:nvPr/>
        </p:nvSpPr>
        <p:spPr>
          <a:xfrm>
            <a:off x="777240" y="41422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Return from breaks on time.</a:t>
            </a:r>
            <a:endParaRPr lang="en-US" sz="1200" dirty="0"/>
          </a:p>
        </p:txBody>
      </p:sp>
      <p:sp>
        <p:nvSpPr>
          <p:cNvPr id="24" name="Shape 18"/>
          <p:cNvSpPr/>
          <p:nvPr/>
        </p:nvSpPr>
        <p:spPr>
          <a:xfrm>
            <a:off x="4325112"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5" name="Shape 19"/>
          <p:cNvSpPr/>
          <p:nvPr/>
        </p:nvSpPr>
        <p:spPr>
          <a:xfrm>
            <a:off x="4553712"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6" name="Image 4" descr="preencoded.png">    </p:cNvPr>
          <p:cNvPicPr>
            <a:picLocks noChangeAspect="1"/>
          </p:cNvPicPr>
          <p:nvPr/>
        </p:nvPicPr>
        <p:blipFill>
          <a:blip r:embed="rId5"/>
          <a:stretch>
            <a:fillRect/>
          </a:stretch>
        </p:blipFill>
        <p:spPr>
          <a:xfrm>
            <a:off x="4677156" y="3781044"/>
            <a:ext cx="256032" cy="256032"/>
          </a:xfrm>
          <a:prstGeom prst="rect">
            <a:avLst/>
          </a:prstGeom>
        </p:spPr>
      </p:pic>
      <p:sp>
        <p:nvSpPr>
          <p:cNvPr id="27" name="Text 20"/>
          <p:cNvSpPr/>
          <p:nvPr/>
        </p:nvSpPr>
        <p:spPr>
          <a:xfrm>
            <a:off x="5193792" y="36301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75% attendance</a:t>
            </a:r>
            <a:endParaRPr lang="en-US" sz="1500" dirty="0"/>
          </a:p>
        </p:txBody>
      </p:sp>
      <p:sp>
        <p:nvSpPr>
          <p:cNvPr id="28" name="Text 21"/>
          <p:cNvSpPr/>
          <p:nvPr/>
        </p:nvSpPr>
        <p:spPr>
          <a:xfrm>
            <a:off x="4553712" y="41422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Required for funding eligibility.</a:t>
            </a:r>
            <a:endParaRPr lang="en-US" sz="1200" dirty="0"/>
          </a:p>
        </p:txBody>
      </p:sp>
      <p:sp>
        <p:nvSpPr>
          <p:cNvPr id="29" name="Shape 22"/>
          <p:cNvSpPr/>
          <p:nvPr/>
        </p:nvSpPr>
        <p:spPr>
          <a:xfrm>
            <a:off x="8101584"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30" name="Shape 23"/>
          <p:cNvSpPr/>
          <p:nvPr/>
        </p:nvSpPr>
        <p:spPr>
          <a:xfrm>
            <a:off x="8330184"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31" name="Image 5" descr="preencoded.png">    </p:cNvPr>
          <p:cNvPicPr>
            <a:picLocks noChangeAspect="1"/>
          </p:cNvPicPr>
          <p:nvPr/>
        </p:nvPicPr>
        <p:blipFill>
          <a:blip r:embed="rId6"/>
          <a:stretch>
            <a:fillRect/>
          </a:stretch>
        </p:blipFill>
        <p:spPr>
          <a:xfrm>
            <a:off x="8453628" y="3781044"/>
            <a:ext cx="256032" cy="256032"/>
          </a:xfrm>
          <a:prstGeom prst="rect">
            <a:avLst/>
          </a:prstGeom>
        </p:spPr>
      </p:pic>
      <p:sp>
        <p:nvSpPr>
          <p:cNvPr id="32" name="Text 24"/>
          <p:cNvSpPr/>
          <p:nvPr/>
        </p:nvSpPr>
        <p:spPr>
          <a:xfrm>
            <a:off x="8970264" y="36301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Stay hands-on</a:t>
            </a:r>
            <a:endParaRPr lang="en-US" sz="1500" dirty="0"/>
          </a:p>
        </p:txBody>
      </p:sp>
      <p:sp>
        <p:nvSpPr>
          <p:cNvPr id="33" name="Text 25"/>
          <p:cNvSpPr/>
          <p:nvPr/>
        </p:nvSpPr>
        <p:spPr>
          <a:xfrm>
            <a:off x="8330184" y="41422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Follow along with every activity.</a:t>
            </a:r>
            <a:endParaRPr lang="en-US" sz="1200" dirty="0"/>
          </a:p>
        </p:txBody>
      </p:sp>
      <p:sp>
        <p:nvSpPr>
          <p:cNvPr id="34" name="Text 2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35" name="Text 2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36" name="Text 2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Briefing for Assessment</a:t>
            </a:r>
            <a:endParaRPr lang="en-US" sz="3000" dirty="0"/>
          </a:p>
        </p:txBody>
      </p:sp>
      <p:sp>
        <p:nvSpPr>
          <p:cNvPr id="4" name="Shape 2"/>
          <p:cNvSpPr/>
          <p:nvPr/>
        </p:nvSpPr>
        <p:spPr>
          <a:xfrm>
            <a:off x="548640"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777240"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900684" y="2180844"/>
            <a:ext cx="256032" cy="256032"/>
          </a:xfrm>
          <a:prstGeom prst="rect">
            <a:avLst/>
          </a:prstGeom>
        </p:spPr>
      </p:pic>
      <p:sp>
        <p:nvSpPr>
          <p:cNvPr id="7" name="Text 4"/>
          <p:cNvSpPr/>
          <p:nvPr/>
        </p:nvSpPr>
        <p:spPr>
          <a:xfrm>
            <a:off x="1417320" y="20299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Clear your space</a:t>
            </a:r>
            <a:endParaRPr lang="en-US" sz="1400" dirty="0"/>
          </a:p>
        </p:txBody>
      </p:sp>
      <p:sp>
        <p:nvSpPr>
          <p:cNvPr id="8" name="Text 5"/>
          <p:cNvSpPr/>
          <p:nvPr/>
        </p:nvSpPr>
        <p:spPr>
          <a:xfrm>
            <a:off x="777240" y="25420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Place phones and other materials under the table or on the floor.</a:t>
            </a:r>
            <a:endParaRPr lang="en-US" sz="1150" dirty="0"/>
          </a:p>
        </p:txBody>
      </p:sp>
      <p:sp>
        <p:nvSpPr>
          <p:cNvPr id="9" name="Shape 6"/>
          <p:cNvSpPr/>
          <p:nvPr/>
        </p:nvSpPr>
        <p:spPr>
          <a:xfrm>
            <a:off x="4325112"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4553712"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4677156" y="2180844"/>
            <a:ext cx="256032" cy="256032"/>
          </a:xfrm>
          <a:prstGeom prst="rect">
            <a:avLst/>
          </a:prstGeom>
        </p:spPr>
      </p:pic>
      <p:sp>
        <p:nvSpPr>
          <p:cNvPr id="12" name="Text 8"/>
          <p:cNvSpPr/>
          <p:nvPr/>
        </p:nvSpPr>
        <p:spPr>
          <a:xfrm>
            <a:off x="5193792" y="20299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No recording</a:t>
            </a:r>
            <a:endParaRPr lang="en-US" sz="1400" dirty="0"/>
          </a:p>
        </p:txBody>
      </p:sp>
      <p:sp>
        <p:nvSpPr>
          <p:cNvPr id="13" name="Text 9"/>
          <p:cNvSpPr/>
          <p:nvPr/>
        </p:nvSpPr>
        <p:spPr>
          <a:xfrm>
            <a:off x="4553712" y="25420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No photos or recording of assessment materials.</a:t>
            </a:r>
            <a:endParaRPr lang="en-US" sz="1150" dirty="0"/>
          </a:p>
        </p:txBody>
      </p:sp>
      <p:sp>
        <p:nvSpPr>
          <p:cNvPr id="14" name="Shape 10"/>
          <p:cNvSpPr/>
          <p:nvPr/>
        </p:nvSpPr>
        <p:spPr>
          <a:xfrm>
            <a:off x="8101584"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5" name="Shape 11"/>
          <p:cNvSpPr/>
          <p:nvPr/>
        </p:nvSpPr>
        <p:spPr>
          <a:xfrm>
            <a:off x="8330184"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6" name="Image 2" descr="preencoded.png">    </p:cNvPr>
          <p:cNvPicPr>
            <a:picLocks noChangeAspect="1"/>
          </p:cNvPicPr>
          <p:nvPr/>
        </p:nvPicPr>
        <p:blipFill>
          <a:blip r:embed="rId3"/>
          <a:stretch>
            <a:fillRect/>
          </a:stretch>
        </p:blipFill>
        <p:spPr>
          <a:xfrm>
            <a:off x="8453628" y="2180844"/>
            <a:ext cx="256032" cy="256032"/>
          </a:xfrm>
          <a:prstGeom prst="rect">
            <a:avLst/>
          </a:prstGeom>
        </p:spPr>
      </p:pic>
      <p:sp>
        <p:nvSpPr>
          <p:cNvPr id="17" name="Text 12"/>
          <p:cNvSpPr/>
          <p:nvPr/>
        </p:nvSpPr>
        <p:spPr>
          <a:xfrm>
            <a:off x="8970264" y="20299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Open book</a:t>
            </a:r>
            <a:endParaRPr lang="en-US" sz="1400" dirty="0"/>
          </a:p>
        </p:txBody>
      </p:sp>
      <p:sp>
        <p:nvSpPr>
          <p:cNvPr id="18" name="Text 13"/>
          <p:cNvSpPr/>
          <p:nvPr/>
        </p:nvSpPr>
        <p:spPr>
          <a:xfrm>
            <a:off x="8330184" y="25420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Only slides, learner guide and approved materials are allowed.</a:t>
            </a:r>
            <a:endParaRPr lang="en-US" sz="1150" dirty="0"/>
          </a:p>
        </p:txBody>
      </p:sp>
      <p:sp>
        <p:nvSpPr>
          <p:cNvPr id="19" name="Shape 14"/>
          <p:cNvSpPr/>
          <p:nvPr/>
        </p:nvSpPr>
        <p:spPr>
          <a:xfrm>
            <a:off x="548640"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0" name="Shape 15"/>
          <p:cNvSpPr/>
          <p:nvPr/>
        </p:nvSpPr>
        <p:spPr>
          <a:xfrm>
            <a:off x="777240"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1" name="Image 3" descr="preencoded.png">    </p:cNvPr>
          <p:cNvPicPr>
            <a:picLocks noChangeAspect="1"/>
          </p:cNvPicPr>
          <p:nvPr/>
        </p:nvPicPr>
        <p:blipFill>
          <a:blip r:embed="rId4"/>
          <a:stretch>
            <a:fillRect/>
          </a:stretch>
        </p:blipFill>
        <p:spPr>
          <a:xfrm>
            <a:off x="900684" y="3781044"/>
            <a:ext cx="256032" cy="256032"/>
          </a:xfrm>
          <a:prstGeom prst="rect">
            <a:avLst/>
          </a:prstGeom>
        </p:spPr>
      </p:pic>
      <p:sp>
        <p:nvSpPr>
          <p:cNvPr id="22" name="Text 16"/>
          <p:cNvSpPr/>
          <p:nvPr/>
        </p:nvSpPr>
        <p:spPr>
          <a:xfrm>
            <a:off x="1417320" y="36301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Work individually</a:t>
            </a:r>
            <a:endParaRPr lang="en-US" sz="1400" dirty="0"/>
          </a:p>
        </p:txBody>
      </p:sp>
      <p:sp>
        <p:nvSpPr>
          <p:cNvPr id="23" name="Text 17"/>
          <p:cNvSpPr/>
          <p:nvPr/>
        </p:nvSpPr>
        <p:spPr>
          <a:xfrm>
            <a:off x="777240" y="41422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Complete the assessment on your own; no discussion.</a:t>
            </a:r>
            <a:endParaRPr lang="en-US" sz="1150" dirty="0"/>
          </a:p>
        </p:txBody>
      </p:sp>
      <p:sp>
        <p:nvSpPr>
          <p:cNvPr id="24" name="Shape 18"/>
          <p:cNvSpPr/>
          <p:nvPr/>
        </p:nvSpPr>
        <p:spPr>
          <a:xfrm>
            <a:off x="4325112"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5" name="Shape 19"/>
          <p:cNvSpPr/>
          <p:nvPr/>
        </p:nvSpPr>
        <p:spPr>
          <a:xfrm>
            <a:off x="4553712"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6" name="Image 4" descr="preencoded.png">    </p:cNvPr>
          <p:cNvPicPr>
            <a:picLocks noChangeAspect="1"/>
          </p:cNvPicPr>
          <p:nvPr/>
        </p:nvPicPr>
        <p:blipFill>
          <a:blip r:embed="rId5"/>
          <a:stretch>
            <a:fillRect/>
          </a:stretch>
        </p:blipFill>
        <p:spPr>
          <a:xfrm>
            <a:off x="4677156" y="3781044"/>
            <a:ext cx="256032" cy="256032"/>
          </a:xfrm>
          <a:prstGeom prst="rect">
            <a:avLst/>
          </a:prstGeom>
        </p:spPr>
      </p:pic>
      <p:sp>
        <p:nvSpPr>
          <p:cNvPr id="27" name="Text 20"/>
          <p:cNvSpPr/>
          <p:nvPr/>
        </p:nvSpPr>
        <p:spPr>
          <a:xfrm>
            <a:off x="5193792" y="36301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Manage your time</a:t>
            </a:r>
            <a:endParaRPr lang="en-US" sz="1400" dirty="0"/>
          </a:p>
        </p:txBody>
      </p:sp>
      <p:sp>
        <p:nvSpPr>
          <p:cNvPr id="28" name="Text 21"/>
          <p:cNvSpPr/>
          <p:nvPr/>
        </p:nvSpPr>
        <p:spPr>
          <a:xfrm>
            <a:off x="4553712" y="41422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Written Assessment then Practical Performance — watch the clock.</a:t>
            </a:r>
            <a:endParaRPr lang="en-US" sz="1150" dirty="0"/>
          </a:p>
        </p:txBody>
      </p:sp>
      <p:sp>
        <p:nvSpPr>
          <p:cNvPr id="29" name="Shape 22"/>
          <p:cNvSpPr/>
          <p:nvPr/>
        </p:nvSpPr>
        <p:spPr>
          <a:xfrm>
            <a:off x="8101584"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30" name="Shape 23"/>
          <p:cNvSpPr/>
          <p:nvPr/>
        </p:nvSpPr>
        <p:spPr>
          <a:xfrm>
            <a:off x="8330184"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31" name="Image 5" descr="preencoded.png">    </p:cNvPr>
          <p:cNvPicPr>
            <a:picLocks noChangeAspect="1"/>
          </p:cNvPicPr>
          <p:nvPr/>
        </p:nvPicPr>
        <p:blipFill>
          <a:blip r:embed="rId6"/>
          <a:stretch>
            <a:fillRect/>
          </a:stretch>
        </p:blipFill>
        <p:spPr>
          <a:xfrm>
            <a:off x="8453628" y="3781044"/>
            <a:ext cx="256032" cy="256032"/>
          </a:xfrm>
          <a:prstGeom prst="rect">
            <a:avLst/>
          </a:prstGeom>
        </p:spPr>
      </p:pic>
      <p:sp>
        <p:nvSpPr>
          <p:cNvPr id="32" name="Text 24"/>
          <p:cNvSpPr/>
          <p:nvPr/>
        </p:nvSpPr>
        <p:spPr>
          <a:xfrm>
            <a:off x="8970264" y="36301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Appeals</a:t>
            </a:r>
            <a:endParaRPr lang="en-US" sz="1400" dirty="0"/>
          </a:p>
        </p:txBody>
      </p:sp>
      <p:sp>
        <p:nvSpPr>
          <p:cNvPr id="33" name="Text 25"/>
          <p:cNvSpPr/>
          <p:nvPr/>
        </p:nvSpPr>
        <p:spPr>
          <a:xfrm>
            <a:off x="8330184" y="41422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An appeal process is available if you disagree with the outcome.</a:t>
            </a:r>
            <a:endParaRPr lang="en-US" sz="1150" dirty="0"/>
          </a:p>
        </p:txBody>
      </p:sp>
      <p:sp>
        <p:nvSpPr>
          <p:cNvPr id="34" name="Text 2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35" name="Text 2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36" name="Text 2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Assessment &amp; Funding</a:t>
            </a:r>
            <a:endParaRPr lang="en-US" sz="3000" dirty="0"/>
          </a:p>
        </p:txBody>
      </p:sp>
      <p:sp>
        <p:nvSpPr>
          <p:cNvPr id="4" name="Shape 2"/>
          <p:cNvSpPr/>
          <p:nvPr/>
        </p:nvSpPr>
        <p:spPr>
          <a:xfrm>
            <a:off x="548640" y="1783080"/>
            <a:ext cx="5486400" cy="4023360"/>
          </a:xfrm>
          <a:prstGeom prst="roundRect">
            <a:avLst>
              <a:gd name="adj" fmla="val 1818"/>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2296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960120" y="2194560"/>
            <a:ext cx="292608" cy="292608"/>
          </a:xfrm>
          <a:prstGeom prst="rect">
            <a:avLst/>
          </a:prstGeom>
        </p:spPr>
      </p:pic>
      <p:sp>
        <p:nvSpPr>
          <p:cNvPr id="7" name="Text 4"/>
          <p:cNvSpPr/>
          <p:nvPr/>
        </p:nvSpPr>
        <p:spPr>
          <a:xfrm>
            <a:off x="1508760" y="2103120"/>
            <a:ext cx="4389120" cy="457200"/>
          </a:xfrm>
          <a:prstGeom prst="rect">
            <a:avLst/>
          </a:prstGeom>
          <a:noFill/>
          <a:ln/>
        </p:spPr>
        <p:txBody>
          <a:bodyPr wrap="square" rtlCol="0" anchor="ctr"/>
          <a:lstStyle/>
          <a:p>
            <a:pPr indent="0" marL="0">
              <a:buNone/>
            </a:pPr>
            <a:r>
              <a:rPr lang="en-US" sz="1900" b="1" dirty="0">
                <a:solidFill>
                  <a:srgbClr val="21201C"/>
                </a:solidFill>
                <a:latin typeface="Cambria" pitchFamily="34" charset="0"/>
                <a:ea typeface="Cambria" pitchFamily="34" charset="-122"/>
                <a:cs typeface="Cambria" pitchFamily="34" charset="-120"/>
              </a:rPr>
              <a:t>Final Assessment</a:t>
            </a:r>
            <a:endParaRPr lang="en-US" sz="1900" dirty="0"/>
          </a:p>
        </p:txBody>
      </p:sp>
      <p:sp>
        <p:nvSpPr>
          <p:cNvPr id="8" name="Text 5"/>
          <p:cNvSpPr/>
          <p:nvPr/>
        </p:nvSpPr>
        <p:spPr>
          <a:xfrm>
            <a:off x="868680" y="2880360"/>
            <a:ext cx="4937760" cy="2743200"/>
          </a:xfrm>
          <a:prstGeom prst="rect">
            <a:avLst/>
          </a:prstGeom>
          <a:noFill/>
          <a:ln/>
        </p:spPr>
        <p:txBody>
          <a:bodyPr wrap="square" rtlCol="0" anchor="ctr"/>
          <a:lstStyle/>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Written Assessment (WA) — 1 hour, starts 4:00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Practical Performance (PP) — 1 hour</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Format: Open book — class ends 6:00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Allowed: slides, learner guide &amp; approved materials only</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Appeal process available</a:t>
            </a:r>
            <a:endParaRPr lang="en-US" sz="1400" dirty="0"/>
          </a:p>
        </p:txBody>
      </p:sp>
      <p:sp>
        <p:nvSpPr>
          <p:cNvPr id="9" name="Shape 6"/>
          <p:cNvSpPr/>
          <p:nvPr/>
        </p:nvSpPr>
        <p:spPr>
          <a:xfrm>
            <a:off x="6309360" y="1783080"/>
            <a:ext cx="5303520" cy="4023360"/>
          </a:xfrm>
          <a:prstGeom prst="roundRect">
            <a:avLst>
              <a:gd name="adj" fmla="val 1818"/>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8368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6720840" y="2194560"/>
            <a:ext cx="292608" cy="292608"/>
          </a:xfrm>
          <a:prstGeom prst="rect">
            <a:avLst/>
          </a:prstGeom>
        </p:spPr>
      </p:pic>
      <p:sp>
        <p:nvSpPr>
          <p:cNvPr id="12" name="Text 8"/>
          <p:cNvSpPr/>
          <p:nvPr/>
        </p:nvSpPr>
        <p:spPr>
          <a:xfrm>
            <a:off x="7269480" y="2103120"/>
            <a:ext cx="4114800" cy="457200"/>
          </a:xfrm>
          <a:prstGeom prst="rect">
            <a:avLst/>
          </a:prstGeom>
          <a:noFill/>
          <a:ln/>
        </p:spPr>
        <p:txBody>
          <a:bodyPr wrap="square"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Criteria for Funding</a:t>
            </a:r>
            <a:endParaRPr lang="en-US" sz="1900" dirty="0"/>
          </a:p>
        </p:txBody>
      </p:sp>
      <p:sp>
        <p:nvSpPr>
          <p:cNvPr id="13" name="Text 9"/>
          <p:cNvSpPr/>
          <p:nvPr/>
        </p:nvSpPr>
        <p:spPr>
          <a:xfrm>
            <a:off x="6629400" y="2926080"/>
            <a:ext cx="4754880" cy="2743200"/>
          </a:xfrm>
          <a:prstGeom prst="rect">
            <a:avLst/>
          </a:prstGeom>
          <a:noFill/>
          <a:ln/>
        </p:spPr>
        <p:txBody>
          <a:bodyPr wrap="square" rtlCol="0" anchor="ctr"/>
          <a:lstStyle/>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Minimum 75% attendance</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Based on SSG digital attendance records.</a:t>
            </a:r>
            <a:endParaRPr lang="en-US" sz="1500" dirty="0"/>
          </a:p>
          <a:p>
            <a:pPr indent="0" marL="0">
              <a:spcAft>
                <a:spcPts val="600"/>
              </a:spcAft>
              <a:buNone/>
            </a:pPr>
            <a:endParaRPr lang="en-US" sz="1500" dirty="0"/>
          </a:p>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Assessed as ‘Competent’</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Complete and pass both assessment components.</a:t>
            </a:r>
            <a:endParaRPr lang="en-US" sz="15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9692640" y="-1280160"/>
            <a:ext cx="4206240" cy="4206240"/>
          </a:xfrm>
          <a:prstGeom prst="ellipse">
            <a:avLst/>
          </a:prstGeom>
          <a:solidFill>
            <a:srgbClr val="D97757">
              <a:alpha val="17000"/>
            </a:srgbClr>
          </a:solidFill>
          <a:ln/>
        </p:spPr>
        <p:txBody>
          <a:bodyPr/>
          <a:p/>
        </p:txBody>
      </p:sp>
      <p:sp>
        <p:nvSpPr>
          <p:cNvPr id="3" name="Text 1"/>
          <p:cNvSpPr/>
          <p:nvPr/>
        </p:nvSpPr>
        <p:spPr>
          <a:xfrm>
            <a:off x="548640" y="640080"/>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LEARNING MANAGEMENT SYSTEM</a:t>
            </a:r>
            <a:endParaRPr lang="en-US" sz="1200" dirty="0"/>
          </a:p>
        </p:txBody>
      </p:sp>
      <p:sp>
        <p:nvSpPr>
          <p:cNvPr id="4" name="Text 2"/>
          <p:cNvSpPr/>
          <p:nvPr/>
        </p:nvSpPr>
        <p:spPr>
          <a:xfrm>
            <a:off x="548640" y="960120"/>
            <a:ext cx="10972800" cy="73152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Courseware &amp; Assessment on the LMS</a:t>
            </a:r>
            <a:endParaRPr lang="en-US" sz="2800" dirty="0"/>
          </a:p>
        </p:txBody>
      </p:sp>
      <p:sp>
        <p:nvSpPr>
          <p:cNvPr id="5" name="Shape 3"/>
          <p:cNvSpPr/>
          <p:nvPr/>
        </p:nvSpPr>
        <p:spPr>
          <a:xfrm>
            <a:off x="640080" y="210312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777240" y="2240280"/>
            <a:ext cx="274320" cy="274320"/>
          </a:xfrm>
          <a:prstGeom prst="rect">
            <a:avLst/>
          </a:prstGeom>
        </p:spPr>
      </p:pic>
      <p:sp>
        <p:nvSpPr>
          <p:cNvPr id="7" name="Text 4"/>
          <p:cNvSpPr/>
          <p:nvPr/>
        </p:nvSpPr>
        <p:spPr>
          <a:xfrm>
            <a:off x="1371600" y="205740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Download the courseware</a:t>
            </a:r>
            <a:endParaRPr lang="en-US" sz="1800" dirty="0"/>
          </a:p>
        </p:txBody>
      </p:sp>
      <p:sp>
        <p:nvSpPr>
          <p:cNvPr id="8" name="Text 5"/>
          <p:cNvSpPr/>
          <p:nvPr/>
        </p:nvSpPr>
        <p:spPr>
          <a:xfrm>
            <a:off x="1371600" y="246888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Get the slides and learner guide from the LMS for the open-book assessment.</a:t>
            </a:r>
            <a:endParaRPr lang="en-US" sz="1400" dirty="0"/>
          </a:p>
        </p:txBody>
      </p:sp>
      <p:sp>
        <p:nvSpPr>
          <p:cNvPr id="9" name="Shape 6"/>
          <p:cNvSpPr/>
          <p:nvPr/>
        </p:nvSpPr>
        <p:spPr>
          <a:xfrm>
            <a:off x="640080" y="315468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2"/>
          <a:stretch>
            <a:fillRect/>
          </a:stretch>
        </p:blipFill>
        <p:spPr>
          <a:xfrm>
            <a:off x="777240" y="3291840"/>
            <a:ext cx="274320" cy="274320"/>
          </a:xfrm>
          <a:prstGeom prst="rect">
            <a:avLst/>
          </a:prstGeom>
        </p:spPr>
      </p:pic>
      <p:sp>
        <p:nvSpPr>
          <p:cNvPr id="11" name="Text 7"/>
          <p:cNvSpPr/>
          <p:nvPr/>
        </p:nvSpPr>
        <p:spPr>
          <a:xfrm>
            <a:off x="1371600" y="310896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Take the assessment</a:t>
            </a:r>
            <a:endParaRPr lang="en-US" sz="1800" dirty="0"/>
          </a:p>
        </p:txBody>
      </p:sp>
      <p:sp>
        <p:nvSpPr>
          <p:cNvPr id="12" name="Text 8"/>
          <p:cNvSpPr/>
          <p:nvPr/>
        </p:nvSpPr>
        <p:spPr>
          <a:xfrm>
            <a:off x="1371600" y="352044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Complete the Written Assessment and Practical Performance on the LMS.</a:t>
            </a:r>
            <a:endParaRPr lang="en-US" sz="1400" dirty="0"/>
          </a:p>
        </p:txBody>
      </p:sp>
      <p:sp>
        <p:nvSpPr>
          <p:cNvPr id="13" name="Shape 9"/>
          <p:cNvSpPr/>
          <p:nvPr/>
        </p:nvSpPr>
        <p:spPr>
          <a:xfrm>
            <a:off x="640080" y="420624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4" name="Image 2" descr="preencoded.png">    </p:cNvPr>
          <p:cNvPicPr>
            <a:picLocks noChangeAspect="1"/>
          </p:cNvPicPr>
          <p:nvPr/>
        </p:nvPicPr>
        <p:blipFill>
          <a:blip r:embed="rId3"/>
          <a:stretch>
            <a:fillRect/>
          </a:stretch>
        </p:blipFill>
        <p:spPr>
          <a:xfrm>
            <a:off x="777240" y="4343400"/>
            <a:ext cx="274320" cy="274320"/>
          </a:xfrm>
          <a:prstGeom prst="rect">
            <a:avLst/>
          </a:prstGeom>
        </p:spPr>
      </p:pic>
      <p:sp>
        <p:nvSpPr>
          <p:cNvPr id="15" name="Text 10"/>
          <p:cNvSpPr/>
          <p:nvPr/>
        </p:nvSpPr>
        <p:spPr>
          <a:xfrm>
            <a:off x="1371600" y="416052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Log in</a:t>
            </a:r>
            <a:endParaRPr lang="en-US" sz="1800" dirty="0"/>
          </a:p>
        </p:txBody>
      </p:sp>
      <p:sp>
        <p:nvSpPr>
          <p:cNvPr id="16" name="Text 11"/>
          <p:cNvSpPr/>
          <p:nvPr/>
        </p:nvSpPr>
        <p:spPr>
          <a:xfrm>
            <a:off x="1371600" y="457200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Use your enrolled account to access the course materials and assessment.</a:t>
            </a:r>
            <a:endParaRPr lang="en-US" sz="1400" dirty="0"/>
          </a:p>
        </p:txBody>
      </p:sp>
      <p:sp>
        <p:nvSpPr>
          <p:cNvPr id="17" name="Shape 12"/>
          <p:cNvSpPr/>
          <p:nvPr/>
        </p:nvSpPr>
        <p:spPr>
          <a:xfrm>
            <a:off x="640080" y="5440680"/>
            <a:ext cx="10881360" cy="640080"/>
          </a:xfrm>
          <a:prstGeom prst="roundRect">
            <a:avLst>
              <a:gd name="adj" fmla="val 14286"/>
            </a:avLst>
          </a:prstGeom>
          <a:solidFill>
            <a:srgbClr val="2E2C26"/>
          </a:solidFill>
          <a:ln/>
        </p:spPr>
        <p:txBody>
          <a:bodyPr/>
          <a:p/>
        </p:txBody>
      </p:sp>
      <p:sp>
        <p:nvSpPr>
          <p:cNvPr id="18" name="Text 13">
            <a:hlinkClick r:id="rIdundefined" tooltip=""/>
          </p:cNvPr>
          <p:cNvSpPr/>
          <p:nvPr/>
        </p:nvSpPr>
        <p:spPr>
          <a:xfrm>
            <a:off x="914400" y="5440680"/>
            <a:ext cx="10332720" cy="640080"/>
          </a:xfrm>
          <a:prstGeom prst="rect">
            <a:avLst/>
          </a:prstGeom>
          <a:noFill/>
          <a:ln/>
        </p:spPr>
        <p:txBody>
          <a:bodyPr wrap="square" rtlCol="0" anchor="ctr"/>
          <a:lstStyle/>
          <a:p>
            <a:pPr indent="0" marL="0">
              <a:buNone/>
            </a:pPr>
            <a:r>
              <a:rPr lang="en-US" sz="1600" b="1" u="sng" dirty="0">
                <a:solidFill>
                  <a:srgbClr val="D97757"/>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LMS:  </a:t>
            </a:r>
            <a:pPr indent="0" marL="0">
              <a:buNone/>
            </a:pPr>
            <a:r>
              <a:rPr lang="en-US" sz="1600" u="sng" dirty="0">
                <a:solidFill>
                  <a:srgbClr val="FFFFFF"/>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https://lms-tms.tertiaryinfotech.com/</a:t>
            </a:r>
            <a:endParaRPr lang="en-US" sz="1600" dirty="0"/>
          </a:p>
        </p:txBody>
      </p:sp>
      <p:sp>
        <p:nvSpPr>
          <p:cNvPr id="19" name="Text 14"/>
          <p:cNvSpPr/>
          <p:nvPr/>
        </p:nvSpPr>
        <p:spPr>
          <a:xfrm>
            <a:off x="457200" y="6565392"/>
            <a:ext cx="6400800" cy="228600"/>
          </a:xfrm>
          <a:prstGeom prst="rect">
            <a:avLst/>
          </a:prstGeom>
          <a:noFill/>
          <a:ln/>
        </p:spPr>
        <p:txBody>
          <a:bodyPr wrap="square" rtlCol="0" anchor="ctr"/>
          <a:lstStyle/>
          <a:p>
            <a:pPr indent="0" marL="0">
              <a:buNone/>
            </a:pPr>
            <a:r>
              <a:rPr lang="en-US" sz="800" dirty="0">
                <a:solidFill>
                  <a:srgbClr val="6B6862"/>
                </a:solidFill>
                <a:latin typeface="Calibri" pitchFamily="34" charset="0"/>
                <a:ea typeface="Calibri" pitchFamily="34" charset="-122"/>
                <a:cs typeface="Calibri" pitchFamily="34" charset="-120"/>
              </a:rPr>
              <a:t>© Tertiary Infotech Academy Pte Ltd</a:t>
            </a:r>
            <a:endParaRPr lang="en-US" sz="800" dirty="0"/>
          </a:p>
        </p:txBody>
      </p:sp>
      <p:pic>
        <p:nvPicPr>
          <p:cNvPr id="90" name="LMS Screenshot" descr="lms-tms.tertiaryinfotech.com login page"/>
          <p:cNvPicPr>
            <a:picLocks noChangeAspect="1"/>
          </p:cNvPicPr>
          <p:nvPr/>
        </p:nvPicPr>
        <p:blipFill>
          <a:blip r:embed="rId6"/>
          <a:stretch>
            <a:fillRect/>
          </a:stretch>
        </p:blipFill>
        <p:spPr>
          <a:xfrm>
            <a:off x="8412480" y="1965960"/>
            <a:ext cx="2194560" cy="2700528"/>
          </a:xfrm>
          <a:prstGeom prst="roundRect">
            <a:avLst>
              <a:gd name="adj" fmla="val 3000"/>
            </a:avLst>
          </a:prstGeom>
          <a:effectLst>
            <a:outerShdw sx="100000" sy="100000" kx="0" ky="0" algn="bl" rotWithShape="0" blurRad="127000" dist="50800" dir="5400000">
              <a:srgbClr val="000000">
                <a:alpha val="30000"/>
              </a:srgbClr>
            </a:outerShdw>
          </a:effectLst>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2">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Assessment Flow</a:t>
            </a:r>
            <a:endParaRPr lang="en-US" sz="3000" dirty="0"/>
          </a:p>
        </p:txBody>
      </p:sp>
      <p:sp>
        <p:nvSpPr>
          <p:cNvPr id="4" name="Text 2"/>
          <p:cNvSpPr/>
          <p:nvPr/>
        </p:nvSpPr>
        <p:spPr>
          <a:xfrm>
            <a:off x="548640" y="1691640"/>
            <a:ext cx="11064240" cy="457200"/>
          </a:xfrm>
          <a:prstGeom prst="rect">
            <a:avLst/>
          </a:prstGeom>
          <a:noFill/>
          <a:ln/>
        </p:spPr>
        <p:txBody>
          <a:bodyPr wrap="square" rtlCol="0" anchor="ctr"/>
          <a:lstStyle/>
          <a:p>
            <a:pPr indent="0" marL="0">
              <a:buNone/>
            </a:pPr>
            <a:r>
              <a:rPr lang="en-US" sz="1600" dirty="0">
                <a:solidFill>
                  <a:srgbClr val="21201C"/>
                </a:solidFill>
                <a:latin typeface="Calibri" pitchFamily="34" charset="0"/>
                <a:ea typeface="Calibri" pitchFamily="34" charset="-122"/>
                <a:cs typeface="Calibri" pitchFamily="34" charset="-120"/>
              </a:rPr>
              <a:t>At the assessment stage, follow these five steps in order.</a:t>
            </a:r>
            <a:endParaRPr lang="en-US" sz="1600" dirty="0"/>
          </a:p>
        </p:txBody>
      </p:sp>
      <p:sp>
        <p:nvSpPr>
          <p:cNvPr id="5" name="Shape 3"/>
          <p:cNvSpPr/>
          <p:nvPr/>
        </p:nvSpPr>
        <p:spPr>
          <a:xfrm>
            <a:off x="548640" y="2468880"/>
            <a:ext cx="1993392" cy="2834640"/>
          </a:xfrm>
          <a:prstGeom prst="roundRect">
            <a:avLst>
              <a:gd name="adj" fmla="val 3670"/>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6" name="Shape 4"/>
          <p:cNvSpPr/>
          <p:nvPr/>
        </p:nvSpPr>
        <p:spPr>
          <a:xfrm>
            <a:off x="804672" y="2743200"/>
            <a:ext cx="512064" cy="512064"/>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7" name="Image 0" descr="preencoded.png">    </p:cNvPr>
          <p:cNvPicPr>
            <a:picLocks noChangeAspect="1"/>
          </p:cNvPicPr>
          <p:nvPr/>
        </p:nvPicPr>
        <p:blipFill>
          <a:blip r:embed="rId1"/>
          <a:stretch>
            <a:fillRect/>
          </a:stretch>
        </p:blipFill>
        <p:spPr>
          <a:xfrm>
            <a:off x="932688" y="2871216"/>
            <a:ext cx="256032" cy="256032"/>
          </a:xfrm>
          <a:prstGeom prst="rect">
            <a:avLst/>
          </a:prstGeom>
        </p:spPr>
      </p:pic>
      <p:sp>
        <p:nvSpPr>
          <p:cNvPr id="8" name="Text 5"/>
          <p:cNvSpPr/>
          <p:nvPr/>
        </p:nvSpPr>
        <p:spPr>
          <a:xfrm>
            <a:off x="804672"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1</a:t>
            </a:r>
            <a:endParaRPr lang="en-US" sz="1000" dirty="0"/>
          </a:p>
        </p:txBody>
      </p:sp>
      <p:sp>
        <p:nvSpPr>
          <p:cNvPr id="9" name="Text 6"/>
          <p:cNvSpPr/>
          <p:nvPr/>
        </p:nvSpPr>
        <p:spPr>
          <a:xfrm>
            <a:off x="804672" y="3639312"/>
            <a:ext cx="1536192" cy="50292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TRAQOM</a:t>
            </a:r>
            <a:endParaRPr lang="en-US" sz="1400" dirty="0"/>
          </a:p>
        </p:txBody>
      </p:sp>
      <p:sp>
        <p:nvSpPr>
          <p:cNvPr id="10" name="Text 7"/>
          <p:cNvSpPr/>
          <p:nvPr/>
        </p:nvSpPr>
        <p:spPr>
          <a:xfrm>
            <a:off x="804672" y="4160520"/>
            <a:ext cx="1572768" cy="1005840"/>
          </a:xfrm>
          <a:prstGeom prst="rect">
            <a:avLst/>
          </a:prstGeom>
          <a:noFill/>
          <a:ln/>
        </p:spPr>
        <p:txBody>
          <a:bodyPr wrap="square" rtlCol="0" anchor="ctr"/>
          <a:lstStyle/>
          <a:p>
            <a:pPr indent="0" marL="0">
              <a:buNone/>
            </a:pPr>
            <a:r>
              <a:rPr lang="en-US" sz="1100" dirty="0">
                <a:solidFill>
                  <a:srgbClr val="6B6862"/>
                </a:solidFill>
                <a:latin typeface="Calibri" pitchFamily="34" charset="0"/>
                <a:ea typeface="Calibri" pitchFamily="34" charset="-122"/>
                <a:cs typeface="Calibri" pitchFamily="34" charset="-120"/>
              </a:rPr>
              <a:t>Scan the TRAQOM QR code on the LMS and complete the survey.</a:t>
            </a:r>
            <a:endParaRPr lang="en-US" sz="1100" dirty="0"/>
          </a:p>
        </p:txBody>
      </p:sp>
      <p:pic>
        <p:nvPicPr>
          <p:cNvPr id="11" name="Image 1" descr="preencoded.png">    </p:cNvPr>
          <p:cNvPicPr>
            <a:picLocks noChangeAspect="1"/>
          </p:cNvPicPr>
          <p:nvPr/>
        </p:nvPicPr>
        <p:blipFill>
          <a:blip r:embed="rId2"/>
          <a:stretch>
            <a:fillRect/>
          </a:stretch>
        </p:blipFill>
        <p:spPr>
          <a:xfrm>
            <a:off x="2596896" y="3813048"/>
            <a:ext cx="146304" cy="146304"/>
          </a:xfrm>
          <a:prstGeom prst="rect">
            <a:avLst/>
          </a:prstGeom>
        </p:spPr>
      </p:pic>
      <p:sp>
        <p:nvSpPr>
          <p:cNvPr id="12" name="Shape 8"/>
          <p:cNvSpPr/>
          <p:nvPr/>
        </p:nvSpPr>
        <p:spPr>
          <a:xfrm>
            <a:off x="2798064" y="2468880"/>
            <a:ext cx="1993392" cy="2834640"/>
          </a:xfrm>
          <a:prstGeom prst="roundRect">
            <a:avLst>
              <a:gd name="adj" fmla="val 3670"/>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3" name="Shape 9"/>
          <p:cNvSpPr/>
          <p:nvPr/>
        </p:nvSpPr>
        <p:spPr>
          <a:xfrm>
            <a:off x="3054096" y="2743200"/>
            <a:ext cx="512064" cy="512064"/>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4" name="Image 2" descr="preencoded.png">    </p:cNvPr>
          <p:cNvPicPr>
            <a:picLocks noChangeAspect="1"/>
          </p:cNvPicPr>
          <p:nvPr/>
        </p:nvPicPr>
        <p:blipFill>
          <a:blip r:embed="rId3"/>
          <a:stretch>
            <a:fillRect/>
          </a:stretch>
        </p:blipFill>
        <p:spPr>
          <a:xfrm>
            <a:off x="3182112" y="2871216"/>
            <a:ext cx="256032" cy="256032"/>
          </a:xfrm>
          <a:prstGeom prst="rect">
            <a:avLst/>
          </a:prstGeom>
        </p:spPr>
      </p:pic>
      <p:sp>
        <p:nvSpPr>
          <p:cNvPr id="15" name="Text 10"/>
          <p:cNvSpPr/>
          <p:nvPr/>
        </p:nvSpPr>
        <p:spPr>
          <a:xfrm>
            <a:off x="3054096"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2</a:t>
            </a:r>
            <a:endParaRPr lang="en-US" sz="1000" dirty="0"/>
          </a:p>
        </p:txBody>
      </p:sp>
      <p:sp>
        <p:nvSpPr>
          <p:cNvPr id="16" name="Text 11"/>
          <p:cNvSpPr/>
          <p:nvPr/>
        </p:nvSpPr>
        <p:spPr>
          <a:xfrm>
            <a:off x="3054096" y="3639312"/>
            <a:ext cx="1536192" cy="502920"/>
          </a:xfrm>
          <a:prstGeom prst="rect">
            <a:avLst/>
          </a:prstGeom>
          <a:noFill/>
          <a:ln/>
        </p:spPr>
        <p:txBody>
          <a:bodyPr wrap="square"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Attendance</a:t>
            </a:r>
            <a:endParaRPr lang="en-US" sz="1400" dirty="0"/>
          </a:p>
        </p:txBody>
      </p:sp>
      <p:sp>
        <p:nvSpPr>
          <p:cNvPr id="17" name="Text 12"/>
          <p:cNvSpPr/>
          <p:nvPr/>
        </p:nvSpPr>
        <p:spPr>
          <a:xfrm>
            <a:off x="3054096" y="4160520"/>
            <a:ext cx="1572768" cy="1005840"/>
          </a:xfrm>
          <a:prstGeom prst="rect">
            <a:avLst/>
          </a:prstGeom>
          <a:noFill/>
          <a:ln/>
        </p:spPr>
        <p:txBody>
          <a:bodyPr wrap="square" rtlCol="0" anchor="ctr"/>
          <a:lstStyle/>
          <a:p>
            <a:pPr indent="0" marL="0">
              <a:buNone/>
            </a:pPr>
            <a:r>
              <a:rPr lang="en-US" sz="1100" dirty="0">
                <a:solidFill>
                  <a:srgbClr val="C9C4B9"/>
                </a:solidFill>
                <a:latin typeface="Calibri" pitchFamily="34" charset="0"/>
                <a:ea typeface="Calibri" pitchFamily="34" charset="-122"/>
                <a:cs typeface="Calibri" pitchFamily="34" charset="-120"/>
              </a:rPr>
              <a:t>Take the assessment digital attendance.</a:t>
            </a:r>
            <a:endParaRPr lang="en-US" sz="1100" dirty="0"/>
          </a:p>
        </p:txBody>
      </p:sp>
      <p:pic>
        <p:nvPicPr>
          <p:cNvPr id="18" name="Image 3" descr="preencoded.png">    </p:cNvPr>
          <p:cNvPicPr>
            <a:picLocks noChangeAspect="1"/>
          </p:cNvPicPr>
          <p:nvPr/>
        </p:nvPicPr>
        <p:blipFill>
          <a:blip r:embed="rId4"/>
          <a:stretch>
            <a:fillRect/>
          </a:stretch>
        </p:blipFill>
        <p:spPr>
          <a:xfrm>
            <a:off x="4846320" y="3813048"/>
            <a:ext cx="146304" cy="146304"/>
          </a:xfrm>
          <a:prstGeom prst="rect">
            <a:avLst/>
          </a:prstGeom>
        </p:spPr>
      </p:pic>
      <p:sp>
        <p:nvSpPr>
          <p:cNvPr id="19" name="Shape 13"/>
          <p:cNvSpPr/>
          <p:nvPr/>
        </p:nvSpPr>
        <p:spPr>
          <a:xfrm>
            <a:off x="5047488" y="2468880"/>
            <a:ext cx="1993392" cy="2834640"/>
          </a:xfrm>
          <a:prstGeom prst="roundRect">
            <a:avLst>
              <a:gd name="adj" fmla="val 3670"/>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0" name="Shape 14"/>
          <p:cNvSpPr/>
          <p:nvPr/>
        </p:nvSpPr>
        <p:spPr>
          <a:xfrm>
            <a:off x="5303520" y="2743200"/>
            <a:ext cx="512064" cy="512064"/>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21" name="Image 4" descr="preencoded.png">    </p:cNvPr>
          <p:cNvPicPr>
            <a:picLocks noChangeAspect="1"/>
          </p:cNvPicPr>
          <p:nvPr/>
        </p:nvPicPr>
        <p:blipFill>
          <a:blip r:embed="rId5"/>
          <a:stretch>
            <a:fillRect/>
          </a:stretch>
        </p:blipFill>
        <p:spPr>
          <a:xfrm>
            <a:off x="5431536" y="2871216"/>
            <a:ext cx="256032" cy="256032"/>
          </a:xfrm>
          <a:prstGeom prst="rect">
            <a:avLst/>
          </a:prstGeom>
        </p:spPr>
      </p:pic>
      <p:sp>
        <p:nvSpPr>
          <p:cNvPr id="22" name="Text 15"/>
          <p:cNvSpPr/>
          <p:nvPr/>
        </p:nvSpPr>
        <p:spPr>
          <a:xfrm>
            <a:off x="5303520"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3</a:t>
            </a:r>
            <a:endParaRPr lang="en-US" sz="1000" dirty="0"/>
          </a:p>
        </p:txBody>
      </p:sp>
      <p:sp>
        <p:nvSpPr>
          <p:cNvPr id="23" name="Text 16"/>
          <p:cNvSpPr/>
          <p:nvPr/>
        </p:nvSpPr>
        <p:spPr>
          <a:xfrm>
            <a:off x="5303520" y="3639312"/>
            <a:ext cx="1536192" cy="50292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Assessment</a:t>
            </a:r>
            <a:endParaRPr lang="en-US" sz="1400" dirty="0"/>
          </a:p>
        </p:txBody>
      </p:sp>
      <p:sp>
        <p:nvSpPr>
          <p:cNvPr id="24" name="Text 17"/>
          <p:cNvSpPr/>
          <p:nvPr/>
        </p:nvSpPr>
        <p:spPr>
          <a:xfrm>
            <a:off x="5303520" y="4160520"/>
            <a:ext cx="1572768" cy="1005840"/>
          </a:xfrm>
          <a:prstGeom prst="rect">
            <a:avLst/>
          </a:prstGeom>
          <a:noFill/>
          <a:ln/>
        </p:spPr>
        <p:txBody>
          <a:bodyPr wrap="square" rtlCol="0" anchor="ctr"/>
          <a:lstStyle/>
          <a:p>
            <a:pPr indent="0" marL="0">
              <a:buNone/>
            </a:pPr>
            <a:r>
              <a:rPr lang="en-US" sz="1100" dirty="0">
                <a:solidFill>
                  <a:srgbClr val="6B6862"/>
                </a:solidFill>
                <a:latin typeface="Calibri" pitchFamily="34" charset="0"/>
                <a:ea typeface="Calibri" pitchFamily="34" charset="-122"/>
                <a:cs typeface="Calibri" pitchFamily="34" charset="-120"/>
              </a:rPr>
              <a:t>Complete the WA &amp; PP.</a:t>
            </a:r>
            <a:endParaRPr lang="en-US" sz="1100" dirty="0"/>
          </a:p>
        </p:txBody>
      </p:sp>
      <p:pic>
        <p:nvPicPr>
          <p:cNvPr id="25" name="Image 5" descr="preencoded.png">    </p:cNvPr>
          <p:cNvPicPr>
            <a:picLocks noChangeAspect="1"/>
          </p:cNvPicPr>
          <p:nvPr/>
        </p:nvPicPr>
        <p:blipFill>
          <a:blip r:embed="rId6"/>
          <a:stretch>
            <a:fillRect/>
          </a:stretch>
        </p:blipFill>
        <p:spPr>
          <a:xfrm>
            <a:off x="7095744" y="3813048"/>
            <a:ext cx="146304" cy="146304"/>
          </a:xfrm>
          <a:prstGeom prst="rect">
            <a:avLst/>
          </a:prstGeom>
        </p:spPr>
      </p:pic>
      <p:sp>
        <p:nvSpPr>
          <p:cNvPr id="26" name="Shape 18"/>
          <p:cNvSpPr/>
          <p:nvPr/>
        </p:nvSpPr>
        <p:spPr>
          <a:xfrm>
            <a:off x="7296912" y="2468880"/>
            <a:ext cx="1993392" cy="2834640"/>
          </a:xfrm>
          <a:prstGeom prst="roundRect">
            <a:avLst>
              <a:gd name="adj" fmla="val 3670"/>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27" name="Shape 19"/>
          <p:cNvSpPr/>
          <p:nvPr/>
        </p:nvSpPr>
        <p:spPr>
          <a:xfrm>
            <a:off x="7552944" y="2743200"/>
            <a:ext cx="512064" cy="512064"/>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8" name="Image 6" descr="preencoded.png">    </p:cNvPr>
          <p:cNvPicPr>
            <a:picLocks noChangeAspect="1"/>
          </p:cNvPicPr>
          <p:nvPr/>
        </p:nvPicPr>
        <p:blipFill>
          <a:blip r:embed="rId7"/>
          <a:stretch>
            <a:fillRect/>
          </a:stretch>
        </p:blipFill>
        <p:spPr>
          <a:xfrm>
            <a:off x="7680960" y="2871216"/>
            <a:ext cx="256032" cy="256032"/>
          </a:xfrm>
          <a:prstGeom prst="rect">
            <a:avLst/>
          </a:prstGeom>
        </p:spPr>
      </p:pic>
      <p:sp>
        <p:nvSpPr>
          <p:cNvPr id="29" name="Text 20"/>
          <p:cNvSpPr/>
          <p:nvPr/>
        </p:nvSpPr>
        <p:spPr>
          <a:xfrm>
            <a:off x="7552944"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4</a:t>
            </a:r>
            <a:endParaRPr lang="en-US" sz="1000" dirty="0"/>
          </a:p>
        </p:txBody>
      </p:sp>
      <p:sp>
        <p:nvSpPr>
          <p:cNvPr id="30" name="Text 21"/>
          <p:cNvSpPr/>
          <p:nvPr/>
        </p:nvSpPr>
        <p:spPr>
          <a:xfrm>
            <a:off x="7552944" y="3639312"/>
            <a:ext cx="1536192" cy="502920"/>
          </a:xfrm>
          <a:prstGeom prst="rect">
            <a:avLst/>
          </a:prstGeom>
          <a:noFill/>
          <a:ln/>
        </p:spPr>
        <p:txBody>
          <a:bodyPr wrap="square"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Submit Answers</a:t>
            </a:r>
            <a:endParaRPr lang="en-US" sz="1400" dirty="0"/>
          </a:p>
        </p:txBody>
      </p:sp>
      <p:sp>
        <p:nvSpPr>
          <p:cNvPr id="31" name="Text 22"/>
          <p:cNvSpPr/>
          <p:nvPr/>
        </p:nvSpPr>
        <p:spPr>
          <a:xfrm>
            <a:off x="7552944" y="4160520"/>
            <a:ext cx="1572768" cy="1005840"/>
          </a:xfrm>
          <a:prstGeom prst="rect">
            <a:avLst/>
          </a:prstGeom>
          <a:noFill/>
          <a:ln/>
        </p:spPr>
        <p:txBody>
          <a:bodyPr wrap="square" rtlCol="0" anchor="ctr"/>
          <a:lstStyle/>
          <a:p>
            <a:pPr indent="0" marL="0">
              <a:buNone/>
            </a:pPr>
            <a:r>
              <a:rPr lang="en-US" sz="1100" dirty="0">
                <a:solidFill>
                  <a:srgbClr val="C9C4B9"/>
                </a:solidFill>
                <a:latin typeface="Calibri" pitchFamily="34" charset="0"/>
                <a:ea typeface="Calibri" pitchFamily="34" charset="-122"/>
                <a:cs typeface="Calibri" pitchFamily="34" charset="-120"/>
              </a:rPr>
              <a:t>Submit your assessment answers on the LMS.</a:t>
            </a:r>
            <a:endParaRPr lang="en-US" sz="1100" dirty="0"/>
          </a:p>
        </p:txBody>
      </p:sp>
      <p:pic>
        <p:nvPicPr>
          <p:cNvPr id="32" name="Image 7" descr="preencoded.png">    </p:cNvPr>
          <p:cNvPicPr>
            <a:picLocks noChangeAspect="1"/>
          </p:cNvPicPr>
          <p:nvPr/>
        </p:nvPicPr>
        <p:blipFill>
          <a:blip r:embed="rId8"/>
          <a:stretch>
            <a:fillRect/>
          </a:stretch>
        </p:blipFill>
        <p:spPr>
          <a:xfrm>
            <a:off x="9345168" y="3813048"/>
            <a:ext cx="146304" cy="146304"/>
          </a:xfrm>
          <a:prstGeom prst="rect">
            <a:avLst/>
          </a:prstGeom>
        </p:spPr>
      </p:pic>
      <p:sp>
        <p:nvSpPr>
          <p:cNvPr id="33" name="Shape 23"/>
          <p:cNvSpPr/>
          <p:nvPr/>
        </p:nvSpPr>
        <p:spPr>
          <a:xfrm>
            <a:off x="9546336" y="2468880"/>
            <a:ext cx="1993392" cy="2834640"/>
          </a:xfrm>
          <a:prstGeom prst="roundRect">
            <a:avLst>
              <a:gd name="adj" fmla="val 3670"/>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34" name="Shape 24"/>
          <p:cNvSpPr/>
          <p:nvPr/>
        </p:nvSpPr>
        <p:spPr>
          <a:xfrm>
            <a:off x="9802368" y="2743200"/>
            <a:ext cx="512064" cy="512064"/>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35" name="Image 8" descr="preencoded.png">    </p:cNvPr>
          <p:cNvPicPr>
            <a:picLocks noChangeAspect="1"/>
          </p:cNvPicPr>
          <p:nvPr/>
        </p:nvPicPr>
        <p:blipFill>
          <a:blip r:embed="rId9"/>
          <a:stretch>
            <a:fillRect/>
          </a:stretch>
        </p:blipFill>
        <p:spPr>
          <a:xfrm>
            <a:off x="9930384" y="2871216"/>
            <a:ext cx="256032" cy="256032"/>
          </a:xfrm>
          <a:prstGeom prst="rect">
            <a:avLst/>
          </a:prstGeom>
        </p:spPr>
      </p:pic>
      <p:sp>
        <p:nvSpPr>
          <p:cNvPr id="36" name="Text 25"/>
          <p:cNvSpPr/>
          <p:nvPr/>
        </p:nvSpPr>
        <p:spPr>
          <a:xfrm>
            <a:off x="9802368"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5</a:t>
            </a:r>
            <a:endParaRPr lang="en-US" sz="1000" dirty="0"/>
          </a:p>
        </p:txBody>
      </p:sp>
      <p:sp>
        <p:nvSpPr>
          <p:cNvPr id="37" name="Text 26"/>
          <p:cNvSpPr/>
          <p:nvPr/>
        </p:nvSpPr>
        <p:spPr>
          <a:xfrm>
            <a:off x="9802368" y="3639312"/>
            <a:ext cx="1536192" cy="50292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Sign the Record</a:t>
            </a:r>
            <a:endParaRPr lang="en-US" sz="1400" dirty="0"/>
          </a:p>
        </p:txBody>
      </p:sp>
      <p:sp>
        <p:nvSpPr>
          <p:cNvPr id="38" name="Text 27"/>
          <p:cNvSpPr/>
          <p:nvPr/>
        </p:nvSpPr>
        <p:spPr>
          <a:xfrm>
            <a:off x="9802368" y="4160520"/>
            <a:ext cx="1572768" cy="1005840"/>
          </a:xfrm>
          <a:prstGeom prst="rect">
            <a:avLst/>
          </a:prstGeom>
          <a:noFill/>
          <a:ln/>
        </p:spPr>
        <p:txBody>
          <a:bodyPr wrap="square" rtlCol="0" anchor="ctr"/>
          <a:lstStyle/>
          <a:p>
            <a:pPr indent="0" marL="0">
              <a:buNone/>
            </a:pPr>
            <a:r>
              <a:rPr lang="en-US" sz="1100" dirty="0">
                <a:solidFill>
                  <a:srgbClr val="6B6862"/>
                </a:solidFill>
                <a:latin typeface="Calibri" pitchFamily="34" charset="0"/>
                <a:ea typeface="Calibri" pitchFamily="34" charset="-122"/>
                <a:cs typeface="Calibri" pitchFamily="34" charset="-120"/>
              </a:rPr>
              <a:t>Sign your Assessment Summary Record.</a:t>
            </a:r>
            <a:endParaRPr lang="en-US" sz="1100" dirty="0"/>
          </a:p>
        </p:txBody>
      </p:sp>
      <p:sp>
        <p:nvSpPr>
          <p:cNvPr id="39" name="Text 28"/>
          <p:cNvSpPr/>
          <p:nvPr/>
        </p:nvSpPr>
        <p:spPr>
          <a:xfrm>
            <a:off x="548640" y="5577840"/>
            <a:ext cx="11064240" cy="320040"/>
          </a:xfrm>
          <a:prstGeom prst="rect">
            <a:avLst/>
          </a:prstGeom>
          <a:noFill/>
          <a:ln/>
        </p:spPr>
        <p:txBody>
          <a:bodyPr wrap="square" rtlCol="0" anchor="ctr"/>
          <a:lstStyle/>
          <a:p>
            <a:pPr indent="0" marL="0">
              <a:buNone/>
            </a:pPr>
            <a:r>
              <a:rPr lang="en-US" sz="1300" b="1" i="1" dirty="0">
                <a:solidFill>
                  <a:srgbClr val="D97757"/>
                </a:solidFill>
                <a:latin typeface="Calibri" pitchFamily="34" charset="0"/>
                <a:ea typeface="Calibri" pitchFamily="34" charset="-122"/>
                <a:cs typeface="Calibri" pitchFamily="34" charset="-120"/>
              </a:rPr>
              <a:t>TIP  </a:t>
            </a:r>
            <a:pPr indent="0" marL="0">
              <a:buNone/>
            </a:pPr>
            <a:r>
              <a:rPr lang="en-US" sz="1300" i="1" dirty="0">
                <a:solidFill>
                  <a:srgbClr val="6B6862"/>
                </a:solidFill>
                <a:latin typeface="Calibri" pitchFamily="34" charset="0"/>
                <a:ea typeface="Calibri" pitchFamily="34" charset="-122"/>
                <a:cs typeface="Calibri" pitchFamily="34" charset="-120"/>
              </a:rPr>
              <a:t>Courseware and the assessment are on the LMS: https://lms-tms.tertiaryinfotech.com/</a:t>
            </a:r>
            <a:endParaRPr lang="en-US" sz="1300" dirty="0"/>
          </a:p>
        </p:txBody>
      </p:sp>
      <p:sp>
        <p:nvSpPr>
          <p:cNvPr id="40" name="Text 29"/>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41" name="Text 30"/>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42" name="Text 31"/>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160</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3">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Certification &amp; TRAQOM Survey</a:t>
            </a:r>
            <a:endParaRPr lang="en-US" sz="3000" dirty="0"/>
          </a:p>
        </p:txBody>
      </p:sp>
      <p:sp>
        <p:nvSpPr>
          <p:cNvPr id="4" name="Shape 2"/>
          <p:cNvSpPr/>
          <p:nvPr/>
        </p:nvSpPr>
        <p:spPr>
          <a:xfrm>
            <a:off x="548640" y="1920240"/>
            <a:ext cx="5394960" cy="3108960"/>
          </a:xfrm>
          <a:prstGeom prst="roundRect">
            <a:avLst>
              <a:gd name="adj" fmla="val 235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6868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1005840" y="2331720"/>
            <a:ext cx="292608" cy="292608"/>
          </a:xfrm>
          <a:prstGeom prst="rect">
            <a:avLst/>
          </a:prstGeom>
        </p:spPr>
      </p:pic>
      <p:sp>
        <p:nvSpPr>
          <p:cNvPr id="7" name="Text 4"/>
          <p:cNvSpPr/>
          <p:nvPr/>
        </p:nvSpPr>
        <p:spPr>
          <a:xfrm>
            <a:off x="1554480" y="2240280"/>
            <a:ext cx="4206240" cy="548640"/>
          </a:xfrm>
          <a:prstGeom prst="rect">
            <a:avLst/>
          </a:prstGeom>
          <a:noFill/>
          <a:ln/>
        </p:spPr>
        <p:txBody>
          <a:bodyPr wrap="square" rtlCol="0" anchor="ctr"/>
          <a:lstStyle/>
          <a:p>
            <a:pPr indent="0" marL="0">
              <a:buNone/>
            </a:pPr>
            <a:r>
              <a:rPr lang="en-US" sz="1700" b="1" dirty="0">
                <a:solidFill>
                  <a:srgbClr val="21201C"/>
                </a:solidFill>
                <a:latin typeface="Cambria" pitchFamily="34" charset="0"/>
                <a:ea typeface="Cambria" pitchFamily="34" charset="-122"/>
                <a:cs typeface="Cambria" pitchFamily="34" charset="-120"/>
              </a:rPr>
              <a:t>TRAQOM Survey (Mandatory)</a:t>
            </a:r>
            <a:endParaRPr lang="en-US" sz="1700" dirty="0"/>
          </a:p>
        </p:txBody>
      </p:sp>
      <p:sp>
        <p:nvSpPr>
          <p:cNvPr id="8" name="Text 5"/>
          <p:cNvSpPr/>
          <p:nvPr/>
        </p:nvSpPr>
        <p:spPr>
          <a:xfrm>
            <a:off x="868680" y="3017520"/>
            <a:ext cx="4754880" cy="182880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Complete the certification &amp; TRAQOM survey to receive your certificate.</a:t>
            </a:r>
            <a:endParaRPr lang="en-US" sz="1400" dirty="0"/>
          </a:p>
          <a:p>
            <a:pPr indent="0" marL="0">
              <a:buNone/>
            </a:pPr>
            <a:endParaRPr lang="en-US" sz="1400" dirty="0"/>
          </a:p>
          <a:p>
            <a:pPr indent="0" marL="0">
              <a:buNone/>
            </a:pPr>
            <a:r>
              <a:rPr lang="en-US" sz="1400" dirty="0">
                <a:solidFill>
                  <a:srgbClr val="21201C"/>
                </a:solidFill>
                <a:latin typeface="Calibri" pitchFamily="34" charset="0"/>
                <a:ea typeface="Calibri" pitchFamily="34" charset="-122"/>
                <a:cs typeface="Calibri" pitchFamily="34" charset="-120"/>
              </a:rPr>
              <a:t>https://lms-tms.tertiaryinfotech.com/</a:t>
            </a:r>
            <a:endParaRPr lang="en-US" sz="1400" dirty="0"/>
          </a:p>
        </p:txBody>
      </p:sp>
      <p:sp>
        <p:nvSpPr>
          <p:cNvPr id="9" name="Shape 6"/>
          <p:cNvSpPr/>
          <p:nvPr/>
        </p:nvSpPr>
        <p:spPr>
          <a:xfrm>
            <a:off x="6217920" y="1920240"/>
            <a:ext cx="5394960" cy="3108960"/>
          </a:xfrm>
          <a:prstGeom prst="roundRect">
            <a:avLst>
              <a:gd name="adj" fmla="val 235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3796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6675120" y="2331720"/>
            <a:ext cx="292608" cy="292608"/>
          </a:xfrm>
          <a:prstGeom prst="rect">
            <a:avLst/>
          </a:prstGeom>
        </p:spPr>
      </p:pic>
      <p:sp>
        <p:nvSpPr>
          <p:cNvPr id="12" name="Text 8"/>
          <p:cNvSpPr/>
          <p:nvPr/>
        </p:nvSpPr>
        <p:spPr>
          <a:xfrm>
            <a:off x="7223760" y="2240280"/>
            <a:ext cx="4206240" cy="548640"/>
          </a:xfrm>
          <a:prstGeom prst="rect">
            <a:avLst/>
          </a:prstGeom>
          <a:noFill/>
          <a:ln/>
        </p:spPr>
        <p:txBody>
          <a:bodyPr wrap="square"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Digital Attendance</a:t>
            </a:r>
            <a:endParaRPr lang="en-US" sz="1700" dirty="0"/>
          </a:p>
        </p:txBody>
      </p:sp>
      <p:sp>
        <p:nvSpPr>
          <p:cNvPr id="13" name="Text 9"/>
          <p:cNvSpPr/>
          <p:nvPr/>
        </p:nvSpPr>
        <p:spPr>
          <a:xfrm>
            <a:off x="6537960" y="3017520"/>
            <a:ext cx="4754880" cy="18288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Remember to take AM, PM and Assessment digital attendance — required for your funding.</a:t>
            </a:r>
            <a:endParaRPr lang="en-US" sz="14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4">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1463040" y="-1463040"/>
            <a:ext cx="4572000" cy="4572000"/>
          </a:xfrm>
          <a:prstGeom prst="ellipse">
            <a:avLst/>
          </a:prstGeom>
          <a:solidFill>
            <a:srgbClr val="D97757">
              <a:alpha val="16000"/>
            </a:srgbClr>
          </a:solidFill>
          <a:ln/>
        </p:spPr>
        <p:txBody>
          <a:bodyPr/>
          <a:p/>
        </p:txBody>
      </p:sp>
      <p:sp>
        <p:nvSpPr>
          <p:cNvPr id="3" name="Shape 1"/>
          <p:cNvSpPr/>
          <p:nvPr/>
        </p:nvSpPr>
        <p:spPr>
          <a:xfrm>
            <a:off x="10058400" y="4023360"/>
            <a:ext cx="3657600" cy="3657600"/>
          </a:xfrm>
          <a:prstGeom prst="ellipse">
            <a:avLst/>
          </a:prstGeom>
          <a:solidFill>
            <a:srgbClr val="3A7D7B">
              <a:alpha val="14000"/>
            </a:srgbClr>
          </a:solidFill>
          <a:ln/>
        </p:spPr>
        <p:txBody>
          <a:bodyPr/>
          <a:p/>
        </p:txBody>
      </p:sp>
      <p:sp>
        <p:nvSpPr>
          <p:cNvPr id="4" name="Text 2"/>
          <p:cNvSpPr/>
          <p:nvPr/>
        </p:nvSpPr>
        <p:spPr>
          <a:xfrm>
            <a:off x="822960" y="2377440"/>
            <a:ext cx="10058400" cy="1097280"/>
          </a:xfrm>
          <a:prstGeom prst="rect">
            <a:avLst/>
          </a:prstGeom>
          <a:noFill/>
          <a:ln/>
        </p:spPr>
        <p:txBody>
          <a:bodyPr wrap="square"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Thank You!</a:t>
            </a:r>
            <a:endParaRPr lang="en-US" sz="5400" dirty="0"/>
          </a:p>
        </p:txBody>
      </p:sp>
      <p:sp>
        <p:nvSpPr>
          <p:cNvPr id="5" name="Text 3"/>
          <p:cNvSpPr/>
          <p:nvPr/>
        </p:nvSpPr>
        <p:spPr>
          <a:xfrm>
            <a:off x="822960" y="3566160"/>
            <a:ext cx="10058400" cy="457200"/>
          </a:xfrm>
          <a:prstGeom prst="rect">
            <a:avLst/>
          </a:prstGeom>
          <a:noFill/>
          <a:ln/>
        </p:spPr>
        <p:txBody>
          <a:bodyPr wrap="square" rtlCol="0" anchor="ctr"/>
          <a:lstStyle/>
          <a:p>
            <a:pPr indent="0" marL="0">
              <a:buNone/>
            </a:pPr>
            <a:r>
              <a:rPr lang="en-US" sz="1800" dirty="0">
                <a:solidFill>
                  <a:srgbClr val="C9C4B9"/>
                </a:solidFill>
                <a:latin typeface="Calibri" pitchFamily="34" charset="0"/>
                <a:ea typeface="Calibri" pitchFamily="34" charset="-122"/>
                <a:cs typeface="Calibri" pitchFamily="34" charset="-120"/>
              </a:rPr>
              <a:t>Questions? We're here to help — during and after class.</a:t>
            </a:r>
            <a:endParaRPr lang="en-US" sz="1800" dirty="0"/>
          </a:p>
        </p:txBody>
      </p:sp>
      <p:sp>
        <p:nvSpPr>
          <p:cNvPr id="6" name="Text 4"/>
          <p:cNvSpPr/>
          <p:nvPr/>
        </p:nvSpPr>
        <p:spPr>
          <a:xfrm>
            <a:off x="822960" y="4206240"/>
            <a:ext cx="10058400" cy="365760"/>
          </a:xfrm>
          <a:prstGeom prst="rect">
            <a:avLst/>
          </a:prstGeom>
          <a:noFill/>
          <a:ln/>
        </p:spPr>
        <p:txBody>
          <a:bodyPr wrap="square" rtlCol="0" anchor="ctr"/>
          <a:lstStyle/>
          <a:p>
            <a:pPr indent="0" marL="0">
              <a:buNone/>
            </a:pPr>
            <a:r>
              <a:rPr lang="en-US" sz="1500" dirty="0">
                <a:solidFill>
                  <a:srgbClr val="D97757"/>
                </a:solidFill>
                <a:latin typeface="Calibri" pitchFamily="34" charset="0"/>
                <a:ea typeface="Calibri" pitchFamily="34" charset="-122"/>
                <a:cs typeface="Calibri" pitchFamily="34" charset="-120"/>
              </a:rPr>
              <a:t>enquiry@tertiaryinfotech.com   |   +65 6100 0613</a:t>
            </a:r>
            <a:endParaRPr lang="en-US" sz="15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WHAT YOU WILL ACHIEVE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Learning Outcomes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By the end of the two days you will be able to: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LO1 · Conceptualise</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Conceptualise content ideas that meet marketing objectives, and map them into digital storyboards.</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LO2 · Identify</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Identify content requirements from customer preferences, and decide how often to publish.</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LO3 · Determine</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Determine content types and styles, and the modes and processes for distributing content.</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LO4 · Develop</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Develop guidelines for executing the content strategy, with suitable delivery modes and responsible AI practices.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TOOLS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ChatGPT, ChatGPT Work and Codex</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One desktop app. The toggle above the composer picks Chat or Work; the sidebar holds Codex.</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Codex — the team's home</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Lead's chat; role cards; skills in .agents/skills/; subagents by asking; scripts and the video.</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694944"/>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ChatGPT and Work — the team's apps</a:t>
            </a:r>
          </a:p>
        </p:txBody>
      </p:sp>
      <p:sp>
        <p:nvSpPr>
          <p:cNvPr id="15" name="TextBox 14"/>
          <p:cNvSpPr txBox="1"/>
          <p:nvPr/>
        </p:nvSpPr>
        <p:spPr>
          <a:xfrm>
            <a:off x="4547615" y="3145535"/>
            <a:ext cx="3066287" cy="241401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Project for shared files; plugins (Drive, Gmail); skills; scheduled tasks; @Sites.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694944"/>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Dots and workspace agents · optional</a:t>
            </a:r>
          </a:p>
        </p:txBody>
      </p:sp>
      <p:sp>
        <p:nvSpPr>
          <p:cNvPr id="19" name="TextBox 18"/>
          <p:cNvSpPr txBox="1"/>
          <p:nvPr/>
        </p:nvSpPr>
        <p:spPr>
          <a:xfrm>
            <a:off x="8308847" y="3145535"/>
            <a:ext cx="3066287" cy="241401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An always-on Lead (Pro, Business Premium) and shared agents (Business). A demo at the end.</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PRICING</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Which Plan Has What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Features by ChatGPT plan, checked 8 Oct 2026. Prices change — check chatgpt.com/pricing.</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304495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FEATURE</a:t>
            </a:r>
          </a:p>
        </p:txBody>
      </p:sp>
      <p:sp>
        <p:nvSpPr>
          <p:cNvPr id="10" name="TextBox 9"/>
          <p:cNvSpPr txBox="1"/>
          <p:nvPr/>
        </p:nvSpPr>
        <p:spPr>
          <a:xfrm>
            <a:off x="4069079" y="2203703"/>
            <a:ext cx="415137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PLANS</a:t>
            </a:r>
          </a:p>
        </p:txBody>
      </p:sp>
      <p:sp>
        <p:nvSpPr>
          <p:cNvPr id="11" name="TextBox 10"/>
          <p:cNvSpPr txBox="1"/>
          <p:nvPr/>
        </p:nvSpPr>
        <p:spPr>
          <a:xfrm>
            <a:off x="8494776" y="2203703"/>
            <a:ext cx="304495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IN THIS COURSE</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304495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ChatGPT Work, Codex</a:t>
            </a:r>
          </a:p>
        </p:txBody>
      </p:sp>
      <p:sp>
        <p:nvSpPr>
          <p:cNvPr id="14" name="TextBox 13"/>
          <p:cNvSpPr txBox="1"/>
          <p:nvPr/>
        </p:nvSpPr>
        <p:spPr>
          <a:xfrm>
            <a:off x="4069079" y="2560320"/>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Plus, Pro, Business, Enterprise</a:t>
            </a:r>
          </a:p>
        </p:txBody>
      </p:sp>
      <p:sp>
        <p:nvSpPr>
          <p:cNvPr id="15" name="TextBox 14"/>
          <p:cNvSpPr txBox="1"/>
          <p:nvPr/>
        </p:nvSpPr>
        <p:spPr>
          <a:xfrm>
            <a:off x="8494776" y="2560320"/>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Every lab</a:t>
            </a:r>
          </a:p>
        </p:txBody>
      </p:sp>
      <p:sp>
        <p:nvSpPr>
          <p:cNvPr id="16" name="TextBox 15"/>
          <p:cNvSpPr txBox="1"/>
          <p:nvPr/>
        </p:nvSpPr>
        <p:spPr>
          <a:xfrm>
            <a:off x="749808" y="3084575"/>
            <a:ext cx="304495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Sites</a:t>
            </a:r>
          </a:p>
        </p:txBody>
      </p:sp>
      <p:sp>
        <p:nvSpPr>
          <p:cNvPr id="17" name="TextBox 16"/>
          <p:cNvSpPr txBox="1"/>
          <p:nvPr/>
        </p:nvSpPr>
        <p:spPr>
          <a:xfrm>
            <a:off x="4069079" y="3084575"/>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Plus, Pro and workspaces (beta)</a:t>
            </a:r>
          </a:p>
        </p:txBody>
      </p:sp>
      <p:sp>
        <p:nvSpPr>
          <p:cNvPr id="18" name="TextBox 17"/>
          <p:cNvSpPr txBox="1"/>
          <p:nvPr/>
        </p:nvSpPr>
        <p:spPr>
          <a:xfrm>
            <a:off x="8494776" y="3084575"/>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11</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304495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Plugins and skills</a:t>
            </a:r>
          </a:p>
        </p:txBody>
      </p:sp>
      <p:sp>
        <p:nvSpPr>
          <p:cNvPr id="21" name="TextBox 20"/>
          <p:cNvSpPr txBox="1"/>
          <p:nvPr/>
        </p:nvSpPr>
        <p:spPr>
          <a:xfrm>
            <a:off x="4069079" y="3608831"/>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Paid plans</a:t>
            </a:r>
          </a:p>
        </p:txBody>
      </p:sp>
      <p:sp>
        <p:nvSpPr>
          <p:cNvPr id="22" name="TextBox 21"/>
          <p:cNvSpPr txBox="1"/>
          <p:nvPr/>
        </p:nvSpPr>
        <p:spPr>
          <a:xfrm>
            <a:off x="8494776" y="3608831"/>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3, 4, 13</a:t>
            </a:r>
          </a:p>
        </p:txBody>
      </p:sp>
      <p:sp>
        <p:nvSpPr>
          <p:cNvPr id="23" name="TextBox 22"/>
          <p:cNvSpPr txBox="1"/>
          <p:nvPr/>
        </p:nvSpPr>
        <p:spPr>
          <a:xfrm>
            <a:off x="749808" y="4133087"/>
            <a:ext cx="304495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Scheduled tasks</a:t>
            </a:r>
          </a:p>
        </p:txBody>
      </p:sp>
      <p:sp>
        <p:nvSpPr>
          <p:cNvPr id="24" name="TextBox 23"/>
          <p:cNvSpPr txBox="1"/>
          <p:nvPr/>
        </p:nvSpPr>
        <p:spPr>
          <a:xfrm>
            <a:off x="4069079" y="4133087"/>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Paid plans — 5 active on Plus, 15 on Pro</a:t>
            </a:r>
          </a:p>
        </p:txBody>
      </p:sp>
      <p:sp>
        <p:nvSpPr>
          <p:cNvPr id="25" name="TextBox 24"/>
          <p:cNvSpPr txBox="1"/>
          <p:nvPr/>
        </p:nvSpPr>
        <p:spPr>
          <a:xfrm>
            <a:off x="8494776" y="4133087"/>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13</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304495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Dots (first one included)</a:t>
            </a:r>
          </a:p>
        </p:txBody>
      </p:sp>
      <p:sp>
        <p:nvSpPr>
          <p:cNvPr id="28" name="TextBox 27"/>
          <p:cNvSpPr txBox="1"/>
          <p:nvPr/>
        </p:nvSpPr>
        <p:spPr>
          <a:xfrm>
            <a:off x="4069079" y="4657344"/>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Pro, Business Premium</a:t>
            </a:r>
          </a:p>
        </p:txBody>
      </p:sp>
      <p:sp>
        <p:nvSpPr>
          <p:cNvPr id="29" name="TextBox 28"/>
          <p:cNvSpPr txBox="1"/>
          <p:nvPr/>
        </p:nvSpPr>
        <p:spPr>
          <a:xfrm>
            <a:off x="8494776" y="4657344"/>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15 demo</a:t>
            </a:r>
          </a:p>
        </p:txBody>
      </p:sp>
      <p:sp>
        <p:nvSpPr>
          <p:cNvPr id="30" name="TextBox 29"/>
          <p:cNvSpPr txBox="1"/>
          <p:nvPr/>
        </p:nvSpPr>
        <p:spPr>
          <a:xfrm>
            <a:off x="749808" y="5181599"/>
            <a:ext cx="304495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Workspace agents</a:t>
            </a:r>
          </a:p>
        </p:txBody>
      </p:sp>
      <p:sp>
        <p:nvSpPr>
          <p:cNvPr id="31" name="TextBox 30"/>
          <p:cNvSpPr txBox="1"/>
          <p:nvPr/>
        </p:nvSpPr>
        <p:spPr>
          <a:xfrm>
            <a:off x="4069079" y="5181599"/>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Business, Enterprise, Edu</a:t>
            </a:r>
          </a:p>
        </p:txBody>
      </p:sp>
      <p:sp>
        <p:nvSpPr>
          <p:cNvPr id="32" name="TextBox 31"/>
          <p:cNvSpPr txBox="1"/>
          <p:nvPr/>
        </p:nvSpPr>
        <p:spPr>
          <a:xfrm>
            <a:off x="8494776" y="5181599"/>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15 demo</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This edition builds the team with skills and Codex subagents, so it works on Plus and Pro.</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HISTORY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Brief History of AI, 2023–2026</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a:t>
            </a:r>
          </a:p>
        </p:txBody>
      </p:sp>
      <p:sp>
        <p:nvSpPr>
          <p:cNvPr id="7" name="Rectangle 6"/>
          <p:cNvSpPr/>
          <p:nvPr/>
        </p:nvSpPr>
        <p:spPr>
          <a:xfrm>
            <a:off x="1931669" y="3657600"/>
            <a:ext cx="8298179" cy="18288"/>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Chatbots</a:t>
            </a:r>
          </a:p>
        </p:txBody>
      </p:sp>
      <p:sp>
        <p:nvSpPr>
          <p:cNvPr id="9" name="Oval 8"/>
          <p:cNvSpPr/>
          <p:nvPr/>
        </p:nvSpPr>
        <p:spPr>
          <a:xfrm>
            <a:off x="1520190"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2023</a:t>
            </a:r>
          </a:p>
        </p:txBody>
      </p:sp>
      <p:sp>
        <p:nvSpPr>
          <p:cNvPr id="10" name="TextBox 9"/>
          <p:cNvSpPr txBox="1"/>
          <p:nvPr/>
        </p:nvSpPr>
        <p:spPr>
          <a:xfrm>
            <a:off x="62179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ChatGPT goes mainstream; Anthropic launches Claude (March). The skill: prompt engineering.</a:t>
            </a:r>
          </a:p>
        </p:txBody>
      </p:sp>
      <p:sp>
        <p:nvSpPr>
          <p:cNvPr id="11" name="TextBox 10"/>
          <p:cNvSpPr txBox="1"/>
          <p:nvPr/>
        </p:nvSpPr>
        <p:spPr>
          <a:xfrm>
            <a:off x="3360420"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Tools and MCP</a:t>
            </a:r>
          </a:p>
        </p:txBody>
      </p:sp>
      <p:sp>
        <p:nvSpPr>
          <p:cNvPr id="12" name="Oval 11"/>
          <p:cNvSpPr/>
          <p:nvPr/>
        </p:nvSpPr>
        <p:spPr>
          <a:xfrm>
            <a:off x="4286250"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2024</a:t>
            </a:r>
          </a:p>
        </p:txBody>
      </p:sp>
      <p:sp>
        <p:nvSpPr>
          <p:cNvPr id="13" name="TextBox 12"/>
          <p:cNvSpPr txBox="1"/>
          <p:nvPr/>
        </p:nvSpPr>
        <p:spPr>
          <a:xfrm>
            <a:off x="338785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Models call tools. Anthropic open-sources the Model Context Protocol (Nov). The skill: context engineering.</a:t>
            </a:r>
          </a:p>
        </p:txBody>
      </p:sp>
      <p:sp>
        <p:nvSpPr>
          <p:cNvPr id="14" name="TextBox 13"/>
          <p:cNvSpPr txBox="1"/>
          <p:nvPr/>
        </p:nvSpPr>
        <p:spPr>
          <a:xfrm>
            <a:off x="6126479"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Agentic AI</a:t>
            </a:r>
          </a:p>
        </p:txBody>
      </p:sp>
      <p:sp>
        <p:nvSpPr>
          <p:cNvPr id="15" name="Oval 14"/>
          <p:cNvSpPr/>
          <p:nvPr/>
        </p:nvSpPr>
        <p:spPr>
          <a:xfrm>
            <a:off x="7052309"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2025</a:t>
            </a:r>
          </a:p>
        </p:txBody>
      </p:sp>
      <p:sp>
        <p:nvSpPr>
          <p:cNvPr id="16" name="TextBox 15"/>
          <p:cNvSpPr txBox="1"/>
          <p:nvPr/>
        </p:nvSpPr>
        <p:spPr>
          <a:xfrm>
            <a:off x="615391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Claude Code and Codex: agents plan, act and check their own work. The skill: harness engineering.</a:t>
            </a:r>
          </a:p>
        </p:txBody>
      </p:sp>
      <p:sp>
        <p:nvSpPr>
          <p:cNvPr id="17" name="TextBox 16"/>
          <p:cNvSpPr txBox="1"/>
          <p:nvPr/>
        </p:nvSpPr>
        <p:spPr>
          <a:xfrm>
            <a:off x="8892540"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Agent Teams</a:t>
            </a:r>
          </a:p>
        </p:txBody>
      </p:sp>
      <p:sp>
        <p:nvSpPr>
          <p:cNvPr id="18" name="Oval 17"/>
          <p:cNvSpPr/>
          <p:nvPr/>
        </p:nvSpPr>
        <p:spPr>
          <a:xfrm>
            <a:off x="9818369"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2026</a:t>
            </a:r>
          </a:p>
        </p:txBody>
      </p:sp>
      <p:sp>
        <p:nvSpPr>
          <p:cNvPr id="19" name="TextBox 18"/>
          <p:cNvSpPr txBox="1"/>
          <p:nvPr/>
        </p:nvSpPr>
        <p:spPr>
          <a:xfrm>
            <a:off x="891997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ChatGPT Work and Codex subagents; workspace agents and always-on Dots.</a:t>
            </a:r>
          </a:p>
        </p:txBody>
      </p:sp>
      <p:sp>
        <p:nvSpPr>
          <p:cNvPr id="20" name="TextBox 19"/>
          <p:cNvSpPr txBox="1"/>
          <p:nvPr/>
        </p:nvSpPr>
        <p:spPr>
          <a:xfrm>
            <a:off x="548640" y="5897880"/>
            <a:ext cx="11064240" cy="365760"/>
          </a:xfrm>
          <a:prstGeom prst="rect">
            <a:avLst/>
          </a:prstGeom>
          <a:noFill/>
        </p:spPr>
        <p:txBody>
          <a:bodyPr wrap="square" lIns="18288" rIns="18288" tIns="9144" bIns="9144">
            <a:spAutoFit/>
          </a:bodyPr>
          <a:lstStyle/>
          <a:p>
            <a:pPr algn="ctr">
              <a:lnSpc>
                <a:spcPct val="100000"/>
              </a:lnSpc>
              <a:defRPr sz="1100" b="0">
                <a:solidFill>
                  <a:srgbClr val="6B6862"/>
                </a:solidFill>
                <a:latin typeface="Calibri"/>
              </a:defRPr>
            </a:pPr>
            <a:r>
              <a:t>From wording one prompt, to curating context, to engineering the whole system around the model — and now, teams of agents.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HARNESS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What Is a Harness?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model is the brain. The harness is everything built around it that turns a model into an agent able to finish long tasks.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agentic loop</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Plans, acts, checks the result and repeats until the goal is met.</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Tools and context</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Files, commands, search and connectors (MCP); instructions, memory and skills loaded at the right moment.</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Guardrails and checks</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Permission modes, approvals, hooks and tests — what it must ask before it acts.</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Harnesses you will meet</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Codex and ChatGPT Work in class; also Claude Code, Gemini CLI, Hermes Agent and OpenClaw.</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AGENTIC LOOP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Agentic Loop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 agent runs the same repeating cycle. A team is several loops, side by side.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Gather context</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Reads the prompt, AGENTS.md, its instructions, files and skills.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Plan</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Decides the next step — or proposes a plan for you to approve.</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Take action</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Calls a tool: writes a file, searches, uses a connector, starts a subagent.</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Verify</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Checks the result: a count, a test, the Lead's review.</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Repeat</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Loops until the goal is met — then reports what it did.</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Goal in → context → action → verification → repeat → goal met.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AGENTIC LOOP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Why the Loop Matters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Running a team of agents is steering loops, not typing commands.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17</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Give direction, not micro-steps</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State the goal, the inputs and "done when". Let each loop work out the steps.</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Verification is everything</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An agent is only as good as its checks: a facts sheet, a test, the Lead's review.</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Steer mid-loop</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Read the plan, interrupt, correct the course — do not wait for a wrong final answer.</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Context is the fuel</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What an agent can see decides what it can do: the brief, the data, the skills.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AGENTS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Agentic AI vs AI 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Both use tools, skills and memory. The difference is how long they live and what starts them.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18</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717243"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FEATURE</a:t>
            </a:r>
          </a:p>
        </p:txBody>
      </p:sp>
      <p:sp>
        <p:nvSpPr>
          <p:cNvPr id="10" name="TextBox 9"/>
          <p:cNvSpPr txBox="1"/>
          <p:nvPr/>
        </p:nvSpPr>
        <p:spPr>
          <a:xfrm>
            <a:off x="2741371" y="2203703"/>
            <a:ext cx="426201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AGENTIC AI — TASK-ORIENTED</a:t>
            </a:r>
          </a:p>
        </p:txBody>
      </p:sp>
      <p:sp>
        <p:nvSpPr>
          <p:cNvPr id="11" name="TextBox 10"/>
          <p:cNvSpPr txBox="1"/>
          <p:nvPr/>
        </p:nvSpPr>
        <p:spPr>
          <a:xfrm>
            <a:off x="7277709" y="2203703"/>
            <a:ext cx="426201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AI AGENTS — ALWAYS ON, 24/7</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Tool calling</a:t>
            </a:r>
          </a:p>
        </p:txBody>
      </p:sp>
      <p:sp>
        <p:nvSpPr>
          <p:cNvPr id="14" name="TextBox 13"/>
          <p:cNvSpPr txBox="1"/>
          <p:nvPr/>
        </p:nvSpPr>
        <p:spPr>
          <a:xfrm>
            <a:off x="2741371" y="2560320"/>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files, search, connectors, subagents.</a:t>
            </a:r>
          </a:p>
        </p:txBody>
      </p:sp>
      <p:sp>
        <p:nvSpPr>
          <p:cNvPr id="15" name="TextBox 14"/>
          <p:cNvSpPr txBox="1"/>
          <p:nvPr/>
        </p:nvSpPr>
        <p:spPr>
          <a:xfrm>
            <a:off x="7277709" y="2560320"/>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plus chat apps, the browser and other agents.</a:t>
            </a:r>
          </a:p>
        </p:txBody>
      </p:sp>
      <p:sp>
        <p:nvSpPr>
          <p:cNvPr id="16" name="TextBox 15"/>
          <p:cNvSpPr txBox="1"/>
          <p:nvPr/>
        </p:nvSpPr>
        <p:spPr>
          <a:xfrm>
            <a:off x="749808" y="3084575"/>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Skills</a:t>
            </a:r>
          </a:p>
        </p:txBody>
      </p:sp>
      <p:sp>
        <p:nvSpPr>
          <p:cNvPr id="17" name="TextBox 16"/>
          <p:cNvSpPr txBox="1"/>
          <p:nvPr/>
        </p:nvSpPr>
        <p:spPr>
          <a:xfrm>
            <a:off x="2741371" y="3084575"/>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loads SKILL.md procedures when the task matches.</a:t>
            </a:r>
          </a:p>
        </p:txBody>
      </p:sp>
      <p:sp>
        <p:nvSpPr>
          <p:cNvPr id="18" name="TextBox 17"/>
          <p:cNvSpPr txBox="1"/>
          <p:nvPr/>
        </p:nvSpPr>
        <p:spPr>
          <a:xfrm>
            <a:off x="7277709" y="3084575"/>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and can write and improve its own skills.</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Memory</a:t>
            </a:r>
          </a:p>
        </p:txBody>
      </p:sp>
      <p:sp>
        <p:nvSpPr>
          <p:cNvPr id="21" name="TextBox 20"/>
          <p:cNvSpPr txBox="1"/>
          <p:nvPr/>
        </p:nvSpPr>
        <p:spPr>
          <a:xfrm>
            <a:off x="2741371" y="3608831"/>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Within the task, plus project memory across sessions.</a:t>
            </a:r>
          </a:p>
        </p:txBody>
      </p:sp>
      <p:sp>
        <p:nvSpPr>
          <p:cNvPr id="22" name="TextBox 21"/>
          <p:cNvSpPr txBox="1"/>
          <p:nvPr/>
        </p:nvSpPr>
        <p:spPr>
          <a:xfrm>
            <a:off x="7277709" y="3608831"/>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Long-term memory about you and your work.</a:t>
            </a:r>
          </a:p>
        </p:txBody>
      </p:sp>
      <p:sp>
        <p:nvSpPr>
          <p:cNvPr id="23" name="TextBox 22"/>
          <p:cNvSpPr txBox="1"/>
          <p:nvPr/>
        </p:nvSpPr>
        <p:spPr>
          <a:xfrm>
            <a:off x="749808" y="4133087"/>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Availability</a:t>
            </a:r>
          </a:p>
        </p:txBody>
      </p:sp>
      <p:sp>
        <p:nvSpPr>
          <p:cNvPr id="24" name="TextBox 23"/>
          <p:cNvSpPr txBox="1"/>
          <p:nvPr/>
        </p:nvSpPr>
        <p:spPr>
          <a:xfrm>
            <a:off x="2741371" y="4133087"/>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Starts when you give it a task; stops when done.</a:t>
            </a:r>
          </a:p>
        </p:txBody>
      </p:sp>
      <p:sp>
        <p:nvSpPr>
          <p:cNvPr id="25" name="TextBox 24"/>
          <p:cNvSpPr txBox="1"/>
          <p:nvPr/>
        </p:nvSpPr>
        <p:spPr>
          <a:xfrm>
            <a:off x="7277709" y="4133087"/>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Runs 24/7 on a computer or server.</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Started by</a:t>
            </a:r>
          </a:p>
        </p:txBody>
      </p:sp>
      <p:sp>
        <p:nvSpPr>
          <p:cNvPr id="28" name="TextBox 27"/>
          <p:cNvSpPr txBox="1"/>
          <p:nvPr/>
        </p:nvSpPr>
        <p:spPr>
          <a:xfrm>
            <a:off x="2741371" y="4657344"/>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You, with a task.</a:t>
            </a:r>
          </a:p>
        </p:txBody>
      </p:sp>
      <p:sp>
        <p:nvSpPr>
          <p:cNvPr id="29" name="TextBox 28"/>
          <p:cNvSpPr txBox="1"/>
          <p:nvPr/>
        </p:nvSpPr>
        <p:spPr>
          <a:xfrm>
            <a:off x="7277709" y="4657344"/>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You, a schedule, a message or another agent.</a:t>
            </a:r>
          </a:p>
        </p:txBody>
      </p:sp>
      <p:sp>
        <p:nvSpPr>
          <p:cNvPr id="30" name="TextBox 29"/>
          <p:cNvSpPr txBox="1"/>
          <p:nvPr/>
        </p:nvSpPr>
        <p:spPr>
          <a:xfrm>
            <a:off x="749808" y="5181599"/>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In this course</a:t>
            </a:r>
          </a:p>
        </p:txBody>
      </p:sp>
      <p:sp>
        <p:nvSpPr>
          <p:cNvPr id="31" name="TextBox 30"/>
          <p:cNvSpPr txBox="1"/>
          <p:nvPr/>
        </p:nvSpPr>
        <p:spPr>
          <a:xfrm>
            <a:off x="2741371" y="5181599"/>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Codex running a campaign (Labs 1–12).</a:t>
            </a:r>
          </a:p>
        </p:txBody>
      </p:sp>
      <p:sp>
        <p:nvSpPr>
          <p:cNvPr id="32" name="TextBox 31"/>
          <p:cNvSpPr txBox="1"/>
          <p:nvPr/>
        </p:nvSpPr>
        <p:spPr>
          <a:xfrm>
            <a:off x="7277709" y="5181599"/>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scheduled weekly report (Lab 13); Dots (Lab 15).</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Rule of thumb: a job with an end → agentic AI; a job that recurs → an always-on agent.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ANATOMY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What Is an Agent Made Of?</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model on its own can only answer. Wrap it with these parts and it can act — and check what it did.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19</a:t>
            </a:r>
          </a:p>
        </p:txBody>
      </p:sp>
      <p:sp>
        <p:nvSpPr>
          <p:cNvPr id="8" name="Rounded Rectangle 7"/>
          <p:cNvSpPr/>
          <p:nvPr/>
        </p:nvSpPr>
        <p:spPr>
          <a:xfrm>
            <a:off x="548640" y="2157984"/>
            <a:ext cx="11064240" cy="3383280"/>
          </a:xfrm>
          <a:prstGeom prst="roundRect">
            <a:avLst>
              <a:gd name="adj" fmla="val 4000"/>
            </a:avLst>
          </a:prstGeom>
          <a:noFill/>
          <a:ln w="222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77240" y="2002536"/>
            <a:ext cx="3749039" cy="310896"/>
          </a:xfrm>
          <a:prstGeom prst="roundRect">
            <a:avLst>
              <a:gd name="adj" fmla="val 5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THE AGENT</a:t>
            </a:r>
          </a:p>
        </p:txBody>
      </p:sp>
      <p:sp>
        <p:nvSpPr>
          <p:cNvPr id="10" name="Rounded Rectangle 9"/>
          <p:cNvSpPr/>
          <p:nvPr/>
        </p:nvSpPr>
        <p:spPr>
          <a:xfrm>
            <a:off x="4754879" y="3003804"/>
            <a:ext cx="2651760" cy="178308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4879" y="3150108"/>
            <a:ext cx="2651760" cy="237744"/>
          </a:xfrm>
          <a:prstGeom prst="rect">
            <a:avLst/>
          </a:prstGeom>
          <a:noFill/>
        </p:spPr>
        <p:txBody>
          <a:bodyPr wrap="square" lIns="18288" rIns="18288" tIns="9144" bIns="9144">
            <a:spAutoFit/>
          </a:bodyPr>
          <a:lstStyle/>
          <a:p>
            <a:pPr algn="ctr">
              <a:lnSpc>
                <a:spcPct val="100000"/>
              </a:lnSpc>
              <a:defRPr sz="1050" b="1">
                <a:solidFill>
                  <a:srgbClr val="D97757"/>
                </a:solidFill>
                <a:latin typeface="Calibri"/>
              </a:defRPr>
            </a:pPr>
            <a:r>
              <a:t>THE BRAIN</a:t>
            </a:r>
          </a:p>
        </p:txBody>
      </p:sp>
      <p:sp>
        <p:nvSpPr>
          <p:cNvPr id="12" name="TextBox 11"/>
          <p:cNvSpPr txBox="1"/>
          <p:nvPr/>
        </p:nvSpPr>
        <p:spPr>
          <a:xfrm>
            <a:off x="4754879" y="3406140"/>
            <a:ext cx="2651760" cy="420624"/>
          </a:xfrm>
          <a:prstGeom prst="rect">
            <a:avLst/>
          </a:prstGeom>
          <a:noFill/>
        </p:spPr>
        <p:txBody>
          <a:bodyPr wrap="square" lIns="18288" rIns="18288" tIns="9144" bIns="9144">
            <a:spAutoFit/>
          </a:bodyPr>
          <a:lstStyle/>
          <a:p>
            <a:pPr algn="ctr">
              <a:lnSpc>
                <a:spcPct val="100000"/>
              </a:lnSpc>
              <a:defRPr sz="2200" b="1">
                <a:solidFill>
                  <a:srgbClr val="FFFFFF"/>
                </a:solidFill>
                <a:latin typeface="Cambria"/>
              </a:defRPr>
            </a:pPr>
            <a:r>
              <a:t>GPT</a:t>
            </a:r>
          </a:p>
        </p:txBody>
      </p:sp>
      <p:sp>
        <p:nvSpPr>
          <p:cNvPr id="13" name="TextBox 12"/>
          <p:cNvSpPr txBox="1"/>
          <p:nvPr/>
        </p:nvSpPr>
        <p:spPr>
          <a:xfrm>
            <a:off x="4892040" y="3899916"/>
            <a:ext cx="2377440" cy="274320"/>
          </a:xfrm>
          <a:prstGeom prst="rect">
            <a:avLst/>
          </a:prstGeom>
          <a:noFill/>
        </p:spPr>
        <p:txBody>
          <a:bodyPr wrap="square" lIns="18288" rIns="18288" tIns="9144" bIns="9144">
            <a:spAutoFit/>
          </a:bodyPr>
          <a:lstStyle/>
          <a:p>
            <a:pPr algn="ctr">
              <a:lnSpc>
                <a:spcPct val="100000"/>
              </a:lnSpc>
              <a:defRPr sz="1100" b="0">
                <a:solidFill>
                  <a:srgbClr val="C9C4B9"/>
                </a:solidFill>
                <a:latin typeface="Calibri"/>
              </a:defRPr>
            </a:pPr>
            <a:r>
              <a:t>the model</a:t>
            </a:r>
          </a:p>
        </p:txBody>
      </p:sp>
      <p:sp>
        <p:nvSpPr>
          <p:cNvPr id="14" name="TextBox 13"/>
          <p:cNvSpPr txBox="1"/>
          <p:nvPr/>
        </p:nvSpPr>
        <p:spPr>
          <a:xfrm>
            <a:off x="4892040" y="4192524"/>
            <a:ext cx="2377440" cy="502920"/>
          </a:xfrm>
          <a:prstGeom prst="rect">
            <a:avLst/>
          </a:prstGeom>
          <a:noFill/>
        </p:spPr>
        <p:txBody>
          <a:bodyPr wrap="square" lIns="18288" rIns="18288" tIns="9144" bIns="9144">
            <a:spAutoFit/>
          </a:bodyPr>
          <a:lstStyle/>
          <a:p>
            <a:pPr algn="ctr">
              <a:lnSpc>
                <a:spcPct val="100000"/>
              </a:lnSpc>
              <a:defRPr sz="1050" b="0">
                <a:solidFill>
                  <a:srgbClr val="E8E5DE"/>
                </a:solidFill>
                <a:latin typeface="Calibri"/>
              </a:defRPr>
            </a:pPr>
            <a:r>
              <a:t>Reads the goal, plans the next step and picks the part to use.</a:t>
            </a:r>
          </a:p>
        </p:txBody>
      </p:sp>
      <p:sp>
        <p:nvSpPr>
          <p:cNvPr id="15" name="Rounded Rectangle 14"/>
          <p:cNvSpPr/>
          <p:nvPr/>
        </p:nvSpPr>
        <p:spPr>
          <a:xfrm>
            <a:off x="777240" y="243230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2505456"/>
            <a:ext cx="64008" cy="78333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249631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Instructions</a:t>
            </a:r>
          </a:p>
        </p:txBody>
      </p:sp>
      <p:sp>
        <p:nvSpPr>
          <p:cNvPr id="18" name="TextBox 17"/>
          <p:cNvSpPr txBox="1"/>
          <p:nvPr/>
        </p:nvSpPr>
        <p:spPr>
          <a:xfrm>
            <a:off x="978408" y="277063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Its job and rules — AGENTS.md and a role card.</a:t>
            </a:r>
          </a:p>
        </p:txBody>
      </p:sp>
      <p:cxnSp>
        <p:nvCxnSpPr>
          <p:cNvPr id="19" name="Connector 18"/>
          <p:cNvCxnSpPr/>
          <p:nvPr/>
        </p:nvCxnSpPr>
        <p:spPr>
          <a:xfrm flipH="1" flipV="1">
            <a:off x="4480559" y="2897123"/>
            <a:ext cx="274320" cy="998221"/>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77240" y="345338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526536"/>
            <a:ext cx="64008" cy="783336"/>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8408" y="351739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Tools</a:t>
            </a:r>
          </a:p>
        </p:txBody>
      </p:sp>
      <p:sp>
        <p:nvSpPr>
          <p:cNvPr id="23" name="TextBox 22"/>
          <p:cNvSpPr txBox="1"/>
          <p:nvPr/>
        </p:nvSpPr>
        <p:spPr>
          <a:xfrm>
            <a:off x="978408" y="379171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Actions: read and write files, search, run code, use a connector.</a:t>
            </a:r>
          </a:p>
        </p:txBody>
      </p:sp>
      <p:cxnSp>
        <p:nvCxnSpPr>
          <p:cNvPr id="24" name="Connector 23"/>
          <p:cNvCxnSpPr/>
          <p:nvPr/>
        </p:nvCxnSpPr>
        <p:spPr>
          <a:xfrm flipH="1">
            <a:off x="4480559" y="3895344"/>
            <a:ext cx="274320" cy="22860"/>
          </a:xfrm>
          <a:prstGeom prst="line">
            <a:avLst/>
          </a:prstGeom>
          <a:ln w="19050">
            <a:solidFill>
              <a:srgbClr val="C2603F"/>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77240" y="4474464"/>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4547616"/>
            <a:ext cx="64008" cy="78333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8408" y="4538472"/>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Skills</a:t>
            </a:r>
          </a:p>
        </p:txBody>
      </p:sp>
      <p:sp>
        <p:nvSpPr>
          <p:cNvPr id="28" name="TextBox 27"/>
          <p:cNvSpPr txBox="1"/>
          <p:nvPr/>
        </p:nvSpPr>
        <p:spPr>
          <a:xfrm>
            <a:off x="978408" y="481279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Saved procedures it loads when the task matches — SKILL.md.</a:t>
            </a:r>
          </a:p>
        </p:txBody>
      </p:sp>
      <p:cxnSp>
        <p:nvCxnSpPr>
          <p:cNvPr id="29" name="Connector 28"/>
          <p:cNvCxnSpPr/>
          <p:nvPr/>
        </p:nvCxnSpPr>
        <p:spPr>
          <a:xfrm flipH="1">
            <a:off x="4480559" y="3895344"/>
            <a:ext cx="274320" cy="1043940"/>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7680959" y="243230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80959" y="2505456"/>
            <a:ext cx="64008" cy="783336"/>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882127" y="249631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Memory</a:t>
            </a:r>
          </a:p>
        </p:txBody>
      </p:sp>
      <p:sp>
        <p:nvSpPr>
          <p:cNvPr id="33" name="TextBox 32"/>
          <p:cNvSpPr txBox="1"/>
          <p:nvPr/>
        </p:nvSpPr>
        <p:spPr>
          <a:xfrm>
            <a:off x="7882127" y="277063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What it keeps between sessions: preferences, past fixes.</a:t>
            </a:r>
          </a:p>
        </p:txBody>
      </p:sp>
      <p:cxnSp>
        <p:nvCxnSpPr>
          <p:cNvPr id="34" name="Connector 33"/>
          <p:cNvCxnSpPr/>
          <p:nvPr/>
        </p:nvCxnSpPr>
        <p:spPr>
          <a:xfrm flipV="1">
            <a:off x="7406640" y="2897123"/>
            <a:ext cx="274319" cy="998221"/>
          </a:xfrm>
          <a:prstGeom prst="line">
            <a:avLst/>
          </a:prstGeom>
          <a:ln w="19050">
            <a:solidFill>
              <a:srgbClr val="5B4B8A"/>
            </a:solidFill>
            <a:tailEnd type="triangle"/>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7680959" y="345338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680959" y="3526536"/>
            <a:ext cx="64008" cy="783336"/>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882127" y="351739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Knowledge base</a:t>
            </a:r>
          </a:p>
        </p:txBody>
      </p:sp>
      <p:sp>
        <p:nvSpPr>
          <p:cNvPr id="38" name="TextBox 37"/>
          <p:cNvSpPr txBox="1"/>
          <p:nvPr/>
        </p:nvSpPr>
        <p:spPr>
          <a:xfrm>
            <a:off x="7882127" y="379171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Trusted sources only: Horizon's facts sheet, brand and compliance rules.</a:t>
            </a:r>
          </a:p>
        </p:txBody>
      </p:sp>
      <p:cxnSp>
        <p:nvCxnSpPr>
          <p:cNvPr id="39" name="Connector 38"/>
          <p:cNvCxnSpPr/>
          <p:nvPr/>
        </p:nvCxnSpPr>
        <p:spPr>
          <a:xfrm>
            <a:off x="7406640" y="3895344"/>
            <a:ext cx="274319" cy="22860"/>
          </a:xfrm>
          <a:prstGeom prst="line">
            <a:avLst/>
          </a:prstGeom>
          <a:ln w="19050">
            <a:solidFill>
              <a:srgbClr val="26405A"/>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7680959" y="4474464"/>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680959" y="4547616"/>
            <a:ext cx="64008" cy="783336"/>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882127" y="4538472"/>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Guardrails</a:t>
            </a:r>
          </a:p>
        </p:txBody>
      </p:sp>
      <p:sp>
        <p:nvSpPr>
          <p:cNvPr id="43" name="TextBox 42"/>
          <p:cNvSpPr txBox="1"/>
          <p:nvPr/>
        </p:nvSpPr>
        <p:spPr>
          <a:xfrm>
            <a:off x="7882127" y="481279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Permissions, approvals and hooks — what it must ask first.</a:t>
            </a:r>
          </a:p>
        </p:txBody>
      </p:sp>
      <p:cxnSp>
        <p:nvCxnSpPr>
          <p:cNvPr id="44" name="Connector 43"/>
          <p:cNvCxnSpPr/>
          <p:nvPr/>
        </p:nvCxnSpPr>
        <p:spPr>
          <a:xfrm>
            <a:off x="7406640" y="3895344"/>
            <a:ext cx="274319" cy="1043940"/>
          </a:xfrm>
          <a:prstGeom prst="line">
            <a:avLst/>
          </a:prstGeom>
          <a:ln w="19050">
            <a:solidFill>
              <a:srgbClr val="2E2C26"/>
            </a:solidFill>
            <a:tailEnd type="triangle"/>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548640" y="5632704"/>
            <a:ext cx="11064240" cy="512064"/>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77240" y="5696712"/>
            <a:ext cx="10607040" cy="384048"/>
          </a:xfrm>
          <a:prstGeom prst="rect">
            <a:avLst/>
          </a:prstGeom>
          <a:noFill/>
        </p:spPr>
        <p:txBody>
          <a:bodyPr wrap="square" lIns="18288" rIns="18288" tIns="9144" bIns="9144" anchor="ctr">
            <a:spAutoFit/>
          </a:bodyPr>
          <a:lstStyle/>
          <a:p>
            <a:pPr algn="ctr">
              <a:lnSpc>
                <a:spcPct val="100000"/>
              </a:lnSpc>
              <a:defRPr sz="1200" b="0">
                <a:solidFill>
                  <a:srgbClr val="FFFFFF"/>
                </a:solidFill>
                <a:latin typeface="Calibri"/>
              </a:defRPr>
            </a:pPr>
            <a:r>
              <a:t>You build every one of these for Horizon's six agents in Labs 2–4.</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SCENARIO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a Marketing Team, Then Run Campaigns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Horizon Wealth Planning has a website, a goal of 40 booked chats a month — and no marketing team. You build one, made of AI agents.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20</a:t>
            </a:r>
          </a:p>
        </p:txBody>
      </p:sp>
      <p:sp>
        <p:nvSpPr>
          <p:cNvPr id="8" name="Pentagon 7"/>
          <p:cNvSpPr/>
          <p:nvPr/>
        </p:nvSpPr>
        <p:spPr>
          <a:xfrm>
            <a:off x="548640" y="2084831"/>
            <a:ext cx="192024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000" b="1">
                <a:solidFill>
                  <a:srgbClr val="FFFFFF"/>
                </a:solidFill>
                <a:latin typeface="Calibri"/>
              </a:defRPr>
            </a:pPr>
            <a:r>
              <a:t>01</a:t>
            </a:r>
          </a:p>
        </p:txBody>
      </p:sp>
      <p:sp>
        <p:nvSpPr>
          <p:cNvPr id="9" name="Rounded Rectangle 8"/>
          <p:cNvSpPr/>
          <p:nvPr/>
        </p:nvSpPr>
        <p:spPr>
          <a:xfrm>
            <a:off x="548640" y="2962656"/>
            <a:ext cx="177393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177393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517904"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Form the team</a:t>
            </a:r>
          </a:p>
        </p:txBody>
      </p:sp>
      <p:sp>
        <p:nvSpPr>
          <p:cNvPr id="12" name="TextBox 11"/>
          <p:cNvSpPr txBox="1"/>
          <p:nvPr/>
        </p:nvSpPr>
        <p:spPr>
          <a:xfrm>
            <a:off x="676656" y="3730752"/>
            <a:ext cx="1517904"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A Lead and five specialists: instructions, skills, connectors (Labs 1–4).</a:t>
            </a:r>
          </a:p>
        </p:txBody>
      </p:sp>
      <p:sp>
        <p:nvSpPr>
          <p:cNvPr id="13" name="Chevron 12"/>
          <p:cNvSpPr/>
          <p:nvPr/>
        </p:nvSpPr>
        <p:spPr>
          <a:xfrm>
            <a:off x="2377440" y="2084831"/>
            <a:ext cx="192024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02</a:t>
            </a:r>
          </a:p>
        </p:txBody>
      </p:sp>
      <p:sp>
        <p:nvSpPr>
          <p:cNvPr id="14" name="Rounded Rectangle 13"/>
          <p:cNvSpPr/>
          <p:nvPr/>
        </p:nvSpPr>
        <p:spPr>
          <a:xfrm>
            <a:off x="24688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468880" y="2962656"/>
            <a:ext cx="168249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968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 1</a:t>
            </a:r>
          </a:p>
        </p:txBody>
      </p:sp>
      <p:sp>
        <p:nvSpPr>
          <p:cNvPr id="17" name="TextBox 16"/>
          <p:cNvSpPr txBox="1"/>
          <p:nvPr/>
        </p:nvSpPr>
        <p:spPr>
          <a:xfrm>
            <a:off x="25968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Research, ideas and a storyboard (Lab 5).</a:t>
            </a:r>
          </a:p>
        </p:txBody>
      </p:sp>
      <p:sp>
        <p:nvSpPr>
          <p:cNvPr id="18" name="Chevron 17"/>
          <p:cNvSpPr/>
          <p:nvPr/>
        </p:nvSpPr>
        <p:spPr>
          <a:xfrm>
            <a:off x="4206240" y="2084831"/>
            <a:ext cx="192024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03</a:t>
            </a:r>
          </a:p>
        </p:txBody>
      </p:sp>
      <p:sp>
        <p:nvSpPr>
          <p:cNvPr id="19" name="Rounded Rectangle 18"/>
          <p:cNvSpPr/>
          <p:nvPr/>
        </p:nvSpPr>
        <p:spPr>
          <a:xfrm>
            <a:off x="42976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297679" y="2962656"/>
            <a:ext cx="168249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256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Know the audience</a:t>
            </a:r>
          </a:p>
        </p:txBody>
      </p:sp>
      <p:sp>
        <p:nvSpPr>
          <p:cNvPr id="22" name="TextBox 21"/>
          <p:cNvSpPr txBox="1"/>
          <p:nvPr/>
        </p:nvSpPr>
        <p:spPr>
          <a:xfrm>
            <a:off x="44256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Personas, requirements, cadence (Labs 6–7).</a:t>
            </a:r>
          </a:p>
        </p:txBody>
      </p:sp>
      <p:sp>
        <p:nvSpPr>
          <p:cNvPr id="23" name="Chevron 22"/>
          <p:cNvSpPr/>
          <p:nvPr/>
        </p:nvSpPr>
        <p:spPr>
          <a:xfrm>
            <a:off x="6035040" y="2084831"/>
            <a:ext cx="192024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04</a:t>
            </a:r>
          </a:p>
        </p:txBody>
      </p:sp>
      <p:sp>
        <p:nvSpPr>
          <p:cNvPr id="24" name="Rounded Rectangle 23"/>
          <p:cNvSpPr/>
          <p:nvPr/>
        </p:nvSpPr>
        <p:spPr>
          <a:xfrm>
            <a:off x="61264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26479" y="2962656"/>
            <a:ext cx="168249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544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First content</a:t>
            </a:r>
          </a:p>
        </p:txBody>
      </p:sp>
      <p:sp>
        <p:nvSpPr>
          <p:cNvPr id="27" name="TextBox 26"/>
          <p:cNvSpPr txBox="1"/>
          <p:nvPr/>
        </p:nvSpPr>
        <p:spPr>
          <a:xfrm>
            <a:off x="62544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A blog article and the lead magnet (Labs 8–9).</a:t>
            </a:r>
          </a:p>
        </p:txBody>
      </p:sp>
      <p:sp>
        <p:nvSpPr>
          <p:cNvPr id="28" name="Chevron 27"/>
          <p:cNvSpPr/>
          <p:nvPr/>
        </p:nvSpPr>
        <p:spPr>
          <a:xfrm>
            <a:off x="7863840" y="2084831"/>
            <a:ext cx="192024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05</a:t>
            </a:r>
          </a:p>
        </p:txBody>
      </p:sp>
      <p:sp>
        <p:nvSpPr>
          <p:cNvPr id="29" name="Rounded Rectangle 28"/>
          <p:cNvSpPr/>
          <p:nvPr/>
        </p:nvSpPr>
        <p:spPr>
          <a:xfrm>
            <a:off x="79552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2962656"/>
            <a:ext cx="168249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832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Campaigns 2–4</a:t>
            </a:r>
          </a:p>
        </p:txBody>
      </p:sp>
      <p:sp>
        <p:nvSpPr>
          <p:cNvPr id="32" name="TextBox 31"/>
          <p:cNvSpPr txBox="1"/>
          <p:nvPr/>
        </p:nvSpPr>
        <p:spPr>
          <a:xfrm>
            <a:off x="80832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Social week, newsletter + landing page, video (Labs 10–12).</a:t>
            </a:r>
          </a:p>
        </p:txBody>
      </p:sp>
      <p:sp>
        <p:nvSpPr>
          <p:cNvPr id="33" name="Chevron 32"/>
          <p:cNvSpPr/>
          <p:nvPr/>
        </p:nvSpPr>
        <p:spPr>
          <a:xfrm>
            <a:off x="9692640" y="2084831"/>
            <a:ext cx="1920240" cy="731520"/>
          </a:xfrm>
          <a:prstGeom prst="chevron">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06</a:t>
            </a:r>
          </a:p>
        </p:txBody>
      </p:sp>
      <p:sp>
        <p:nvSpPr>
          <p:cNvPr id="34" name="Rounded Rectangle 33"/>
          <p:cNvSpPr/>
          <p:nvPr/>
        </p:nvSpPr>
        <p:spPr>
          <a:xfrm>
            <a:off x="97840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784080" y="2962656"/>
            <a:ext cx="1682495" cy="54864"/>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120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 5</a:t>
            </a:r>
          </a:p>
        </p:txBody>
      </p:sp>
      <p:sp>
        <p:nvSpPr>
          <p:cNvPr id="37" name="TextBox 36"/>
          <p:cNvSpPr txBox="1"/>
          <p:nvPr/>
        </p:nvSpPr>
        <p:spPr>
          <a:xfrm>
            <a:off x="99120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Always on: the weekly report; the playbook (13–14).</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SCENARIO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Meet Horizon Wealth Planning</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firm's public website — the same link for every learner. You do not build it; every campaign points back here.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21</a:t>
            </a:r>
          </a:p>
        </p:txBody>
      </p:sp>
      <p:sp>
        <p:nvSpPr>
          <p:cNvPr id="8" name="Rectangle 7"/>
          <p:cNvSpPr/>
          <p:nvPr/>
        </p:nvSpPr>
        <p:spPr>
          <a:xfrm>
            <a:off x="512064" y="2048255"/>
            <a:ext cx="5705855" cy="3593591"/>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ite-home.png">
            <a:hlinkClick r:id="rId3"/>
          </p:cNvPr>
          <p:cNvPicPr>
            <a:picLocks noChangeAspect="1"/>
          </p:cNvPicPr>
          <p:nvPr/>
        </p:nvPicPr>
        <p:blipFill>
          <a:blip r:embed="rId2"/>
          <a:stretch>
            <a:fillRect/>
          </a:stretch>
        </p:blipFill>
        <p:spPr>
          <a:xfrm>
            <a:off x="548640" y="2084831"/>
            <a:ext cx="5632703" cy="3520439"/>
          </a:xfrm>
          <a:prstGeom prst="rect">
            <a:avLst/>
          </a:prstGeom>
        </p:spPr>
      </p:pic>
      <p:sp>
        <p:nvSpPr>
          <p:cNvPr id="10" name="TextBox 9"/>
          <p:cNvSpPr txBox="1"/>
          <p:nvPr/>
        </p:nvSpPr>
        <p:spPr>
          <a:xfrm>
            <a:off x="548640" y="5751575"/>
            <a:ext cx="7223760" cy="256032"/>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rPr sz="1000" b="1">
                <a:solidFill>
                  <a:srgbClr val="D97757"/>
                </a:solidFill>
                <a:latin typeface="Calibri"/>
              </a:rPr>
              <a:t>WEBSITE   </a:t>
            </a:r>
            <a:r>
              <a:rPr sz="1000" b="0">
                <a:solidFill>
                  <a:srgbClr val="21201C"/>
                </a:solidFill>
                <a:latin typeface="Calibri"/>
                <a:hlinkClick r:id="rId3"/>
              </a:rPr>
              <a:t>tertiarycourses.github.io/TGS-2023036153-Multi-AI-Agents-Workflow-for-Content-Creation</a:t>
            </a:r>
          </a:p>
        </p:txBody>
      </p:sp>
      <p:sp>
        <p:nvSpPr>
          <p:cNvPr id="11" name="Rectangle 10"/>
          <p:cNvSpPr/>
          <p:nvPr/>
        </p:nvSpPr>
        <p:spPr>
          <a:xfrm>
            <a:off x="6547103" y="2203703"/>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48271" y="2130551"/>
            <a:ext cx="4864608"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Plain English</a:t>
            </a:r>
          </a:p>
        </p:txBody>
      </p:sp>
      <p:sp>
        <p:nvSpPr>
          <p:cNvPr id="13" name="TextBox 12"/>
          <p:cNvSpPr txBox="1"/>
          <p:nvPr/>
        </p:nvSpPr>
        <p:spPr>
          <a:xfrm>
            <a:off x="6748271" y="2459735"/>
            <a:ext cx="4864608"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Retirement, CPF, insurance and investing — no jargon, no hard sell.</a:t>
            </a:r>
          </a:p>
        </p:txBody>
      </p:sp>
      <p:sp>
        <p:nvSpPr>
          <p:cNvPr id="14" name="Rectangle 13"/>
          <p:cNvSpPr/>
          <p:nvPr/>
        </p:nvSpPr>
        <p:spPr>
          <a:xfrm>
            <a:off x="6547103" y="3374135"/>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48271" y="3300983"/>
            <a:ext cx="4864608"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One goal</a:t>
            </a:r>
          </a:p>
        </p:txBody>
      </p:sp>
      <p:sp>
        <p:nvSpPr>
          <p:cNvPr id="16" name="TextBox 15"/>
          <p:cNvSpPr txBox="1"/>
          <p:nvPr/>
        </p:nvSpPr>
        <p:spPr>
          <a:xfrm>
            <a:off x="6748271" y="3630167"/>
            <a:ext cx="4864608"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Turn visitors into booked free 30-minute chats.</a:t>
            </a:r>
          </a:p>
        </p:txBody>
      </p:sp>
      <p:sp>
        <p:nvSpPr>
          <p:cNvPr id="17" name="Rectangle 16"/>
          <p:cNvSpPr/>
          <p:nvPr/>
        </p:nvSpPr>
        <p:spPr>
          <a:xfrm>
            <a:off x="6547103" y="4544568"/>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48271" y="4471416"/>
            <a:ext cx="4864608"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Regulated</a:t>
            </a:r>
          </a:p>
        </p:txBody>
      </p:sp>
      <p:sp>
        <p:nvSpPr>
          <p:cNvPr id="19" name="TextBox 18"/>
          <p:cNvSpPr txBox="1"/>
          <p:nvPr/>
        </p:nvSpPr>
        <p:spPr>
          <a:xfrm>
            <a:off x="6748271" y="4800600"/>
            <a:ext cx="4864608"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Financial content: general information only, never a promised return.</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TEAM</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Your AI Marketing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One Lead and five specialists — each with instructions, its own skills and connectors.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22</a:t>
            </a:r>
          </a:p>
        </p:txBody>
      </p:sp>
      <p:sp>
        <p:nvSpPr>
          <p:cNvPr id="8" name="Rounded Rectangle 7"/>
          <p:cNvSpPr/>
          <p:nvPr/>
        </p:nvSpPr>
        <p:spPr>
          <a:xfrm>
            <a:off x="4069079" y="2130551"/>
            <a:ext cx="4023360" cy="73152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069079" y="2176272"/>
            <a:ext cx="4023360" cy="365760"/>
          </a:xfrm>
          <a:prstGeom prst="rect">
            <a:avLst/>
          </a:prstGeom>
          <a:noFill/>
        </p:spPr>
        <p:txBody>
          <a:bodyPr wrap="square" lIns="18288" rIns="18288" tIns="9144" bIns="9144">
            <a:spAutoFit/>
          </a:bodyPr>
          <a:lstStyle/>
          <a:p>
            <a:pPr algn="ctr">
              <a:lnSpc>
                <a:spcPct val="100000"/>
              </a:lnSpc>
              <a:defRPr sz="1800" b="1">
                <a:solidFill>
                  <a:srgbClr val="FFFFFF"/>
                </a:solidFill>
                <a:latin typeface="Cambria"/>
              </a:defRPr>
            </a:pPr>
            <a:r>
              <a:t>Marketing Team Lead</a:t>
            </a:r>
          </a:p>
        </p:txBody>
      </p:sp>
      <p:sp>
        <p:nvSpPr>
          <p:cNvPr id="10" name="TextBox 9"/>
          <p:cNvSpPr txBox="1"/>
          <p:nvPr/>
        </p:nvSpPr>
        <p:spPr>
          <a:xfrm>
            <a:off x="4251959" y="2523744"/>
            <a:ext cx="3657600" cy="274320"/>
          </a:xfrm>
          <a:prstGeom prst="rect">
            <a:avLst/>
          </a:prstGeom>
          <a:noFill/>
        </p:spPr>
        <p:txBody>
          <a:bodyPr wrap="square" lIns="18288" rIns="18288" tIns="9144" bIns="9144">
            <a:spAutoFit/>
          </a:bodyPr>
          <a:lstStyle/>
          <a:p>
            <a:pPr algn="ctr">
              <a:lnSpc>
                <a:spcPct val="100000"/>
              </a:lnSpc>
              <a:defRPr sz="1100" b="0">
                <a:solidFill>
                  <a:srgbClr val="C9C4B9"/>
                </a:solidFill>
                <a:latin typeface="Calibri"/>
              </a:defRPr>
            </a:pPr>
            <a:r>
              <a:t>plans · assigns · checks · hands to a person</a:t>
            </a:r>
          </a:p>
        </p:txBody>
      </p:sp>
      <p:cxnSp>
        <p:nvCxnSpPr>
          <p:cNvPr id="11" name="Connector 10"/>
          <p:cNvCxnSpPr/>
          <p:nvPr/>
        </p:nvCxnSpPr>
        <p:spPr>
          <a:xfrm>
            <a:off x="6080759" y="2862072"/>
            <a:ext cx="0" cy="173736"/>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589227" y="3035808"/>
            <a:ext cx="8983065" cy="0"/>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589227"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48640" y="3200400"/>
            <a:ext cx="2081174" cy="2304287"/>
          </a:xfrm>
          <a:prstGeom prst="roundRect">
            <a:avLst>
              <a:gd name="adj" fmla="val 6000"/>
            </a:avLst>
          </a:prstGeom>
          <a:noFill/>
          <a:ln w="15875">
            <a:solidFill>
              <a:srgbClr val="5B6C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58368"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333195" y="3456432"/>
            <a:ext cx="512064" cy="512064"/>
          </a:xfrm>
          <a:prstGeom prst="roundRect">
            <a:avLst/>
          </a:prstGeom>
          <a:solidFill>
            <a:srgbClr val="5B6CF0"/>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17" name="TextBox 16"/>
          <p:cNvSpPr txBox="1"/>
          <p:nvPr/>
        </p:nvSpPr>
        <p:spPr>
          <a:xfrm>
            <a:off x="731520"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Growth Strategist</a:t>
            </a:r>
          </a:p>
        </p:txBody>
      </p:sp>
      <p:sp>
        <p:nvSpPr>
          <p:cNvPr id="18" name="TextBox 17"/>
          <p:cNvSpPr txBox="1"/>
          <p:nvPr/>
        </p:nvSpPr>
        <p:spPr>
          <a:xfrm>
            <a:off x="749808"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Research, positioning, briefs, storyboards</a:t>
            </a:r>
          </a:p>
        </p:txBody>
      </p:sp>
      <p:cxnSp>
        <p:nvCxnSpPr>
          <p:cNvPr id="19" name="Connector 18"/>
          <p:cNvCxnSpPr/>
          <p:nvPr/>
        </p:nvCxnSpPr>
        <p:spPr>
          <a:xfrm>
            <a:off x="3834993"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2794406" y="3200400"/>
            <a:ext cx="2081174" cy="2304287"/>
          </a:xfrm>
          <a:prstGeom prst="roundRect">
            <a:avLst>
              <a:gd name="adj" fmla="val 6000"/>
            </a:avLst>
          </a:prstGeom>
          <a:noFill/>
          <a:ln w="15875">
            <a:solidFill>
              <a:srgbClr val="E8813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904134"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578961" y="3456432"/>
            <a:ext cx="512064" cy="512064"/>
          </a:xfrm>
          <a:prstGeom prst="roundRect">
            <a:avLst/>
          </a:prstGeom>
          <a:solidFill>
            <a:srgbClr val="E8813C"/>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23" name="TextBox 22"/>
          <p:cNvSpPr txBox="1"/>
          <p:nvPr/>
        </p:nvSpPr>
        <p:spPr>
          <a:xfrm>
            <a:off x="2977286"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Content Creator</a:t>
            </a:r>
          </a:p>
        </p:txBody>
      </p:sp>
      <p:sp>
        <p:nvSpPr>
          <p:cNvPr id="24" name="TextBox 23"/>
          <p:cNvSpPr txBox="1"/>
          <p:nvPr/>
        </p:nvSpPr>
        <p:spPr>
          <a:xfrm>
            <a:off x="2995574"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Posts, newsletter, scripts, page copy</a:t>
            </a:r>
          </a:p>
        </p:txBody>
      </p:sp>
      <p:cxnSp>
        <p:nvCxnSpPr>
          <p:cNvPr id="25" name="Connector 24"/>
          <p:cNvCxnSpPr/>
          <p:nvPr/>
        </p:nvCxnSpPr>
        <p:spPr>
          <a:xfrm>
            <a:off x="6080759"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5040172" y="3200400"/>
            <a:ext cx="2081174" cy="2304287"/>
          </a:xfrm>
          <a:prstGeom prst="roundRect">
            <a:avLst>
              <a:gd name="adj" fmla="val 6000"/>
            </a:avLst>
          </a:prstGeom>
          <a:noFill/>
          <a:ln w="15875">
            <a:solidFill>
              <a:srgbClr val="E77FA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149900"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824727" y="3456432"/>
            <a:ext cx="512064" cy="512064"/>
          </a:xfrm>
          <a:prstGeom prst="roundRect">
            <a:avLst/>
          </a:prstGeom>
          <a:solidFill>
            <a:srgbClr val="E77FA6"/>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29" name="TextBox 28"/>
          <p:cNvSpPr txBox="1"/>
          <p:nvPr/>
        </p:nvSpPr>
        <p:spPr>
          <a:xfrm>
            <a:off x="5223052"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Creative Designer</a:t>
            </a:r>
          </a:p>
        </p:txBody>
      </p:sp>
      <p:sp>
        <p:nvSpPr>
          <p:cNvPr id="30" name="TextBox 29"/>
          <p:cNvSpPr txBox="1"/>
          <p:nvPr/>
        </p:nvSpPr>
        <p:spPr>
          <a:xfrm>
            <a:off x="5241340"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Images, thumbnails, the video</a:t>
            </a:r>
          </a:p>
        </p:txBody>
      </p:sp>
      <p:cxnSp>
        <p:nvCxnSpPr>
          <p:cNvPr id="31" name="Connector 30"/>
          <p:cNvCxnSpPr/>
          <p:nvPr/>
        </p:nvCxnSpPr>
        <p:spPr>
          <a:xfrm>
            <a:off x="8326526"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7285939" y="3200400"/>
            <a:ext cx="2081174" cy="2304287"/>
          </a:xfrm>
          <a:prstGeom prst="roundRect">
            <a:avLst>
              <a:gd name="adj" fmla="val 6000"/>
            </a:avLst>
          </a:prstGeom>
          <a:noFill/>
          <a:ln w="15875">
            <a:solidFill>
              <a:srgbClr val="3A9A8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7395667"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8070494" y="3456432"/>
            <a:ext cx="512064" cy="512064"/>
          </a:xfrm>
          <a:prstGeom prst="roundRect">
            <a:avLst/>
          </a:prstGeom>
          <a:solidFill>
            <a:srgbClr val="3A9A8F"/>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35" name="TextBox 34"/>
          <p:cNvSpPr txBox="1"/>
          <p:nvPr/>
        </p:nvSpPr>
        <p:spPr>
          <a:xfrm>
            <a:off x="7468819"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Website Designer</a:t>
            </a:r>
          </a:p>
        </p:txBody>
      </p:sp>
      <p:sp>
        <p:nvSpPr>
          <p:cNvPr id="36" name="TextBox 35"/>
          <p:cNvSpPr txBox="1"/>
          <p:nvPr/>
        </p:nvSpPr>
        <p:spPr>
          <a:xfrm>
            <a:off x="7487107"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Landing pages, published and checked</a:t>
            </a:r>
          </a:p>
        </p:txBody>
      </p:sp>
      <p:cxnSp>
        <p:nvCxnSpPr>
          <p:cNvPr id="37" name="Connector 36"/>
          <p:cNvCxnSpPr/>
          <p:nvPr/>
        </p:nvCxnSpPr>
        <p:spPr>
          <a:xfrm>
            <a:off x="10572292"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9531705" y="3200400"/>
            <a:ext cx="2081174" cy="2304287"/>
          </a:xfrm>
          <a:prstGeom prst="roundRect">
            <a:avLst>
              <a:gd name="adj" fmla="val 6000"/>
            </a:avLst>
          </a:prstGeom>
          <a:noFill/>
          <a:ln w="15875">
            <a:solidFill>
              <a:srgbClr val="E2A93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9641433"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10316260" y="3456432"/>
            <a:ext cx="512064" cy="512064"/>
          </a:xfrm>
          <a:prstGeom prst="roundRect">
            <a:avLst/>
          </a:prstGeom>
          <a:solidFill>
            <a:srgbClr val="E2A93B"/>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41" name="TextBox 40"/>
          <p:cNvSpPr txBox="1"/>
          <p:nvPr/>
        </p:nvSpPr>
        <p:spPr>
          <a:xfrm>
            <a:off x="9714585"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Growth Analyst</a:t>
            </a:r>
          </a:p>
        </p:txBody>
      </p:sp>
      <p:sp>
        <p:nvSpPr>
          <p:cNvPr id="42" name="TextBox 41"/>
          <p:cNvSpPr txBox="1"/>
          <p:nvPr/>
        </p:nvSpPr>
        <p:spPr>
          <a:xfrm>
            <a:off x="9732873"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Personas, cadence, results, reports</a:t>
            </a:r>
          </a:p>
        </p:txBody>
      </p:sp>
      <p:sp>
        <p:nvSpPr>
          <p:cNvPr id="43" name="Rounded Rectangle 42"/>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Nothing reaches a customer unless a person approved that exact version.</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TEAM</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Who Does What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Each agent's job, the skills it owns and the connectors it may use.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23</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38531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a:t>
            </a:r>
          </a:p>
        </p:txBody>
      </p:sp>
      <p:sp>
        <p:nvSpPr>
          <p:cNvPr id="10" name="TextBox 9"/>
          <p:cNvSpPr txBox="1"/>
          <p:nvPr/>
        </p:nvSpPr>
        <p:spPr>
          <a:xfrm>
            <a:off x="2409444" y="2203703"/>
            <a:ext cx="193852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JOB</a:t>
            </a:r>
          </a:p>
        </p:txBody>
      </p:sp>
      <p:sp>
        <p:nvSpPr>
          <p:cNvPr id="11" name="TextBox 10"/>
          <p:cNvSpPr txBox="1"/>
          <p:nvPr/>
        </p:nvSpPr>
        <p:spPr>
          <a:xfrm>
            <a:off x="4622292" y="2203703"/>
            <a:ext cx="415137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SKILLS</a:t>
            </a:r>
          </a:p>
        </p:txBody>
      </p:sp>
      <p:sp>
        <p:nvSpPr>
          <p:cNvPr id="12" name="TextBox 11"/>
          <p:cNvSpPr txBox="1"/>
          <p:nvPr/>
        </p:nvSpPr>
        <p:spPr>
          <a:xfrm>
            <a:off x="9047988" y="2203703"/>
            <a:ext cx="249174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CONNECTORS</a:t>
            </a:r>
          </a:p>
        </p:txBody>
      </p:sp>
      <p:sp>
        <p:nvSpPr>
          <p:cNvPr id="13" name="Rectangle 12"/>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 y="2560320"/>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Team Lead</a:t>
            </a:r>
          </a:p>
        </p:txBody>
      </p:sp>
      <p:sp>
        <p:nvSpPr>
          <p:cNvPr id="15" name="TextBox 14"/>
          <p:cNvSpPr txBox="1"/>
          <p:nvPr/>
        </p:nvSpPr>
        <p:spPr>
          <a:xfrm>
            <a:off x="2409444" y="2560320"/>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Plans, assigns, checks, hands to a person</a:t>
            </a:r>
          </a:p>
        </p:txBody>
      </p:sp>
      <p:sp>
        <p:nvSpPr>
          <p:cNvPr id="16" name="TextBox 15"/>
          <p:cNvSpPr txBox="1"/>
          <p:nvPr/>
        </p:nvSpPr>
        <p:spPr>
          <a:xfrm>
            <a:off x="4622292" y="2560320"/>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fact-check, fin-compliance</a:t>
            </a:r>
          </a:p>
        </p:txBody>
      </p:sp>
      <p:sp>
        <p:nvSpPr>
          <p:cNvPr id="17" name="TextBox 16"/>
          <p:cNvSpPr txBox="1"/>
          <p:nvPr/>
        </p:nvSpPr>
        <p:spPr>
          <a:xfrm>
            <a:off x="9047988" y="2560320"/>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(read), @Gmail (drafts only)</a:t>
            </a:r>
          </a:p>
        </p:txBody>
      </p:sp>
      <p:sp>
        <p:nvSpPr>
          <p:cNvPr id="18" name="TextBox 17"/>
          <p:cNvSpPr txBox="1"/>
          <p:nvPr/>
        </p:nvSpPr>
        <p:spPr>
          <a:xfrm>
            <a:off x="749808" y="3084575"/>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Strategist</a:t>
            </a:r>
          </a:p>
        </p:txBody>
      </p:sp>
      <p:sp>
        <p:nvSpPr>
          <p:cNvPr id="19" name="TextBox 18"/>
          <p:cNvSpPr txBox="1"/>
          <p:nvPr/>
        </p:nvSpPr>
        <p:spPr>
          <a:xfrm>
            <a:off x="2409444" y="3084575"/>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Research, positioning, briefs, storyboards</a:t>
            </a:r>
          </a:p>
        </p:txBody>
      </p:sp>
      <p:sp>
        <p:nvSpPr>
          <p:cNvPr id="20" name="TextBox 19"/>
          <p:cNvSpPr txBox="1"/>
          <p:nvPr/>
        </p:nvSpPr>
        <p:spPr>
          <a:xfrm>
            <a:off x="4622292" y="3084575"/>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competitor-scan, campaign-brief, content-marketing</a:t>
            </a:r>
          </a:p>
        </p:txBody>
      </p:sp>
      <p:sp>
        <p:nvSpPr>
          <p:cNvPr id="21" name="TextBox 20"/>
          <p:cNvSpPr txBox="1"/>
          <p:nvPr/>
        </p:nvSpPr>
        <p:spPr>
          <a:xfrm>
            <a:off x="9047988" y="3084575"/>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 search, @Google Drive (read)</a:t>
            </a:r>
          </a:p>
        </p:txBody>
      </p:sp>
      <p:sp>
        <p:nvSpPr>
          <p:cNvPr id="22" name="Rectangle 21"/>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9808" y="3608831"/>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Content Creator</a:t>
            </a:r>
          </a:p>
        </p:txBody>
      </p:sp>
      <p:sp>
        <p:nvSpPr>
          <p:cNvPr id="24" name="TextBox 23"/>
          <p:cNvSpPr txBox="1"/>
          <p:nvPr/>
        </p:nvSpPr>
        <p:spPr>
          <a:xfrm>
            <a:off x="2409444" y="3608831"/>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Posts, newsletter, scripts, page copy</a:t>
            </a:r>
          </a:p>
        </p:txBody>
      </p:sp>
      <p:sp>
        <p:nvSpPr>
          <p:cNvPr id="25" name="TextBox 24"/>
          <p:cNvSpPr txBox="1"/>
          <p:nvPr/>
        </p:nvSpPr>
        <p:spPr>
          <a:xfrm>
            <a:off x="4622292" y="3608831"/>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sunny-voice, copywriting, channel-formats, linkedin-post, facebook-post, blog-post, newsletter</a:t>
            </a:r>
          </a:p>
        </p:txBody>
      </p:sp>
      <p:sp>
        <p:nvSpPr>
          <p:cNvPr id="26" name="TextBox 25"/>
          <p:cNvSpPr txBox="1"/>
          <p:nvPr/>
        </p:nvSpPr>
        <p:spPr>
          <a:xfrm>
            <a:off x="9047988" y="3608831"/>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(docs), @Gmail (drafts only)</a:t>
            </a:r>
          </a:p>
        </p:txBody>
      </p:sp>
      <p:sp>
        <p:nvSpPr>
          <p:cNvPr id="27" name="TextBox 26"/>
          <p:cNvSpPr txBox="1"/>
          <p:nvPr/>
        </p:nvSpPr>
        <p:spPr>
          <a:xfrm>
            <a:off x="749808" y="4133087"/>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Creative Designer</a:t>
            </a:r>
          </a:p>
        </p:txBody>
      </p:sp>
      <p:sp>
        <p:nvSpPr>
          <p:cNvPr id="28" name="TextBox 27"/>
          <p:cNvSpPr txBox="1"/>
          <p:nvPr/>
        </p:nvSpPr>
        <p:spPr>
          <a:xfrm>
            <a:off x="2409444" y="4133087"/>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Images, thumbnails, the video</a:t>
            </a:r>
          </a:p>
        </p:txBody>
      </p:sp>
      <p:sp>
        <p:nvSpPr>
          <p:cNvPr id="29" name="TextBox 28"/>
          <p:cNvSpPr txBox="1"/>
          <p:nvPr/>
        </p:nvSpPr>
        <p:spPr>
          <a:xfrm>
            <a:off x="4622292" y="4133087"/>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brand-visuals, video-render</a:t>
            </a:r>
          </a:p>
        </p:txBody>
      </p:sp>
      <p:sp>
        <p:nvSpPr>
          <p:cNvPr id="30" name="TextBox 29"/>
          <p:cNvSpPr txBox="1"/>
          <p:nvPr/>
        </p:nvSpPr>
        <p:spPr>
          <a:xfrm>
            <a:off x="9047988" y="4133087"/>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$imagegen, ffmpeg in Codex</a:t>
            </a:r>
          </a:p>
        </p:txBody>
      </p:sp>
      <p:sp>
        <p:nvSpPr>
          <p:cNvPr id="31" name="Rectangle 30"/>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9808" y="4657344"/>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Website Designer</a:t>
            </a:r>
          </a:p>
        </p:txBody>
      </p:sp>
      <p:sp>
        <p:nvSpPr>
          <p:cNvPr id="33" name="TextBox 32"/>
          <p:cNvSpPr txBox="1"/>
          <p:nvPr/>
        </p:nvSpPr>
        <p:spPr>
          <a:xfrm>
            <a:off x="2409444" y="4657344"/>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Landing pages, published and checked</a:t>
            </a:r>
          </a:p>
        </p:txBody>
      </p:sp>
      <p:sp>
        <p:nvSpPr>
          <p:cNvPr id="34" name="TextBox 33"/>
          <p:cNvSpPr txBox="1"/>
          <p:nvPr/>
        </p:nvSpPr>
        <p:spPr>
          <a:xfrm>
            <a:off x="4622292" y="4657344"/>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web-design, landing-page, lead-magnet, page-qa</a:t>
            </a:r>
          </a:p>
        </p:txBody>
      </p:sp>
      <p:sp>
        <p:nvSpPr>
          <p:cNvPr id="35" name="TextBox 34"/>
          <p:cNvSpPr txBox="1"/>
          <p:nvPr/>
        </p:nvSpPr>
        <p:spPr>
          <a:xfrm>
            <a:off x="9047988" y="4657344"/>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@Sites (publish), @Computer Use (browser check)</a:t>
            </a:r>
          </a:p>
        </p:txBody>
      </p:sp>
      <p:sp>
        <p:nvSpPr>
          <p:cNvPr id="36" name="TextBox 35"/>
          <p:cNvSpPr txBox="1"/>
          <p:nvPr/>
        </p:nvSpPr>
        <p:spPr>
          <a:xfrm>
            <a:off x="749808" y="5181599"/>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Analyst</a:t>
            </a:r>
          </a:p>
        </p:txBody>
      </p:sp>
      <p:sp>
        <p:nvSpPr>
          <p:cNvPr id="37" name="TextBox 36"/>
          <p:cNvSpPr txBox="1"/>
          <p:nvPr/>
        </p:nvSpPr>
        <p:spPr>
          <a:xfrm>
            <a:off x="2409444" y="5181599"/>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Personas, cadence, results, reports</a:t>
            </a:r>
          </a:p>
        </p:txBody>
      </p:sp>
      <p:sp>
        <p:nvSpPr>
          <p:cNvPr id="38" name="TextBox 37"/>
          <p:cNvSpPr txBox="1"/>
          <p:nvPr/>
        </p:nvSpPr>
        <p:spPr>
          <a:xfrm>
            <a:off x="4622292" y="5181599"/>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audience-insights, campaign-report</a:t>
            </a:r>
          </a:p>
        </p:txBody>
      </p:sp>
      <p:sp>
        <p:nvSpPr>
          <p:cNvPr id="39" name="TextBox 38"/>
          <p:cNvSpPr txBox="1"/>
          <p:nvPr/>
        </p:nvSpPr>
        <p:spPr>
          <a:xfrm>
            <a:off x="9047988" y="5181599"/>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and Sheets (read), Python in Codex</a:t>
            </a:r>
          </a:p>
        </p:txBody>
      </p:sp>
      <p:sp>
        <p:nvSpPr>
          <p:cNvPr id="40" name="Rounded Rectangle 39"/>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You build every part of this table in Labs 2, 3 and 4.</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SCENARIO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Tools for This Edition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ChatGPT Edition: ChatGPT, ChatGPT Work and Codex in one app.</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24</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15981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TOOL</a:t>
            </a:r>
          </a:p>
        </p:txBody>
      </p:sp>
      <p:sp>
        <p:nvSpPr>
          <p:cNvPr id="10" name="TextBox 9"/>
          <p:cNvSpPr txBox="1"/>
          <p:nvPr/>
        </p:nvSpPr>
        <p:spPr>
          <a:xfrm>
            <a:off x="3183940" y="2203703"/>
            <a:ext cx="5036515"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THE TEAM USES IT FOR</a:t>
            </a:r>
          </a:p>
        </p:txBody>
      </p:sp>
      <p:sp>
        <p:nvSpPr>
          <p:cNvPr id="11" name="TextBox 10"/>
          <p:cNvSpPr txBox="1"/>
          <p:nvPr/>
        </p:nvSpPr>
        <p:spPr>
          <a:xfrm>
            <a:off x="8494776" y="2203703"/>
            <a:ext cx="304495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LABS</a:t>
            </a:r>
          </a:p>
        </p:txBody>
      </p:sp>
      <p:sp>
        <p:nvSpPr>
          <p:cNvPr id="12" name="Rectangle 11"/>
          <p:cNvSpPr/>
          <p:nvPr/>
        </p:nvSpPr>
        <p:spPr>
          <a:xfrm>
            <a:off x="548640" y="2560320"/>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159812"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ChatGPT Project</a:t>
            </a:r>
          </a:p>
        </p:txBody>
      </p:sp>
      <p:sp>
        <p:nvSpPr>
          <p:cNvPr id="14" name="TextBox 13"/>
          <p:cNvSpPr txBox="1"/>
          <p:nvPr/>
        </p:nvSpPr>
        <p:spPr>
          <a:xfrm>
            <a:off x="3183940" y="2560320"/>
            <a:ext cx="5036515"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team's shared files and instructions</a:t>
            </a:r>
          </a:p>
        </p:txBody>
      </p:sp>
      <p:sp>
        <p:nvSpPr>
          <p:cNvPr id="15" name="TextBox 14"/>
          <p:cNvSpPr txBox="1"/>
          <p:nvPr/>
        </p:nvSpPr>
        <p:spPr>
          <a:xfrm>
            <a:off x="8494776" y="2560320"/>
            <a:ext cx="3044952"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a:t>
            </a:r>
          </a:p>
        </p:txBody>
      </p:sp>
      <p:sp>
        <p:nvSpPr>
          <p:cNvPr id="16" name="TextBox 15"/>
          <p:cNvSpPr txBox="1"/>
          <p:nvPr/>
        </p:nvSpPr>
        <p:spPr>
          <a:xfrm>
            <a:off x="749808" y="3189427"/>
            <a:ext cx="2159812"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Codex</a:t>
            </a:r>
          </a:p>
        </p:txBody>
      </p:sp>
      <p:sp>
        <p:nvSpPr>
          <p:cNvPr id="17" name="TextBox 16"/>
          <p:cNvSpPr txBox="1"/>
          <p:nvPr/>
        </p:nvSpPr>
        <p:spPr>
          <a:xfrm>
            <a:off x="3183940" y="3189427"/>
            <a:ext cx="5036515"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Lead's chat; role cards; skills; subagents; scripts; the video</a:t>
            </a:r>
          </a:p>
        </p:txBody>
      </p:sp>
      <p:sp>
        <p:nvSpPr>
          <p:cNvPr id="18" name="TextBox 17"/>
          <p:cNvSpPr txBox="1"/>
          <p:nvPr/>
        </p:nvSpPr>
        <p:spPr>
          <a:xfrm>
            <a:off x="8494776" y="3189427"/>
            <a:ext cx="3044952"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1–12, 14</a:t>
            </a:r>
          </a:p>
        </p:txBody>
      </p:sp>
      <p:sp>
        <p:nvSpPr>
          <p:cNvPr id="19" name="Rectangle 18"/>
          <p:cNvSpPr/>
          <p:nvPr/>
        </p:nvSpPr>
        <p:spPr>
          <a:xfrm>
            <a:off x="548640" y="3818534"/>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818534"/>
            <a:ext cx="2159812"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ChatGPT Work</a:t>
            </a:r>
          </a:p>
        </p:txBody>
      </p:sp>
      <p:sp>
        <p:nvSpPr>
          <p:cNvPr id="21" name="TextBox 20"/>
          <p:cNvSpPr txBox="1"/>
          <p:nvPr/>
        </p:nvSpPr>
        <p:spPr>
          <a:xfrm>
            <a:off x="3183940" y="3818534"/>
            <a:ext cx="5036515"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Plugins (Drive, Gmail), skills, scheduled tasks</a:t>
            </a:r>
          </a:p>
        </p:txBody>
      </p:sp>
      <p:sp>
        <p:nvSpPr>
          <p:cNvPr id="22" name="TextBox 21"/>
          <p:cNvSpPr txBox="1"/>
          <p:nvPr/>
        </p:nvSpPr>
        <p:spPr>
          <a:xfrm>
            <a:off x="8494776" y="3818534"/>
            <a:ext cx="3044952"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4, 11, 13</a:t>
            </a:r>
          </a:p>
        </p:txBody>
      </p:sp>
      <p:sp>
        <p:nvSpPr>
          <p:cNvPr id="23" name="TextBox 22"/>
          <p:cNvSpPr txBox="1"/>
          <p:nvPr/>
        </p:nvSpPr>
        <p:spPr>
          <a:xfrm>
            <a:off x="749808" y="4447641"/>
            <a:ext cx="2159812"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@Sites</a:t>
            </a:r>
          </a:p>
        </p:txBody>
      </p:sp>
      <p:sp>
        <p:nvSpPr>
          <p:cNvPr id="24" name="TextBox 23"/>
          <p:cNvSpPr txBox="1"/>
          <p:nvPr/>
        </p:nvSpPr>
        <p:spPr>
          <a:xfrm>
            <a:off x="3183940" y="4447641"/>
            <a:ext cx="5036515"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campaign landing page; Horizon's website is given as a public link</a:t>
            </a:r>
          </a:p>
        </p:txBody>
      </p:sp>
      <p:sp>
        <p:nvSpPr>
          <p:cNvPr id="25" name="TextBox 24"/>
          <p:cNvSpPr txBox="1"/>
          <p:nvPr/>
        </p:nvSpPr>
        <p:spPr>
          <a:xfrm>
            <a:off x="8494776" y="4447641"/>
            <a:ext cx="3044952"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11</a:t>
            </a:r>
          </a:p>
        </p:txBody>
      </p:sp>
      <p:sp>
        <p:nvSpPr>
          <p:cNvPr id="26" name="Rectangle 25"/>
          <p:cNvSpPr/>
          <p:nvPr/>
        </p:nvSpPr>
        <p:spPr>
          <a:xfrm>
            <a:off x="548640" y="5076748"/>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5076748"/>
            <a:ext cx="2159812"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Dots · workspace agents</a:t>
            </a:r>
          </a:p>
        </p:txBody>
      </p:sp>
      <p:sp>
        <p:nvSpPr>
          <p:cNvPr id="28" name="TextBox 27"/>
          <p:cNvSpPr txBox="1"/>
          <p:nvPr/>
        </p:nvSpPr>
        <p:spPr>
          <a:xfrm>
            <a:off x="3183940" y="5076748"/>
            <a:ext cx="5036515"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Optional demo: an always-on Lead and shared agents</a:t>
            </a:r>
          </a:p>
        </p:txBody>
      </p:sp>
      <p:sp>
        <p:nvSpPr>
          <p:cNvPr id="29" name="TextBox 28"/>
          <p:cNvSpPr txBox="1"/>
          <p:nvPr/>
        </p:nvSpPr>
        <p:spPr>
          <a:xfrm>
            <a:off x="8494776" y="5076748"/>
            <a:ext cx="3044952"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15 (optional)</a:t>
            </a:r>
          </a:p>
        </p:txBody>
      </p:sp>
      <p:sp>
        <p:nvSpPr>
          <p:cNvPr id="30" name="Rounded Rectangle 29"/>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Every external post, email and video passes one gate: a person approves the exact version.</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ROADMAP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Course Outline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Four topics over two days. Day 1 forms the team; Day 2 runs its campaigns.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25</a:t>
            </a:r>
          </a:p>
        </p:txBody>
      </p:sp>
      <p:sp>
        <p:nvSpPr>
          <p:cNvPr id="8" name="Pentagon 7"/>
          <p:cNvSpPr/>
          <p:nvPr/>
        </p:nvSpPr>
        <p:spPr>
          <a:xfrm>
            <a:off x="548640" y="2084831"/>
            <a:ext cx="283464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68833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68833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2432304"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T1 · Ideation and Storyboarding</a:t>
            </a:r>
          </a:p>
        </p:txBody>
      </p:sp>
      <p:sp>
        <p:nvSpPr>
          <p:cNvPr id="12" name="TextBox 11"/>
          <p:cNvSpPr txBox="1"/>
          <p:nvPr/>
        </p:nvSpPr>
        <p:spPr>
          <a:xfrm>
            <a:off x="676656" y="3694176"/>
            <a:ext cx="2432304"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studio, the team's instructions, skills and connectors; Campaign 1. Labs 1–5.</a:t>
            </a:r>
          </a:p>
        </p:txBody>
      </p:sp>
      <p:sp>
        <p:nvSpPr>
          <p:cNvPr id="13" name="Chevron 12"/>
          <p:cNvSpPr/>
          <p:nvPr/>
        </p:nvSpPr>
        <p:spPr>
          <a:xfrm>
            <a:off x="3291840" y="2084831"/>
            <a:ext cx="283464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3383280" y="2962656"/>
            <a:ext cx="25968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2962656"/>
            <a:ext cx="2596896"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11296" y="3127248"/>
            <a:ext cx="23408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T2 · Audience and Requirements</a:t>
            </a:r>
          </a:p>
        </p:txBody>
      </p:sp>
      <p:sp>
        <p:nvSpPr>
          <p:cNvPr id="17" name="TextBox 16"/>
          <p:cNvSpPr txBox="1"/>
          <p:nvPr/>
        </p:nvSpPr>
        <p:spPr>
          <a:xfrm>
            <a:off x="3511296" y="3694176"/>
            <a:ext cx="23408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Personas from evidence; cadence and calendar; the first blog article. Labs 6–8.</a:t>
            </a:r>
          </a:p>
        </p:txBody>
      </p:sp>
      <p:sp>
        <p:nvSpPr>
          <p:cNvPr id="18" name="Chevron 17"/>
          <p:cNvSpPr/>
          <p:nvPr/>
        </p:nvSpPr>
        <p:spPr>
          <a:xfrm>
            <a:off x="6035040" y="2084831"/>
            <a:ext cx="283464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6126479" y="2962656"/>
            <a:ext cx="25968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26479" y="2962656"/>
            <a:ext cx="2596896"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54495" y="3127248"/>
            <a:ext cx="23408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T3 · Creation and Coordination</a:t>
            </a:r>
          </a:p>
        </p:txBody>
      </p:sp>
      <p:sp>
        <p:nvSpPr>
          <p:cNvPr id="22" name="TextBox 21"/>
          <p:cNvSpPr txBox="1"/>
          <p:nvPr/>
        </p:nvSpPr>
        <p:spPr>
          <a:xfrm>
            <a:off x="6254495" y="3694176"/>
            <a:ext cx="23408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Lead magnet, social week, newsletter + landing page, video — behind a human gate. Labs 9–12.</a:t>
            </a:r>
          </a:p>
        </p:txBody>
      </p:sp>
      <p:sp>
        <p:nvSpPr>
          <p:cNvPr id="23" name="Chevron 22"/>
          <p:cNvSpPr/>
          <p:nvPr/>
        </p:nvSpPr>
        <p:spPr>
          <a:xfrm>
            <a:off x="8778240" y="2084831"/>
            <a:ext cx="283464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8869680" y="2962656"/>
            <a:ext cx="25968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869680" y="2962656"/>
            <a:ext cx="2596896"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97696" y="3127248"/>
            <a:ext cx="23408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T4 · Distribution and Responsible AI</a:t>
            </a:r>
          </a:p>
        </p:txBody>
      </p:sp>
      <p:sp>
        <p:nvSpPr>
          <p:cNvPr id="27" name="TextBox 26"/>
          <p:cNvSpPr txBox="1"/>
          <p:nvPr/>
        </p:nvSpPr>
        <p:spPr>
          <a:xfrm>
            <a:off x="8997696" y="3694176"/>
            <a:ext cx="23408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weekly report on a schedule; the playbook; optional demo. Labs 13–15.</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ROADMAP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Lab Materials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Fifteen labs, each in its own folder with a README, prompts (MD and PDF), assets, an evidence checklist and, where useful, a solution.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26</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832103"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DAY</a:t>
            </a:r>
          </a:p>
        </p:txBody>
      </p:sp>
      <p:sp>
        <p:nvSpPr>
          <p:cNvPr id="10" name="TextBox 9"/>
          <p:cNvSpPr txBox="1"/>
          <p:nvPr/>
        </p:nvSpPr>
        <p:spPr>
          <a:xfrm>
            <a:off x="1856232" y="2203703"/>
            <a:ext cx="702807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LABS</a:t>
            </a:r>
          </a:p>
        </p:txBody>
      </p:sp>
      <p:sp>
        <p:nvSpPr>
          <p:cNvPr id="11" name="TextBox 10"/>
          <p:cNvSpPr txBox="1"/>
          <p:nvPr/>
        </p:nvSpPr>
        <p:spPr>
          <a:xfrm>
            <a:off x="9158630" y="2203703"/>
            <a:ext cx="238109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TOPIC</a:t>
            </a:r>
          </a:p>
        </p:txBody>
      </p:sp>
      <p:sp>
        <p:nvSpPr>
          <p:cNvPr id="12" name="Rectangle 11"/>
          <p:cNvSpPr/>
          <p:nvPr/>
        </p:nvSpPr>
        <p:spPr>
          <a:xfrm>
            <a:off x="548640" y="2560320"/>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1</a:t>
            </a:r>
          </a:p>
        </p:txBody>
      </p:sp>
      <p:sp>
        <p:nvSpPr>
          <p:cNvPr id="14" name="TextBox 13"/>
          <p:cNvSpPr txBox="1"/>
          <p:nvPr/>
        </p:nvSpPr>
        <p:spPr>
          <a:xfrm>
            <a:off x="1856232" y="2560320"/>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 Agent team · 2 Instructions · 3 Skills · 4 Connectors</a:t>
            </a:r>
          </a:p>
        </p:txBody>
      </p:sp>
      <p:sp>
        <p:nvSpPr>
          <p:cNvPr id="15" name="TextBox 14"/>
          <p:cNvSpPr txBox="1"/>
          <p:nvPr/>
        </p:nvSpPr>
        <p:spPr>
          <a:xfrm>
            <a:off x="9158630" y="2560320"/>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T1 · form the team</a:t>
            </a:r>
          </a:p>
        </p:txBody>
      </p:sp>
      <p:sp>
        <p:nvSpPr>
          <p:cNvPr id="16" name="TextBox 15"/>
          <p:cNvSpPr txBox="1"/>
          <p:nvPr/>
        </p:nvSpPr>
        <p:spPr>
          <a:xfrm>
            <a:off x="749808" y="3189427"/>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1</a:t>
            </a:r>
          </a:p>
        </p:txBody>
      </p:sp>
      <p:sp>
        <p:nvSpPr>
          <p:cNvPr id="17" name="TextBox 16"/>
          <p:cNvSpPr txBox="1"/>
          <p:nvPr/>
        </p:nvSpPr>
        <p:spPr>
          <a:xfrm>
            <a:off x="1856232" y="3189427"/>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5 Campaign 1: research to storyboard</a:t>
            </a:r>
          </a:p>
        </p:txBody>
      </p:sp>
      <p:sp>
        <p:nvSpPr>
          <p:cNvPr id="18" name="TextBox 17"/>
          <p:cNvSpPr txBox="1"/>
          <p:nvPr/>
        </p:nvSpPr>
        <p:spPr>
          <a:xfrm>
            <a:off x="9158630" y="3189427"/>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T1 · Campaign 1</a:t>
            </a:r>
          </a:p>
        </p:txBody>
      </p:sp>
      <p:sp>
        <p:nvSpPr>
          <p:cNvPr id="19" name="Rectangle 18"/>
          <p:cNvSpPr/>
          <p:nvPr/>
        </p:nvSpPr>
        <p:spPr>
          <a:xfrm>
            <a:off x="548640" y="3818534"/>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818534"/>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1</a:t>
            </a:r>
          </a:p>
        </p:txBody>
      </p:sp>
      <p:sp>
        <p:nvSpPr>
          <p:cNvPr id="21" name="TextBox 20"/>
          <p:cNvSpPr txBox="1"/>
          <p:nvPr/>
        </p:nvSpPr>
        <p:spPr>
          <a:xfrm>
            <a:off x="1856232" y="3818534"/>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6 Personas · 7 Cadence and calendar · 8 Blog article</a:t>
            </a:r>
          </a:p>
        </p:txBody>
      </p:sp>
      <p:sp>
        <p:nvSpPr>
          <p:cNvPr id="22" name="TextBox 21"/>
          <p:cNvSpPr txBox="1"/>
          <p:nvPr/>
        </p:nvSpPr>
        <p:spPr>
          <a:xfrm>
            <a:off x="9158630" y="3818534"/>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T2 · audience, content</a:t>
            </a:r>
          </a:p>
        </p:txBody>
      </p:sp>
      <p:sp>
        <p:nvSpPr>
          <p:cNvPr id="23" name="TextBox 22"/>
          <p:cNvSpPr txBox="1"/>
          <p:nvPr/>
        </p:nvSpPr>
        <p:spPr>
          <a:xfrm>
            <a:off x="749808" y="4447641"/>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2</a:t>
            </a:r>
          </a:p>
        </p:txBody>
      </p:sp>
      <p:sp>
        <p:nvSpPr>
          <p:cNvPr id="24" name="TextBox 23"/>
          <p:cNvSpPr txBox="1"/>
          <p:nvPr/>
        </p:nvSpPr>
        <p:spPr>
          <a:xfrm>
            <a:off x="1856232" y="4447641"/>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9 Lead magnet · 10 Social week · 11 Newsletter + landing page · 12 Video</a:t>
            </a:r>
          </a:p>
        </p:txBody>
      </p:sp>
      <p:sp>
        <p:nvSpPr>
          <p:cNvPr id="25" name="TextBox 24"/>
          <p:cNvSpPr txBox="1"/>
          <p:nvPr/>
        </p:nvSpPr>
        <p:spPr>
          <a:xfrm>
            <a:off x="9158630" y="4447641"/>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T3 · Campaigns 2–4</a:t>
            </a:r>
          </a:p>
        </p:txBody>
      </p:sp>
      <p:sp>
        <p:nvSpPr>
          <p:cNvPr id="26" name="Rectangle 25"/>
          <p:cNvSpPr/>
          <p:nvPr/>
        </p:nvSpPr>
        <p:spPr>
          <a:xfrm>
            <a:off x="548640" y="5076748"/>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5076748"/>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2</a:t>
            </a:r>
          </a:p>
        </p:txBody>
      </p:sp>
      <p:sp>
        <p:nvSpPr>
          <p:cNvPr id="28" name="TextBox 27"/>
          <p:cNvSpPr txBox="1"/>
          <p:nvPr/>
        </p:nvSpPr>
        <p:spPr>
          <a:xfrm>
            <a:off x="1856232" y="5076748"/>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13 Weekly report · 14 Playbook · 15 Optional demo</a:t>
            </a:r>
          </a:p>
        </p:txBody>
      </p:sp>
      <p:sp>
        <p:nvSpPr>
          <p:cNvPr id="29" name="TextBox 28"/>
          <p:cNvSpPr txBox="1"/>
          <p:nvPr/>
        </p:nvSpPr>
        <p:spPr>
          <a:xfrm>
            <a:off x="9158630" y="5076748"/>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T4 · Campaign 5</a:t>
            </a:r>
          </a:p>
        </p:txBody>
      </p:sp>
      <p:sp>
        <p:nvSpPr>
          <p:cNvPr id="30" name="Rounded Rectangle 29"/>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One horizon-studio folder from Lab 1 to Lab 14 — the team keeps what it learns.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ROADMAP · WHICH APP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ChatGPT or Codex?</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 lab says which to use. The rule: ChatGPT to create and schedule; Codex when the agents work on files.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27</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15981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USE</a:t>
            </a:r>
          </a:p>
        </p:txBody>
      </p:sp>
      <p:sp>
        <p:nvSpPr>
          <p:cNvPr id="10" name="TextBox 9"/>
          <p:cNvSpPr txBox="1"/>
          <p:nvPr/>
        </p:nvSpPr>
        <p:spPr>
          <a:xfrm>
            <a:off x="3183940"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LABS</a:t>
            </a:r>
          </a:p>
        </p:txBody>
      </p:sp>
      <p:sp>
        <p:nvSpPr>
          <p:cNvPr id="11" name="TextBox 10"/>
          <p:cNvSpPr txBox="1"/>
          <p:nvPr/>
        </p:nvSpPr>
        <p:spPr>
          <a:xfrm>
            <a:off x="6060643" y="2203703"/>
            <a:ext cx="5479084"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IT IS FOR</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15981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ChatGPT</a:t>
            </a:r>
          </a:p>
        </p:txBody>
      </p:sp>
      <p:sp>
        <p:nvSpPr>
          <p:cNvPr id="14" name="TextBox 13"/>
          <p:cNvSpPr txBox="1"/>
          <p:nvPr/>
        </p:nvSpPr>
        <p:spPr>
          <a:xfrm>
            <a:off x="3183940" y="2560320"/>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8, 9, 15</a:t>
            </a:r>
          </a:p>
        </p:txBody>
      </p:sp>
      <p:sp>
        <p:nvSpPr>
          <p:cNvPr id="15" name="TextBox 14"/>
          <p:cNvSpPr txBox="1"/>
          <p:nvPr/>
        </p:nvSpPr>
        <p:spPr>
          <a:xfrm>
            <a:off x="6060643" y="2560320"/>
            <a:ext cx="5479084"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One person creating or designing.</a:t>
            </a:r>
          </a:p>
        </p:txBody>
      </p:sp>
      <p:sp>
        <p:nvSpPr>
          <p:cNvPr id="16" name="TextBox 15"/>
          <p:cNvSpPr txBox="1"/>
          <p:nvPr/>
        </p:nvSpPr>
        <p:spPr>
          <a:xfrm>
            <a:off x="749808" y="3084575"/>
            <a:ext cx="215981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Codex</a:t>
            </a:r>
          </a:p>
        </p:txBody>
      </p:sp>
      <p:sp>
        <p:nvSpPr>
          <p:cNvPr id="17" name="TextBox 16"/>
          <p:cNvSpPr txBox="1"/>
          <p:nvPr/>
        </p:nvSpPr>
        <p:spPr>
          <a:xfrm>
            <a:off x="3183940" y="3084575"/>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1, 2, 5, 6, 7, 10, 12, 14</a:t>
            </a:r>
          </a:p>
        </p:txBody>
      </p:sp>
      <p:sp>
        <p:nvSpPr>
          <p:cNvPr id="18" name="TextBox 17"/>
          <p:cNvSpPr txBox="1"/>
          <p:nvPr/>
        </p:nvSpPr>
        <p:spPr>
          <a:xfrm>
            <a:off x="6060643" y="3084575"/>
            <a:ext cx="5479084"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team's files: role cards, skills, subagents, scripts, the video.</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215981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Codex, then ChatGPT</a:t>
            </a:r>
          </a:p>
        </p:txBody>
      </p:sp>
      <p:sp>
        <p:nvSpPr>
          <p:cNvPr id="21" name="TextBox 20"/>
          <p:cNvSpPr txBox="1"/>
          <p:nvPr/>
        </p:nvSpPr>
        <p:spPr>
          <a:xfrm>
            <a:off x="3183940" y="3608831"/>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3</a:t>
            </a:r>
          </a:p>
        </p:txBody>
      </p:sp>
      <p:sp>
        <p:nvSpPr>
          <p:cNvPr id="22" name="TextBox 21"/>
          <p:cNvSpPr txBox="1"/>
          <p:nvPr/>
        </p:nvSpPr>
        <p:spPr>
          <a:xfrm>
            <a:off x="6060643" y="3608831"/>
            <a:ext cx="5479084"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Build in Codex, then share in ChatGPT.</a:t>
            </a:r>
          </a:p>
        </p:txBody>
      </p:sp>
      <p:sp>
        <p:nvSpPr>
          <p:cNvPr id="23" name="TextBox 22"/>
          <p:cNvSpPr txBox="1"/>
          <p:nvPr/>
        </p:nvSpPr>
        <p:spPr>
          <a:xfrm>
            <a:off x="749808" y="4133087"/>
            <a:ext cx="215981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ChatGPT, then Codex</a:t>
            </a:r>
          </a:p>
        </p:txBody>
      </p:sp>
      <p:sp>
        <p:nvSpPr>
          <p:cNvPr id="24" name="TextBox 23"/>
          <p:cNvSpPr txBox="1"/>
          <p:nvPr/>
        </p:nvSpPr>
        <p:spPr>
          <a:xfrm>
            <a:off x="3183940" y="4133087"/>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4</a:t>
            </a:r>
          </a:p>
        </p:txBody>
      </p:sp>
      <p:sp>
        <p:nvSpPr>
          <p:cNvPr id="25" name="TextBox 24"/>
          <p:cNvSpPr txBox="1"/>
          <p:nvPr/>
        </p:nvSpPr>
        <p:spPr>
          <a:xfrm>
            <a:off x="6060643" y="4133087"/>
            <a:ext cx="5479084"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Install plugins, then test the agents.</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215981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Codex, then ChatGPT Work</a:t>
            </a:r>
          </a:p>
        </p:txBody>
      </p:sp>
      <p:sp>
        <p:nvSpPr>
          <p:cNvPr id="28" name="TextBox 27"/>
          <p:cNvSpPr txBox="1"/>
          <p:nvPr/>
        </p:nvSpPr>
        <p:spPr>
          <a:xfrm>
            <a:off x="3183940" y="4657344"/>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11</a:t>
            </a:r>
          </a:p>
        </p:txBody>
      </p:sp>
      <p:sp>
        <p:nvSpPr>
          <p:cNvPr id="29" name="TextBox 28"/>
          <p:cNvSpPr txBox="1"/>
          <p:nvPr/>
        </p:nvSpPr>
        <p:spPr>
          <a:xfrm>
            <a:off x="6060643" y="4657344"/>
            <a:ext cx="5479084"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Build in Codex; Gmail drafts in ChatGPT Work.</a:t>
            </a:r>
          </a:p>
        </p:txBody>
      </p:sp>
      <p:sp>
        <p:nvSpPr>
          <p:cNvPr id="30" name="TextBox 29"/>
          <p:cNvSpPr txBox="1"/>
          <p:nvPr/>
        </p:nvSpPr>
        <p:spPr>
          <a:xfrm>
            <a:off x="749808" y="5181599"/>
            <a:ext cx="215981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ChatGPT Work</a:t>
            </a:r>
          </a:p>
        </p:txBody>
      </p:sp>
      <p:sp>
        <p:nvSpPr>
          <p:cNvPr id="31" name="TextBox 30"/>
          <p:cNvSpPr txBox="1"/>
          <p:nvPr/>
        </p:nvSpPr>
        <p:spPr>
          <a:xfrm>
            <a:off x="3183940" y="5181599"/>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13</a:t>
            </a:r>
          </a:p>
        </p:txBody>
      </p:sp>
      <p:sp>
        <p:nvSpPr>
          <p:cNvPr id="32" name="TextBox 31"/>
          <p:cNvSpPr txBox="1"/>
          <p:nvPr/>
        </p:nvSpPr>
        <p:spPr>
          <a:xfrm>
            <a:off x="6060643" y="5181599"/>
            <a:ext cx="5479084"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Scheduled tasks and plugins.</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Both work on the same horizon-studio folder, so whatever one makes, the other can open.</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SCHEDULE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Lesson Plan (9:00 AM – 6:00 PM)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Tea breaks 10 min, lunch 45 min. Full timings and slide numbers are in the Lesson Plan.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28</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49595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BLOCK</a:t>
            </a:r>
          </a:p>
        </p:txBody>
      </p:sp>
      <p:sp>
        <p:nvSpPr>
          <p:cNvPr id="10" name="TextBox 9"/>
          <p:cNvSpPr txBox="1"/>
          <p:nvPr/>
        </p:nvSpPr>
        <p:spPr>
          <a:xfrm>
            <a:off x="2520086" y="2203703"/>
            <a:ext cx="437266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DAY 1 — FORM THE TEAM</a:t>
            </a:r>
          </a:p>
        </p:txBody>
      </p:sp>
      <p:sp>
        <p:nvSpPr>
          <p:cNvPr id="11" name="TextBox 10"/>
          <p:cNvSpPr txBox="1"/>
          <p:nvPr/>
        </p:nvSpPr>
        <p:spPr>
          <a:xfrm>
            <a:off x="7167067" y="2203703"/>
            <a:ext cx="437266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DAY 2 — RUN THE CAMPAIGNS</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Morning 1</a:t>
            </a:r>
          </a:p>
        </p:txBody>
      </p:sp>
      <p:sp>
        <p:nvSpPr>
          <p:cNvPr id="14" name="TextBox 13"/>
          <p:cNvSpPr txBox="1"/>
          <p:nvPr/>
        </p:nvSpPr>
        <p:spPr>
          <a:xfrm>
            <a:off x="2520086" y="2560320"/>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9:00–10:30  Welcome · Topic 1 · Lab 1</a:t>
            </a:r>
          </a:p>
        </p:txBody>
      </p:sp>
      <p:sp>
        <p:nvSpPr>
          <p:cNvPr id="15" name="TextBox 14"/>
          <p:cNvSpPr txBox="1"/>
          <p:nvPr/>
        </p:nvSpPr>
        <p:spPr>
          <a:xfrm>
            <a:off x="7167067" y="2560320"/>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9:00–10:40  Topic 3 · Labs 9–10</a:t>
            </a:r>
          </a:p>
        </p:txBody>
      </p:sp>
      <p:sp>
        <p:nvSpPr>
          <p:cNvPr id="16" name="TextBox 15"/>
          <p:cNvSpPr txBox="1"/>
          <p:nvPr/>
        </p:nvSpPr>
        <p:spPr>
          <a:xfrm>
            <a:off x="749808" y="3273552"/>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Morning 2</a:t>
            </a:r>
          </a:p>
        </p:txBody>
      </p:sp>
      <p:sp>
        <p:nvSpPr>
          <p:cNvPr id="17" name="TextBox 16"/>
          <p:cNvSpPr txBox="1"/>
          <p:nvPr/>
        </p:nvSpPr>
        <p:spPr>
          <a:xfrm>
            <a:off x="2520086" y="3273552"/>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10:40–12:40  Labs 2–3</a:t>
            </a:r>
          </a:p>
        </p:txBody>
      </p:sp>
      <p:sp>
        <p:nvSpPr>
          <p:cNvPr id="18" name="TextBox 17"/>
          <p:cNvSpPr txBox="1"/>
          <p:nvPr/>
        </p:nvSpPr>
        <p:spPr>
          <a:xfrm>
            <a:off x="7167067" y="3273552"/>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10:50–12:35  Labs 11–12 · recap</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Afternoon 1</a:t>
            </a:r>
          </a:p>
        </p:txBody>
      </p:sp>
      <p:sp>
        <p:nvSpPr>
          <p:cNvPr id="21" name="TextBox 20"/>
          <p:cNvSpPr txBox="1"/>
          <p:nvPr/>
        </p:nvSpPr>
        <p:spPr>
          <a:xfrm>
            <a:off x="2520086" y="3986784"/>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13:25–15:20  Labs 4–5</a:t>
            </a:r>
          </a:p>
        </p:txBody>
      </p:sp>
      <p:sp>
        <p:nvSpPr>
          <p:cNvPr id="22" name="TextBox 21"/>
          <p:cNvSpPr txBox="1"/>
          <p:nvPr/>
        </p:nvSpPr>
        <p:spPr>
          <a:xfrm>
            <a:off x="7167067" y="3986784"/>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13:20–15:00  Topic 4 · Labs 13–14</a:t>
            </a:r>
          </a:p>
        </p:txBody>
      </p:sp>
      <p:sp>
        <p:nvSpPr>
          <p:cNvPr id="23" name="TextBox 22"/>
          <p:cNvSpPr txBox="1"/>
          <p:nvPr/>
        </p:nvSpPr>
        <p:spPr>
          <a:xfrm>
            <a:off x="749808" y="4700016"/>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Afternoon 2</a:t>
            </a:r>
          </a:p>
        </p:txBody>
      </p:sp>
      <p:sp>
        <p:nvSpPr>
          <p:cNvPr id="24" name="TextBox 23"/>
          <p:cNvSpPr txBox="1"/>
          <p:nvPr/>
        </p:nvSpPr>
        <p:spPr>
          <a:xfrm>
            <a:off x="2520086" y="4700016"/>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15:30–18:00  Topic 2 · Labs 6–8 · review</a:t>
            </a:r>
          </a:p>
        </p:txBody>
      </p:sp>
      <p:sp>
        <p:nvSpPr>
          <p:cNvPr id="25" name="TextBox 24"/>
          <p:cNvSpPr txBox="1"/>
          <p:nvPr/>
        </p:nvSpPr>
        <p:spPr>
          <a:xfrm>
            <a:off x="7167067" y="4700016"/>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15:10–16:00 Demo · summary · 16:00–18:00 Assessment</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Day 2 assessment: Written Assessment 4:00–5:00 PM, Practical Performance 5:00–6:00 PM.</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1</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Multi-AI-Agent Content Ideation and Digital Storyboarding</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Why a team of agents</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A home for the team; Horizon's public website</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Form the team: instructions, skills, connectors</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Campaign 1: research, ideas and a storyboard</a:t>
            </a:r>
          </a:p>
        </p:txBody>
      </p:sp>
      <p:sp>
        <p:nvSpPr>
          <p:cNvPr id="13" name="TextBox 12"/>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4" name="TextBox 13"/>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Multi AI Agents Workflow for Content Creation</a:t>
            </a:r>
          </a:p>
        </p:txBody>
      </p:sp>
      <p:sp>
        <p:nvSpPr>
          <p:cNvPr id="15" name="TextBox 14"/>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29</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WHY A TEAM</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Why a Team of 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Lead runs specialists in parallel, each in its own context, then combines what they return.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30</a:t>
            </a:r>
          </a:p>
        </p:txBody>
      </p:sp>
      <p:sp>
        <p:nvSpPr>
          <p:cNvPr id="8" name="Rounded Rectangle 7"/>
          <p:cNvSpPr/>
          <p:nvPr/>
        </p:nvSpPr>
        <p:spPr>
          <a:xfrm>
            <a:off x="548640" y="2084831"/>
            <a:ext cx="3886200" cy="256032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21991"/>
            <a:ext cx="3483864" cy="256032"/>
          </a:xfrm>
          <a:prstGeom prst="rect">
            <a:avLst/>
          </a:prstGeom>
          <a:noFill/>
        </p:spPr>
        <p:txBody>
          <a:bodyPr wrap="square" lIns="18288" rIns="18288" tIns="9144" bIns="9144">
            <a:spAutoFit/>
          </a:bodyPr>
          <a:lstStyle/>
          <a:p>
            <a:pPr>
              <a:lnSpc>
                <a:spcPct val="100000"/>
              </a:lnSpc>
              <a:defRPr sz="1100" b="1">
                <a:solidFill>
                  <a:srgbClr val="6B6862"/>
                </a:solidFill>
                <a:latin typeface="Calibri"/>
              </a:defRPr>
            </a:pPr>
            <a:r>
              <a:t>ONE AGENT DOES EVERYTHING</a:t>
            </a:r>
          </a:p>
        </p:txBody>
      </p:sp>
      <p:sp>
        <p:nvSpPr>
          <p:cNvPr id="10" name="Rounded Rectangle 9"/>
          <p:cNvSpPr/>
          <p:nvPr/>
        </p:nvSpPr>
        <p:spPr>
          <a:xfrm>
            <a:off x="822959" y="2587752"/>
            <a:ext cx="1325880" cy="50292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2670048"/>
            <a:ext cx="1325880" cy="329184"/>
          </a:xfrm>
          <a:prstGeom prst="rect">
            <a:avLst/>
          </a:prstGeom>
          <a:noFill/>
        </p:spPr>
        <p:txBody>
          <a:bodyPr wrap="square" lIns="18288" rIns="18288" tIns="9144" bIns="9144">
            <a:spAutoFit/>
          </a:bodyPr>
          <a:lstStyle/>
          <a:p>
            <a:pPr algn="ctr">
              <a:lnSpc>
                <a:spcPct val="100000"/>
              </a:lnSpc>
              <a:defRPr sz="1300" b="1">
                <a:solidFill>
                  <a:srgbClr val="FFFFFF"/>
                </a:solidFill>
                <a:latin typeface="Calibri"/>
              </a:defRPr>
            </a:pPr>
            <a:r>
              <a:t>One agent</a:t>
            </a:r>
          </a:p>
        </p:txBody>
      </p:sp>
      <p:sp>
        <p:nvSpPr>
          <p:cNvPr id="12" name="TextBox 11"/>
          <p:cNvSpPr txBox="1"/>
          <p:nvPr/>
        </p:nvSpPr>
        <p:spPr>
          <a:xfrm>
            <a:off x="2331720" y="2587752"/>
            <a:ext cx="1920240" cy="548640"/>
          </a:xfrm>
          <a:prstGeom prst="rect">
            <a:avLst/>
          </a:prstGeom>
          <a:noFill/>
        </p:spPr>
        <p:txBody>
          <a:bodyPr wrap="square" lIns="18288" rIns="18288" tIns="9144" bIns="9144">
            <a:spAutoFit/>
          </a:bodyPr>
          <a:lstStyle/>
          <a:p>
            <a:pPr>
              <a:lnSpc>
                <a:spcPct val="100000"/>
              </a:lnSpc>
              <a:defRPr sz="1050" b="0">
                <a:solidFill>
                  <a:srgbClr val="6B6862"/>
                </a:solidFill>
                <a:latin typeface="Calibri"/>
              </a:defRPr>
            </a:pPr>
            <a:r>
              <a:t>One context window,</a:t>
            </a:r>
          </a:p>
          <a:p>
            <a:pPr>
              <a:lnSpc>
                <a:spcPct val="100000"/>
              </a:lnSpc>
              <a:defRPr sz="1050" b="0">
                <a:solidFill>
                  <a:srgbClr val="6B6862"/>
                </a:solidFill>
                <a:latin typeface="Calibri"/>
              </a:defRPr>
            </a:pPr>
            <a:r>
              <a:t>filling up with every job</a:t>
            </a:r>
          </a:p>
        </p:txBody>
      </p:sp>
      <p:sp>
        <p:nvSpPr>
          <p:cNvPr id="13" name="Rectangle 12"/>
          <p:cNvSpPr/>
          <p:nvPr/>
        </p:nvSpPr>
        <p:spPr>
          <a:xfrm>
            <a:off x="822959" y="3319272"/>
            <a:ext cx="640080" cy="475488"/>
          </a:xfrm>
          <a:prstGeom prst="rect">
            <a:avLst/>
          </a:prstGeom>
          <a:solidFill>
            <a:srgbClr val="EAD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research</a:t>
            </a:r>
          </a:p>
        </p:txBody>
      </p:sp>
      <p:sp>
        <p:nvSpPr>
          <p:cNvPr id="15" name="Rectangle 14"/>
          <p:cNvSpPr/>
          <p:nvPr/>
        </p:nvSpPr>
        <p:spPr>
          <a:xfrm>
            <a:off x="1490472" y="3319272"/>
            <a:ext cx="640080" cy="475488"/>
          </a:xfrm>
          <a:prstGeom prst="rect">
            <a:avLst/>
          </a:prstGeom>
          <a:solidFill>
            <a:srgbClr val="E4C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490472"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copy</a:t>
            </a:r>
          </a:p>
        </p:txBody>
      </p:sp>
      <p:sp>
        <p:nvSpPr>
          <p:cNvPr id="17" name="Rectangle 16"/>
          <p:cNvSpPr/>
          <p:nvPr/>
        </p:nvSpPr>
        <p:spPr>
          <a:xfrm>
            <a:off x="2157984" y="3319272"/>
            <a:ext cx="640080" cy="475488"/>
          </a:xfrm>
          <a:prstGeom prst="rect">
            <a:avLst/>
          </a:prstGeom>
          <a:solidFill>
            <a:srgbClr val="DDB8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157984"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images</a:t>
            </a:r>
          </a:p>
        </p:txBody>
      </p:sp>
      <p:sp>
        <p:nvSpPr>
          <p:cNvPr id="19" name="Rectangle 18"/>
          <p:cNvSpPr/>
          <p:nvPr/>
        </p:nvSpPr>
        <p:spPr>
          <a:xfrm>
            <a:off x="2825496" y="3319272"/>
            <a:ext cx="640080" cy="475488"/>
          </a:xfrm>
          <a:prstGeom prst="rect">
            <a:avLst/>
          </a:prstGeom>
          <a:solidFill>
            <a:srgbClr val="D6A7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825496"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pages</a:t>
            </a:r>
          </a:p>
        </p:txBody>
      </p:sp>
      <p:sp>
        <p:nvSpPr>
          <p:cNvPr id="21" name="Rectangle 20"/>
          <p:cNvSpPr/>
          <p:nvPr/>
        </p:nvSpPr>
        <p:spPr>
          <a:xfrm>
            <a:off x="3493008" y="3319272"/>
            <a:ext cx="640080" cy="475488"/>
          </a:xfrm>
          <a:prstGeom prst="rect">
            <a:avLst/>
          </a:prstGeom>
          <a:solidFill>
            <a:srgbClr val="CF94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493008"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data</a:t>
            </a:r>
          </a:p>
        </p:txBody>
      </p:sp>
      <p:sp>
        <p:nvSpPr>
          <p:cNvPr id="23" name="TextBox 22"/>
          <p:cNvSpPr txBox="1"/>
          <p:nvPr/>
        </p:nvSpPr>
        <p:spPr>
          <a:xfrm>
            <a:off x="749808" y="3959352"/>
            <a:ext cx="3483864" cy="54864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One job after another · one voice · marks its own homework</a:t>
            </a:r>
          </a:p>
        </p:txBody>
      </p:sp>
      <p:sp>
        <p:nvSpPr>
          <p:cNvPr id="24" name="Rounded Rectangle 23"/>
          <p:cNvSpPr/>
          <p:nvPr/>
        </p:nvSpPr>
        <p:spPr>
          <a:xfrm>
            <a:off x="4663440" y="2084831"/>
            <a:ext cx="6949440" cy="256032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64607" y="2221991"/>
            <a:ext cx="6547103" cy="256032"/>
          </a:xfrm>
          <a:prstGeom prst="rect">
            <a:avLst/>
          </a:prstGeom>
          <a:noFill/>
        </p:spPr>
        <p:txBody>
          <a:bodyPr wrap="square" lIns="18288" rIns="18288" tIns="9144" bIns="9144">
            <a:spAutoFit/>
          </a:bodyPr>
          <a:lstStyle/>
          <a:p>
            <a:pPr>
              <a:lnSpc>
                <a:spcPct val="100000"/>
              </a:lnSpc>
              <a:defRPr sz="1100" b="1">
                <a:solidFill>
                  <a:srgbClr val="3A7D7B"/>
                </a:solidFill>
                <a:latin typeface="Calibri"/>
              </a:defRPr>
            </a:pPr>
            <a:r>
              <a:t>A MAIN AGENT DELEGATES</a:t>
            </a:r>
          </a:p>
        </p:txBody>
      </p:sp>
      <p:sp>
        <p:nvSpPr>
          <p:cNvPr id="26" name="Rounded Rectangle 25"/>
          <p:cNvSpPr/>
          <p:nvPr/>
        </p:nvSpPr>
        <p:spPr>
          <a:xfrm>
            <a:off x="7040879" y="2496312"/>
            <a:ext cx="2194560" cy="56692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0879" y="2532887"/>
            <a:ext cx="2194560" cy="274320"/>
          </a:xfrm>
          <a:prstGeom prst="rect">
            <a:avLst/>
          </a:prstGeom>
          <a:noFill/>
        </p:spPr>
        <p:txBody>
          <a:bodyPr wrap="square" lIns="18288" rIns="18288" tIns="9144" bIns="9144">
            <a:spAutoFit/>
          </a:bodyPr>
          <a:lstStyle/>
          <a:p>
            <a:pPr algn="ctr">
              <a:lnSpc>
                <a:spcPct val="100000"/>
              </a:lnSpc>
              <a:defRPr sz="1300" b="1">
                <a:solidFill>
                  <a:srgbClr val="FFFFFF"/>
                </a:solidFill>
                <a:latin typeface="Calibri"/>
              </a:defRPr>
            </a:pPr>
            <a:r>
              <a:t>Main agent</a:t>
            </a:r>
          </a:p>
        </p:txBody>
      </p:sp>
      <p:sp>
        <p:nvSpPr>
          <p:cNvPr id="28" name="TextBox 27"/>
          <p:cNvSpPr txBox="1"/>
          <p:nvPr/>
        </p:nvSpPr>
        <p:spPr>
          <a:xfrm>
            <a:off x="7040879" y="2788920"/>
            <a:ext cx="2194560" cy="237744"/>
          </a:xfrm>
          <a:prstGeom prst="rect">
            <a:avLst/>
          </a:prstGeom>
          <a:noFill/>
        </p:spPr>
        <p:txBody>
          <a:bodyPr wrap="square" lIns="18288" rIns="18288" tIns="9144" bIns="9144">
            <a:spAutoFit/>
          </a:bodyPr>
          <a:lstStyle/>
          <a:p>
            <a:pPr algn="ctr">
              <a:lnSpc>
                <a:spcPct val="100000"/>
              </a:lnSpc>
              <a:defRPr sz="950" b="0">
                <a:solidFill>
                  <a:srgbClr val="C9C4B9"/>
                </a:solidFill>
                <a:latin typeface="Calibri"/>
              </a:defRPr>
            </a:pPr>
            <a:r>
              <a:t>plans · delegates · combines</a:t>
            </a:r>
          </a:p>
        </p:txBody>
      </p:sp>
      <p:cxnSp>
        <p:nvCxnSpPr>
          <p:cNvPr id="29" name="Connector 28"/>
          <p:cNvCxnSpPr/>
          <p:nvPr/>
        </p:nvCxnSpPr>
        <p:spPr>
          <a:xfrm flipH="1">
            <a:off x="5641848" y="3063239"/>
            <a:ext cx="2496311"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4882896" y="3410711"/>
            <a:ext cx="1517904" cy="62179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882896"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Strategist</a:t>
            </a:r>
          </a:p>
        </p:txBody>
      </p:sp>
      <p:sp>
        <p:nvSpPr>
          <p:cNvPr id="32" name="TextBox 31"/>
          <p:cNvSpPr txBox="1"/>
          <p:nvPr/>
        </p:nvSpPr>
        <p:spPr>
          <a:xfrm>
            <a:off x="4882896"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own context</a:t>
            </a:r>
          </a:p>
        </p:txBody>
      </p:sp>
      <p:cxnSp>
        <p:nvCxnSpPr>
          <p:cNvPr id="33" name="Connector 32"/>
          <p:cNvCxnSpPr/>
          <p:nvPr/>
        </p:nvCxnSpPr>
        <p:spPr>
          <a:xfrm flipH="1">
            <a:off x="7306056" y="3063239"/>
            <a:ext cx="832103"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6547104" y="3410711"/>
            <a:ext cx="1517904" cy="62179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47104"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Creator</a:t>
            </a:r>
          </a:p>
        </p:txBody>
      </p:sp>
      <p:sp>
        <p:nvSpPr>
          <p:cNvPr id="36" name="TextBox 35"/>
          <p:cNvSpPr txBox="1"/>
          <p:nvPr/>
        </p:nvSpPr>
        <p:spPr>
          <a:xfrm>
            <a:off x="6547104"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own context</a:t>
            </a:r>
          </a:p>
        </p:txBody>
      </p:sp>
      <p:cxnSp>
        <p:nvCxnSpPr>
          <p:cNvPr id="37" name="Connector 36"/>
          <p:cNvCxnSpPr/>
          <p:nvPr/>
        </p:nvCxnSpPr>
        <p:spPr>
          <a:xfrm>
            <a:off x="8138159" y="3063239"/>
            <a:ext cx="832105"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8211312" y="3410711"/>
            <a:ext cx="1517904" cy="62179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11312"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Designer</a:t>
            </a:r>
          </a:p>
        </p:txBody>
      </p:sp>
      <p:sp>
        <p:nvSpPr>
          <p:cNvPr id="40" name="TextBox 39"/>
          <p:cNvSpPr txBox="1"/>
          <p:nvPr/>
        </p:nvSpPr>
        <p:spPr>
          <a:xfrm>
            <a:off x="8211312"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own context</a:t>
            </a:r>
          </a:p>
        </p:txBody>
      </p:sp>
      <p:cxnSp>
        <p:nvCxnSpPr>
          <p:cNvPr id="41" name="Connector 40"/>
          <p:cNvCxnSpPr/>
          <p:nvPr/>
        </p:nvCxnSpPr>
        <p:spPr>
          <a:xfrm>
            <a:off x="8138159" y="3063239"/>
            <a:ext cx="2496313"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9875519" y="3410711"/>
            <a:ext cx="1517904" cy="621792"/>
          </a:xfrm>
          <a:prstGeom prst="roundRect">
            <a:avLst>
              <a:gd name="adj" fmla="val 6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875519"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Analyst</a:t>
            </a:r>
          </a:p>
        </p:txBody>
      </p:sp>
      <p:sp>
        <p:nvSpPr>
          <p:cNvPr id="44" name="TextBox 43"/>
          <p:cNvSpPr txBox="1"/>
          <p:nvPr/>
        </p:nvSpPr>
        <p:spPr>
          <a:xfrm>
            <a:off x="9875519"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reports back</a:t>
            </a:r>
          </a:p>
        </p:txBody>
      </p:sp>
      <p:sp>
        <p:nvSpPr>
          <p:cNvPr id="45" name="TextBox 44"/>
          <p:cNvSpPr txBox="1"/>
          <p:nvPr/>
        </p:nvSpPr>
        <p:spPr>
          <a:xfrm>
            <a:off x="4864607" y="4187952"/>
            <a:ext cx="6547103" cy="274320"/>
          </a:xfrm>
          <a:prstGeom prst="rect">
            <a:avLst/>
          </a:prstGeom>
          <a:noFill/>
        </p:spPr>
        <p:txBody>
          <a:bodyPr wrap="square" lIns="18288" rIns="18288" tIns="9144" bIns="9144">
            <a:spAutoFit/>
          </a:bodyPr>
          <a:lstStyle/>
          <a:p>
            <a:pPr algn="ctr">
              <a:lnSpc>
                <a:spcPct val="100000"/>
              </a:lnSpc>
              <a:defRPr sz="1100" b="1">
                <a:solidFill>
                  <a:srgbClr val="3A7D7B"/>
                </a:solidFill>
                <a:latin typeface="Calibri"/>
              </a:defRPr>
            </a:pPr>
            <a:r>
              <a:t>In parallel · each with a fresh, focused context · only the results come back</a:t>
            </a:r>
          </a:p>
        </p:txBody>
      </p:sp>
      <p:sp>
        <p:nvSpPr>
          <p:cNvPr id="46" name="Rounded Rectangle 45"/>
          <p:cNvSpPr/>
          <p:nvPr/>
        </p:nvSpPr>
        <p:spPr>
          <a:xfrm>
            <a:off x="548640"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548640"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94944"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Faster</a:t>
            </a:r>
          </a:p>
        </p:txBody>
      </p:sp>
      <p:sp>
        <p:nvSpPr>
          <p:cNvPr id="49" name="TextBox 48"/>
          <p:cNvSpPr txBox="1"/>
          <p:nvPr/>
        </p:nvSpPr>
        <p:spPr>
          <a:xfrm>
            <a:off x="694944"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Research, copy and design run at the same time.</a:t>
            </a:r>
          </a:p>
        </p:txBody>
      </p:sp>
      <p:sp>
        <p:nvSpPr>
          <p:cNvPr id="50" name="Rounded Rectangle 49"/>
          <p:cNvSpPr/>
          <p:nvPr/>
        </p:nvSpPr>
        <p:spPr>
          <a:xfrm>
            <a:off x="2790748"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2790748"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937052"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Focused</a:t>
            </a:r>
          </a:p>
        </p:txBody>
      </p:sp>
      <p:sp>
        <p:nvSpPr>
          <p:cNvPr id="53" name="TextBox 52"/>
          <p:cNvSpPr txBox="1"/>
          <p:nvPr/>
        </p:nvSpPr>
        <p:spPr>
          <a:xfrm>
            <a:off x="2937052"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Each agent holds only its own job and its own skills.</a:t>
            </a:r>
          </a:p>
        </p:txBody>
      </p:sp>
      <p:sp>
        <p:nvSpPr>
          <p:cNvPr id="54" name="Rounded Rectangle 53"/>
          <p:cNvSpPr/>
          <p:nvPr/>
        </p:nvSpPr>
        <p:spPr>
          <a:xfrm>
            <a:off x="5032857"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032857"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179161"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Specialised</a:t>
            </a:r>
          </a:p>
        </p:txBody>
      </p:sp>
      <p:sp>
        <p:nvSpPr>
          <p:cNvPr id="57" name="TextBox 56"/>
          <p:cNvSpPr txBox="1"/>
          <p:nvPr/>
        </p:nvSpPr>
        <p:spPr>
          <a:xfrm>
            <a:off x="5179161"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Its own instructions, tools, connectors and model.</a:t>
            </a:r>
          </a:p>
        </p:txBody>
      </p:sp>
      <p:sp>
        <p:nvSpPr>
          <p:cNvPr id="58" name="Rounded Rectangle 57"/>
          <p:cNvSpPr/>
          <p:nvPr/>
        </p:nvSpPr>
        <p:spPr>
          <a:xfrm>
            <a:off x="7274966"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7274966"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421270"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Second opinion</a:t>
            </a:r>
          </a:p>
        </p:txBody>
      </p:sp>
      <p:sp>
        <p:nvSpPr>
          <p:cNvPr id="61" name="TextBox 60"/>
          <p:cNvSpPr txBox="1"/>
          <p:nvPr/>
        </p:nvSpPr>
        <p:spPr>
          <a:xfrm>
            <a:off x="7421270"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The Lead checks work it did not write.</a:t>
            </a:r>
          </a:p>
        </p:txBody>
      </p:sp>
      <p:sp>
        <p:nvSpPr>
          <p:cNvPr id="62" name="Rounded Rectangle 61"/>
          <p:cNvSpPr/>
          <p:nvPr/>
        </p:nvSpPr>
        <p:spPr>
          <a:xfrm>
            <a:off x="9517075"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9517075" y="4809744"/>
            <a:ext cx="2095804" cy="54864"/>
          </a:xfrm>
          <a:prstGeom prst="rect">
            <a:avLst/>
          </a:prstGeom>
          <a:solidFill>
            <a:srgbClr val="6B68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9663379"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The cost</a:t>
            </a:r>
          </a:p>
        </p:txBody>
      </p:sp>
      <p:sp>
        <p:nvSpPr>
          <p:cNvPr id="65" name="TextBox 64"/>
          <p:cNvSpPr txBox="1"/>
          <p:nvPr/>
        </p:nvSpPr>
        <p:spPr>
          <a:xfrm>
            <a:off x="9663379"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More tokens and more to review. Split only work that is truly independent.</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SETUP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Get the Tools Ready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Install once; every lab says which tool to open.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31</a:t>
            </a:r>
          </a:p>
        </p:txBody>
      </p:sp>
      <p:sp>
        <p:nvSpPr>
          <p:cNvPr id="8" name="Rounded Rectangle 7"/>
          <p:cNvSpPr/>
          <p:nvPr/>
        </p:nvSpPr>
        <p:spPr>
          <a:xfrm>
            <a:off x="548640" y="2084831"/>
            <a:ext cx="4297680" cy="3675887"/>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59151"/>
            <a:ext cx="374904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DOWNLOAD</a:t>
            </a:r>
          </a:p>
        </p:txBody>
      </p:sp>
      <p:sp>
        <p:nvSpPr>
          <p:cNvPr id="10" name="TextBox 9"/>
          <p:cNvSpPr txBox="1"/>
          <p:nvPr/>
        </p:nvSpPr>
        <p:spPr>
          <a:xfrm>
            <a:off x="822960" y="2688336"/>
            <a:ext cx="3749040" cy="548640"/>
          </a:xfrm>
          <a:prstGeom prst="rect">
            <a:avLst/>
          </a:prstGeom>
          <a:noFill/>
        </p:spPr>
        <p:txBody>
          <a:bodyPr wrap="square" lIns="18288" rIns="18288" tIns="9144" bIns="9144">
            <a:spAutoFit/>
          </a:bodyPr>
          <a:lstStyle/>
          <a:p>
            <a:pPr>
              <a:lnSpc>
                <a:spcPct val="100000"/>
              </a:lnSpc>
              <a:defRPr sz="2400" b="1">
                <a:solidFill>
                  <a:srgbClr val="FFFFFF"/>
                </a:solidFill>
                <a:latin typeface="Cambria"/>
              </a:defRPr>
            </a:pPr>
            <a:r>
              <a:rPr sz="2300" b="1">
                <a:solidFill>
                  <a:srgbClr val="FFFFFF"/>
                </a:solidFill>
                <a:latin typeface="Cambria"/>
                <a:hlinkClick r:id="rId2"/>
              </a:rPr>
              <a:t>chatgpt.com/download</a:t>
            </a:r>
          </a:p>
        </p:txBody>
      </p:sp>
      <p:sp>
        <p:nvSpPr>
          <p:cNvPr id="11" name="Rounded Rectangle 10"/>
          <p:cNvSpPr/>
          <p:nvPr/>
        </p:nvSpPr>
        <p:spPr>
          <a:xfrm>
            <a:off x="822960" y="3502152"/>
            <a:ext cx="3749040" cy="713232"/>
          </a:xfrm>
          <a:prstGeom prst="roundRect">
            <a:avLst>
              <a:gd name="adj" fmla="val 6000"/>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3593592"/>
            <a:ext cx="3383280" cy="292608"/>
          </a:xfrm>
          <a:prstGeom prst="rect">
            <a:avLst/>
          </a:prstGeom>
          <a:noFill/>
        </p:spPr>
        <p:txBody>
          <a:bodyPr wrap="square" lIns="18288" rIns="18288" tIns="9144" bIns="9144">
            <a:spAutoFit/>
          </a:bodyPr>
          <a:lstStyle/>
          <a:p>
            <a:pPr>
              <a:lnSpc>
                <a:spcPct val="100000"/>
              </a:lnSpc>
              <a:defRPr sz="1450" b="1">
                <a:solidFill>
                  <a:srgbClr val="FFFFFF"/>
                </a:solidFill>
                <a:latin typeface="Cambria"/>
              </a:defRPr>
            </a:pPr>
            <a:r>
              <a:t>macOS</a:t>
            </a:r>
          </a:p>
        </p:txBody>
      </p:sp>
      <p:sp>
        <p:nvSpPr>
          <p:cNvPr id="13" name="TextBox 12"/>
          <p:cNvSpPr txBox="1"/>
          <p:nvPr/>
        </p:nvSpPr>
        <p:spPr>
          <a:xfrm>
            <a:off x="1005840" y="3886200"/>
            <a:ext cx="3383280" cy="274320"/>
          </a:xfrm>
          <a:prstGeom prst="rect">
            <a:avLst/>
          </a:prstGeom>
          <a:noFill/>
        </p:spPr>
        <p:txBody>
          <a:bodyPr wrap="square" lIns="18288" rIns="18288" tIns="9144" bIns="9144">
            <a:spAutoFit/>
          </a:bodyPr>
          <a:lstStyle/>
          <a:p>
            <a:pPr>
              <a:lnSpc>
                <a:spcPct val="100000"/>
              </a:lnSpc>
              <a:defRPr sz="1100" b="0">
                <a:solidFill>
                  <a:srgbClr val="C9C4B9"/>
                </a:solidFill>
                <a:latin typeface="Calibri"/>
              </a:defRPr>
            </a:pPr>
            <a:r>
              <a:t>Download for macOS from the page</a:t>
            </a:r>
          </a:p>
        </p:txBody>
      </p:sp>
      <p:sp>
        <p:nvSpPr>
          <p:cNvPr id="14" name="Rounded Rectangle 13"/>
          <p:cNvSpPr/>
          <p:nvPr/>
        </p:nvSpPr>
        <p:spPr>
          <a:xfrm>
            <a:off x="822960" y="4343400"/>
            <a:ext cx="3749040" cy="713232"/>
          </a:xfrm>
          <a:prstGeom prst="roundRect">
            <a:avLst>
              <a:gd name="adj" fmla="val 6000"/>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4434840"/>
            <a:ext cx="3383280" cy="292608"/>
          </a:xfrm>
          <a:prstGeom prst="rect">
            <a:avLst/>
          </a:prstGeom>
          <a:noFill/>
        </p:spPr>
        <p:txBody>
          <a:bodyPr wrap="square" lIns="18288" rIns="18288" tIns="9144" bIns="9144">
            <a:spAutoFit/>
          </a:bodyPr>
          <a:lstStyle/>
          <a:p>
            <a:pPr>
              <a:lnSpc>
                <a:spcPct val="100000"/>
              </a:lnSpc>
              <a:defRPr sz="1450" b="1">
                <a:solidFill>
                  <a:srgbClr val="FFFFFF"/>
                </a:solidFill>
                <a:latin typeface="Cambria"/>
              </a:defRPr>
            </a:pPr>
            <a:r>
              <a:t>Windows</a:t>
            </a:r>
          </a:p>
        </p:txBody>
      </p:sp>
      <p:sp>
        <p:nvSpPr>
          <p:cNvPr id="16" name="TextBox 15"/>
          <p:cNvSpPr txBox="1"/>
          <p:nvPr/>
        </p:nvSpPr>
        <p:spPr>
          <a:xfrm>
            <a:off x="1005840" y="4727448"/>
            <a:ext cx="3383280" cy="274320"/>
          </a:xfrm>
          <a:prstGeom prst="rect">
            <a:avLst/>
          </a:prstGeom>
          <a:noFill/>
        </p:spPr>
        <p:txBody>
          <a:bodyPr wrap="square" lIns="18288" rIns="18288" tIns="9144" bIns="9144">
            <a:spAutoFit/>
          </a:bodyPr>
          <a:lstStyle/>
          <a:p>
            <a:pPr>
              <a:lnSpc>
                <a:spcPct val="100000"/>
              </a:lnSpc>
              <a:defRPr sz="1100" b="0">
                <a:solidFill>
                  <a:srgbClr val="C9C4B9"/>
                </a:solidFill>
                <a:latin typeface="Calibri"/>
              </a:defRPr>
            </a:pPr>
            <a:r>
              <a:t>Opens the Microsoft Store listing</a:t>
            </a:r>
          </a:p>
        </p:txBody>
      </p:sp>
      <p:sp>
        <p:nvSpPr>
          <p:cNvPr id="17" name="TextBox 16"/>
          <p:cNvSpPr txBox="1"/>
          <p:nvPr/>
        </p:nvSpPr>
        <p:spPr>
          <a:xfrm>
            <a:off x="822960" y="5047488"/>
            <a:ext cx="3749040" cy="566928"/>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Work, Codex and Sites need a paid plan.</a:t>
            </a:r>
          </a:p>
        </p:txBody>
      </p:sp>
      <p:sp>
        <p:nvSpPr>
          <p:cNvPr id="18" name="Oval 17"/>
          <p:cNvSpPr/>
          <p:nvPr/>
        </p:nvSpPr>
        <p:spPr>
          <a:xfrm>
            <a:off x="5120640" y="2139696"/>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1</a:t>
            </a:r>
          </a:p>
        </p:txBody>
      </p:sp>
      <p:sp>
        <p:nvSpPr>
          <p:cNvPr id="19" name="TextBox 18"/>
          <p:cNvSpPr txBox="1"/>
          <p:nvPr/>
        </p:nvSpPr>
        <p:spPr>
          <a:xfrm>
            <a:off x="5687568" y="2084831"/>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Download and install  </a:t>
            </a:r>
            <a:r>
              <a:rPr sz="1350">
                <a:solidFill>
                  <a:srgbClr val="6B6862"/>
                </a:solidFill>
                <a:latin typeface="Calibri"/>
              </a:rPr>
              <a:t>The new desktop app from chatgpt.com/download, not "ChatGPT Classic".</a:t>
            </a:r>
          </a:p>
        </p:txBody>
      </p:sp>
      <p:sp>
        <p:nvSpPr>
          <p:cNvPr id="20" name="Oval 19"/>
          <p:cNvSpPr/>
          <p:nvPr/>
        </p:nvSpPr>
        <p:spPr>
          <a:xfrm>
            <a:off x="5120640" y="2874873"/>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2</a:t>
            </a:r>
          </a:p>
        </p:txBody>
      </p:sp>
      <p:sp>
        <p:nvSpPr>
          <p:cNvPr id="21" name="TextBox 20"/>
          <p:cNvSpPr txBox="1"/>
          <p:nvPr/>
        </p:nvSpPr>
        <p:spPr>
          <a:xfrm>
            <a:off x="5687568" y="2820009"/>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Sign in  </a:t>
            </a:r>
            <a:r>
              <a:rPr sz="1350">
                <a:solidFill>
                  <a:srgbClr val="6B6862"/>
                </a:solidFill>
                <a:latin typeface="Calibri"/>
              </a:rPr>
              <a:t>On the plan you will use in class — limits follow the account.</a:t>
            </a:r>
          </a:p>
        </p:txBody>
      </p:sp>
      <p:sp>
        <p:nvSpPr>
          <p:cNvPr id="22" name="Oval 21"/>
          <p:cNvSpPr/>
          <p:nvPr/>
        </p:nvSpPr>
        <p:spPr>
          <a:xfrm>
            <a:off x="5120640" y="3610051"/>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3</a:t>
            </a:r>
          </a:p>
        </p:txBody>
      </p:sp>
      <p:sp>
        <p:nvSpPr>
          <p:cNvPr id="23" name="TextBox 22"/>
          <p:cNvSpPr txBox="1"/>
          <p:nvPr/>
        </p:nvSpPr>
        <p:spPr>
          <a:xfrm>
            <a:off x="5687568" y="3555187"/>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Find Chat, Work and Codex  </a:t>
            </a:r>
            <a:r>
              <a:rPr sz="1350">
                <a:solidFill>
                  <a:srgbClr val="6B6862"/>
                </a:solidFill>
                <a:latin typeface="Calibri"/>
              </a:rPr>
              <a:t>The toggle above the composer; Codex in the sidebar.</a:t>
            </a:r>
          </a:p>
        </p:txBody>
      </p:sp>
      <p:sp>
        <p:nvSpPr>
          <p:cNvPr id="24" name="Oval 23"/>
          <p:cNvSpPr/>
          <p:nvPr/>
        </p:nvSpPr>
        <p:spPr>
          <a:xfrm>
            <a:off x="5120640" y="4345228"/>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4</a:t>
            </a:r>
          </a:p>
        </p:txBody>
      </p:sp>
      <p:sp>
        <p:nvSpPr>
          <p:cNvPr id="25" name="TextBox 24"/>
          <p:cNvSpPr txBox="1"/>
          <p:nvPr/>
        </p:nvSpPr>
        <p:spPr>
          <a:xfrm>
            <a:off x="5687568" y="4290364"/>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Node.js 22, Python 3, ffmpeg  </a:t>
            </a:r>
            <a:r>
              <a:rPr sz="1350">
                <a:solidFill>
                  <a:srgbClr val="6B6862"/>
                </a:solidFill>
                <a:latin typeface="Calibri"/>
              </a:rPr>
              <a:t>For the publisher kit and the video (Pillow for Python).</a:t>
            </a:r>
          </a:p>
        </p:txBody>
      </p:sp>
      <p:sp>
        <p:nvSpPr>
          <p:cNvPr id="26" name="Oval 25"/>
          <p:cNvSpPr/>
          <p:nvPr/>
        </p:nvSpPr>
        <p:spPr>
          <a:xfrm>
            <a:off x="5120640" y="5080406"/>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5</a:t>
            </a:r>
          </a:p>
        </p:txBody>
      </p:sp>
      <p:sp>
        <p:nvSpPr>
          <p:cNvPr id="27" name="TextBox 26"/>
          <p:cNvSpPr txBox="1"/>
          <p:nvPr/>
        </p:nvSpPr>
        <p:spPr>
          <a:xfrm>
            <a:off x="5687568" y="5025542"/>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A personal Google account  </a:t>
            </a:r>
            <a:r>
              <a:rPr sz="1350">
                <a:solidFill>
                  <a:srgbClr val="6B6862"/>
                </a:solidFill>
                <a:latin typeface="Calibri"/>
              </a:rPr>
              <a:t>For Drive and Gmail — never an employer's.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THE STUDIO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Home for the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Before you hire agents, give them shared rules, shared facts and a website to point to.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32</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 Project + AGENTS.md</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Project files and instructions in ChatGPT; the charter in AGENTS.md for Codex.</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data/</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facts sheet, brand, compliance checklist and business brief — the only sources agents may use.</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Horizon's public website</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Given, not built: each learner opens their own local copy; the public copy is on GitHub Pages.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33</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01</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~30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CODEX</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October 2026. Rachel has a website and a goal: 40 booked chats a month by March. She has no marketing team. Before you hire one made of agents, give it a home — shared rules, shared facts — and open your own copy of Horizon's website.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Horizon Marketing project, horizon-studio/ with AGENTS.md, and the public site link in the charter</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ChatGPT Project → Codex</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a ChatGPT Project with shared files · AGENTS.md · your own copy of Horizon's website</a:t>
            </a:r>
          </a:p>
        </p:txBody>
      </p:sp>
      <p:sp>
        <p:nvSpPr>
          <p:cNvPr id="20" name="TextBox 19"/>
          <p:cNvSpPr txBox="1"/>
          <p:nvPr/>
        </p:nvSpPr>
        <p:spPr>
          <a:xfrm>
            <a:off x="548640" y="5897880"/>
            <a:ext cx="11064240" cy="274320"/>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rPr sz="1000" b="1">
                <a:solidFill>
                  <a:srgbClr val="D97757"/>
                </a:solidFill>
                <a:latin typeface="Calibri"/>
              </a:rPr>
              <a:t>PUBLIC SITE   </a:t>
            </a:r>
            <a:r>
              <a:rPr sz="1000" b="0">
                <a:solidFill>
                  <a:srgbClr val="21201C"/>
                </a:solidFill>
                <a:latin typeface="Calibri"/>
                <a:hlinkClick r:id="rId2"/>
              </a:rPr>
              <a:t>tertiarycourses.github.io/TGS-2023036153-Multi-AI-Agents-Workflow-for-Content-Creation</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CODEX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34</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Choose the folder  </a:t>
            </a:r>
            <a:r>
              <a:rPr sz="1550">
                <a:solidFill>
                  <a:srgbClr val="6B6862"/>
                </a:solidFill>
                <a:latin typeface="Calibri"/>
              </a:rPr>
              <a:t>In Codex create a local project and choose labs_chatgpt/horizon-studio. It is ready-made — do not create one.</a:t>
            </a:r>
          </a:p>
        </p:txBody>
      </p:sp>
      <p:sp>
        <p:nvSpPr>
          <p:cNvPr id="10" name="Oval 9"/>
          <p:cNvSpPr/>
          <p:nvPr/>
        </p:nvSpPr>
        <p:spPr>
          <a:xfrm>
            <a:off x="548640" y="2902305"/>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65729"/>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Make the Project  </a:t>
            </a:r>
            <a:r>
              <a:rPr sz="1550">
                <a:solidFill>
                  <a:srgbClr val="6B6862"/>
                </a:solidFill>
                <a:latin typeface="Calibri"/>
              </a:rPr>
              <a:t>In ChatGPT create the Project "Horizon Marketing" with the charter, brand, facts and compliance files. Copy and paste Prompt A as its instructions.</a:t>
            </a:r>
          </a:p>
        </p:txBody>
      </p:sp>
      <p:sp>
        <p:nvSpPr>
          <p:cNvPr id="12" name="Oval 11"/>
          <p:cNvSpPr/>
          <p:nvPr/>
        </p:nvSpPr>
        <p:spPr>
          <a:xfrm>
            <a:off x="548640" y="36832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46627"/>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Plan your team  </a:t>
            </a:r>
            <a:r>
              <a:rPr sz="1550">
                <a:solidFill>
                  <a:srgbClr val="6B6862"/>
                </a:solidFill>
                <a:latin typeface="Calibri"/>
              </a:rPr>
              <a:t>In Codex, copy and paste Prompt B. Answer as Horizon's owner and pick your team — keep the six charter roles. It is a plan only: Lab 2 builds the agents.</a:t>
            </a:r>
          </a:p>
        </p:txBody>
      </p:sp>
      <p:sp>
        <p:nvSpPr>
          <p:cNvPr id="14" name="Oval 13"/>
          <p:cNvSpPr/>
          <p:nvPr/>
        </p:nvSpPr>
        <p:spPr>
          <a:xfrm>
            <a:off x="548640" y="44641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427524"/>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the charter  </a:t>
            </a:r>
            <a:r>
              <a:rPr sz="1550">
                <a:solidFill>
                  <a:srgbClr val="6B6862"/>
                </a:solidFill>
                <a:latin typeface="Calibri"/>
              </a:rPr>
              <a:t>After Codex saves data/team-design.md, copy and paste Prompt C. Open AGENTS.md — every agent reads it.</a:t>
            </a:r>
          </a:p>
        </p:txBody>
      </p:sp>
      <p:sp>
        <p:nvSpPr>
          <p:cNvPr id="16" name="Oval 15"/>
          <p:cNvSpPr/>
          <p:nvPr/>
        </p:nvSpPr>
        <p:spPr>
          <a:xfrm>
            <a:off x="548640" y="524499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1078992" y="5208422"/>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Open the website  </a:t>
            </a:r>
            <a:r>
              <a:rPr sz="1550">
                <a:solidFill>
                  <a:srgbClr val="6B6862"/>
                </a:solidFill>
                <a:latin typeface="Calibri"/>
              </a:rPr>
              <a:t>Ask: "Open web/site/index.html in my web browser." This is your own copy of Horizon's website; the public site never changes. Check the calculator shows S$693,138.</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35</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ChatGPT Project: instructions</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You support Horizon Wealth Planning's AI marketing team. Use the project files: team-charter.md for who does what, brand.md for the voice and look, facts-2026.md for every number, and compliance-checklist.md before anything is shown to a person. Never publish or send anything.</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36</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Codex: plan your team</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Act as a marketing consultant. Interview me, the owner of Horizon Wealth Planning, to plan my AI marketing team. Ask one question at a time and wait for my answer: my goal, what success looks like by March 2027, who we want to reach, which channels we use, how much we publish each week, and who approves before anything goes out. Then list 8 to 10 team members I could have, numbered, each with a one-line job. Include the six roles in data/team-charter.md and mark the ones you recommend. Wait for me to choose. Save my answers and my chosen team, with each member's job, to data/team-design.md. This is a plan only: do not create any agent files yet.</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37</a:t>
            </a:r>
          </a:p>
        </p:txBody>
      </p:sp>
      <p:sp>
        <p:nvSpPr>
          <p:cNvPr id="7" name="Rounded Rectangle 6"/>
          <p:cNvSpPr/>
          <p:nvPr/>
        </p:nvSpPr>
        <p:spPr>
          <a:xfrm>
            <a:off x="548640" y="1783080"/>
            <a:ext cx="11064240" cy="3720337"/>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Codex: the charter</a:t>
            </a:r>
          </a:p>
        </p:txBody>
      </p:sp>
      <p:sp>
        <p:nvSpPr>
          <p:cNvPr id="9" name="TextBox 8"/>
          <p:cNvSpPr txBox="1"/>
          <p:nvPr/>
        </p:nvSpPr>
        <p:spPr>
          <a:xfrm>
            <a:off x="822960" y="2313432"/>
            <a:ext cx="10515600" cy="2970530"/>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Read data/team-charter.md, data/team-design.md and data/business-brief.md. Write AGENTS.md for this studio in four sections — What this is, The team, Rules, Files — under 60 lines. The team is the one I chose in data/team-design.md. Rules: every number comes from data/facts-2026.md; every piece passes fact-check and fin-compliance; nothing is published or sent without a person's approval (the one exception: a review email to the approver); anything shown to me is in plain English for a business owner, with no codes, IDs, file names or line numbers. In Files, add two lines:</a:t>
            </a:r>
          </a:p>
          <a:p>
            <a:pPr>
              <a:lnSpc>
                <a:spcPct val="110000"/>
              </a:lnSpc>
              <a:defRPr sz="1700" b="0">
                <a:solidFill>
                  <a:srgbClr val="21201C"/>
                </a:solidFill>
                <a:latin typeface="Calibri"/>
              </a:defRPr>
            </a:pPr>
            <a:r>
              <a:t>- Our copy of the site, which we edit and preview:</a:t>
            </a:r>
          </a:p>
          <a:p>
            <a:pPr>
              <a:lnSpc>
                <a:spcPct val="110000"/>
              </a:lnSpc>
              <a:defRPr sz="1700" b="0">
                <a:solidFill>
                  <a:srgbClr val="21201C"/>
                </a:solidFill>
                <a:latin typeface="Calibri"/>
              </a:defRPr>
            </a:pPr>
            <a:r>
              <a:t>  web/site/index.html</a:t>
            </a:r>
          </a:p>
          <a:p>
            <a:pPr>
              <a:lnSpc>
                <a:spcPct val="110000"/>
              </a:lnSpc>
              <a:defRPr sz="1700" b="0">
                <a:solidFill>
                  <a:srgbClr val="21201C"/>
                </a:solidFill>
                <a:latin typeface="Calibri"/>
              </a:defRPr>
            </a:pPr>
            <a:r>
              <a:t>- Public site, the link every post points to (it never changes): https://tertiarycourses.github.io/TGS-2023036153-Multi-AI-Agents-Workflow-for-Content-Creation/</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Shared context first, agents second. Every agent you add later starts from these files, so a wrong rule here is wrong everywhere.</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38</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Horizon Marketing project holds the four files and the instructions.</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data/team-design.md holds your answers and the team you chose, with the six charter roles in it — and no agent files yet.</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AGENTS.md has the four sections and is under 60 lines.</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Its rules name the facts sheet, the two checks and the human approval.</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AGENTS.md names your copy of the site and the public link every post points to.</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Your own copy of the website opens in your browser; the calculator shows S$693,138.</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INSTRUCTIONS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Anatomy of an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role card in agents/. AGENTS.md tells Codex to use one subagent per role, each following its card.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39</a:t>
            </a:r>
          </a:p>
        </p:txBody>
      </p:sp>
      <p:sp>
        <p:nvSpPr>
          <p:cNvPr id="8" name="Rounded Rectangle 7"/>
          <p:cNvSpPr/>
          <p:nvPr/>
        </p:nvSpPr>
        <p:spPr>
          <a:xfrm>
            <a:off x="548640" y="2084831"/>
            <a:ext cx="11064240" cy="4074231"/>
          </a:xfrm>
          <a:prstGeom prst="roundRect">
            <a:avLst>
              <a:gd name="adj" fmla="val 6000"/>
            </a:avLst>
          </a:prstGeom>
          <a:solidFill>
            <a:srgbClr val="21201C"/>
          </a:solidFill>
          <a:ln w="12700">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304287"/>
            <a:ext cx="105156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agents/content-creator.md</a:t>
            </a:r>
          </a:p>
        </p:txBody>
      </p:sp>
      <p:sp>
        <p:nvSpPr>
          <p:cNvPr id="11" name="TextBox 10"/>
          <p:cNvSpPr txBox="1"/>
          <p:nvPr/>
        </p:nvSpPr>
        <p:spPr>
          <a:xfrm>
            <a:off x="822959" y="2724911"/>
            <a:ext cx="10515600" cy="3306135"/>
          </a:xfrm>
          <a:prstGeom prst="rect">
            <a:avLst/>
          </a:prstGeom>
          <a:noFill/>
        </p:spPr>
        <p:txBody>
          <a:bodyPr wrap="square" lIns="18288" rIns="18288" tIns="9144" bIns="9144">
            <a:spAutoFit/>
          </a:bodyPr>
          <a:lstStyle/>
          <a:p>
            <a:pPr>
              <a:lnSpc>
                <a:spcPct val="114000"/>
              </a:lnSpc>
              <a:defRPr sz="1300" b="0">
                <a:solidFill>
                  <a:srgbClr val="E8E5DE"/>
                </a:solidFill>
                <a:latin typeface="Courier New"/>
              </a:defRPr>
            </a:pPr>
            <a:r>
              <a:t># Content Creator — role card</a:t>
            </a:r>
          </a:p>
          <a:p>
            <a:pPr>
              <a:lnSpc>
                <a:spcPct val="114000"/>
              </a:lnSpc>
              <a:defRPr sz="1300" b="0">
                <a:solidFill>
                  <a:srgbClr val="E8E5DE"/>
                </a:solidFill>
                <a:latin typeface="Courier New"/>
              </a:defRPr>
            </a:pPr>
            <a:r>
              <a:t>You are Horizon Wealth Planning's Content Creator.</a:t>
            </a:r>
          </a:p>
          <a:p>
            <a:pPr>
              <a:lnSpc>
                <a:spcPct val="114000"/>
              </a:lnSpc>
              <a:defRPr sz="1300" b="0">
                <a:solidFill>
                  <a:srgbClr val="E8E5DE"/>
                </a:solidFill>
                <a:latin typeface="Courier New"/>
              </a:defRPr>
            </a:pPr>
            <a:r>
              <a:t>## What you read   the brief, facts-2026.md, brand.md</a:t>
            </a:r>
          </a:p>
          <a:p>
            <a:pPr>
              <a:lnSpc>
                <a:spcPct val="114000"/>
              </a:lnSpc>
              <a:defRPr sz="1300" b="0">
                <a:solidFill>
                  <a:srgbClr val="E8E5DE"/>
                </a:solidFill>
                <a:latin typeface="Courier New"/>
              </a:defRPr>
            </a:pPr>
            <a:r>
              <a:t>## What you deliver   content files, ready for review</a:t>
            </a:r>
          </a:p>
          <a:p>
            <a:pPr>
              <a:lnSpc>
                <a:spcPct val="114000"/>
              </a:lnSpc>
              <a:defRPr sz="1300" b="0">
                <a:solidFill>
                  <a:srgbClr val="E8E5DE"/>
                </a:solidFill>
                <a:latin typeface="Courier New"/>
              </a:defRPr>
            </a:pPr>
            <a:r>
              <a:t>## Skills   sunny-voice, copywriting, channel-formats,</a:t>
            </a:r>
          </a:p>
          <a:p>
            <a:pPr>
              <a:lnSpc>
                <a:spcPct val="114000"/>
              </a:lnSpc>
              <a:defRPr sz="1300" b="0">
                <a:solidFill>
                  <a:srgbClr val="E8E5DE"/>
                </a:solidFill>
                <a:latin typeface="Courier New"/>
              </a:defRPr>
            </a:pPr>
            <a:r>
              <a:t>           linkedin-post, facebook-post, blog-post, newsletter</a:t>
            </a:r>
          </a:p>
          <a:p>
            <a:pPr>
              <a:lnSpc>
                <a:spcPct val="114000"/>
              </a:lnSpc>
              <a:defRPr sz="1300" b="0">
                <a:solidFill>
                  <a:srgbClr val="E8E5DE"/>
                </a:solidFill>
                <a:latin typeface="Courier New"/>
              </a:defRPr>
            </a:pPr>
            <a:r>
              <a:t>## Plugins   @Google Drive (docs), @Gmail (drafts only)</a:t>
            </a:r>
          </a:p>
          <a:p>
            <a:pPr>
              <a:lnSpc>
                <a:spcPct val="114000"/>
              </a:lnSpc>
              <a:defRPr sz="1300" b="0">
                <a:solidFill>
                  <a:srgbClr val="E8E5DE"/>
                </a:solidFill>
                <a:latin typeface="Courier New"/>
              </a:defRPr>
            </a:pPr>
            <a:r>
              <a:t>## Never   add a number not on the facts sheet; send;</a:t>
            </a:r>
          </a:p>
          <a:p>
            <a:pPr>
              <a:lnSpc>
                <a:spcPct val="114000"/>
              </a:lnSpc>
              <a:defRPr sz="1300" b="0">
                <a:solidFill>
                  <a:srgbClr val="E8E5DE"/>
                </a:solidFill>
                <a:latin typeface="Courier New"/>
              </a:defRPr>
            </a:pPr>
            <a:r>
              <a:t>           approve or publish for real</a:t>
            </a:r>
          </a:p>
          <a:p>
            <a:pPr>
              <a:lnSpc>
                <a:spcPct val="114000"/>
              </a:lnSpc>
              <a:defRPr sz="1300" b="0">
                <a:solidFill>
                  <a:srgbClr val="E8E5DE"/>
                </a:solidFill>
                <a:latin typeface="Courier New"/>
              </a:defRPr>
            </a:pPr>
            <a:r>
              <a:t>## Report back   what, where, anything unverified</a:t>
            </a:r>
          </a:p>
          <a:p>
            <a:pPr>
              <a:lnSpc>
                <a:spcPct val="114000"/>
              </a:lnSpc>
              <a:defRPr sz="1300" b="0">
                <a:solidFill>
                  <a:srgbClr val="E8E5DE"/>
                </a:solidFill>
                <a:latin typeface="Courier New"/>
              </a:defRPr>
            </a:pPr>
          </a:p>
          <a:p>
            <a:pPr>
              <a:lnSpc>
                <a:spcPct val="114000"/>
              </a:lnSpc>
              <a:defRPr sz="1300" b="0">
                <a:solidFill>
                  <a:srgbClr val="E8E5DE"/>
                </a:solidFill>
                <a:latin typeface="Courier New"/>
              </a:defRPr>
            </a:pPr>
            <a:r>
              <a:t># AGENTS.md — The marketing team</a:t>
            </a:r>
          </a:p>
          <a:p>
            <a:pPr>
              <a:lnSpc>
                <a:spcPct val="114000"/>
              </a:lnSpc>
              <a:defRPr sz="1300" b="0">
                <a:solidFill>
                  <a:srgbClr val="E8E5DE"/>
                </a:solidFill>
                <a:latin typeface="Courier New"/>
              </a:defRPr>
            </a:pPr>
            <a:r>
              <a:t>When I ask for the team, use subagents — one per</a:t>
            </a:r>
          </a:p>
          <a:p>
            <a:pPr>
              <a:lnSpc>
                <a:spcPct val="114000"/>
              </a:lnSpc>
              <a:defRPr sz="1300" b="0">
                <a:solidFill>
                  <a:srgbClr val="E8E5DE"/>
                </a:solidFill>
                <a:latin typeface="Courier New"/>
              </a:defRPr>
            </a:pPr>
            <a:r>
              <a:t>role — each following its card in agents/.</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INSTRUCTIONS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Good Agent Instructions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Five parts, every time. The "Never" part matters most in a regulated firm.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40</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job</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One sentence: what this agent is for. The card name is how you ask for it.</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Reads and delivers</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Which files it may use; what it hands back, and where.</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Never</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Its hard limits: no invented figures, no sending, no publishing, no approving.</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Report back</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Three lines: what, where, anything unverified — so the Lead can combine results.</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41</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02</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CODEX</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Rachel sketches the team on a whiteboard: a Lead and five specialists. Each needs a clear job, and a clear line it must never cross — this is a regulated firm.</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agents/: five role cards, and the roster in AGENTS.md</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Codex (role cards, subagents)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five role cards in agents/ · the roster in AGENTS.md · subagents by asking</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CODEX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42</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In Codex start a new thread in horizon-studio and name it "Lab 2".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the roles  </a:t>
            </a:r>
            <a:r>
              <a:rPr sz="1300">
                <a:solidFill>
                  <a:srgbClr val="6B6862"/>
                </a:solidFill>
                <a:latin typeface="Calibri"/>
              </a:rPr>
              <a:t>Open role-specs.md: one Lead and five specialists, each with a job, skills, connectors and limits.</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Write the instructions  </a:t>
            </a:r>
            <a:r>
              <a:rPr sz="1300">
                <a:solidFill>
                  <a:srgbClr val="6B6862"/>
                </a:solidFill>
                <a:latin typeface="Calibri"/>
              </a:rPr>
              <a:t>Copy and paste Prompt A. It builds the five specialists from the charter; extra ideas stay in team-design.md.</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See the team  </a:t>
            </a:r>
            <a:r>
              <a:rPr sz="1300">
                <a:solidFill>
                  <a:srgbClr val="6B6862"/>
                </a:solidFill>
                <a:latin typeface="Calibri"/>
              </a:rPr>
              <a:t>After the five files appear in agents/, copy and paste Prompt B. The Lead is not a file — it is you, in this session.</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one closely  </a:t>
            </a:r>
            <a:r>
              <a:rPr sz="1300">
                <a:solidFill>
                  <a:srgbClr val="6B6862"/>
                </a:solidFill>
                <a:latin typeface="Calibri"/>
              </a:rPr>
              <a:t>Open agents/content-creator.md. Is the "Never" section strict enough for a regulated firm?</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Meet the team  </a:t>
            </a:r>
            <a:r>
              <a:rPr sz="1300">
                <a:solidFill>
                  <a:srgbClr val="6B6862"/>
                </a:solidFill>
                <a:latin typeface="Calibri"/>
              </a:rPr>
              <a:t>After the list shows five agents, copy and paste Prompt C. Each agent introduces itself in one line — in its own context.</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Tighten one  </a:t>
            </a:r>
            <a:r>
              <a:rPr sz="1300">
                <a:solidFill>
                  <a:srgbClr val="6B6862"/>
                </a:solidFill>
                <a:latin typeface="Calibri"/>
              </a:rPr>
              <a:t>Change one instruction you disagree with and save it. It is your team.</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43</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Codex: five role cards</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Read data/role-specs.md. Create five role cards in agents/ — growth-strategist.md, content-creator.md, creative-designer.md, website-designer.md and growth-analyst.md. Each has: the job, what it reads, what it delivers, the plugins it may use, what it must never do, and how it reports back. Then add "## The marketing team" to AGENTS.md: one line per agent pointing to its card, and the rule "when I ask for the team, use subagents — one per role — each following its card".</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44</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Codex: see the team</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List the role cards in agents/. For each, show the file name, the role and its one-line job, in a table. Then confirm there are five, and that AGENTS.md lists all five under "## The marketing team". If any other card is there, list it and ask me before moving it to _archive/.</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45</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Codex: meet the team</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subagents — one per role, each following its card in agents/. Ask each: "In one line, who are you, and what is the first thing you would do for Horizon's goal of 40 booked chats a month?" Show me the five answers in a table.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Clear jobs beat clever prompts. An agent that knows what it must never do is safer than one that is merely told to be careful.</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46</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Five files exist in agents/, one per specialist.</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card has job, reads, delivers, plugins, never and report sections.</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AGENTS.md lists the team and the subagent rule.</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Five agents answered, each in its own context.</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agent has a "never" rule that blocks publishing.</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changed one instruction and can say why.</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SKILLS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Twenty Skills, Owned by Role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Instructions say who an agent is; skills say how it does the job.</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47</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a:t>
            </a:r>
          </a:p>
        </p:txBody>
      </p:sp>
      <p:sp>
        <p:nvSpPr>
          <p:cNvPr id="10" name="TextBox 9"/>
          <p:cNvSpPr txBox="1"/>
          <p:nvPr/>
        </p:nvSpPr>
        <p:spPr>
          <a:xfrm>
            <a:off x="3626510" y="2203703"/>
            <a:ext cx="791321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SKILLS</a:t>
            </a:r>
          </a:p>
        </p:txBody>
      </p:sp>
      <p:sp>
        <p:nvSpPr>
          <p:cNvPr id="11" name="Rectangle 10"/>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2560320"/>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Team Lead</a:t>
            </a:r>
          </a:p>
        </p:txBody>
      </p:sp>
      <p:sp>
        <p:nvSpPr>
          <p:cNvPr id="13" name="TextBox 12"/>
          <p:cNvSpPr txBox="1"/>
          <p:nvPr/>
        </p:nvSpPr>
        <p:spPr>
          <a:xfrm>
            <a:off x="3626510" y="2560320"/>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fact-check, fin-compliance</a:t>
            </a:r>
          </a:p>
        </p:txBody>
      </p:sp>
      <p:sp>
        <p:nvSpPr>
          <p:cNvPr id="14" name="TextBox 13"/>
          <p:cNvSpPr txBox="1"/>
          <p:nvPr/>
        </p:nvSpPr>
        <p:spPr>
          <a:xfrm>
            <a:off x="749808" y="3084575"/>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Strategist</a:t>
            </a:r>
          </a:p>
        </p:txBody>
      </p:sp>
      <p:sp>
        <p:nvSpPr>
          <p:cNvPr id="15" name="TextBox 14"/>
          <p:cNvSpPr txBox="1"/>
          <p:nvPr/>
        </p:nvSpPr>
        <p:spPr>
          <a:xfrm>
            <a:off x="3626510" y="3084575"/>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competitor-scan, campaign-brief, content-marketing</a:t>
            </a:r>
          </a:p>
        </p:txBody>
      </p:sp>
      <p:sp>
        <p:nvSpPr>
          <p:cNvPr id="16" name="Rectangle 15"/>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3608831"/>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Content Creator</a:t>
            </a:r>
          </a:p>
        </p:txBody>
      </p:sp>
      <p:sp>
        <p:nvSpPr>
          <p:cNvPr id="18" name="TextBox 17"/>
          <p:cNvSpPr txBox="1"/>
          <p:nvPr/>
        </p:nvSpPr>
        <p:spPr>
          <a:xfrm>
            <a:off x="3626510" y="3608831"/>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sunny-voice, copywriting, channel-formats, linkedin-post, facebook-post, blog-post, newsletter</a:t>
            </a:r>
          </a:p>
        </p:txBody>
      </p:sp>
      <p:sp>
        <p:nvSpPr>
          <p:cNvPr id="19" name="TextBox 18"/>
          <p:cNvSpPr txBox="1"/>
          <p:nvPr/>
        </p:nvSpPr>
        <p:spPr>
          <a:xfrm>
            <a:off x="749808" y="4133087"/>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Creative Designer</a:t>
            </a:r>
          </a:p>
        </p:txBody>
      </p:sp>
      <p:sp>
        <p:nvSpPr>
          <p:cNvPr id="20" name="TextBox 19"/>
          <p:cNvSpPr txBox="1"/>
          <p:nvPr/>
        </p:nvSpPr>
        <p:spPr>
          <a:xfrm>
            <a:off x="3626510" y="4133087"/>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brand-visuals, video-render</a:t>
            </a:r>
          </a:p>
        </p:txBody>
      </p:sp>
      <p:sp>
        <p:nvSpPr>
          <p:cNvPr id="21" name="Rectangle 20"/>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9808" y="4657344"/>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Website Designer</a:t>
            </a:r>
          </a:p>
        </p:txBody>
      </p:sp>
      <p:sp>
        <p:nvSpPr>
          <p:cNvPr id="23" name="TextBox 22"/>
          <p:cNvSpPr txBox="1"/>
          <p:nvPr/>
        </p:nvSpPr>
        <p:spPr>
          <a:xfrm>
            <a:off x="3626510" y="4657344"/>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web-design, landing-page, lead-magnet, page-qa</a:t>
            </a:r>
          </a:p>
        </p:txBody>
      </p:sp>
      <p:sp>
        <p:nvSpPr>
          <p:cNvPr id="24" name="TextBox 23"/>
          <p:cNvSpPr txBox="1"/>
          <p:nvPr/>
        </p:nvSpPr>
        <p:spPr>
          <a:xfrm>
            <a:off x="749808" y="5181599"/>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Analyst</a:t>
            </a:r>
          </a:p>
        </p:txBody>
      </p:sp>
      <p:sp>
        <p:nvSpPr>
          <p:cNvPr id="25" name="TextBox 24"/>
          <p:cNvSpPr txBox="1"/>
          <p:nvPr/>
        </p:nvSpPr>
        <p:spPr>
          <a:xfrm>
            <a:off x="3626510" y="5181599"/>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audience-insights, campaign-report</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Master copies in skills/; .agents/skills/ for Codex; @skill-creator for ChatGPT.</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SKILLS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Anatomy of a Skill</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Frontmatter (the trigger), then short steps. Free until it is needed.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48</a:t>
            </a:r>
          </a:p>
        </p:txBody>
      </p:sp>
      <p:sp>
        <p:nvSpPr>
          <p:cNvPr id="8" name="Rounded Rectangle 7"/>
          <p:cNvSpPr/>
          <p:nvPr/>
        </p:nvSpPr>
        <p:spPr>
          <a:xfrm>
            <a:off x="548640" y="2084831"/>
            <a:ext cx="11064240" cy="4242816"/>
          </a:xfrm>
          <a:prstGeom prst="roundRect">
            <a:avLst>
              <a:gd name="adj" fmla="val 6000"/>
            </a:avLst>
          </a:prstGeom>
          <a:solidFill>
            <a:srgbClr val="21201C"/>
          </a:solidFill>
          <a:ln w="12700">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304287"/>
            <a:ext cx="105156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.agents/skills/campaign-brief/SKILL.md</a:t>
            </a:r>
          </a:p>
        </p:txBody>
      </p:sp>
      <p:sp>
        <p:nvSpPr>
          <p:cNvPr id="11" name="TextBox 10"/>
          <p:cNvSpPr txBox="1"/>
          <p:nvPr/>
        </p:nvSpPr>
        <p:spPr>
          <a:xfrm>
            <a:off x="822959" y="2724911"/>
            <a:ext cx="10515600" cy="3535756"/>
          </a:xfrm>
          <a:prstGeom prst="rect">
            <a:avLst/>
          </a:prstGeom>
          <a:noFill/>
        </p:spPr>
        <p:txBody>
          <a:bodyPr wrap="square" lIns="18288" rIns="18288" tIns="9144" bIns="9144">
            <a:spAutoFit/>
          </a:bodyPr>
          <a:lstStyle/>
          <a:p>
            <a:pPr>
              <a:lnSpc>
                <a:spcPct val="114000"/>
              </a:lnSpc>
              <a:defRPr sz="1300" b="0">
                <a:solidFill>
                  <a:srgbClr val="E8E5DE"/>
                </a:solidFill>
                <a:latin typeface="Courier New"/>
              </a:defRPr>
            </a:pPr>
            <a:r>
              <a:t>---</a:t>
            </a:r>
          </a:p>
          <a:p>
            <a:pPr>
              <a:lnSpc>
                <a:spcPct val="114000"/>
              </a:lnSpc>
              <a:defRPr sz="1300" b="0">
                <a:solidFill>
                  <a:srgbClr val="E8E5DE"/>
                </a:solidFill>
                <a:latin typeface="Courier New"/>
              </a:defRPr>
            </a:pPr>
            <a:r>
              <a:t>name: campaign-brief</a:t>
            </a:r>
          </a:p>
          <a:p>
            <a:pPr>
              <a:lnSpc>
                <a:spcPct val="114000"/>
              </a:lnSpc>
              <a:defRPr sz="1300" b="0">
                <a:solidFill>
                  <a:srgbClr val="E8E5DE"/>
                </a:solidFill>
                <a:latin typeface="Courier New"/>
              </a:defRPr>
            </a:pPr>
            <a:r>
              <a:t>description: Use when planning a Horizon campaign.</a:t>
            </a:r>
          </a:p>
          <a:p>
            <a:pPr>
              <a:lnSpc>
                <a:spcPct val="114000"/>
              </a:lnSpc>
              <a:defRPr sz="1300" b="0">
                <a:solidFill>
                  <a:srgbClr val="E8E5DE"/>
                </a:solidFill>
                <a:latin typeface="Courier New"/>
              </a:defRPr>
            </a:pPr>
            <a:r>
              <a:t>  Objective, audience, message, proof, channels,</a:t>
            </a:r>
          </a:p>
          <a:p>
            <a:pPr>
              <a:lnSpc>
                <a:spcPct val="114000"/>
              </a:lnSpc>
              <a:defRPr sz="1300" b="0">
                <a:solidFill>
                  <a:srgbClr val="E8E5DE"/>
                </a:solidFill>
                <a:latin typeface="Courier New"/>
              </a:defRPr>
            </a:pPr>
            <a:r>
              <a:t>  CTA, measures, and a five-beat storyboard.</a:t>
            </a:r>
          </a:p>
          <a:p>
            <a:pPr>
              <a:lnSpc>
                <a:spcPct val="114000"/>
              </a:lnSpc>
              <a:defRPr sz="1300" b="0">
                <a:solidFill>
                  <a:srgbClr val="E8E5DE"/>
                </a:solidFill>
                <a:latin typeface="Courier New"/>
              </a:defRPr>
            </a:pPr>
            <a:r>
              <a:t>---</a:t>
            </a:r>
          </a:p>
          <a:p>
            <a:pPr>
              <a:lnSpc>
                <a:spcPct val="114000"/>
              </a:lnSpc>
              <a:defRPr sz="1300" b="0">
                <a:solidFill>
                  <a:srgbClr val="E8E5DE"/>
                </a:solidFill>
                <a:latin typeface="Courier New"/>
              </a:defRPr>
            </a:pPr>
            <a:r>
              <a:t># Campaign brief</a:t>
            </a:r>
          </a:p>
          <a:p>
            <a:pPr>
              <a:lnSpc>
                <a:spcPct val="114000"/>
              </a:lnSpc>
              <a:defRPr sz="1300" b="0">
                <a:solidFill>
                  <a:srgbClr val="E8E5DE"/>
                </a:solidFill>
                <a:latin typeface="Courier New"/>
              </a:defRPr>
            </a:pPr>
            <a:r>
              <a:t>1. Objective: one measurable action (e.g. chats booked).</a:t>
            </a:r>
          </a:p>
          <a:p>
            <a:pPr>
              <a:lnSpc>
                <a:spcPct val="114000"/>
              </a:lnSpc>
              <a:defRPr sz="1300" b="0">
                <a:solidFill>
                  <a:srgbClr val="E8E5DE"/>
                </a:solidFill>
                <a:latin typeface="Courier New"/>
              </a:defRPr>
            </a:pPr>
            <a:r>
              <a:t>2. Audience: the persona(s) from strategy/personas.md, with evidence.</a:t>
            </a:r>
          </a:p>
          <a:p>
            <a:pPr>
              <a:lnSpc>
                <a:spcPct val="114000"/>
              </a:lnSpc>
              <a:defRPr sz="1300" b="0">
                <a:solidFill>
                  <a:srgbClr val="E8E5DE"/>
                </a:solidFill>
                <a:latin typeface="Courier New"/>
              </a:defRPr>
            </a:pPr>
            <a:r>
              <a:t>3. Core message in one sentence; proof from data/facts-2026.md only.</a:t>
            </a:r>
          </a:p>
          <a:p>
            <a:pPr>
              <a:lnSpc>
                <a:spcPct val="114000"/>
              </a:lnSpc>
              <a:defRPr sz="1300" b="0">
                <a:solidFill>
                  <a:srgbClr val="E8E5DE"/>
                </a:solidFill>
                <a:latin typeface="Courier New"/>
              </a:defRPr>
            </a:pPr>
            <a:r>
              <a:t>4. Channels and formats; one call to action; measures and a date.</a:t>
            </a:r>
          </a:p>
          <a:p>
            <a:pPr>
              <a:lnSpc>
                <a:spcPct val="114000"/>
              </a:lnSpc>
              <a:defRPr sz="1300" b="0">
                <a:solidFill>
                  <a:srgbClr val="E8E5DE"/>
                </a:solidFill>
                <a:latin typeface="Courier New"/>
              </a:defRPr>
            </a:pPr>
            <a:r>
              <a:t>5. Storyboard in five beats — hook, tension, proof, resolution, action —</a:t>
            </a:r>
          </a:p>
          <a:p>
            <a:pPr>
              <a:lnSpc>
                <a:spcPct val="114000"/>
              </a:lnSpc>
              <a:defRPr sz="1300" b="0">
                <a:solidFill>
                  <a:srgbClr val="E8E5DE"/>
                </a:solidFill>
                <a:latin typeface="Courier New"/>
              </a:defRPr>
            </a:pPr>
            <a:r>
              <a:t>   each with visual, words, claim and source.</a:t>
            </a:r>
          </a:p>
          <a:p>
            <a:pPr>
              <a:lnSpc>
                <a:spcPct val="114000"/>
              </a:lnSpc>
              <a:defRPr sz="1300" b="0">
                <a:solidFill>
                  <a:srgbClr val="E8E5DE"/>
                </a:solidFill>
                <a:latin typeface="Courier New"/>
              </a:defRPr>
            </a:pPr>
            <a:r>
              <a:t>6. Never: returns, fee amounts, invented clients, fear.</a:t>
            </a:r>
          </a:p>
          <a:p>
            <a:pPr>
              <a:lnSpc>
                <a:spcPct val="114000"/>
              </a:lnSpc>
              <a:defRPr sz="1300" b="0">
                <a:solidFill>
                  <a:srgbClr val="E8E5DE"/>
                </a:solidFill>
                <a:latin typeface="Courier New"/>
              </a:defRPr>
            </a:pP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49</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03</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~50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CODEX, THEN CHATGPT</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team exists, but every agent writes in its own way. Rachel wants Horizon's voice, facts and compliance rules applied the same way by every agent, every time.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twenty skills in .agents/skills/, wired to the agents that own them</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Codex ($skill-creator) → ChatGPT (@skill-creator)</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twenty skills owned by role — research, writing, LinkedIn, Facebook, blog, newsletter, web design, lead magnet, video, analysis and compliance · SKILL.md · the "Use when" trigger · test without naming</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CODEX, THEN CHATGPT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50</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In Codex start a new thread in horizon-studio and name it "Lab 3".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the spec  </a:t>
            </a:r>
            <a:r>
              <a:rPr sz="1300">
                <a:solidFill>
                  <a:srgbClr val="6B6862"/>
                </a:solidFill>
                <a:latin typeface="Calibri"/>
              </a:rPr>
              <a:t>skills-spec.md lists the twenty skills and who owns each.</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Create the skills  </a:t>
            </a:r>
            <a:r>
              <a:rPr sz="1300">
                <a:solidFill>
                  <a:srgbClr val="6B6862"/>
                </a:solidFill>
                <a:latin typeface="Calibri"/>
              </a:rPr>
              <a:t>Copy and paste Prompt A.</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Wire them up  </a:t>
            </a:r>
            <a:r>
              <a:rPr sz="1300">
                <a:solidFill>
                  <a:srgbClr val="6B6862"/>
                </a:solidFill>
                <a:latin typeface="Calibri"/>
              </a:rPr>
              <a:t>After the twenty skills appear in .agents/skills/, copy and paste Prompt B, then C to list every skill. The Lead's two go in AGENTS.md, not a file.</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Test without naming  </a:t>
            </a:r>
            <a:r>
              <a:rPr sz="1300">
                <a:solidFill>
                  <a:srgbClr val="6B6862"/>
                </a:solidFill>
                <a:latin typeface="Calibri"/>
              </a:rPr>
              <a:t>In a new session ask: "Write a Facebook post about the free Money Check-up Checklist." Ask which skills were used.</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Break it on purpose  </a:t>
            </a:r>
            <a:r>
              <a:rPr sz="1300">
                <a:solidFill>
                  <a:srgbClr val="6B6862"/>
                </a:solidFill>
                <a:latin typeface="Calibri"/>
              </a:rPr>
              <a:t>Ask for a post that says "guaranteed 8% a year". fin-compliance must flag it as Critical.</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Share with ChatGPT  </a:t>
            </a:r>
            <a:r>
              <a:rPr sz="1300">
                <a:solidFill>
                  <a:srgbClr val="6B6862"/>
                </a:solidFill>
                <a:latin typeface="Calibri"/>
              </a:rPr>
              <a:t>Use @skill-creator in ChatGPT to add sunny-voice, channel-formats and fin-compliance there too.</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51</a:t>
            </a:r>
          </a:p>
        </p:txBody>
      </p:sp>
      <p:sp>
        <p:nvSpPr>
          <p:cNvPr id="7" name="Rounded Rectangle 6"/>
          <p:cNvSpPr/>
          <p:nvPr/>
        </p:nvSpPr>
        <p:spPr>
          <a:xfrm>
            <a:off x="548640" y="1783080"/>
            <a:ext cx="11064240" cy="1981911"/>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Codex: twenty skills</a:t>
            </a:r>
          </a:p>
        </p:txBody>
      </p:sp>
      <p:sp>
        <p:nvSpPr>
          <p:cNvPr id="9" name="TextBox 8"/>
          <p:cNvSpPr txBox="1"/>
          <p:nvPr/>
        </p:nvSpPr>
        <p:spPr>
          <a:xfrm>
            <a:off x="822960" y="2313432"/>
            <a:ext cx="10515600" cy="1232103"/>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$skill-creator Read data/skills-spec.md and create the twenty skills in .agents/skills/&lt;name&gt;/ SKILL.md. Each has a name, a description that starts "Use when…" and short numbered steps, under 80 lines. Use data/brand.md, data/channel-formats.md, data/facts-2026.md and data/compliance-checklist.md as the sources — do not invent rules.</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52</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Codex: wire them up</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Add a "Skills" line to each role card in agents/ with its skills from data/skills-spec.md. Add to AGENTS.md that the Lead (this chat) runs fact-check and fin-compliance on everything before showing it to me.</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53</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Codex: see the skills</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List the skills in .agents/skills/. Show each skill, its owner (a role card, or the Lead) and its "Use when" line in a table. Confirm there are twenty, that each specialist has the skills the spec gives it, and that fact-check and fin-compliance belong to the Lead (this chat).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 skill costs almost nothing until it is needed. Keep the rules file (AGENTS.md) short and put procedures in skills.</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54</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Twenty folders in .agents/skills/, each with a SKILL.md.</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description starts "Use when…".</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specialist lists its own skills from the spec.</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untold test picked sunny-voice and facebook-post.</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fin-compliance flagged "guaranteed 8%" as Critical.</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Three skills also appear in ChatGPT Skills.</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CONNECTORS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Plugins for Each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Install once in Plugins; call them with @. Sites and $imagegen are built in.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55</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a:t>
            </a:r>
          </a:p>
        </p:txBody>
      </p:sp>
      <p:sp>
        <p:nvSpPr>
          <p:cNvPr id="10" name="TextBox 9"/>
          <p:cNvSpPr txBox="1"/>
          <p:nvPr/>
        </p:nvSpPr>
        <p:spPr>
          <a:xfrm>
            <a:off x="3626510" y="2203703"/>
            <a:ext cx="4593945"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MAY USE</a:t>
            </a:r>
          </a:p>
        </p:txBody>
      </p:sp>
      <p:sp>
        <p:nvSpPr>
          <p:cNvPr id="11" name="TextBox 10"/>
          <p:cNvSpPr txBox="1"/>
          <p:nvPr/>
        </p:nvSpPr>
        <p:spPr>
          <a:xfrm>
            <a:off x="8494776" y="2203703"/>
            <a:ext cx="304495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LIMIT</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Team Lead</a:t>
            </a:r>
          </a:p>
        </p:txBody>
      </p:sp>
      <p:sp>
        <p:nvSpPr>
          <p:cNvPr id="14" name="TextBox 13"/>
          <p:cNvSpPr txBox="1"/>
          <p:nvPr/>
        </p:nvSpPr>
        <p:spPr>
          <a:xfrm>
            <a:off x="3626510" y="2560320"/>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(read), @Gmail (drafts only)</a:t>
            </a:r>
          </a:p>
        </p:txBody>
      </p:sp>
      <p:sp>
        <p:nvSpPr>
          <p:cNvPr id="15" name="TextBox 14"/>
          <p:cNvSpPr txBox="1"/>
          <p:nvPr/>
        </p:nvSpPr>
        <p:spPr>
          <a:xfrm>
            <a:off x="8494776" y="2560320"/>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reads; drafts only</a:t>
            </a:r>
          </a:p>
        </p:txBody>
      </p:sp>
      <p:sp>
        <p:nvSpPr>
          <p:cNvPr id="16" name="TextBox 15"/>
          <p:cNvSpPr txBox="1"/>
          <p:nvPr/>
        </p:nvSpPr>
        <p:spPr>
          <a:xfrm>
            <a:off x="749808" y="3084575"/>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Strategist</a:t>
            </a:r>
          </a:p>
        </p:txBody>
      </p:sp>
      <p:sp>
        <p:nvSpPr>
          <p:cNvPr id="17" name="TextBox 16"/>
          <p:cNvSpPr txBox="1"/>
          <p:nvPr/>
        </p:nvSpPr>
        <p:spPr>
          <a:xfrm>
            <a:off x="3626510" y="3084575"/>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 search, @Google Drive (read)</a:t>
            </a:r>
          </a:p>
        </p:txBody>
      </p:sp>
      <p:sp>
        <p:nvSpPr>
          <p:cNvPr id="18" name="TextBox 17"/>
          <p:cNvSpPr txBox="1"/>
          <p:nvPr/>
        </p:nvSpPr>
        <p:spPr>
          <a:xfrm>
            <a:off x="8494776" y="3084575"/>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cite every source</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Content Creator</a:t>
            </a:r>
          </a:p>
        </p:txBody>
      </p:sp>
      <p:sp>
        <p:nvSpPr>
          <p:cNvPr id="21" name="TextBox 20"/>
          <p:cNvSpPr txBox="1"/>
          <p:nvPr/>
        </p:nvSpPr>
        <p:spPr>
          <a:xfrm>
            <a:off x="3626510" y="3608831"/>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(docs), @Gmail (drafts only)</a:t>
            </a:r>
          </a:p>
        </p:txBody>
      </p:sp>
      <p:sp>
        <p:nvSpPr>
          <p:cNvPr id="22" name="TextBox 21"/>
          <p:cNvSpPr txBox="1"/>
          <p:nvPr/>
        </p:nvSpPr>
        <p:spPr>
          <a:xfrm>
            <a:off x="8494776" y="3608831"/>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Gmail: drafts only</a:t>
            </a:r>
          </a:p>
        </p:txBody>
      </p:sp>
      <p:sp>
        <p:nvSpPr>
          <p:cNvPr id="23" name="TextBox 22"/>
          <p:cNvSpPr txBox="1"/>
          <p:nvPr/>
        </p:nvSpPr>
        <p:spPr>
          <a:xfrm>
            <a:off x="749808" y="4133087"/>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Creative Designer</a:t>
            </a:r>
          </a:p>
        </p:txBody>
      </p:sp>
      <p:sp>
        <p:nvSpPr>
          <p:cNvPr id="24" name="TextBox 23"/>
          <p:cNvSpPr txBox="1"/>
          <p:nvPr/>
        </p:nvSpPr>
        <p:spPr>
          <a:xfrm>
            <a:off x="3626510" y="4133087"/>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$imagegen, ffmpeg in Codex</a:t>
            </a:r>
          </a:p>
        </p:txBody>
      </p:sp>
      <p:sp>
        <p:nvSpPr>
          <p:cNvPr id="25" name="TextBox 24"/>
          <p:cNvSpPr txBox="1"/>
          <p:nvPr/>
        </p:nvSpPr>
        <p:spPr>
          <a:xfrm>
            <a:off x="8494776" y="4133087"/>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fake "clients"</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Website Designer</a:t>
            </a:r>
          </a:p>
        </p:txBody>
      </p:sp>
      <p:sp>
        <p:nvSpPr>
          <p:cNvPr id="28" name="TextBox 27"/>
          <p:cNvSpPr txBox="1"/>
          <p:nvPr/>
        </p:nvSpPr>
        <p:spPr>
          <a:xfrm>
            <a:off x="3626510" y="4657344"/>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@Sites (publish), @Computer Use (browser check)</a:t>
            </a:r>
          </a:p>
        </p:txBody>
      </p:sp>
      <p:sp>
        <p:nvSpPr>
          <p:cNvPr id="29" name="TextBox 28"/>
          <p:cNvSpPr txBox="1"/>
          <p:nvPr/>
        </p:nvSpPr>
        <p:spPr>
          <a:xfrm>
            <a:off x="8494776" y="4657344"/>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publish after approval</a:t>
            </a:r>
          </a:p>
        </p:txBody>
      </p:sp>
      <p:sp>
        <p:nvSpPr>
          <p:cNvPr id="30" name="TextBox 29"/>
          <p:cNvSpPr txBox="1"/>
          <p:nvPr/>
        </p:nvSpPr>
        <p:spPr>
          <a:xfrm>
            <a:off x="749808" y="5181599"/>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Analyst</a:t>
            </a:r>
          </a:p>
        </p:txBody>
      </p:sp>
      <p:sp>
        <p:nvSpPr>
          <p:cNvPr id="31" name="TextBox 30"/>
          <p:cNvSpPr txBox="1"/>
          <p:nvPr/>
        </p:nvSpPr>
        <p:spPr>
          <a:xfrm>
            <a:off x="3626510" y="5181599"/>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and Sheets (read), Python in Codex</a:t>
            </a:r>
          </a:p>
        </p:txBody>
      </p:sp>
      <p:sp>
        <p:nvSpPr>
          <p:cNvPr id="32" name="TextBox 31"/>
          <p:cNvSpPr txBox="1"/>
          <p:nvPr/>
        </p:nvSpPr>
        <p:spPr>
          <a:xfrm>
            <a:off x="8494776" y="5181599"/>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personal data</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Use your personal Google account — never an employer's.</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CONNECTORS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Least Privilege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regulated firm gives each agent only what its job needs.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56</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Ask of each connector</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Does this agent's job need it? If not, it does not get it.</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Drafts, not sends</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Email is drafted, posts are files, pages wait — a person sends and publishes.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Write it down</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Each agent's instructions name its connectors and limits; its card lists only the plugins it may call.</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Install the Plugins Each Agent Needs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57</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04</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CHATGPT, THEN CODEX</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analyst cannot read the data, the designer has no design tool and the creator cannot draft an email. Connect each agent to what its job needs — and nothing more.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every specialist tested on its own connector, with its limits written into its instructions</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ChatGPT plugins → Codex</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@Google Drive · @Gmail (drafts) · @Computer Use · $imagegen · @Sites · least privilege per agent</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Install the Plugins Each Agent Needs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CHATGPT, THEN CODEX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58</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Start a new chat in the Horizon Marketing project and name it "Lab 4".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Install the plugins  </a:t>
            </a:r>
            <a:r>
              <a:rPr sz="1300">
                <a:solidFill>
                  <a:srgbClr val="6B6862"/>
                </a:solidFill>
                <a:latin typeface="Calibri"/>
              </a:rPr>
              <a:t>Plugins: Google Drive, Gmail and Computer Use. Sites and $imagegen are built in.</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Use your own account  </a:t>
            </a:r>
            <a:r>
              <a:rPr sz="1300">
                <a:solidFill>
                  <a:srgbClr val="6B6862"/>
                </a:solidFill>
                <a:latin typeface="Calibri"/>
              </a:rPr>
              <a:t>Connect your personal Google account — never an employer's.</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Put the data on Drive  </a:t>
            </a:r>
            <a:r>
              <a:rPr sz="1300">
                <a:solidFill>
                  <a:srgbClr val="6B6862"/>
                </a:solidFill>
                <a:latin typeface="Calibri"/>
              </a:rPr>
              <a:t>Upload data/ to a Drive folder named Horizon Studio.</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Test each agent  </a:t>
            </a:r>
            <a:r>
              <a:rPr sz="1300">
                <a:solidFill>
                  <a:srgbClr val="6B6862"/>
                </a:solidFill>
                <a:latin typeface="Calibri"/>
              </a:rPr>
              <a:t>Copy and paste Prompt A — one small job per agent, each on its own plugin.</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Write the limits  </a:t>
            </a:r>
            <a:r>
              <a:rPr sz="1300">
                <a:solidFill>
                  <a:srgbClr val="6B6862"/>
                </a:solidFill>
                <a:latin typeface="Calibri"/>
              </a:rPr>
              <a:t>After the new session opens, copy and paste Prompt B.</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Install the Plugins Each Agent Needs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59</a:t>
            </a:r>
          </a:p>
        </p:txBody>
      </p:sp>
      <p:sp>
        <p:nvSpPr>
          <p:cNvPr id="7" name="Rounded Rectangle 6"/>
          <p:cNvSpPr/>
          <p:nvPr/>
        </p:nvSpPr>
        <p:spPr>
          <a:xfrm>
            <a:off x="548640" y="1783080"/>
            <a:ext cx="11064240" cy="343060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Codex: test each agent</a:t>
            </a:r>
          </a:p>
        </p:txBody>
      </p:sp>
      <p:sp>
        <p:nvSpPr>
          <p:cNvPr id="9" name="TextBox 8"/>
          <p:cNvSpPr txBox="1"/>
          <p:nvPr/>
        </p:nvSpPr>
        <p:spPr>
          <a:xfrm>
            <a:off x="822960" y="2313432"/>
            <a:ext cx="10515600" cy="2680792"/>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subagents, one per check, each following its role card:</a:t>
            </a:r>
          </a:p>
          <a:p>
            <a:pPr>
              <a:lnSpc>
                <a:spcPct val="110000"/>
              </a:lnSpc>
              <a:defRPr sz="1700" b="0">
                <a:solidFill>
                  <a:srgbClr val="21201C"/>
                </a:solidFill>
                <a:latin typeface="Calibri"/>
              </a:defRPr>
            </a:pPr>
            <a:r>
              <a:t>1. growth-strategist: web search — one 2026 news item about financial planning in Singapore, cited.</a:t>
            </a:r>
          </a:p>
          <a:p>
            <a:pPr>
              <a:lnSpc>
                <a:spcPct val="110000"/>
              </a:lnSpc>
              <a:defRPr sz="1700" b="0">
                <a:solidFill>
                  <a:srgbClr val="21201C"/>
                </a:solidFill>
                <a:latin typeface="Calibri"/>
              </a:defRPr>
            </a:pPr>
            <a:r>
              <a:t>2. growth-analyst: @Google Drive — read firm-metrics.csv from Horizon Studio; report average monthly enquiries.</a:t>
            </a:r>
          </a:p>
          <a:p>
            <a:pPr>
              <a:lnSpc>
                <a:spcPct val="110000"/>
              </a:lnSpc>
              <a:defRPr sz="1700" b="0">
                <a:solidFill>
                  <a:srgbClr val="21201C"/>
                </a:solidFill>
                <a:latin typeface="Calibri"/>
              </a:defRPr>
            </a:pPr>
            <a:r>
              <a:t>3. content-creator: @Gmail — a DRAFT to me with the subject "Connector test". Do not send.</a:t>
            </a:r>
          </a:p>
          <a:p>
            <a:pPr>
              <a:lnSpc>
                <a:spcPct val="110000"/>
              </a:lnSpc>
              <a:defRPr sz="1700" b="0">
                <a:solidFill>
                  <a:srgbClr val="21201C"/>
                </a:solidFill>
                <a:latin typeface="Calibri"/>
              </a:defRPr>
            </a:pPr>
            <a:r>
              <a:t>4. creative-designer: $imagegen — a 1080x1080 test image in Horizon colours.</a:t>
            </a:r>
          </a:p>
          <a:p>
            <a:pPr>
              <a:lnSpc>
                <a:spcPct val="110000"/>
              </a:lnSpc>
              <a:defRPr sz="1700" b="0">
                <a:solidFill>
                  <a:srgbClr val="21201C"/>
                </a:solidFill>
                <a:latin typeface="Calibri"/>
              </a:defRPr>
            </a:pPr>
            <a:r>
              <a:t>5. website-designer: @Computer Use — open our own copy of the site (web/site/index.html) at mobile width and report any problem. Report each result in one line.</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Install the Plugins Each Agent Needs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60</a:t>
            </a:r>
          </a:p>
        </p:txBody>
      </p:sp>
      <p:sp>
        <p:nvSpPr>
          <p:cNvPr id="7" name="Rounded Rectangle 6"/>
          <p:cNvSpPr/>
          <p:nvPr/>
        </p:nvSpPr>
        <p:spPr>
          <a:xfrm>
            <a:off x="548640" y="1783080"/>
            <a:ext cx="11064240" cy="1402435"/>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Codex: least privilege</a:t>
            </a:r>
          </a:p>
        </p:txBody>
      </p:sp>
      <p:sp>
        <p:nvSpPr>
          <p:cNvPr id="9" name="TextBox 8"/>
          <p:cNvSpPr txBox="1"/>
          <p:nvPr/>
        </p:nvSpPr>
        <p:spPr>
          <a:xfrm>
            <a:off x="822960" y="2313432"/>
            <a:ext cx="10515600" cy="652627"/>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Update the "Plugins" section of each role card in agents/ to match data/connectors-setup.md: what it may use, and that @Gmail is drafts-only. Remove any plugin a role does not need.</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Least privilege is a design decision, not a setting. Ask of each connector: does this agent's job need it?</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Install the Plugins Each Agent Needs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61</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three plugins are installed and connected.</a:t>
            </a:r>
          </a:p>
        </p:txBody>
      </p:sp>
      <p:sp>
        <p:nvSpPr>
          <p:cNvPr id="13" name="Oval 12"/>
          <p:cNvSpPr/>
          <p:nvPr/>
        </p:nvSpPr>
        <p:spPr>
          <a:xfrm>
            <a:off x="841248" y="337413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32841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Five checks ran, each by its own agent.</a:t>
            </a:r>
          </a:p>
        </p:txBody>
      </p:sp>
      <p:sp>
        <p:nvSpPr>
          <p:cNvPr id="15" name="Oval 14"/>
          <p:cNvSpPr/>
          <p:nvPr/>
        </p:nvSpPr>
        <p:spPr>
          <a:xfrm>
            <a:off x="841248" y="394106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895344"/>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Gmail test is a draft in your inbox — nothing was sent.</a:t>
            </a:r>
          </a:p>
        </p:txBody>
      </p:sp>
      <p:sp>
        <p:nvSpPr>
          <p:cNvPr id="17" name="Oval 16"/>
          <p:cNvSpPr/>
          <p:nvPr/>
        </p:nvSpPr>
        <p:spPr>
          <a:xfrm>
            <a:off x="841248" y="450799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46227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analyst read the CSV from Drive, not from the local folder.</a:t>
            </a:r>
          </a:p>
        </p:txBody>
      </p:sp>
      <p:sp>
        <p:nvSpPr>
          <p:cNvPr id="19" name="Oval 18"/>
          <p:cNvSpPr/>
          <p:nvPr/>
        </p:nvSpPr>
        <p:spPr>
          <a:xfrm>
            <a:off x="841248" y="5074920"/>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502920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agent's tools line names only the connectors its job needs.</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CAMPAIGN 1</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How the Team Runs a Campaign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Campaign 1, "Know Your Number": research in parallel, a person chooses, the team makes it concrete.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62</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 briefs</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Reads the campaign objective; assigns the work.</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Research</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Strategist (competitors) and Analyst (funnel) in parallel.</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Ideas</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Nine ideas for three audiences, scored with the rubric.</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You choose</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human concept checkpoint.</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Storyboard</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Strategist storyboards; Creator writes three variants; Lead checks.</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STORYBOARD</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Five-Beat Storyboard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 channel tells the same story with the same claims.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63</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Hook</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viewer's own question: "Do I have enough to retire?"</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Tension</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What goes wrong when nobody knows their number.</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Proof</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verifiable fact, e.g. the 2026 Full Retirement Sum.</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Resolution</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How Horizon helps — a 30-minute chat, a one-page plan.</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Action</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next step: the checklist or a free chat.</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REGULATED CONTENT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Financial Content Is Regulated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Lead checks every piece against twelve rules (compliance-checklist.md).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64</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326623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RULE</a:t>
            </a:r>
          </a:p>
        </p:txBody>
      </p:sp>
      <p:sp>
        <p:nvSpPr>
          <p:cNvPr id="10" name="TextBox 9"/>
          <p:cNvSpPr txBox="1"/>
          <p:nvPr/>
        </p:nvSpPr>
        <p:spPr>
          <a:xfrm>
            <a:off x="4290364" y="2203703"/>
            <a:ext cx="5036515"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IT MEANS</a:t>
            </a:r>
          </a:p>
        </p:txBody>
      </p:sp>
      <p:sp>
        <p:nvSpPr>
          <p:cNvPr id="11" name="TextBox 10"/>
          <p:cNvSpPr txBox="1"/>
          <p:nvPr/>
        </p:nvSpPr>
        <p:spPr>
          <a:xfrm>
            <a:off x="9601200" y="2203703"/>
            <a:ext cx="193852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IF BROKEN</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C1 · Not advice</a:t>
            </a:r>
          </a:p>
        </p:txBody>
      </p:sp>
      <p:sp>
        <p:nvSpPr>
          <p:cNvPr id="14" name="TextBox 13"/>
          <p:cNvSpPr txBox="1"/>
          <p:nvPr/>
        </p:nvSpPr>
        <p:spPr>
          <a:xfrm>
            <a:off x="4290364" y="2560320"/>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General information only — say so</a:t>
            </a:r>
          </a:p>
        </p:txBody>
      </p:sp>
      <p:sp>
        <p:nvSpPr>
          <p:cNvPr id="15" name="TextBox 14"/>
          <p:cNvSpPr txBox="1"/>
          <p:nvPr/>
        </p:nvSpPr>
        <p:spPr>
          <a:xfrm>
            <a:off x="9601200" y="2560320"/>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16" name="TextBox 15"/>
          <p:cNvSpPr txBox="1"/>
          <p:nvPr/>
        </p:nvSpPr>
        <p:spPr>
          <a:xfrm>
            <a:off x="749808" y="3084575"/>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C2 · No promises</a:t>
            </a:r>
          </a:p>
        </p:txBody>
      </p:sp>
      <p:sp>
        <p:nvSpPr>
          <p:cNvPr id="17" name="TextBox 16"/>
          <p:cNvSpPr txBox="1"/>
          <p:nvPr/>
        </p:nvSpPr>
        <p:spPr>
          <a:xfrm>
            <a:off x="4290364" y="3084575"/>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guaranteed or "risk-free" returns</a:t>
            </a:r>
          </a:p>
        </p:txBody>
      </p:sp>
      <p:sp>
        <p:nvSpPr>
          <p:cNvPr id="18" name="TextBox 17"/>
          <p:cNvSpPr txBox="1"/>
          <p:nvPr/>
        </p:nvSpPr>
        <p:spPr>
          <a:xfrm>
            <a:off x="9601200" y="3084575"/>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C3 · Label illustrations</a:t>
            </a:r>
          </a:p>
        </p:txBody>
      </p:sp>
      <p:sp>
        <p:nvSpPr>
          <p:cNvPr id="21" name="TextBox 20"/>
          <p:cNvSpPr txBox="1"/>
          <p:nvPr/>
        </p:nvSpPr>
        <p:spPr>
          <a:xfrm>
            <a:off x="4290364" y="3608831"/>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Assumptions shown; not guaranteed</a:t>
            </a:r>
          </a:p>
        </p:txBody>
      </p:sp>
      <p:sp>
        <p:nvSpPr>
          <p:cNvPr id="22" name="TextBox 21"/>
          <p:cNvSpPr txBox="1"/>
          <p:nvPr/>
        </p:nvSpPr>
        <p:spPr>
          <a:xfrm>
            <a:off x="9601200" y="3608831"/>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23" name="TextBox 22"/>
          <p:cNvSpPr txBox="1"/>
          <p:nvPr/>
        </p:nvSpPr>
        <p:spPr>
          <a:xfrm>
            <a:off x="749808" y="4133087"/>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C5 · No performance</a:t>
            </a:r>
          </a:p>
        </p:txBody>
      </p:sp>
      <p:sp>
        <p:nvSpPr>
          <p:cNvPr id="24" name="TextBox 23"/>
          <p:cNvSpPr txBox="1"/>
          <p:nvPr/>
        </p:nvSpPr>
        <p:spPr>
          <a:xfrm>
            <a:off x="4290364" y="4133087"/>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Never client returns or "average" returns</a:t>
            </a:r>
          </a:p>
        </p:txBody>
      </p:sp>
      <p:sp>
        <p:nvSpPr>
          <p:cNvPr id="25" name="TextBox 24"/>
          <p:cNvSpPr txBox="1"/>
          <p:nvPr/>
        </p:nvSpPr>
        <p:spPr>
          <a:xfrm>
            <a:off x="9601200" y="4133087"/>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C9 · Consent</a:t>
            </a:r>
          </a:p>
        </p:txBody>
      </p:sp>
      <p:sp>
        <p:nvSpPr>
          <p:cNvPr id="28" name="TextBox 27"/>
          <p:cNvSpPr txBox="1"/>
          <p:nvPr/>
        </p:nvSpPr>
        <p:spPr>
          <a:xfrm>
            <a:off x="4290364" y="4657344"/>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Marketing only to people who opted in</a:t>
            </a:r>
          </a:p>
        </p:txBody>
      </p:sp>
      <p:sp>
        <p:nvSpPr>
          <p:cNvPr id="29" name="TextBox 28"/>
          <p:cNvSpPr txBox="1"/>
          <p:nvPr/>
        </p:nvSpPr>
        <p:spPr>
          <a:xfrm>
            <a:off x="9601200" y="4657344"/>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30" name="TextBox 29"/>
          <p:cNvSpPr txBox="1"/>
          <p:nvPr/>
        </p:nvSpPr>
        <p:spPr>
          <a:xfrm>
            <a:off x="749808" y="5181599"/>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C11 · Facts sheet</a:t>
            </a:r>
          </a:p>
        </p:txBody>
      </p:sp>
      <p:sp>
        <p:nvSpPr>
          <p:cNvPr id="31" name="TextBox 30"/>
          <p:cNvSpPr txBox="1"/>
          <p:nvPr/>
        </p:nvSpPr>
        <p:spPr>
          <a:xfrm>
            <a:off x="4290364" y="5181599"/>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Every figure from facts-2026.md</a:t>
            </a:r>
          </a:p>
        </p:txBody>
      </p:sp>
      <p:sp>
        <p:nvSpPr>
          <p:cNvPr id="32" name="TextBox 31"/>
          <p:cNvSpPr txBox="1"/>
          <p:nvPr/>
        </p:nvSpPr>
        <p:spPr>
          <a:xfrm>
            <a:off x="9601200" y="5181599"/>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MAS Guidelines on Standards of Conduct for Digital Advertising Activities apply from 25 March 2026.</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65</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05</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~50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CODEX</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team's first campaign: 'Know Your Number', November to January. Rachel wants research, ideas for three audiences, her choice, and a storyboard every channel follows.</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competitor research, the funnel, nine scored ideas, the campaign brief and a five-beat storyboard with three channel variants —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Codex (subagents in parallel)</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the Lead delegates · strategist and analyst in parallel · nine scored ideas · a human concept checkpoint · a five-beat storyboard</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CODEX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66</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In Codex start a new thread in horizon-studio and name it "Lab 5".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Brief the Lead  </a:t>
            </a:r>
            <a:r>
              <a:rPr sz="1300">
                <a:solidFill>
                  <a:srgbClr val="6B6862"/>
                </a:solidFill>
                <a:latin typeface="Calibri"/>
              </a:rPr>
              <a:t>The briefs are already in data/. You are the client; your session is the Marketing Team Lead.</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Research in parallel  </a:t>
            </a:r>
            <a:r>
              <a:rPr sz="1300">
                <a:solidFill>
                  <a:srgbClr val="6B6862"/>
                </a:solidFill>
                <a:latin typeface="Calibri"/>
              </a:rPr>
              <a:t>Copy and paste Prompt A. Watch the strategist and the analyst run at the same time.</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the ideas  </a:t>
            </a:r>
            <a:r>
              <a:rPr sz="1300">
                <a:solidFill>
                  <a:srgbClr val="6B6862"/>
                </a:solidFill>
                <a:latin typeface="Calibri"/>
              </a:rPr>
              <a:t>Nine ideas, scored with the rubric. The Lead stops for you.</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Choose  </a:t>
            </a:r>
            <a:r>
              <a:rPr sz="1300">
                <a:solidFill>
                  <a:srgbClr val="6B6862"/>
                </a:solidFill>
                <a:latin typeface="Calibri"/>
              </a:rPr>
              <a:t>Pick one idea and note its number and why — the human concept checkpoint.</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Storyboard  </a:t>
            </a:r>
            <a:r>
              <a:rPr sz="1300">
                <a:solidFill>
                  <a:srgbClr val="6B6862"/>
                </a:solidFill>
                <a:latin typeface="Calibri"/>
              </a:rPr>
              <a:t>After you have chosen, copy and paste Prompt B in the chat, replacing &lt;number&gt; and &lt;one line&gt; with your choice.</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Decide as Rachel  </a:t>
            </a:r>
            <a:r>
              <a:rPr sz="1300">
                <a:solidFill>
                  <a:srgbClr val="6B6862"/>
                </a:solidFill>
                <a:latin typeface="Calibri"/>
              </a:rPr>
              <a:t>After you have read the issues, copy and paste Prompt C. You confirm what is true about Horizon; the team removes or fixes the rest.</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67</a:t>
            </a:r>
          </a:p>
        </p:txBody>
      </p:sp>
      <p:sp>
        <p:nvSpPr>
          <p:cNvPr id="7" name="Rounded Rectangle 6"/>
          <p:cNvSpPr/>
          <p:nvPr/>
        </p:nvSpPr>
        <p:spPr>
          <a:xfrm>
            <a:off x="548640" y="1783080"/>
            <a:ext cx="11064240" cy="343060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Codex: research and ideas</a:t>
            </a:r>
          </a:p>
        </p:txBody>
      </p:sp>
      <p:sp>
        <p:nvSpPr>
          <p:cNvPr id="9" name="TextBox 8"/>
          <p:cNvSpPr txBox="1"/>
          <p:nvPr/>
        </p:nvSpPr>
        <p:spPr>
          <a:xfrm>
            <a:off x="822960" y="2313432"/>
            <a:ext cx="10515600" cy="2680792"/>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Act as the Marketing Team Lead for the campaign in data/campaign-objective.md. Use subagents, in parallel:</a:t>
            </a:r>
          </a:p>
          <a:p>
            <a:pPr>
              <a:lnSpc>
                <a:spcPct val="110000"/>
              </a:lnSpc>
              <a:defRPr sz="1700" b="0">
                <a:solidFill>
                  <a:srgbClr val="21201C"/>
                </a:solidFill>
                <a:latin typeface="Calibri"/>
              </a:defRPr>
            </a:pPr>
            <a:r>
              <a:t>- growth-strategist: competitor-scan → save research/competitive-analysis.md.</a:t>
            </a:r>
          </a:p>
          <a:p>
            <a:pPr>
              <a:lnSpc>
                <a:spcPct val="110000"/>
              </a:lnSpc>
              <a:defRPr sz="1700" b="0">
                <a:solidFill>
                  <a:srgbClr val="21201C"/>
                </a:solidFill>
                <a:latin typeface="Calibri"/>
              </a:defRPr>
            </a:pPr>
            <a:r>
              <a:t>- growth-analyst: the funnel in data/firm-metrics.csv — what 40 chats a month needs → save research/funnel.md. When both finish, the growth-strategist proposes three ideas each for young professionals, mid-career families and pre-retirees, scored with data/idea-rubric.md and tagged with a funnel stage (content-marketing) → strategy/ideas.md. Show me the top five and stop — I will choose. Write for a business owner, in plain English: no codes, IDs, file names or line numbers; start with what it means and what I do next. Save a Word copy (.docx) of each result.</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68</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Codex: the storyboard</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I choose idea &lt;number&gt;, because &lt;one line&gt;. Use subagents:</a:t>
            </a:r>
          </a:p>
          <a:p>
            <a:pPr>
              <a:lnSpc>
                <a:spcPct val="110000"/>
              </a:lnSpc>
              <a:defRPr sz="1700" b="0">
                <a:solidFill>
                  <a:srgbClr val="21201C"/>
                </a:solidFill>
                <a:latin typeface="Calibri"/>
              </a:defRPr>
            </a:pPr>
            <a:r>
              <a:t>- growth-strategist: campaign-brief → strategy/campaign-brief.md, then a five-beat storyboard with data/storyboard-template.md → strategy/storyboard.md.</a:t>
            </a:r>
          </a:p>
          <a:p>
            <a:pPr>
              <a:lnSpc>
                <a:spcPct val="110000"/>
              </a:lnSpc>
              <a:defRPr sz="1700" b="0">
                <a:solidFill>
                  <a:srgbClr val="21201C"/>
                </a:solidFill>
                <a:latin typeface="Calibri"/>
              </a:defRPr>
            </a:pPr>
            <a:r>
              <a:t>- content-creator: three channel variants that keep the same claims — LinkedIn, Facebook, a 60-second video. Then run fact-check and fin-compliance yourself and show me the issues before anything is final. Write for a business owner, in plain English: no codes, IDs, file names or line numbers; start with what it means and what I do next. Save a Word copy (.docx) of each result.</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69</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Codex: decide on the issues</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I confirm "no obligation" and the free checklist — add them to the facts sheet (data/facts-2026.md). Delete any other claim that is not on the facts sheet. Fix all the Medium and Low issues, then show me the updated storyboard.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Agents diverge; a person decides. The concept checkpoint is where the campaign becomes yours.</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70</a:t>
            </a:r>
          </a:p>
        </p:txBody>
      </p:sp>
      <p:sp>
        <p:nvSpPr>
          <p:cNvPr id="7" name="Rounded Rectangle 6"/>
          <p:cNvSpPr/>
          <p:nvPr/>
        </p:nvSpPr>
        <p:spPr>
          <a:xfrm>
            <a:off x="548640" y="1783080"/>
            <a:ext cx="11064240" cy="343060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2680792"/>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After Prompt A: Explain this result in three sentences. Which idea would you pick,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Why does idea &lt;number&gt; score higher than idea &lt;number&gt;?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does the funnel say is our biggest problem?</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After Prompt B: Explain the issues in plain English. What do I need to decide?</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After Prompt C: What changed since the last version? Is anything still not ready for Rachel?</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71</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strategist and the analyst ran in parallel.</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competitor analysis and the funnel are done, with sources.</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Nine scored ideas, each with its author.</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chose the idea and recorded why.</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storyboard has five beats; every claim has a source.</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confirmed two claims; after Prompt C no High issue is left.</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RECAP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Where You Are Now</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team exists and has run its first campaign. But who exactly is it for — and how often should it publish?</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72</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Formed  ·  Labs 1–4</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studio, the public website, six agents with instructions, skills and connectors.</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Campaign 1  ·  Lab 5</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Research in parallel, nine scored ideas, your choice, a storyboard.</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What is missing</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Evidence about the audience and a cadence the team can deliver. That is Topic 2.</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2</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Audience Research and Content Requirement Analysis</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The Growth Analyst: personas from evidence</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Content requirements every agent can follow</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How often to publish: value, fatigue and capacity</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The calendar the team will run</a:t>
            </a:r>
          </a:p>
        </p:txBody>
      </p:sp>
      <p:sp>
        <p:nvSpPr>
          <p:cNvPr id="13" name="TextBox 12"/>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4" name="TextBox 13"/>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Multi AI Agents Workflow for Content Creation</a:t>
            </a:r>
          </a:p>
        </p:txBody>
      </p:sp>
      <p:sp>
        <p:nvSpPr>
          <p:cNvPr id="15" name="TextBox 14"/>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73</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EVIDENCE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Evidence Before Personas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6: the Growth Analyst builds personas the way an analyst would.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74</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Collect</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150 survey answers, 60 enquiries, 200 checklists.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Count</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With code. Every claim has an n and a file.</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Segment</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By age band and life stage.</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Persona</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Worries, channels, formats, trust — with evidence.</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Requirement</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What each persona needs from every piece.</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EVIDENCE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Observed, Inferred or Low Confidence?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Three labels keep a persona honest.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75</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15981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LABEL</a:t>
            </a:r>
          </a:p>
        </p:txBody>
      </p:sp>
      <p:sp>
        <p:nvSpPr>
          <p:cNvPr id="10" name="TextBox 9"/>
          <p:cNvSpPr txBox="1"/>
          <p:nvPr/>
        </p:nvSpPr>
        <p:spPr>
          <a:xfrm>
            <a:off x="3183940" y="2203703"/>
            <a:ext cx="52578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EXAMPLE</a:t>
            </a:r>
          </a:p>
        </p:txBody>
      </p:sp>
      <p:sp>
        <p:nvSpPr>
          <p:cNvPr id="11" name="TextBox 10"/>
          <p:cNvSpPr txBox="1"/>
          <p:nvPr/>
        </p:nvSpPr>
        <p:spPr>
          <a:xfrm>
            <a:off x="8716060" y="2203703"/>
            <a:ext cx="282366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USE IT</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Observed</a:t>
            </a:r>
          </a:p>
        </p:txBody>
      </p:sp>
      <p:sp>
        <p:nvSpPr>
          <p:cNvPr id="14" name="TextBox 13"/>
          <p:cNvSpPr txBox="1"/>
          <p:nvPr/>
        </p:nvSpPr>
        <p:spPr>
          <a:xfrm>
            <a:off x="3183940" y="2560320"/>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30–39s chose Facebook, LinkedIn and YouTube equally (survey, n = 44)</a:t>
            </a:r>
          </a:p>
        </p:txBody>
      </p:sp>
      <p:sp>
        <p:nvSpPr>
          <p:cNvPr id="15" name="TextBox 14"/>
          <p:cNvSpPr txBox="1"/>
          <p:nvPr/>
        </p:nvSpPr>
        <p:spPr>
          <a:xfrm>
            <a:off x="8716060" y="2560320"/>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As fact, with the count</a:t>
            </a:r>
          </a:p>
        </p:txBody>
      </p:sp>
      <p:sp>
        <p:nvSpPr>
          <p:cNvPr id="16" name="TextBox 15"/>
          <p:cNvSpPr txBox="1"/>
          <p:nvPr/>
        </p:nvSpPr>
        <p:spPr>
          <a:xfrm>
            <a:off x="749808" y="3273552"/>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INFERENCE</a:t>
            </a:r>
          </a:p>
        </p:txBody>
      </p:sp>
      <p:sp>
        <p:nvSpPr>
          <p:cNvPr id="17" name="TextBox 16"/>
          <p:cNvSpPr txBox="1"/>
          <p:nvPr/>
        </p:nvSpPr>
        <p:spPr>
          <a:xfrm>
            <a:off x="3183940" y="3273552"/>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"They are short of time on weekdays" — not asked</a:t>
            </a:r>
          </a:p>
        </p:txBody>
      </p:sp>
      <p:sp>
        <p:nvSpPr>
          <p:cNvPr id="18" name="TextBox 17"/>
          <p:cNvSpPr txBox="1"/>
          <p:nvPr/>
        </p:nvSpPr>
        <p:spPr>
          <a:xfrm>
            <a:off x="8716060" y="3273552"/>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As a hypothesis to test</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LOW CONFIDENCE</a:t>
            </a:r>
          </a:p>
        </p:txBody>
      </p:sp>
      <p:sp>
        <p:nvSpPr>
          <p:cNvPr id="21" name="TextBox 20"/>
          <p:cNvSpPr txBox="1"/>
          <p:nvPr/>
        </p:nvSpPr>
        <p:spPr>
          <a:xfrm>
            <a:off x="3183940" y="3986784"/>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60+ group (n = 12)</a:t>
            </a:r>
          </a:p>
        </p:txBody>
      </p:sp>
      <p:sp>
        <p:nvSpPr>
          <p:cNvPr id="22" name="TextBox 21"/>
          <p:cNvSpPr txBox="1"/>
          <p:nvPr/>
        </p:nvSpPr>
        <p:spPr>
          <a:xfrm>
            <a:off x="8716060" y="3986784"/>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Never alone; get more data</a:t>
            </a:r>
          </a:p>
        </p:txBody>
      </p:sp>
      <p:sp>
        <p:nvSpPr>
          <p:cNvPr id="23" name="TextBox 22"/>
          <p:cNvSpPr txBox="1"/>
          <p:nvPr/>
        </p:nvSpPr>
        <p:spPr>
          <a:xfrm>
            <a:off x="749808" y="4700016"/>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Verbatim</a:t>
            </a:r>
          </a:p>
        </p:txBody>
      </p:sp>
      <p:sp>
        <p:nvSpPr>
          <p:cNvPr id="24" name="TextBox 23"/>
          <p:cNvSpPr txBox="1"/>
          <p:nvPr/>
        </p:nvSpPr>
        <p:spPr>
          <a:xfrm>
            <a:off x="3183940" y="4700016"/>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"I am 54 and not sure if my CPF will be enough." (E-id)</a:t>
            </a:r>
          </a:p>
        </p:txBody>
      </p:sp>
      <p:sp>
        <p:nvSpPr>
          <p:cNvPr id="25" name="TextBox 24"/>
          <p:cNvSpPr txBox="1"/>
          <p:nvPr/>
        </p:nvSpPr>
        <p:spPr>
          <a:xfrm>
            <a:off x="8716060" y="4700016"/>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Exactly as written, with the id</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Ask "which rows show that?" of anything that sounds insightful.</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76</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06</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CODEX</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Jun Wei drafted personas from instinct: 'busy young parents who love TikTok'. Rachel is not convinced. There are 150 survey answers, 60 enquiries and 200 checklists.</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three evidence-based personas and the content spec —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Codex (analyst subagents)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three analyst sub-agents, one per data file · counts, not impressions · confidence labels · content requirements</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CODEX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77</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In Codex start a new thread in horizon-studio and name it "Lab 6".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data  </a:t>
            </a:r>
            <a:r>
              <a:rPr sz="1300">
                <a:solidFill>
                  <a:srgbClr val="6B6862"/>
                </a:solidFill>
                <a:latin typeface="Calibri"/>
              </a:rPr>
              <a:t>The CSVs and templates are already in data/. Open one and skim it.</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Analyse in parallel  </a:t>
            </a:r>
            <a:r>
              <a:rPr sz="1300">
                <a:solidFill>
                  <a:srgbClr val="6B6862"/>
                </a:solidFill>
                <a:latin typeface="Calibri"/>
              </a:rPr>
              <a:t>Copy and paste Prompt A — three analyst sub-agents, one per file.</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Challenge a claim  </a:t>
            </a:r>
            <a:r>
              <a:rPr sz="1300">
                <a:solidFill>
                  <a:srgbClr val="6B6862"/>
                </a:solidFill>
                <a:latin typeface="Calibri"/>
              </a:rPr>
              <a:t>Pick one persona statement and ask: "which rows show that?"</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Write the guides  </a:t>
            </a:r>
            <a:r>
              <a:rPr sz="1300">
                <a:solidFill>
                  <a:srgbClr val="6B6862"/>
                </a:solidFill>
                <a:latin typeface="Calibri"/>
              </a:rPr>
              <a:t>After the personas are written, copy and paste Prompt B: a writing guide for each persona — how to talk to them.</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gaps  </a:t>
            </a:r>
            <a:r>
              <a:rPr sz="1300">
                <a:solidFill>
                  <a:srgbClr val="6B6862"/>
                </a:solidFill>
                <a:latin typeface="Calibri"/>
              </a:rPr>
              <a:t>The 60+ group must be LOW CONFIDENCE.</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78</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Codex: three analysts</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three growth-analyst subagents in parallel, one per file: data/survey-responses.csv, data/enquiries.csv, data/checklist-results.csv. Each uses audience-insights: counts with code, n and the file on every claim, INFERENCE and LOW CONFIDENCE labels, enquiry quotes verbatim with ids. Combine the results into three personas with data/persona-template.md → strategy/personas.md. Write for a business owner, in plain English: no codes, IDs, file names or line numbers; start with what it means and what I do next. Save a Word copy (.docx) of each result.</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79</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Codex: requirements</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growth-strategist and the content-creator subagents to write a writing guide for each persona (data/content-spec-template.md → strategy/content-spec.md): what they most want to know, where to reach them, what to make and how long, the tone, the proof that convinces them, what we ask them to do next, and what we never say. Back each answer with the data: which file, and how many people.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"which rows show that?" of anything that sounds insightful. If the agent cannot point to rows, it is an inference.</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80</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Explain these personas in three sentences. Which one should we target first,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survey answers show that &lt;a sentence from a persona&gt;?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Why is the 60+ group marked low confidence?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81</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Three analyst sub-agents ran, one per file.</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persona statement carries a count and a file.</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60+ group is LOW CONFIDENCE (n = 12).</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most-unticked checklist item is the retirement number.</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Enquiry quotes are verbatim, with ids.</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writing guide answers every question for every persona.</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CADENCE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Finding the Right Frequency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7: the Analyst finds where more posts stop paying; the Strategist plans four weeks.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82</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Value</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Extra clicks from one more post a week.</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Fatigue</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Unfollows and unsubscribes it costs.</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Effort</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Hours per piece, against 12 a week.</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Review</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Two business days for Rachel's sign-off.</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Calendar</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Four weeks the team can actually deliver.</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A third LinkedIn post a week brings more unfollows than value. Weekly emails make unsubscribes jump.</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83</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07</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~35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CODEX</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Jun Wei has 12 hours a week and Rachel needs two business days to review anything. How often should each channel run, and what goes out when?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how often to post on each channel, and a four-week calendar —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Codex (subagents)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marginal value vs fatigue · team capacity · review buffers · a four-week calendar</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CODEX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84</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In Codex start a new thread in horizon-studio and name it "Lab 7".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data  </a:t>
            </a:r>
            <a:r>
              <a:rPr sz="1300">
                <a:solidFill>
                  <a:srgbClr val="6B6862"/>
                </a:solidFill>
                <a:latin typeface="Calibri"/>
              </a:rPr>
              <a:t>The assets are already in data/. Open one and skim it.</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Find the sweet spot  </a:t>
            </a:r>
            <a:r>
              <a:rPr sz="1300">
                <a:solidFill>
                  <a:srgbClr val="6B6862"/>
                </a:solidFill>
                <a:latin typeface="Calibri"/>
              </a:rPr>
              <a:t>Copy and paste Prompt A.</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Question it  </a:t>
            </a:r>
            <a:r>
              <a:rPr sz="1300">
                <a:solidFill>
                  <a:srgbClr val="6B6862"/>
                </a:solidFill>
                <a:latin typeface="Calibri"/>
              </a:rPr>
              <a:t>Why is the newsletter not weekly? The answer is in the unsubscribes.</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Plan four weeks  </a:t>
            </a:r>
            <a:r>
              <a:rPr sz="1300">
                <a:solidFill>
                  <a:srgbClr val="6B6862"/>
                </a:solidFill>
                <a:latin typeface="Calibri"/>
              </a:rPr>
              <a:t>After the analyst recommends a cadence, copy and paste Prompt B.</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buffers  </a:t>
            </a:r>
            <a:r>
              <a:rPr sz="1300">
                <a:solidFill>
                  <a:srgbClr val="6B6862"/>
                </a:solidFill>
                <a:latin typeface="Calibri"/>
              </a:rPr>
              <a:t>Every review date is two business days ahead; nothing on a holiday.</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85</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Codex: the analyst</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growth-analyst subagent. From data/channel-benchmarks.csv and data/team-capacity.md, recommend how often to publish on LinkedIn, Facebook, the newsletter and YouTube. Compare the extra clicks from one more post, the unfollows or unsubscribes it costs, and the hours → strategy/cadence.md. Show the numbers. Write for a business owner, in plain English: no codes, IDs, file names or line numbers; start with what it means and what I do next. Save a Word copy (.docx) of each result.</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86</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Codex: the strategist</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growth-strategist subagent to build a four-week calendar from Monday 2 November 2026 in strategy/calendar.csv (columns as data/calendar-format.csv), from the cadence, strategy/storyboard.md and strategy/content-spec.md. review_by two business days before each date; no public holidays; no week over the team's hours. Show a week-by-week summary with hours.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Frequency is a capacity decision as much as an audience one. A calendar the team cannot deliver is fiction.</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87</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Why is the newsletter not weekly? Show me the numbers.</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happens if we add a third LinkedIn post a week?</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week is busiest, and does the team have the hours?</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88</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cadence gives a frequency per channel with the evidence.</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 third LinkedIn post a week costs far more unfollows than it earns.</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explains the unsubscribe jump at weekly emails.</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calendar covers four weeks in the required columns.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review_by date is two business days before publishing.</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No week is over 12 hours.</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CONTENT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From Storyboard to Content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8: the first real piece — a blog article every post can link to.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89</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ChatGPT, not Codex</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One person making one piece: ChatGPT is enough.</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General help, your rules</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Web search and drafting, steered by your skills.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Your skills know Horizon</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blog-post, sunny-voice, fact-check and fin-compliance.</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90</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08</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CHATGPT</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Jun Wei has the storyboard and the personas. Rachel wants the first real piece today: a blog article that people searching for CPF top-ups will find — and that every post can link to.</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a 500-700-word blog article with dated sources, checked and fixed, with a Word copy</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ChatGPT (web search, your Horizon skills)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one prompt runs the whole job: research · draft · fact-check and fin-compliance · fix · a person reads it last</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CHATGPT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91</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New session  </a:t>
            </a:r>
            <a:r>
              <a:rPr sz="1550">
                <a:solidFill>
                  <a:srgbClr val="6B6862"/>
                </a:solidFill>
                <a:latin typeface="Calibri"/>
              </a:rPr>
              <a:t>Start a new chat in the Horizon Marketing project and name it "Lab 8". Run all of this lab's prompts in it.</a:t>
            </a:r>
          </a:p>
        </p:txBody>
      </p:sp>
      <p:sp>
        <p:nvSpPr>
          <p:cNvPr id="10" name="Oval 9"/>
          <p:cNvSpPr/>
          <p:nvPr/>
        </p:nvSpPr>
        <p:spPr>
          <a:xfrm>
            <a:off x="548640" y="2990087"/>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95351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Bring the skills  </a:t>
            </a:r>
            <a:r>
              <a:rPr sz="1550">
                <a:solidFill>
                  <a:srgbClr val="6B6862"/>
                </a:solidFill>
                <a:latin typeface="Calibri"/>
              </a:rPr>
              <a:t>Use @skill-creator to add blog-post and fact-check to ChatGPT (sunny-voice and fin-compliance came in Lab 3).</a:t>
            </a:r>
          </a:p>
        </p:txBody>
      </p:sp>
      <p:sp>
        <p:nvSpPr>
          <p:cNvPr id="12" name="Oval 11"/>
          <p:cNvSpPr/>
          <p:nvPr/>
        </p:nvSpPr>
        <p:spPr>
          <a:xfrm>
            <a:off x="548640" y="385876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82219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it  </a:t>
            </a:r>
            <a:r>
              <a:rPr sz="1550">
                <a:solidFill>
                  <a:srgbClr val="6B6862"/>
                </a:solidFill>
                <a:latin typeface="Calibri"/>
              </a:rPr>
              <a:t>Copy and paste the prompt. ChatGPT researches, writes, checks and fixes the article.</a:t>
            </a:r>
          </a:p>
        </p:txBody>
      </p:sp>
      <p:sp>
        <p:nvSpPr>
          <p:cNvPr id="14" name="Oval 13"/>
          <p:cNvSpPr/>
          <p:nvPr/>
        </p:nvSpPr>
        <p:spPr>
          <a:xfrm>
            <a:off x="548640" y="4727447"/>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69087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Read it  </a:t>
            </a:r>
            <a:r>
              <a:rPr sz="1550">
                <a:solidFill>
                  <a:srgbClr val="6B6862"/>
                </a:solidFill>
                <a:latin typeface="Calibri"/>
              </a:rPr>
              <a:t>Read the article and the list of fixes. Say what to change, if anything.</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92</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 ChatGPT: a quick blog</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Write a quick blog article for Horizon with the blog-post, sunny-voice, fact-check and fin-compliance skills.</a:t>
            </a:r>
          </a:p>
          <a:p>
            <a:pPr>
              <a:lnSpc>
                <a:spcPct val="110000"/>
              </a:lnSpc>
              <a:defRPr sz="1700" b="0">
                <a:solidFill>
                  <a:srgbClr val="21201C"/>
                </a:solidFill>
                <a:latin typeface="Calibri"/>
              </a:defRPr>
            </a:pPr>
            <a:r>
              <a:t>1. Pick one topic from strategy/storyboard.md (upload it) that a Singaporean would search for. Search the web for two current sources (CPF Board, MAS or MoneySense), each with its date.</a:t>
            </a:r>
          </a:p>
          <a:p>
            <a:pPr>
              <a:lnSpc>
                <a:spcPct val="110000"/>
              </a:lnSpc>
              <a:defRPr sz="1700" b="0">
                <a:solidFill>
                  <a:srgbClr val="21201C"/>
                </a:solidFill>
                <a:latin typeface="Calibri"/>
              </a:defRPr>
            </a:pPr>
            <a:r>
              <a:t>2. Write 500-700 words: a title under 60 characters, every figure from facts-2026.md, one call to action (book a free 30-minute chat) and the full disclaimer.</a:t>
            </a:r>
          </a:p>
          <a:p>
            <a:pPr>
              <a:lnSpc>
                <a:spcPct val="110000"/>
              </a:lnSpc>
              <a:defRPr sz="1700" b="0">
                <a:solidFill>
                  <a:srgbClr val="21201C"/>
                </a:solidFill>
                <a:latin typeface="Calibri"/>
              </a:defRPr>
            </a:pPr>
            <a:r>
              <a:t>3. Run fact-check and fin-compliance; fix every issue and list each fix in one line. Write for a business owner, in plain English. Save a Word copy (.docx) of the article.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One prompt can run the whole job — research, writing and checks. A person still reads the result before it goes anywhere.</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93</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Summarise the article in three sentences. Who is it for?</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Why did you pick this topic, and who will search for it?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did the checks find, and how did you fix it?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94</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Two sources, each with a date and a link.</a:t>
            </a:r>
          </a:p>
        </p:txBody>
      </p:sp>
      <p:sp>
        <p:nvSpPr>
          <p:cNvPr id="13" name="Oval 12"/>
          <p:cNvSpPr/>
          <p:nvPr/>
        </p:nvSpPr>
        <p:spPr>
          <a:xfrm>
            <a:off x="841248" y="337413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32841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title is under 60 characters.</a:t>
            </a:r>
          </a:p>
        </p:txBody>
      </p:sp>
      <p:sp>
        <p:nvSpPr>
          <p:cNvPr id="15" name="Oval 14"/>
          <p:cNvSpPr/>
          <p:nvPr/>
        </p:nvSpPr>
        <p:spPr>
          <a:xfrm>
            <a:off x="841248" y="394106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895344"/>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figure is from Horizon's 2026 facts.</a:t>
            </a:r>
          </a:p>
        </p:txBody>
      </p:sp>
      <p:sp>
        <p:nvSpPr>
          <p:cNvPr id="17" name="Oval 16"/>
          <p:cNvSpPr/>
          <p:nvPr/>
        </p:nvSpPr>
        <p:spPr>
          <a:xfrm>
            <a:off x="841248" y="450799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46227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fixes are listed; no Critical or High issue is left.</a:t>
            </a:r>
          </a:p>
        </p:txBody>
      </p:sp>
      <p:sp>
        <p:nvSpPr>
          <p:cNvPr id="19" name="Oval 18"/>
          <p:cNvSpPr/>
          <p:nvPr/>
        </p:nvSpPr>
        <p:spPr>
          <a:xfrm>
            <a:off x="841248" y="5074920"/>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502920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One call to action and the full disclaimer at the end.</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DAY 1 · RECAP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Day 1: The Team Is Ready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Everything the campaigns need tomorrow is in place.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95</a:t>
            </a:r>
          </a:p>
        </p:txBody>
      </p:sp>
      <p:sp>
        <p:nvSpPr>
          <p:cNvPr id="8" name="Pentagon 7"/>
          <p:cNvSpPr/>
          <p:nvPr/>
        </p:nvSpPr>
        <p:spPr>
          <a:xfrm>
            <a:off x="548640" y="2084831"/>
            <a:ext cx="192024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000" b="1">
                <a:solidFill>
                  <a:srgbClr val="FFFFFF"/>
                </a:solidFill>
                <a:latin typeface="Calibri"/>
              </a:defRPr>
            </a:pPr>
            <a:r>
              <a:t>01</a:t>
            </a:r>
          </a:p>
        </p:txBody>
      </p:sp>
      <p:sp>
        <p:nvSpPr>
          <p:cNvPr id="9" name="Rounded Rectangle 8"/>
          <p:cNvSpPr/>
          <p:nvPr/>
        </p:nvSpPr>
        <p:spPr>
          <a:xfrm>
            <a:off x="548640" y="2962656"/>
            <a:ext cx="177393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177393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517904"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Home</a:t>
            </a:r>
          </a:p>
        </p:txBody>
      </p:sp>
      <p:sp>
        <p:nvSpPr>
          <p:cNvPr id="12" name="TextBox 11"/>
          <p:cNvSpPr txBox="1"/>
          <p:nvPr/>
        </p:nvSpPr>
        <p:spPr>
          <a:xfrm>
            <a:off x="676656" y="3730752"/>
            <a:ext cx="1517904"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Shared rules and facts; Horizon's public website (Lab 1).</a:t>
            </a:r>
          </a:p>
        </p:txBody>
      </p:sp>
      <p:sp>
        <p:nvSpPr>
          <p:cNvPr id="13" name="Chevron 12"/>
          <p:cNvSpPr/>
          <p:nvPr/>
        </p:nvSpPr>
        <p:spPr>
          <a:xfrm>
            <a:off x="2377440" y="2084831"/>
            <a:ext cx="192024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02</a:t>
            </a:r>
          </a:p>
        </p:txBody>
      </p:sp>
      <p:sp>
        <p:nvSpPr>
          <p:cNvPr id="14" name="Rounded Rectangle 13"/>
          <p:cNvSpPr/>
          <p:nvPr/>
        </p:nvSpPr>
        <p:spPr>
          <a:xfrm>
            <a:off x="24688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468880" y="2962656"/>
            <a:ext cx="168249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968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Team</a:t>
            </a:r>
          </a:p>
        </p:txBody>
      </p:sp>
      <p:sp>
        <p:nvSpPr>
          <p:cNvPr id="17" name="TextBox 16"/>
          <p:cNvSpPr txBox="1"/>
          <p:nvPr/>
        </p:nvSpPr>
        <p:spPr>
          <a:xfrm>
            <a:off x="25968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Six agents: instructions, skills, connectors (Labs 2–4).</a:t>
            </a:r>
          </a:p>
        </p:txBody>
      </p:sp>
      <p:sp>
        <p:nvSpPr>
          <p:cNvPr id="18" name="Chevron 17"/>
          <p:cNvSpPr/>
          <p:nvPr/>
        </p:nvSpPr>
        <p:spPr>
          <a:xfrm>
            <a:off x="4206240" y="2084831"/>
            <a:ext cx="192024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03</a:t>
            </a:r>
          </a:p>
        </p:txBody>
      </p:sp>
      <p:sp>
        <p:nvSpPr>
          <p:cNvPr id="19" name="Rounded Rectangle 18"/>
          <p:cNvSpPr/>
          <p:nvPr/>
        </p:nvSpPr>
        <p:spPr>
          <a:xfrm>
            <a:off x="42976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297679" y="2962656"/>
            <a:ext cx="168249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256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 1</a:t>
            </a:r>
          </a:p>
        </p:txBody>
      </p:sp>
      <p:sp>
        <p:nvSpPr>
          <p:cNvPr id="22" name="TextBox 21"/>
          <p:cNvSpPr txBox="1"/>
          <p:nvPr/>
        </p:nvSpPr>
        <p:spPr>
          <a:xfrm>
            <a:off x="44256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Research, ideas and a storyboard (Lab 5).</a:t>
            </a:r>
          </a:p>
        </p:txBody>
      </p:sp>
      <p:sp>
        <p:nvSpPr>
          <p:cNvPr id="23" name="Chevron 22"/>
          <p:cNvSpPr/>
          <p:nvPr/>
        </p:nvSpPr>
        <p:spPr>
          <a:xfrm>
            <a:off x="6035040" y="2084831"/>
            <a:ext cx="192024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04</a:t>
            </a:r>
          </a:p>
        </p:txBody>
      </p:sp>
      <p:sp>
        <p:nvSpPr>
          <p:cNvPr id="24" name="Rounded Rectangle 23"/>
          <p:cNvSpPr/>
          <p:nvPr/>
        </p:nvSpPr>
        <p:spPr>
          <a:xfrm>
            <a:off x="61264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26479" y="2962656"/>
            <a:ext cx="168249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544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Audience</a:t>
            </a:r>
          </a:p>
        </p:txBody>
      </p:sp>
      <p:sp>
        <p:nvSpPr>
          <p:cNvPr id="27" name="TextBox 26"/>
          <p:cNvSpPr txBox="1"/>
          <p:nvPr/>
        </p:nvSpPr>
        <p:spPr>
          <a:xfrm>
            <a:off x="62544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Personas and requirements from evidence (Lab 6).</a:t>
            </a:r>
          </a:p>
        </p:txBody>
      </p:sp>
      <p:sp>
        <p:nvSpPr>
          <p:cNvPr id="28" name="Chevron 27"/>
          <p:cNvSpPr/>
          <p:nvPr/>
        </p:nvSpPr>
        <p:spPr>
          <a:xfrm>
            <a:off x="7863840" y="2084831"/>
            <a:ext cx="192024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05</a:t>
            </a:r>
          </a:p>
        </p:txBody>
      </p:sp>
      <p:sp>
        <p:nvSpPr>
          <p:cNvPr id="29" name="Rounded Rectangle 28"/>
          <p:cNvSpPr/>
          <p:nvPr/>
        </p:nvSpPr>
        <p:spPr>
          <a:xfrm>
            <a:off x="79552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2962656"/>
            <a:ext cx="168249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832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Plan</a:t>
            </a:r>
          </a:p>
        </p:txBody>
      </p:sp>
      <p:sp>
        <p:nvSpPr>
          <p:cNvPr id="32" name="TextBox 31"/>
          <p:cNvSpPr txBox="1"/>
          <p:nvPr/>
        </p:nvSpPr>
        <p:spPr>
          <a:xfrm>
            <a:off x="80832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Cadence and a four-week calendar (Lab 7).</a:t>
            </a:r>
          </a:p>
        </p:txBody>
      </p:sp>
      <p:sp>
        <p:nvSpPr>
          <p:cNvPr id="33" name="Chevron 32"/>
          <p:cNvSpPr/>
          <p:nvPr/>
        </p:nvSpPr>
        <p:spPr>
          <a:xfrm>
            <a:off x="9692640" y="2084831"/>
            <a:ext cx="1920240" cy="731520"/>
          </a:xfrm>
          <a:prstGeom prst="chevron">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06</a:t>
            </a:r>
          </a:p>
        </p:txBody>
      </p:sp>
      <p:sp>
        <p:nvSpPr>
          <p:cNvPr id="34" name="Rounded Rectangle 33"/>
          <p:cNvSpPr/>
          <p:nvPr/>
        </p:nvSpPr>
        <p:spPr>
          <a:xfrm>
            <a:off x="97840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784080" y="2962656"/>
            <a:ext cx="1682495" cy="54864"/>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120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Content</a:t>
            </a:r>
          </a:p>
        </p:txBody>
      </p:sp>
      <p:sp>
        <p:nvSpPr>
          <p:cNvPr id="37" name="TextBox 36"/>
          <p:cNvSpPr txBox="1"/>
          <p:nvPr/>
        </p:nvSpPr>
        <p:spPr>
          <a:xfrm>
            <a:off x="99120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The first blog article, checked (Lab 8).</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3</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Multi-Channel Content Creation and Agent Workflow Coordination</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Subagents and the Lead's review</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The lead magnet: a checklist people want, and its emails</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Human in the loop — enforced, not requested</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Campaigns 2–4: social week, newsletter + landing page, video</a:t>
            </a:r>
          </a:p>
        </p:txBody>
      </p:sp>
      <p:sp>
        <p:nvSpPr>
          <p:cNvPr id="13" name="Oval 12"/>
          <p:cNvSpPr/>
          <p:nvPr/>
        </p:nvSpPr>
        <p:spPr>
          <a:xfrm>
            <a:off x="603504" y="5678424"/>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5</a:t>
            </a:r>
          </a:p>
        </p:txBody>
      </p:sp>
      <p:sp>
        <p:nvSpPr>
          <p:cNvPr id="14" name="TextBox 13"/>
          <p:cNvSpPr txBox="1"/>
          <p:nvPr/>
        </p:nvSpPr>
        <p:spPr>
          <a:xfrm>
            <a:off x="1280160" y="5696712"/>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From approval to LinkedIn, Facebook, email and YouTube</a:t>
            </a:r>
          </a:p>
        </p:txBody>
      </p:sp>
      <p:sp>
        <p:nvSpPr>
          <p:cNvPr id="15" name="TextBox 1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6" name="TextBox 1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Multi AI Agents Workflow for Content Creation</a:t>
            </a:r>
          </a:p>
        </p:txBody>
      </p:sp>
      <p:sp>
        <p:nvSpPr>
          <p:cNvPr id="17" name="TextBox 1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96</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LEAD MAGNET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That Earns a Sign-up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9: the Money Check-up Checklist and the emails that follow it.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97</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Promise</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problem, one promise: know where you stand in 10 minutes.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Design</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ChatGPT: a printable page and a PDF.</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Opt-in</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required PDPA consent box; the newsletter opt-in separate.</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Welcome emails</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Day 0, day 3, day 7 — value first, then a free chat.</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Measure</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Downloads, then chats booked.</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Lab 11 builds the landing page that offers it.</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98</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09</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CHATGPT</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Day 2. Before the campaign weeks start, Rachel wants the thing that turns readers into leads: the Money Check-up Checklist, designed to be downloaded, and the emails that follow it.</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Money Check-up Checklist as a printable A4 PDF and three welcome emails —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ChatGPT (@Gmail drafts, your Horizon skills)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lead-magnet skill · a printable A4 checklist (PDF) · a three-email welcome sequence · drafts only</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CHATGPT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99</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New session  </a:t>
            </a:r>
            <a:r>
              <a:rPr sz="1550">
                <a:solidFill>
                  <a:srgbClr val="6B6862"/>
                </a:solidFill>
                <a:latin typeface="Calibri"/>
              </a:rPr>
              <a:t>Start a new chat in the Horizon Marketing project and name it "Lab 9". Run all of this lab's prompts in it.</a:t>
            </a:r>
          </a:p>
        </p:txBody>
      </p:sp>
      <p:sp>
        <p:nvSpPr>
          <p:cNvPr id="10" name="Oval 9"/>
          <p:cNvSpPr/>
          <p:nvPr/>
        </p:nvSpPr>
        <p:spPr>
          <a:xfrm>
            <a:off x="548640" y="2902305"/>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65729"/>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Bring the skills  </a:t>
            </a:r>
            <a:r>
              <a:rPr sz="1550">
                <a:solidFill>
                  <a:srgbClr val="6B6862"/>
                </a:solidFill>
                <a:latin typeface="Calibri"/>
              </a:rPr>
              <a:t>Use @skill-creator to add lead-magnet and newsletter to ChatGPT.</a:t>
            </a:r>
          </a:p>
        </p:txBody>
      </p:sp>
      <p:sp>
        <p:nvSpPr>
          <p:cNvPr id="12" name="Oval 11"/>
          <p:cNvSpPr/>
          <p:nvPr/>
        </p:nvSpPr>
        <p:spPr>
          <a:xfrm>
            <a:off x="548640" y="36832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46627"/>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Design it  </a:t>
            </a:r>
            <a:r>
              <a:rPr sz="1550">
                <a:solidFill>
                  <a:srgbClr val="6B6862"/>
                </a:solidFill>
                <a:latin typeface="Calibri"/>
              </a:rPr>
              <a:t>Copy and paste Prompt A. ChatGPT lays out the checklist and gives you a PDF; ask in the chat for any change.</a:t>
            </a:r>
          </a:p>
        </p:txBody>
      </p:sp>
      <p:sp>
        <p:nvSpPr>
          <p:cNvPr id="14" name="Oval 13"/>
          <p:cNvSpPr/>
          <p:nvPr/>
        </p:nvSpPr>
        <p:spPr>
          <a:xfrm>
            <a:off x="548640" y="44641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427524"/>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the welcome emails  </a:t>
            </a:r>
            <a:r>
              <a:rPr sz="1550">
                <a:solidFill>
                  <a:srgbClr val="6B6862"/>
                </a:solidFill>
                <a:latin typeface="Calibri"/>
              </a:rPr>
              <a:t>After the checklist looks right, copy and paste Prompt B. The three emails also appear as drafts in your Gmail.</a:t>
            </a:r>
          </a:p>
        </p:txBody>
      </p:sp>
      <p:sp>
        <p:nvSpPr>
          <p:cNvPr id="16" name="Oval 15"/>
          <p:cNvSpPr/>
          <p:nvPr/>
        </p:nvSpPr>
        <p:spPr>
          <a:xfrm>
            <a:off x="548640" y="524499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1078992" y="5208422"/>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Check it  </a:t>
            </a:r>
            <a:r>
              <a:rPr sz="1550">
                <a:solidFill>
                  <a:srgbClr val="6B6862"/>
                </a:solidFill>
                <a:latin typeface="Calibri"/>
              </a:rPr>
              <a:t>After the three emails are saved, copy and paste Prompt C.</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100</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ChatGPT: the checklist</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lead-magnet skill. Turn data/checklist-items.md into the "Money Check-up Checklist": a title with one promise, the ten items as tick boxes, one figure from data/facts-2026.md, the next step (book a free chat) and the full disclaimer. Lay it out as a printable A4 page in the colours and fonts in data/brand.md and give me a PDF to download. Write for a business owner, in plain English: no codes, IDs, file names or line numbers; start with what it means and what I do next. Save a Word copy (.docx) of each result.</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101</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ChatGPT: the welcome emails</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Write three welcome emails for people who download the checklist: day 0 (here it is), day 3 (the item most people miss — the retirement number), day 7 (book a free chat). Follow the newsletter and sunny-voice skills → content/email/welcome-sequence.md. Then, using @Gmail, create the three emails as DRAFTS in my Gmail, addressed to me. Send nothing. Write for a business owner, in plain English: no codes, IDs, file names or line numbers; start with what it means and what I do next. Save a Word copy (.docx) of each result.</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102</a:t>
            </a:r>
          </a:p>
        </p:txBody>
      </p:sp>
      <p:sp>
        <p:nvSpPr>
          <p:cNvPr id="7" name="Rounded Rectangle 6"/>
          <p:cNvSpPr/>
          <p:nvPr/>
        </p:nvSpPr>
        <p:spPr>
          <a:xfrm>
            <a:off x="548640" y="1783080"/>
            <a:ext cx="11064240" cy="1981911"/>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ChatGPT: check it</a:t>
            </a:r>
          </a:p>
        </p:txBody>
      </p:sp>
      <p:sp>
        <p:nvSpPr>
          <p:cNvPr id="9" name="TextBox 8"/>
          <p:cNvSpPr txBox="1"/>
          <p:nvPr/>
        </p:nvSpPr>
        <p:spPr>
          <a:xfrm>
            <a:off x="822960" y="2313432"/>
            <a:ext cx="10515600" cy="1232103"/>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Run fact-check and fin-compliance on the checklist text and the three emails. Show the issues in one table, with a fix for each. Once I agree, make the fixes in the files and in the Gmail drafts.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 lead magnet earns an email address. Give real value first; the call to action comes last.</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103</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Which checklist item do people most often miss, and why does it matter?</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Read the day 3 email as a 55-year-old. Is anything unclear?</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Explain each issue in one line: what is wrong, and the fix.</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104</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checklist uses Horizon's colours and all ten items.</a:t>
            </a:r>
          </a:p>
        </p:txBody>
      </p:sp>
      <p:sp>
        <p:nvSpPr>
          <p:cNvPr id="13" name="Oval 12"/>
          <p:cNvSpPr/>
          <p:nvPr/>
        </p:nvSpPr>
        <p:spPr>
          <a:xfrm>
            <a:off x="841248" y="337413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32841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makes one promise and ends with the full disclaimer.</a:t>
            </a:r>
          </a:p>
        </p:txBody>
      </p:sp>
      <p:sp>
        <p:nvSpPr>
          <p:cNvPr id="15" name="Oval 14"/>
          <p:cNvSpPr/>
          <p:nvPr/>
        </p:nvSpPr>
        <p:spPr>
          <a:xfrm>
            <a:off x="841248" y="394106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895344"/>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Three emails, each with a subject under 50 characters, are drafts in your Gmail — nothing was sent.</a:t>
            </a:r>
          </a:p>
        </p:txBody>
      </p:sp>
      <p:sp>
        <p:nvSpPr>
          <p:cNvPr id="17" name="Oval 16"/>
          <p:cNvSpPr/>
          <p:nvPr/>
        </p:nvSpPr>
        <p:spPr>
          <a:xfrm>
            <a:off x="841248" y="450799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46227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email has one call to action, unsubscribe and the disclaimer.</a:t>
            </a:r>
          </a:p>
        </p:txBody>
      </p:sp>
      <p:sp>
        <p:nvSpPr>
          <p:cNvPr id="19" name="Oval 18"/>
          <p:cNvSpPr/>
          <p:nvPr/>
        </p:nvSpPr>
        <p:spPr>
          <a:xfrm>
            <a:off x="841248" y="5074920"/>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502920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fin-compliance shows no Critical or High issue.</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COORDINATION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Subagents in Codex</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No files to wire: ask directly, and Codex runs one subagent per role.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105</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Ask directly</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"Use subagents — one per role, each following its card in agents/." Codex delegates when you ask.</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Watch the panel</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Subagents panel shows Active and Done. Click one to see its work and summary.</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They inherit your limits</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Subagents run with your sandbox and permissions — keep workspace-write.</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COORDINATION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Parallel, Then Review</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Subagents report back to the Lead; the Lead sends fixes back.</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106</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Plan</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Lead reads the brief and splits the work.</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Parallel</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Creator and Designer work at the same time.</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Combine</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Lead pairs each post with its image.</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Review</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fact-check and fin-compliance; fixes go back to the right subagent.</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Submit</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Passed pieces wait in approvals.csv for a person.</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Subagents talk to the Lead, not to each other. The Lead's review is what makes parallel work safe.</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HUMAN IN THE LOOP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Human in the Loop, Enforced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rule in a prompt persuades. The publisher kit builds a gate that holds.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107</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Only people approve</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approve.mjs refuses to run without an interactive terminal — an agent's tool call cannot approve.</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approved words go out</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approval stores a hash. Edit one word and publish --live refuses until a person approves again.</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 hook stops agents</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PreToolUse hook blocks agents from running approve.mjs or publishing unapproved items — in Codex, you trust it first.</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HOOKS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Hook That Holds the Gate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Ask Codex to add it to .codex/hooks.json, then trust it. Exit code 2 blocks the call.</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108</a:t>
            </a:r>
          </a:p>
        </p:txBody>
      </p:sp>
      <p:sp>
        <p:nvSpPr>
          <p:cNvPr id="8" name="Rounded Rectangle 7"/>
          <p:cNvSpPr/>
          <p:nvPr/>
        </p:nvSpPr>
        <p:spPr>
          <a:xfrm>
            <a:off x="548640" y="2084831"/>
            <a:ext cx="11064240" cy="2237262"/>
          </a:xfrm>
          <a:prstGeom prst="roundRect">
            <a:avLst>
              <a:gd name="adj" fmla="val 6000"/>
            </a:avLst>
          </a:prstGeom>
          <a:solidFill>
            <a:srgbClr val="21201C"/>
          </a:solidFill>
          <a:ln w="12700">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304287"/>
            <a:ext cx="105156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Ask Codex</a:t>
            </a:r>
          </a:p>
        </p:txBody>
      </p:sp>
      <p:sp>
        <p:nvSpPr>
          <p:cNvPr id="11" name="TextBox 10"/>
          <p:cNvSpPr txBox="1"/>
          <p:nvPr/>
        </p:nvSpPr>
        <p:spPr>
          <a:xfrm>
            <a:off x="822959" y="2724911"/>
            <a:ext cx="10515600" cy="1469166"/>
          </a:xfrm>
          <a:prstGeom prst="rect">
            <a:avLst/>
          </a:prstGeom>
          <a:noFill/>
        </p:spPr>
        <p:txBody>
          <a:bodyPr wrap="square" lIns="18288" rIns="18288" tIns="9144" bIns="9144">
            <a:spAutoFit/>
          </a:bodyPr>
          <a:lstStyle/>
          <a:p>
            <a:pPr>
              <a:lnSpc>
                <a:spcPct val="114000"/>
              </a:lnSpc>
              <a:defRPr sz="1300" b="0">
                <a:solidFill>
                  <a:srgbClr val="E8E5DE"/>
                </a:solidFill>
                <a:latin typeface="Courier New"/>
              </a:defRPr>
            </a:pPr>
            <a:r>
              <a:t>Add a PreToolUse hook in .codex/hooks.json that runs</a:t>
            </a:r>
          </a:p>
          <a:p>
            <a:pPr>
              <a:lnSpc>
                <a:spcPct val="114000"/>
              </a:lnSpc>
              <a:defRPr sz="1300" b="0">
                <a:solidFill>
                  <a:srgbClr val="E8E5DE"/>
                </a:solidFill>
                <a:latin typeface="Courier New"/>
              </a:defRPr>
            </a:pPr>
            <a:r>
              <a:t>  node scripts/gate-hook.mjs</a:t>
            </a:r>
          </a:p>
          <a:p>
            <a:pPr>
              <a:lnSpc>
                <a:spcPct val="114000"/>
              </a:lnSpc>
              <a:defRPr sz="1300" b="0">
                <a:solidFill>
                  <a:srgbClr val="E8E5DE"/>
                </a:solidFill>
                <a:latin typeface="Courier New"/>
              </a:defRPr>
            </a:pPr>
            <a:r>
              <a:t>before every shell command. It must block any</a:t>
            </a:r>
          </a:p>
          <a:p>
            <a:pPr>
              <a:lnSpc>
                <a:spcPct val="114000"/>
              </a:lnSpc>
              <a:defRPr sz="1300" b="0">
                <a:solidFill>
                  <a:srgbClr val="E8E5DE"/>
                </a:solidFill>
                <a:latin typeface="Courier New"/>
              </a:defRPr>
            </a:pPr>
            <a:r>
              <a:t>command that runs approve.mjs, and any</a:t>
            </a:r>
          </a:p>
          <a:p>
            <a:pPr>
              <a:lnSpc>
                <a:spcPct val="114000"/>
              </a:lnSpc>
              <a:defRPr sz="1300" b="0">
                <a:solidFill>
                  <a:srgbClr val="E8E5DE"/>
                </a:solidFill>
                <a:latin typeface="Courier New"/>
              </a:defRPr>
            </a:pPr>
            <a:r>
              <a:t>publish.mjs --live whose item is not approved and</a:t>
            </a:r>
          </a:p>
          <a:p>
            <a:pPr>
              <a:lnSpc>
                <a:spcPct val="114000"/>
              </a:lnSpc>
              <a:defRPr sz="1300" b="0">
                <a:solidFill>
                  <a:srgbClr val="E8E5DE"/>
                </a:solidFill>
                <a:latin typeface="Courier New"/>
              </a:defRPr>
            </a:pPr>
            <a:r>
              <a:t>unchanged. Show me the hook, then ask me to trust it.</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DISTRIBUTION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Publishing APIs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publish.mjs is a dry run by default. Tokens live only in .env.</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109</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49595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CHANNEL</a:t>
            </a:r>
          </a:p>
        </p:txBody>
      </p:sp>
      <p:sp>
        <p:nvSpPr>
          <p:cNvPr id="10" name="TextBox 9"/>
          <p:cNvSpPr txBox="1"/>
          <p:nvPr/>
        </p:nvSpPr>
        <p:spPr>
          <a:xfrm>
            <a:off x="2520086" y="2203703"/>
            <a:ext cx="481523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ENDPOINT</a:t>
            </a:r>
          </a:p>
        </p:txBody>
      </p:sp>
      <p:sp>
        <p:nvSpPr>
          <p:cNvPr id="11" name="TextBox 10"/>
          <p:cNvSpPr txBox="1"/>
          <p:nvPr/>
        </p:nvSpPr>
        <p:spPr>
          <a:xfrm>
            <a:off x="7609636" y="2203703"/>
            <a:ext cx="3930091"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PERMISSION</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LinkedIn</a:t>
            </a:r>
          </a:p>
        </p:txBody>
      </p:sp>
      <p:sp>
        <p:nvSpPr>
          <p:cNvPr id="14" name="TextBox 13"/>
          <p:cNvSpPr txBox="1"/>
          <p:nvPr/>
        </p:nvSpPr>
        <p:spPr>
          <a:xfrm>
            <a:off x="2520086" y="2560320"/>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POST api.linkedin.com/rest/posts  (LinkedIn-Version: YYYYMM)</a:t>
            </a:r>
          </a:p>
        </p:txBody>
      </p:sp>
      <p:sp>
        <p:nvSpPr>
          <p:cNvPr id="15" name="TextBox 14"/>
          <p:cNvSpPr txBox="1"/>
          <p:nvPr/>
        </p:nvSpPr>
        <p:spPr>
          <a:xfrm>
            <a:off x="7609636" y="2560320"/>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w_member_social — your own profile</a:t>
            </a:r>
          </a:p>
        </p:txBody>
      </p:sp>
      <p:sp>
        <p:nvSpPr>
          <p:cNvPr id="16" name="TextBox 15"/>
          <p:cNvSpPr txBox="1"/>
          <p:nvPr/>
        </p:nvSpPr>
        <p:spPr>
          <a:xfrm>
            <a:off x="749808" y="3273552"/>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Facebook</a:t>
            </a:r>
          </a:p>
        </p:txBody>
      </p:sp>
      <p:sp>
        <p:nvSpPr>
          <p:cNvPr id="17" name="TextBox 16"/>
          <p:cNvSpPr txBox="1"/>
          <p:nvPr/>
        </p:nvSpPr>
        <p:spPr>
          <a:xfrm>
            <a:off x="2520086" y="3273552"/>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POST graph.facebook.com/&lt;version&gt;/&lt;page-id&gt;/feed</a:t>
            </a:r>
          </a:p>
        </p:txBody>
      </p:sp>
      <p:sp>
        <p:nvSpPr>
          <p:cNvPr id="18" name="TextBox 17"/>
          <p:cNvSpPr txBox="1"/>
          <p:nvPr/>
        </p:nvSpPr>
        <p:spPr>
          <a:xfrm>
            <a:off x="7609636" y="3273552"/>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Page token: pages_manage_posts</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YouTube</a:t>
            </a:r>
          </a:p>
        </p:txBody>
      </p:sp>
      <p:sp>
        <p:nvSpPr>
          <p:cNvPr id="21" name="TextBox 20"/>
          <p:cNvSpPr txBox="1"/>
          <p:nvPr/>
        </p:nvSpPr>
        <p:spPr>
          <a:xfrm>
            <a:off x="2520086" y="3986784"/>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Resumable upload to youtube/v3/videos, privacy private</a:t>
            </a:r>
          </a:p>
        </p:txBody>
      </p:sp>
      <p:sp>
        <p:nvSpPr>
          <p:cNvPr id="22" name="TextBox 21"/>
          <p:cNvSpPr txBox="1"/>
          <p:nvPr/>
        </p:nvSpPr>
        <p:spPr>
          <a:xfrm>
            <a:off x="7609636" y="3986784"/>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youtube.upload; unaudited projects stay private</a:t>
            </a:r>
          </a:p>
        </p:txBody>
      </p:sp>
      <p:sp>
        <p:nvSpPr>
          <p:cNvPr id="23" name="TextBox 22"/>
          <p:cNvSpPr txBox="1"/>
          <p:nvPr/>
        </p:nvSpPr>
        <p:spPr>
          <a:xfrm>
            <a:off x="749808" y="4700016"/>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Newsletter</a:t>
            </a:r>
          </a:p>
        </p:txBody>
      </p:sp>
      <p:sp>
        <p:nvSpPr>
          <p:cNvPr id="24" name="TextBox 23"/>
          <p:cNvSpPr txBox="1"/>
          <p:nvPr/>
        </p:nvSpPr>
        <p:spPr>
          <a:xfrm>
            <a:off x="2520086" y="4700016"/>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API — HTML + text files, then Gmail drafts</a:t>
            </a:r>
          </a:p>
        </p:txBody>
      </p:sp>
      <p:sp>
        <p:nvSpPr>
          <p:cNvPr id="25" name="TextBox 24"/>
          <p:cNvSpPr txBox="1"/>
          <p:nvPr/>
        </p:nvSpPr>
        <p:spPr>
          <a:xfrm>
            <a:off x="7609636" y="4700016"/>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Consent = yes, unsubscribed = no</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No accounts? Every lab works in dry-run mode: you see the exact request that would be sent.</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CAMPAIGN 2</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A Social Media Week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10, a demo: one LinkedIn and one Facebook post, each with a visual.</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110</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Reads the brief and the calendar; assigns the posts.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Content Creator</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Two posts with hooks, UTM links, disclaimers.</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Creative Designer</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image per post, with alt text.</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 review</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fact-check and fin-compliance; fixes go back.</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You</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Approve in your own terminal; dry run, then go.</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111</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10</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CODEX</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Week 1 of the campaign starts Monday. As a demo, one LinkedIn post and one Facebook post, each with a visual — and Rachel's one rule: nothing goes out unless a person approved that exact version.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two posts with images, reviewed, approved by you and posted (or dry-run) —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Codex (subagents) → LinkedIn, Facebook</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the publisher kit · creator and designer subagents in parallel · the Lead's review · human approval → post</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CODEX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112</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In Codex start a new thread in horizon-studio and name it "Lab 10".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Install the kit  </a:t>
            </a:r>
            <a:r>
              <a:rPr sz="1300">
                <a:solidFill>
                  <a:srgbClr val="6B6862"/>
                </a:solidFill>
                <a:latin typeface="Calibri"/>
              </a:rPr>
              <a:t>Copy publisher-kit/scripts into scripts/. Then ask Codex to add a hook that blocks any command running approve.mjs, and trust it.</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Test the gate  </a:t>
            </a:r>
            <a:r>
              <a:rPr sz="1300">
                <a:solidFill>
                  <a:srgbClr val="6B6862"/>
                </a:solidFill>
                <a:latin typeface="Calibri"/>
              </a:rPr>
              <a:t>Ask Codex to approve anything. approve.mjs refuses without a person at a terminal.</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Run the team  </a:t>
            </a:r>
            <a:r>
              <a:rPr sz="1300">
                <a:solidFill>
                  <a:srgbClr val="6B6862"/>
                </a:solidFill>
                <a:latin typeface="Calibri"/>
              </a:rPr>
              <a:t>Copy and paste Prompt A. Watch the Subagents panel: Active, then Done.</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the review  </a:t>
            </a:r>
            <a:r>
              <a:rPr sz="1300">
                <a:solidFill>
                  <a:srgbClr val="6B6862"/>
                </a:solidFill>
                <a:latin typeface="Calibri"/>
              </a:rPr>
              <a:t>The Lead's fact-check and fin-compliance table — at least one fix.</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as a person  </a:t>
            </a:r>
            <a:r>
              <a:rPr sz="1300">
                <a:solidFill>
                  <a:srgbClr val="6B6862"/>
                </a:solidFill>
                <a:latin typeface="Calibri"/>
              </a:rPr>
              <a:t>In your own terminal: node scripts/approve.mjs &lt;id&gt; --by "Your Name".</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Publish  </a:t>
            </a:r>
            <a:r>
              <a:rPr sz="1300">
                <a:solidFill>
                  <a:srgbClr val="6B6862"/>
                </a:solidFill>
                <a:latin typeface="Calibri"/>
              </a:rPr>
              <a:t>After you have approved the posts, copy and paste Prompt B. Dry run first; --live only if your accounts are connected.</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113</a:t>
            </a:r>
          </a:p>
        </p:txBody>
      </p:sp>
      <p:sp>
        <p:nvSpPr>
          <p:cNvPr id="7" name="Rounded Rectangle 6"/>
          <p:cNvSpPr/>
          <p:nvPr/>
        </p:nvSpPr>
        <p:spPr>
          <a:xfrm>
            <a:off x="548640" y="1783080"/>
            <a:ext cx="11064240" cy="343060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Codex: the social team</a:t>
            </a:r>
          </a:p>
        </p:txBody>
      </p:sp>
      <p:sp>
        <p:nvSpPr>
          <p:cNvPr id="9" name="TextBox 8"/>
          <p:cNvSpPr txBox="1"/>
          <p:nvPr/>
        </p:nvSpPr>
        <p:spPr>
          <a:xfrm>
            <a:off x="822960" y="2313432"/>
            <a:ext cx="10515600" cy="2680792"/>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You are the Lead. Plan Week 1 social from data/social-brief.md and strategy/calendar.csv. Use subagents in parallel, each following its card:</a:t>
            </a:r>
          </a:p>
          <a:p>
            <a:pPr>
              <a:lnSpc>
                <a:spcPct val="110000"/>
              </a:lnSpc>
              <a:defRPr sz="1700" b="0">
                <a:solidFill>
                  <a:srgbClr val="21201C"/>
                </a:solidFill>
                <a:latin typeface="Calibri"/>
              </a:defRPr>
            </a:pPr>
            <a:r>
              <a:t>- content-creator: 1 LinkedIn + 1 Facebook post with linkedin-post, facebook-post and copywriting, one file each in content/social/week-01/, with the frontmatter in data/publishing-spec.md.</a:t>
            </a:r>
          </a:p>
          <a:p>
            <a:pPr>
              <a:lnSpc>
                <a:spcPct val="110000"/>
              </a:lnSpc>
              <a:defRPr sz="1700" b="0">
                <a:solidFill>
                  <a:srgbClr val="21201C"/>
                </a:solidFill>
                <a:latin typeface="Calibri"/>
              </a:defRPr>
            </a:pPr>
            <a:r>
              <a:t>- creative-designer: one image per post with $imagegen and alt text, from the brief. Then run fact-check and fin-compliance on every post and send each fix back to the right subagent. When a post passes, run node scripts/submit.mjs on it. Publish nothing. Write for a business owner, in plain English: no codes, IDs, file names or line numbers; start with what it means and what I do next. Save a Word copy (.docx) of each result.</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114</a:t>
            </a:r>
          </a:p>
        </p:txBody>
      </p:sp>
      <p:sp>
        <p:nvSpPr>
          <p:cNvPr id="7" name="Rounded Rectangle 6"/>
          <p:cNvSpPr/>
          <p:nvPr/>
        </p:nvSpPr>
        <p:spPr>
          <a:xfrm>
            <a:off x="548640" y="1783080"/>
            <a:ext cx="11064240" cy="1402435"/>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Codex: publish</a:t>
            </a:r>
          </a:p>
        </p:txBody>
      </p:sp>
      <p:sp>
        <p:nvSpPr>
          <p:cNvPr id="9" name="TextBox 8"/>
          <p:cNvSpPr txBox="1"/>
          <p:nvPr/>
        </p:nvSpPr>
        <p:spPr>
          <a:xfrm>
            <a:off x="822960" y="2313432"/>
            <a:ext cx="10515600" cy="652627"/>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For every Week 1 post approved in review/approvals.csv, run node scripts/publish.mjs &lt;id&gt; as a dry run and show me each request. Wait for me to say "go" before any --live run.</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Parallel subagents are fast; the Lead's review is what makes them safe.</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115</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Which post do you expect to do best,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did the Lead send back to the writer,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Is anything here not ready to post? Explain in plain English.</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116</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hook (or approve.mjs) stopped the agent from approving.</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Two subagents ran in parallel; both reached Done.</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Lead sent at least one fix back to a subagent.</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Two posts with images, alt text, frontmatter and UTM links.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approved in your own terminal; the rows show your name and a hash.</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Dry runs printed every request; nothing went live unless you said go.</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CAMPAIGN 3</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 Landing Page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11: three specialists, one email and one page, consent first.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117</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Content Creator</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issue and the landing-page copy.</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Website Designer</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checklist page, page-qa, then Sites.</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Growth Analyst</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Recipients by consent: 31 of 40.</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Checks everything; the build waits for you.</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Drafts</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Gmail drafts — one to you to test. Nothing sent.</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CONSENT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Consent Decides Who Gets Mail</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PDPA, applied by an agent that counts.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118</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Opt-in only</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consent = yes and unsubscribed = no. Everyone else goes to excluded.csv with a reason.</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Every email carries</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An unsubscribe link, Horizon's address and the short disclaimer.</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page collects little</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Name, email, a required consent box, a separate unticked newsletter opt-in.</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119</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11</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CODEX, THEN CHATGPT WORK</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Sunny Sunday email books chats most cheaply. November's issue promotes a new landing page for the free checklist — and must reach only the 31 people who opted in.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November newsletter, its recipient list, the landing page published, and Gmail drafts —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Codex (subagents) → @Sites → ChatGPT Work (@Gmail)</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creator writes, website designer builds the lead-magnet page, analyst filters by consent, the Lead checks · drafts only</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CODEX, THEN CHATGPT WORK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120</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In Codex start a new thread in horizon-studio and name it "Lab 11".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Start the campaign  </a:t>
            </a:r>
            <a:r>
              <a:rPr sz="1300">
                <a:solidFill>
                  <a:srgbClr val="6B6862"/>
                </a:solidFill>
                <a:latin typeface="Calibri"/>
              </a:rPr>
              <a:t>Copy and paste Prompt A.</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the words  </a:t>
            </a:r>
            <a:r>
              <a:rPr sz="1300">
                <a:solidFill>
                  <a:srgbClr val="6B6862"/>
                </a:solidFill>
                <a:latin typeface="Calibri"/>
              </a:rPr>
              <a:t>Read the email and the page copy; approve nl-2026-11 in your own terminal.</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Publish the page  </a:t>
            </a:r>
            <a:r>
              <a:rPr sz="1300">
                <a:solidFill>
                  <a:srgbClr val="6B6862"/>
                </a:solidFill>
                <a:latin typeface="Calibri"/>
              </a:rPr>
              <a:t>The website designer runs page-qa and publishes web/checklist/ as @Sites.</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list  </a:t>
            </a:r>
            <a:r>
              <a:rPr sz="1300">
                <a:solidFill>
                  <a:srgbClr val="6B6862"/>
                </a:solidFill>
                <a:latin typeface="Calibri"/>
              </a:rPr>
              <a:t>Only people with consent = yes and unsubscribed = no are on the recipient list.</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Create the drafts  </a:t>
            </a:r>
            <a:r>
              <a:rPr sz="1300">
                <a:solidFill>
                  <a:srgbClr val="6B6862"/>
                </a:solidFill>
                <a:latin typeface="Calibri"/>
              </a:rPr>
              <a:t>After the page is published and the list checked, copy and paste Prompt B.</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Send one test  </a:t>
            </a:r>
            <a:r>
              <a:rPr sz="1300">
                <a:solidFill>
                  <a:srgbClr val="6B6862"/>
                </a:solidFill>
                <a:latin typeface="Calibri"/>
              </a:rPr>
              <a:t>Send only the draft addressed to yourself, and read it on your phone.</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121</a:t>
            </a:r>
          </a:p>
        </p:txBody>
      </p:sp>
      <p:sp>
        <p:nvSpPr>
          <p:cNvPr id="7" name="Rounded Rectangle 6"/>
          <p:cNvSpPr/>
          <p:nvPr/>
        </p:nvSpPr>
        <p:spPr>
          <a:xfrm>
            <a:off x="548640" y="1783080"/>
            <a:ext cx="11064240" cy="3720337"/>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Codex: the newsletter team</a:t>
            </a:r>
          </a:p>
        </p:txBody>
      </p:sp>
      <p:sp>
        <p:nvSpPr>
          <p:cNvPr id="9" name="TextBox 8"/>
          <p:cNvSpPr txBox="1"/>
          <p:nvPr/>
        </p:nvSpPr>
        <p:spPr>
          <a:xfrm>
            <a:off x="822960" y="2313432"/>
            <a:ext cx="10515600" cy="2970530"/>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You are the Lead for the November Sunny Sunday email (data/newsletter-brief.md, data/newsletter-spec.md) and its landing page (data/landing-page-brief.md). Use subagents:</a:t>
            </a:r>
          </a:p>
          <a:p>
            <a:pPr>
              <a:lnSpc>
                <a:spcPct val="110000"/>
              </a:lnSpc>
              <a:defRPr sz="1700" b="0">
                <a:solidFill>
                  <a:srgbClr val="21201C"/>
                </a:solidFill>
                <a:latin typeface="Calibri"/>
              </a:defRPr>
            </a:pPr>
            <a:r>
              <a:t>- content-creator: issue.md (id nl-2026-11) with newsletter, and the landing-page copy.</a:t>
            </a:r>
          </a:p>
          <a:p>
            <a:pPr>
              <a:lnSpc>
                <a:spcPct val="110000"/>
              </a:lnSpc>
              <a:defRPr sz="1700" b="0">
                <a:solidFill>
                  <a:srgbClr val="21201C"/>
                </a:solidFill>
                <a:latin typeface="Calibri"/>
              </a:defRPr>
            </a:pPr>
            <a:r>
              <a:t>- website-designer: web/checklist/index.html with lead-magnet, web-design and landing-page; page-qa.</a:t>
            </a:r>
          </a:p>
          <a:p>
            <a:pPr>
              <a:lnSpc>
                <a:spcPct val="110000"/>
              </a:lnSpc>
              <a:defRPr sz="1700" b="0">
                <a:solidFill>
                  <a:srgbClr val="21201C"/>
                </a:solidFill>
                <a:latin typeface="Calibri"/>
              </a:defRPr>
            </a:pPr>
            <a:r>
              <a:t>- growth-analyst: recipients.csv and excluded.csv from data/subscribers.csv. Check everything, then submit nl-2026-11. After I approve, build newsletter.html and .txt, and deploy web/checklist with @Sites (Only those invited). Write for a business owner, in plain English: no codes, IDs, file names or line numbers; start with what it means and what I do next. Save a Word copy (.docx) of each result.</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122</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ChatGPT Work: Gmail drafts</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Using @Gmail, create a DRAFT of the newsletter in content/newsletter/2026-11/newsletter.html (upload it) for each address in recipients.csv, plus one draft to me only. Send nothing. Report how many drafts and how many people were excluded, and why.</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Consent decides who gets mail — not the agent and not the deadline. Marketing to people who did not opt in breaks the PDPA.</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123</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Explain the email in three sentences. What do we want readers to do?</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Who was left off the mailing list,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did the landing-page check look at, and did it pass?</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124</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Three specialists worked on the campaign; the Lead checked all.</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approved nl-2026-11 in your own terminal before the build.</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landing page passed page-qa and is published.</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recipient list holds 31 people; 9 are excluded, with reasons.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email has unsubscribe, address and disclaimer.</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Drafts only — nothing was sent to the list.</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CAMPAIGN 4</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12: the team writes and designs; you approve twice.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125</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Strategist and Creator</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angle, then 5–7 scenes with words on screen and a description with chapters and an AI disclosure.</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Creative Designer</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Storyboard, thumbnail, then the render with video-render — ffmpeg, 1920×1080, under 90 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Upload privately</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Approve the words, then the finished video. It uploads as private; a person makes it public.</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126</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12</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CODEX</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Pre-retirees say they would rather watch than read. Rachel wants the first 'Money in Plain English' video, uploaded privately until she has watched it.</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script, storyboard and thumbnail, the video, and a private YouTube upload (or dry run) —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Codex (subagents, $imagegen, render, upload)</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strategist angle · creator script · designer storyboard, thumbnail and render · approve twice · private upload</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CODEX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127</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In Codex start a new thread in horizon-studio and name it "Lab 12".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Script it as a team  </a:t>
            </a:r>
            <a:r>
              <a:rPr sz="1300">
                <a:solidFill>
                  <a:srgbClr val="6B6862"/>
                </a:solidFill>
                <a:latin typeface="Calibri"/>
              </a:rPr>
              <a:t>Copy and paste Prompt A.</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the script  </a:t>
            </a:r>
            <a:r>
              <a:rPr sz="1300">
                <a:solidFill>
                  <a:srgbClr val="6B6862"/>
                </a:solidFill>
                <a:latin typeface="Calibri"/>
              </a:rPr>
              <a:t>Read the scenes, title and description; approve yt-ep01-script in your own terminal.</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Render it  </a:t>
            </a:r>
            <a:r>
              <a:rPr sz="1300">
                <a:solidFill>
                  <a:srgbClr val="6B6862"/>
                </a:solidFill>
                <a:latin typeface="Calibri"/>
              </a:rPr>
              <a:t>After you approve the script, copy and paste Prompt B. The designer runs video-render.</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the video  </a:t>
            </a:r>
            <a:r>
              <a:rPr sz="1300">
                <a:solidFill>
                  <a:srgbClr val="6B6862"/>
                </a:solidFill>
                <a:latin typeface="Calibri"/>
              </a:rPr>
              <a:t>Ask the Lead to submit the video, watch ep01.mp4 to the end, then approve yt-ep01.</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Upload  </a:t>
            </a:r>
            <a:r>
              <a:rPr sz="1300">
                <a:solidFill>
                  <a:srgbClr val="6B6862"/>
                </a:solidFill>
                <a:latin typeface="Calibri"/>
              </a:rPr>
              <a:t>After you approve the video, copy and paste Prompt C. It goes up as private.</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Disclose  </a:t>
            </a:r>
            <a:r>
              <a:rPr sz="1300">
                <a:solidFill>
                  <a:srgbClr val="6B6862"/>
                </a:solidFill>
                <a:latin typeface="Calibri"/>
              </a:rPr>
              <a:t>In YouTube Studio, answer the altered or synthetic content question before making it public.</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128</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Codex: the video team</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You are the Lead for YouTube episode 1 (data/youtube-brief.md). Use subagents:</a:t>
            </a:r>
          </a:p>
          <a:p>
            <a:pPr>
              <a:lnSpc>
                <a:spcPct val="110000"/>
              </a:lnSpc>
              <a:defRPr sz="1700" b="0">
                <a:solidFill>
                  <a:srgbClr val="21201C"/>
                </a:solidFill>
                <a:latin typeface="Calibri"/>
              </a:defRPr>
            </a:pPr>
            <a:r>
              <a:t>growth-strategist (the angle and hook), content-creator (content/video/ep01/scenes.json, 5-7 scenes, and ep01.md with title, tags, description, chapters and the AI disclosure) and creative-designer (a thumbnail with $imagegen, using brand-visuals). Fact-check and fin-compliance the script, then submit it as yt-ep01-script. Publish nothing. Write for a business owner, in plain English: no codes, IDs, file names or line numbers; start with what it means and what I do next. Save a Word copy (.docx) of each result.</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129</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PROMPTS B and C — Codex: render and upload</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PROMPT B</a:t>
            </a:r>
          </a:p>
          <a:p>
            <a:pPr>
              <a:lnSpc>
                <a:spcPct val="110000"/>
              </a:lnSpc>
              <a:defRPr sz="1700" b="0">
                <a:solidFill>
                  <a:srgbClr val="21201C"/>
                </a:solidFill>
                <a:latin typeface="Calibri"/>
              </a:defRPr>
            </a:pPr>
            <a:r>
              <a:t>Use the creative-designer subagent with video-render on the approved scenes.json → content/video/ep01/ep01.mp4 (data/video-spec.md). Check it with ffprobe. Do not change approved words.</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PROMPT C</a:t>
            </a:r>
          </a:p>
          <a:p>
            <a:pPr>
              <a:lnSpc>
                <a:spcPct val="110000"/>
              </a:lnSpc>
              <a:defRPr sz="1700" b="0">
                <a:solidFill>
                  <a:srgbClr val="21201C"/>
                </a:solidFill>
                <a:latin typeface="Calibri"/>
              </a:defRPr>
            </a:pPr>
            <a:r>
              <a:t>Run node scripts/publish.mjs yt-ep01 as a dry run. If I say "go", run it with --live: it uploads as PRIVATE. Give me the YouTube Studio link.</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Approve twice: once for the words, once for the finished video. Rendering can break what the script got right.</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130</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Walk me through the video scene by scene, in plain English.</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figure on screen should I double-check, and against what?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does the AI disclosure say, and why do we need it?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131</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strategist, creator and designer each delivered their part.</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approved the script, then the finished video.</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ep01.mp4 is 1920x1080, under 90 seconds, every scene present.</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figure on screen matches Horizon's 2026 facts.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description has chapters, link, disclaimer and AI disclosure.</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upload is private (or the dry run printed the request).</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RECAP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Where You Are Now</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Three campaigns, every piece checked by the Lead and approved by a person. But the team stops when you close the laptop.</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132</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Gate  ·  Lab 10</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People approve, hashes hold, a hook stops agents.</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Campaigns  ·  Labs 10–12</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Social week, newsletter + landing page, the video.</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What is missing</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team that works every week on its own — and rules to govern it. That is Topic 4.</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4</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Content Distribution, Strategy Guidelines and Responsible AI Practices</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Campaign 5: always on, with a scheduled task</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Responsible AI for financial content</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Measure the patterns; write the team playbook</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Optional demo: a Dot Team Lead and workspace agents</a:t>
            </a:r>
          </a:p>
        </p:txBody>
      </p:sp>
      <p:sp>
        <p:nvSpPr>
          <p:cNvPr id="13" name="TextBox 12"/>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4" name="TextBox 13"/>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Multi AI Agents Workflow for Content Creation</a:t>
            </a:r>
          </a:p>
        </p:txBody>
      </p:sp>
      <p:sp>
        <p:nvSpPr>
          <p:cNvPr id="15" name="TextBox 14"/>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133</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ALWAYS 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From Skill to Schedule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13: do the job once, keep it as a skill, let a schedule run it.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134</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Do</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Growth Analyst writes the weekly report once, from Drive.</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Verify</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Fix the sections until the report is right.</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Skill</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campaign-report holds the procedure.</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Schedule</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scheduled task runs it every Monday at 8am.</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Review</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It leaves a Gmail draft — a person decides.</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Scheduled runs appear in Scheduled; Plus allows 5 active tasks.</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ALWAYS 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Automate the Preparation, Not the Decision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What a scheduled agent should and should not do for a regulated firm.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135</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Prepare</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Read the data, run the skill, draft the report, flag what needs a decision.</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Draft, never send</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Write "draft only — never send, publish or approve" in the skill AND the schedule.</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Keep a human gate</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schedule fills an inbox. A named person still decides.</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136</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13</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~35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CHATGPT WORK</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team must keep working after class. Rachel wants the Growth Analyst's report in her inbox every Monday — as a draft she decides on.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a scheduled task that drafts the weekly growth report every Monday at 8am, and one draft in Gmail</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ChatGPT Work (skill, scheduled task, @Drive, @Gmail)</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the Growth Analyst's campaign-report skill · do · verify · schedule · draft-only delivery</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CHATGPT WORK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137</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Start a new ChatGPT Work chat and name it "Lab 13".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Put the data on Drive  </a:t>
            </a:r>
            <a:r>
              <a:rPr sz="1300">
                <a:solidFill>
                  <a:srgbClr val="6B6862"/>
                </a:solidFill>
                <a:latin typeface="Calibri"/>
              </a:rPr>
              <a:t>Upload campaign-results.csv to the Horizon Studio folder.</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Bring the skill  </a:t>
            </a:r>
            <a:r>
              <a:rPr sz="1300">
                <a:solidFill>
                  <a:srgbClr val="6B6862"/>
                </a:solidFill>
                <a:latin typeface="Calibri"/>
              </a:rPr>
              <a:t>Use @skill-creator to add campaign-report to ChatGPT.</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Do it once  </a:t>
            </a:r>
            <a:r>
              <a:rPr sz="1300">
                <a:solidFill>
                  <a:srgbClr val="6B6862"/>
                </a:solidFill>
                <a:latin typeface="Calibri"/>
              </a:rPr>
              <a:t>Copy and paste Prompt A. Refine the report until it is right.</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Schedule it  </a:t>
            </a:r>
            <a:r>
              <a:rPr sz="1300">
                <a:solidFill>
                  <a:srgbClr val="6B6862"/>
                </a:solidFill>
                <a:latin typeface="Calibri"/>
              </a:rPr>
              <a:t>After the report is right, copy and paste Prompt B. Runs appear in Scheduled.</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Run it now  </a:t>
            </a:r>
            <a:r>
              <a:rPr sz="1300">
                <a:solidFill>
                  <a:srgbClr val="6B6862"/>
                </a:solidFill>
                <a:latin typeface="Calibri"/>
              </a:rPr>
              <a:t>Run the task once and open the Gmail draft.</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Pause it  </a:t>
            </a:r>
            <a:r>
              <a:rPr sz="1300">
                <a:solidFill>
                  <a:srgbClr val="6B6862"/>
                </a:solidFill>
                <a:latin typeface="Calibri"/>
              </a:rPr>
              <a:t>After class, pause the scheduled task.</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138</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PROMPTS A and B — ChatGPT Work</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PROMPT A</a:t>
            </a:r>
          </a:p>
          <a:p>
            <a:pPr>
              <a:lnSpc>
                <a:spcPct val="110000"/>
              </a:lnSpc>
              <a:defRPr sz="1700" b="0">
                <a:solidFill>
                  <a:srgbClr val="21201C"/>
                </a:solidFill>
                <a:latin typeface="Calibri"/>
              </a:defRPr>
            </a:pPr>
            <a:r>
              <a:t>Act as Horizon's Growth Analyst. Using @Google Drive, read campaign-results.csv in the Horizon Studio folder. Use the campaign-report skill and weekly-report-brief.md. Leave the report as a @Gmail DRAFT to me, subject "Horizon weekly growth report" and today's date. Send nothing.</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PROMPT B</a:t>
            </a:r>
          </a:p>
          <a:p>
            <a:pPr>
              <a:lnSpc>
                <a:spcPct val="110000"/>
              </a:lnSpc>
              <a:defRPr sz="1700" b="0">
                <a:solidFill>
                  <a:srgbClr val="21201C"/>
                </a:solidFill>
                <a:latin typeface="Calibri"/>
              </a:defRPr>
            </a:pPr>
            <a:r>
              <a:t>Do this every Monday at 8am, as a scheduled task. Draft only — never send, publish or approve anything.</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Automate the preparation, not the decision. The schedule fills an inbox; a person still decides.</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139</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What is the one decision this report asks me to make?</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channel gets us a chat most cheaply, and how sure are you?</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would you change in next month's budget, and why?</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140</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campaign-report skill is available in ChatGPT.</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report names the cheapest channel per chat (the newsletter).</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recommends a budget split with a reason per channel.</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 scheduled task runs Mondays at 8am with draft-only instructions.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 manual run left a draft — nothing was sent.</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task is paused after class.</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RESPONSIBLE AI</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Responsible AI in the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Each risk has a control you built in this course.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141</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38109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RISK</a:t>
            </a:r>
          </a:p>
        </p:txBody>
      </p:sp>
      <p:sp>
        <p:nvSpPr>
          <p:cNvPr id="10" name="TextBox 9"/>
          <p:cNvSpPr txBox="1"/>
          <p:nvPr/>
        </p:nvSpPr>
        <p:spPr>
          <a:xfrm>
            <a:off x="3405225" y="2203703"/>
            <a:ext cx="52578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CONTROL</a:t>
            </a:r>
          </a:p>
        </p:txBody>
      </p:sp>
      <p:sp>
        <p:nvSpPr>
          <p:cNvPr id="11" name="TextBox 10"/>
          <p:cNvSpPr txBox="1"/>
          <p:nvPr/>
        </p:nvSpPr>
        <p:spPr>
          <a:xfrm>
            <a:off x="8937345"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WHERE</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Wrong figure</a:t>
            </a:r>
          </a:p>
        </p:txBody>
      </p:sp>
      <p:sp>
        <p:nvSpPr>
          <p:cNvPr id="14" name="TextBox 13"/>
          <p:cNvSpPr txBox="1"/>
          <p:nvPr/>
        </p:nvSpPr>
        <p:spPr>
          <a:xfrm>
            <a:off x="3405225" y="2560320"/>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fact-check skill; the Lead's review; facts sheet</a:t>
            </a:r>
          </a:p>
        </p:txBody>
      </p:sp>
      <p:sp>
        <p:nvSpPr>
          <p:cNvPr id="15" name="TextBox 14"/>
          <p:cNvSpPr txBox="1"/>
          <p:nvPr/>
        </p:nvSpPr>
        <p:spPr>
          <a:xfrm>
            <a:off x="8937345" y="2560320"/>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3, 5, 10–12</a:t>
            </a:r>
          </a:p>
        </p:txBody>
      </p:sp>
      <p:sp>
        <p:nvSpPr>
          <p:cNvPr id="16" name="TextBox 15"/>
          <p:cNvSpPr txBox="1"/>
          <p:nvPr/>
        </p:nvSpPr>
        <p:spPr>
          <a:xfrm>
            <a:off x="749808" y="3084575"/>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Read as advice or a promise</a:t>
            </a:r>
          </a:p>
        </p:txBody>
      </p:sp>
      <p:sp>
        <p:nvSpPr>
          <p:cNvPr id="17" name="TextBox 16"/>
          <p:cNvSpPr txBox="1"/>
          <p:nvPr/>
        </p:nvSpPr>
        <p:spPr>
          <a:xfrm>
            <a:off x="3405225" y="3084575"/>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fin-compliance; disclaimers; no returns</a:t>
            </a:r>
          </a:p>
        </p:txBody>
      </p:sp>
      <p:sp>
        <p:nvSpPr>
          <p:cNvPr id="18" name="TextBox 17"/>
          <p:cNvSpPr txBox="1"/>
          <p:nvPr/>
        </p:nvSpPr>
        <p:spPr>
          <a:xfrm>
            <a:off x="8937345" y="3084575"/>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3, 10–12</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An agent with too much access</a:t>
            </a:r>
          </a:p>
        </p:txBody>
      </p:sp>
      <p:sp>
        <p:nvSpPr>
          <p:cNvPr id="21" name="TextBox 20"/>
          <p:cNvSpPr txBox="1"/>
          <p:nvPr/>
        </p:nvSpPr>
        <p:spPr>
          <a:xfrm>
            <a:off x="3405225" y="3608831"/>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Least-privilege connectors per agent</a:t>
            </a:r>
          </a:p>
        </p:txBody>
      </p:sp>
      <p:sp>
        <p:nvSpPr>
          <p:cNvPr id="22" name="TextBox 21"/>
          <p:cNvSpPr txBox="1"/>
          <p:nvPr/>
        </p:nvSpPr>
        <p:spPr>
          <a:xfrm>
            <a:off x="8937345" y="3608831"/>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4</a:t>
            </a:r>
          </a:p>
        </p:txBody>
      </p:sp>
      <p:sp>
        <p:nvSpPr>
          <p:cNvPr id="23" name="TextBox 22"/>
          <p:cNvSpPr txBox="1"/>
          <p:nvPr/>
        </p:nvSpPr>
        <p:spPr>
          <a:xfrm>
            <a:off x="749808" y="4133087"/>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Unapproved post</a:t>
            </a:r>
          </a:p>
        </p:txBody>
      </p:sp>
      <p:sp>
        <p:nvSpPr>
          <p:cNvPr id="24" name="TextBox 23"/>
          <p:cNvSpPr txBox="1"/>
          <p:nvPr/>
        </p:nvSpPr>
        <p:spPr>
          <a:xfrm>
            <a:off x="3405225" y="4133087"/>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approve.mjs (people only), hash, hook</a:t>
            </a:r>
          </a:p>
        </p:txBody>
      </p:sp>
      <p:sp>
        <p:nvSpPr>
          <p:cNvPr id="25" name="TextBox 24"/>
          <p:cNvSpPr txBox="1"/>
          <p:nvPr/>
        </p:nvSpPr>
        <p:spPr>
          <a:xfrm>
            <a:off x="8937345" y="4133087"/>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10</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Marketing without consent</a:t>
            </a:r>
          </a:p>
        </p:txBody>
      </p:sp>
      <p:sp>
        <p:nvSpPr>
          <p:cNvPr id="28" name="TextBox 27"/>
          <p:cNvSpPr txBox="1"/>
          <p:nvPr/>
        </p:nvSpPr>
        <p:spPr>
          <a:xfrm>
            <a:off x="3405225" y="4657344"/>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Analyst filters by consent</a:t>
            </a:r>
          </a:p>
        </p:txBody>
      </p:sp>
      <p:sp>
        <p:nvSpPr>
          <p:cNvPr id="29" name="TextBox 28"/>
          <p:cNvSpPr txBox="1"/>
          <p:nvPr/>
        </p:nvSpPr>
        <p:spPr>
          <a:xfrm>
            <a:off x="8937345" y="4657344"/>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11</a:t>
            </a:r>
          </a:p>
        </p:txBody>
      </p:sp>
      <p:sp>
        <p:nvSpPr>
          <p:cNvPr id="30" name="TextBox 29"/>
          <p:cNvSpPr txBox="1"/>
          <p:nvPr/>
        </p:nvSpPr>
        <p:spPr>
          <a:xfrm>
            <a:off x="749808" y="5181599"/>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Undisclosed AI media</a:t>
            </a:r>
          </a:p>
        </p:txBody>
      </p:sp>
      <p:sp>
        <p:nvSpPr>
          <p:cNvPr id="31" name="TextBox 30"/>
          <p:cNvSpPr txBox="1"/>
          <p:nvPr/>
        </p:nvSpPr>
        <p:spPr>
          <a:xfrm>
            <a:off x="3405225" y="5181599"/>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Description line + YouTube disclosure</a:t>
            </a:r>
          </a:p>
        </p:txBody>
      </p:sp>
      <p:sp>
        <p:nvSpPr>
          <p:cNvPr id="32" name="TextBox 31"/>
          <p:cNvSpPr txBox="1"/>
          <p:nvPr/>
        </p:nvSpPr>
        <p:spPr>
          <a:xfrm>
            <a:off x="8937345" y="5181599"/>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12</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Keep keys in .env, client data out of prompts, and the approval records for audit.</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MEASURE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What Matters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14: the numbers decide next month — and which patterns earn their tokens.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142</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Cost per chat</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Spend ÷ chats booked shows which channel works: email first, YouTube last.</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Defects before a person</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Lead that catches mistakes saves the reviewer's time; one agent alone caught none.</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playbook</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Roster, instructions, skills, connectors, approval matrix, incidents — so the team runs without you.</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143</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14</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CODEX</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Eight weeks in. Rachel asks which ways of running agents earned their tokens, and how the team runs safely after you leave.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agent-pattern comparison and the team playbook —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Codex (subagents)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compare agent patterns · the roster: instructions, skills, connectors · approval matrix · responsible-AI controls</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CODEX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144</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New session  </a:t>
            </a:r>
            <a:r>
              <a:rPr sz="1550">
                <a:solidFill>
                  <a:srgbClr val="6B6862"/>
                </a:solidFill>
                <a:latin typeface="Calibri"/>
              </a:rPr>
              <a:t>In Codex start a new thread in horizon-studio and name it "Lab 14". Run all of this lab's prompts in it.</a:t>
            </a:r>
          </a:p>
        </p:txBody>
      </p:sp>
      <p:sp>
        <p:nvSpPr>
          <p:cNvPr id="10" name="Oval 9"/>
          <p:cNvSpPr/>
          <p:nvPr/>
        </p:nvSpPr>
        <p:spPr>
          <a:xfrm>
            <a:off x="548640" y="2902305"/>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65729"/>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Check the data  </a:t>
            </a:r>
            <a:r>
              <a:rPr sz="1550">
                <a:solidFill>
                  <a:srgbClr val="6B6862"/>
                </a:solidFill>
                <a:latin typeface="Calibri"/>
              </a:rPr>
              <a:t>The assets are already in data/. Open one and skim it.</a:t>
            </a:r>
          </a:p>
        </p:txBody>
      </p:sp>
      <p:sp>
        <p:nvSpPr>
          <p:cNvPr id="12" name="Oval 11"/>
          <p:cNvSpPr/>
          <p:nvPr/>
        </p:nvSpPr>
        <p:spPr>
          <a:xfrm>
            <a:off x="548640" y="36832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46627"/>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Compare the patterns  </a:t>
            </a:r>
            <a:r>
              <a:rPr sz="1550">
                <a:solidFill>
                  <a:srgbClr val="6B6862"/>
                </a:solidFill>
                <a:latin typeface="Calibri"/>
              </a:rPr>
              <a:t>Copy and paste Prompt A.</a:t>
            </a:r>
          </a:p>
        </p:txBody>
      </p:sp>
      <p:sp>
        <p:nvSpPr>
          <p:cNvPr id="14" name="Oval 13"/>
          <p:cNvSpPr/>
          <p:nvPr/>
        </p:nvSpPr>
        <p:spPr>
          <a:xfrm>
            <a:off x="548640" y="44641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427524"/>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the playbook  </a:t>
            </a:r>
            <a:r>
              <a:rPr sz="1550">
                <a:solidFill>
                  <a:srgbClr val="6B6862"/>
                </a:solidFill>
                <a:latin typeface="Calibri"/>
              </a:rPr>
              <a:t>After the Lead shows the comparison, copy and paste Prompt B.</a:t>
            </a:r>
          </a:p>
        </p:txBody>
      </p:sp>
      <p:sp>
        <p:nvSpPr>
          <p:cNvPr id="16" name="Oval 15"/>
          <p:cNvSpPr/>
          <p:nvPr/>
        </p:nvSpPr>
        <p:spPr>
          <a:xfrm>
            <a:off x="548640" y="524499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1078992" y="5208422"/>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Review it as Rachel  </a:t>
            </a:r>
            <a:r>
              <a:rPr sz="1550">
                <a:solidFill>
                  <a:srgbClr val="6B6862"/>
                </a:solidFill>
                <a:latin typeface="Calibri"/>
              </a:rPr>
              <a:t>Add one rule of your own and say why.</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145</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Codex: compare</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growth-analyst subagent. From data/run-log.csv compare the patterns we used — one agent, subagents, parallel subagents with a Lead review and the scheduled task — on minutes, tokens, defects caught before a person and human edits. Which pattern pays off for which job? Save reports/agent-comparison.md. Write for a business owner, in plain English: no codes, IDs, file names or line numbers; start with what it means and what I do next. Save a Word copy (.docx) of each result.</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146</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Codex: the playbook</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Write strategy/team-playbook.md with data/playbook-outline.md. Include the roster: for each agent its instructions file in agents/, its skills, connectors, model and what it may never do; the approval matrix by risk; the rules in data/responsible-ai-checklist.md; and what to do when a wrong post goes out. Then run fin-compliance on it.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Teams cost more tokens. The run log shows what you buy with them: defects caught before a person, and fewer edits.</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147</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In one line each: when should we use one agent, subagents and a Lead review?</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Who must approve a post that has a CPF figure in it?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A wrong post went out. What are the first three things we do?</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148</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comparison shows the one-agent baseline caught 0 defects.</a:t>
            </a:r>
          </a:p>
        </p:txBody>
      </p:sp>
      <p:sp>
        <p:nvSpPr>
          <p:cNvPr id="13" name="Oval 12"/>
          <p:cNvSpPr/>
          <p:nvPr/>
        </p:nvSpPr>
        <p:spPr>
          <a:xfrm>
            <a:off x="841248" y="337413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32841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says which pattern suits which job, with numbers.</a:t>
            </a:r>
          </a:p>
        </p:txBody>
      </p:sp>
      <p:sp>
        <p:nvSpPr>
          <p:cNvPr id="15" name="Oval 14"/>
          <p:cNvSpPr/>
          <p:nvPr/>
        </p:nvSpPr>
        <p:spPr>
          <a:xfrm>
            <a:off x="841248" y="394106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895344"/>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roster lists all six agents with skills and connectors.</a:t>
            </a:r>
          </a:p>
        </p:txBody>
      </p:sp>
      <p:sp>
        <p:nvSpPr>
          <p:cNvPr id="17" name="Oval 16"/>
          <p:cNvSpPr/>
          <p:nvPr/>
        </p:nvSpPr>
        <p:spPr>
          <a:xfrm>
            <a:off x="841248" y="450799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46227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approval matrix says who approves CPF and tax figures.</a:t>
            </a:r>
          </a:p>
        </p:txBody>
      </p:sp>
      <p:sp>
        <p:nvSpPr>
          <p:cNvPr id="19" name="Oval 18"/>
          <p:cNvSpPr/>
          <p:nvPr/>
        </p:nvSpPr>
        <p:spPr>
          <a:xfrm>
            <a:off x="841248" y="5074920"/>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502920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has an incident procedure, and your own rule.</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OPTIONAL DEMO · DOTS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Dots: Always-On Agent Coworkers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Announced at OpenAI DevDay, 29 September 2026. A demo, not assessed.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149</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What a Dot is</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persistent agent with its own cloud computer and browser that keeps working after you close the chat.</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Kept in check</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Background research is read-only. Custom Rules permit, require approval for, or prohibit actions. Activity View shows its work.</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Who has it</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first Dot is included on Pro and Business Premium; Enterprise and Edu can try the beta.</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OPTIONAL DEMO · WORKSPACE AGENTS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Workspace 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Shared agents for Business, Enterprise and Edu workspaces.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150</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Agents</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Click Agents in the sidebar.</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Describe</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Describe the workflow — e.g. the weekly growth report.</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Apps</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Add the approved apps it may use.</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Trigger</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Choose when it runs — e.g. weekly.</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Share</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whole team uses the same agent.</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Same rule: draft, a person approves, then publish.</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Optional Demo: a Dot Team Lead and Workspace Agents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151</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15</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~20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CHATGPT</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Optional. Rachel asks whether the Lead could work around the clock. The trainer shows a Dot as an always-on Team Lead and a workspace agent on a weekly trigger.</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a demo Dot with Custom Rules that block sending, and one workspace agent (Growth Analyst) on a weekly trigger</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ChatGPT Dots and workspace agents — trainer demo</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a Dot as an always-on Team Lead · Custom Rules · Activity View · workspace agents with apps and triggers</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Optional Demo: a Dot Team Lead and Workspace 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CHATGPT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152</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Check the plan  </a:t>
            </a:r>
            <a:r>
              <a:rPr sz="1550">
                <a:solidFill>
                  <a:srgbClr val="6B6862"/>
                </a:solidFill>
                <a:latin typeface="Calibri"/>
              </a:rPr>
              <a:t>Dots: the first one is included on Pro and Business Premium. Workspace agents: Business, Enterprise, Edu.</a:t>
            </a:r>
          </a:p>
        </p:txBody>
      </p:sp>
      <p:sp>
        <p:nvSpPr>
          <p:cNvPr id="10" name="Oval 9"/>
          <p:cNvSpPr/>
          <p:nvPr/>
        </p:nvSpPr>
        <p:spPr>
          <a:xfrm>
            <a:off x="548640" y="2902305"/>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65729"/>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Make the Dot  </a:t>
            </a:r>
            <a:r>
              <a:rPr sz="1550">
                <a:solidFill>
                  <a:srgbClr val="6B6862"/>
                </a:solidFill>
                <a:latin typeface="Calibri"/>
              </a:rPr>
              <a:t>Give it the Team Lead's instructions and only the apps it needs.</a:t>
            </a:r>
          </a:p>
        </p:txBody>
      </p:sp>
      <p:sp>
        <p:nvSpPr>
          <p:cNvPr id="12" name="Oval 11"/>
          <p:cNvSpPr/>
          <p:nvPr/>
        </p:nvSpPr>
        <p:spPr>
          <a:xfrm>
            <a:off x="548640" y="36832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46627"/>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Set Custom Rules  </a:t>
            </a:r>
            <a:r>
              <a:rPr sz="1550">
                <a:solidFill>
                  <a:srgbClr val="6B6862"/>
                </a:solidFill>
                <a:latin typeface="Calibri"/>
              </a:rPr>
              <a:t>Block sending, deleting and posting; require approval for anything account-affecting.</a:t>
            </a:r>
          </a:p>
        </p:txBody>
      </p:sp>
      <p:sp>
        <p:nvSpPr>
          <p:cNvPr id="14" name="Oval 13"/>
          <p:cNvSpPr/>
          <p:nvPr/>
        </p:nvSpPr>
        <p:spPr>
          <a:xfrm>
            <a:off x="548640" y="44641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427524"/>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Give it one job  </a:t>
            </a:r>
            <a:r>
              <a:rPr sz="1550">
                <a:solidFill>
                  <a:srgbClr val="6B6862"/>
                </a:solidFill>
                <a:latin typeface="Calibri"/>
              </a:rPr>
              <a:t>Copy and paste the prompt. Watch the work in Activity View.</a:t>
            </a:r>
          </a:p>
        </p:txBody>
      </p:sp>
      <p:sp>
        <p:nvSpPr>
          <p:cNvPr id="16" name="Oval 15"/>
          <p:cNvSpPr/>
          <p:nvPr/>
        </p:nvSpPr>
        <p:spPr>
          <a:xfrm>
            <a:off x="548640" y="524499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1078992" y="5208422"/>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Build a workspace agent  </a:t>
            </a:r>
            <a:r>
              <a:rPr sz="1550">
                <a:solidFill>
                  <a:srgbClr val="6B6862"/>
                </a:solidFill>
                <a:latin typeface="Calibri"/>
              </a:rPr>
              <a:t>Agents in the sidebar → describe the Growth Analyst's weekly report → add apps → choose a trigger.</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Optional Demo: a Dot Team Lead and Workspace Agents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153</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 the Dot</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You are Horizon Wealth Planning's Marketing Team Lead. Every Monday, summarise the week's calendar from the Horizon Studio Drive folder, list anything due for review, and draft — never send — a short brief to me. Ask before any action outside reading and drafting.</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Optional, not assessed. Always-on agents make the human gate more important, not less.</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Optional Demo: a Dot Team Lead and Workspace 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154</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Dot has the Lead's instructions and only the apps it needs.</a:t>
            </a:r>
          </a:p>
        </p:txBody>
      </p:sp>
      <p:sp>
        <p:nvSpPr>
          <p:cNvPr id="13" name="Oval 12"/>
          <p:cNvSpPr/>
          <p:nvPr/>
        </p:nvSpPr>
        <p:spPr>
          <a:xfrm>
            <a:off x="841248" y="337413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32841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Custom Rules block sending and posting.</a:t>
            </a:r>
          </a:p>
        </p:txBody>
      </p:sp>
      <p:sp>
        <p:nvSpPr>
          <p:cNvPr id="15" name="Oval 14"/>
          <p:cNvSpPr/>
          <p:nvPr/>
        </p:nvSpPr>
        <p:spPr>
          <a:xfrm>
            <a:off x="841248" y="394106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895344"/>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Activity View shows what it did.</a:t>
            </a:r>
          </a:p>
        </p:txBody>
      </p:sp>
      <p:sp>
        <p:nvSpPr>
          <p:cNvPr id="17" name="Oval 16"/>
          <p:cNvSpPr/>
          <p:nvPr/>
        </p:nvSpPr>
        <p:spPr>
          <a:xfrm>
            <a:off x="841248" y="450799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46227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workspace agent has apps and a weekly trigger.</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SUMMARY · KEY CONCEPTS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How Each Pattern Is Triggered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Five ways your team runs. The difference is what sets each one off.</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155</a:t>
            </a:r>
          </a:p>
        </p:txBody>
      </p:sp>
      <p:sp>
        <p:nvSpPr>
          <p:cNvPr id="8" name="Rounded Rectangle 7"/>
          <p:cNvSpPr/>
          <p:nvPr/>
        </p:nvSpPr>
        <p:spPr>
          <a:xfrm>
            <a:off x="548640"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2095804" cy="68580"/>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13232" y="2322576"/>
            <a:ext cx="1766620" cy="310896"/>
          </a:xfrm>
          <a:prstGeom prst="roundRect">
            <a:avLst>
              <a:gd name="adj" fmla="val 50000"/>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BY DELEGATION</a:t>
            </a:r>
          </a:p>
        </p:txBody>
      </p:sp>
      <p:sp>
        <p:nvSpPr>
          <p:cNvPr id="11" name="TextBox 10"/>
          <p:cNvSpPr txBox="1"/>
          <p:nvPr/>
        </p:nvSpPr>
        <p:spPr>
          <a:xfrm>
            <a:off x="713232"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Subagents</a:t>
            </a:r>
          </a:p>
        </p:txBody>
      </p:sp>
      <p:sp>
        <p:nvSpPr>
          <p:cNvPr id="12" name="TextBox 11"/>
          <p:cNvSpPr txBox="1"/>
          <p:nvPr/>
        </p:nvSpPr>
        <p:spPr>
          <a:xfrm>
            <a:off x="713232"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The Lead starts them when you ask — or when a task matches an agent's description.</a:t>
            </a:r>
          </a:p>
        </p:txBody>
      </p:sp>
      <p:sp>
        <p:nvSpPr>
          <p:cNvPr id="13" name="TextBox 12"/>
          <p:cNvSpPr txBox="1"/>
          <p:nvPr/>
        </p:nvSpPr>
        <p:spPr>
          <a:xfrm>
            <a:off x="713232"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14" name="TextBox 13"/>
          <p:cNvSpPr txBox="1"/>
          <p:nvPr/>
        </p:nvSpPr>
        <p:spPr>
          <a:xfrm>
            <a:off x="713232"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"use subagents,</a:t>
            </a:r>
          </a:p>
          <a:p>
            <a:pPr>
              <a:lnSpc>
                <a:spcPct val="100000"/>
              </a:lnSpc>
              <a:defRPr sz="1050" b="0">
                <a:solidFill>
                  <a:srgbClr val="21201C"/>
                </a:solidFill>
                <a:latin typeface="Courier New"/>
              </a:defRPr>
            </a:pPr>
            <a:r>
              <a:t>one per role"</a:t>
            </a:r>
          </a:p>
        </p:txBody>
      </p:sp>
      <p:sp>
        <p:nvSpPr>
          <p:cNvPr id="15" name="Rectangle 14"/>
          <p:cNvSpPr/>
          <p:nvPr/>
        </p:nvSpPr>
        <p:spPr>
          <a:xfrm>
            <a:off x="713232"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3232"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agents/ role cards</a:t>
            </a:r>
          </a:p>
        </p:txBody>
      </p:sp>
      <p:sp>
        <p:nvSpPr>
          <p:cNvPr id="17" name="Rounded Rectangle 16"/>
          <p:cNvSpPr/>
          <p:nvPr/>
        </p:nvSpPr>
        <p:spPr>
          <a:xfrm>
            <a:off x="2790748"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790748" y="2084831"/>
            <a:ext cx="2095804"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2955340" y="2322576"/>
            <a:ext cx="1766620" cy="310896"/>
          </a:xfrm>
          <a:prstGeom prst="roundRect">
            <a:avLst>
              <a:gd name="adj" fmla="val 5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AFTER THE WORK</a:t>
            </a:r>
          </a:p>
        </p:txBody>
      </p:sp>
      <p:sp>
        <p:nvSpPr>
          <p:cNvPr id="20" name="TextBox 19"/>
          <p:cNvSpPr txBox="1"/>
          <p:nvPr/>
        </p:nvSpPr>
        <p:spPr>
          <a:xfrm>
            <a:off x="2955340"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Lead review</a:t>
            </a:r>
          </a:p>
        </p:txBody>
      </p:sp>
      <p:sp>
        <p:nvSpPr>
          <p:cNvPr id="21" name="TextBox 20"/>
          <p:cNvSpPr txBox="1"/>
          <p:nvPr/>
        </p:nvSpPr>
        <p:spPr>
          <a:xfrm>
            <a:off x="2955340"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The Lead combines subagent results and sends fixes back before a person sees anything.</a:t>
            </a:r>
          </a:p>
        </p:txBody>
      </p:sp>
      <p:sp>
        <p:nvSpPr>
          <p:cNvPr id="22" name="TextBox 21"/>
          <p:cNvSpPr txBox="1"/>
          <p:nvPr/>
        </p:nvSpPr>
        <p:spPr>
          <a:xfrm>
            <a:off x="2955340"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23" name="TextBox 22"/>
          <p:cNvSpPr txBox="1"/>
          <p:nvPr/>
        </p:nvSpPr>
        <p:spPr>
          <a:xfrm>
            <a:off x="2955340"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fact-check</a:t>
            </a:r>
          </a:p>
          <a:p>
            <a:pPr>
              <a:lnSpc>
                <a:spcPct val="100000"/>
              </a:lnSpc>
              <a:defRPr sz="1050" b="0">
                <a:solidFill>
                  <a:srgbClr val="21201C"/>
                </a:solidFill>
                <a:latin typeface="Courier New"/>
              </a:defRPr>
            </a:pPr>
            <a:r>
              <a:t>fin-compliance</a:t>
            </a:r>
          </a:p>
        </p:txBody>
      </p:sp>
      <p:sp>
        <p:nvSpPr>
          <p:cNvPr id="24" name="Rectangle 23"/>
          <p:cNvSpPr/>
          <p:nvPr/>
        </p:nvSpPr>
        <p:spPr>
          <a:xfrm>
            <a:off x="2955340"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55340"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AGENTS.md rule</a:t>
            </a:r>
          </a:p>
        </p:txBody>
      </p:sp>
      <p:sp>
        <p:nvSpPr>
          <p:cNvPr id="26" name="Rounded Rectangle 25"/>
          <p:cNvSpPr/>
          <p:nvPr/>
        </p:nvSpPr>
        <p:spPr>
          <a:xfrm>
            <a:off x="5032857"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032857" y="2084831"/>
            <a:ext cx="2095804"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197449" y="2322576"/>
            <a:ext cx="1766620" cy="310896"/>
          </a:xfrm>
          <a:prstGeom prst="roundRect">
            <a:avLst>
              <a:gd name="adj" fmla="val 50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ON DEMAND</a:t>
            </a:r>
          </a:p>
        </p:txBody>
      </p:sp>
      <p:sp>
        <p:nvSpPr>
          <p:cNvPr id="29" name="TextBox 28"/>
          <p:cNvSpPr txBox="1"/>
          <p:nvPr/>
        </p:nvSpPr>
        <p:spPr>
          <a:xfrm>
            <a:off x="5197449"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Skills</a:t>
            </a:r>
          </a:p>
        </p:txBody>
      </p:sp>
      <p:sp>
        <p:nvSpPr>
          <p:cNvPr id="30" name="TextBox 29"/>
          <p:cNvSpPr txBox="1"/>
          <p:nvPr/>
        </p:nvSpPr>
        <p:spPr>
          <a:xfrm>
            <a:off x="5197449"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Loaded when the task matches the description. Free until then.</a:t>
            </a:r>
          </a:p>
        </p:txBody>
      </p:sp>
      <p:sp>
        <p:nvSpPr>
          <p:cNvPr id="31" name="TextBox 30"/>
          <p:cNvSpPr txBox="1"/>
          <p:nvPr/>
        </p:nvSpPr>
        <p:spPr>
          <a:xfrm>
            <a:off x="5197449"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32" name="TextBox 31"/>
          <p:cNvSpPr txBox="1"/>
          <p:nvPr/>
        </p:nvSpPr>
        <p:spPr>
          <a:xfrm>
            <a:off x="5197449"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campaign-brief</a:t>
            </a:r>
          </a:p>
          <a:p>
            <a:pPr>
              <a:lnSpc>
                <a:spcPct val="100000"/>
              </a:lnSpc>
              <a:defRPr sz="1050" b="0">
                <a:solidFill>
                  <a:srgbClr val="21201C"/>
                </a:solidFill>
                <a:latin typeface="Courier New"/>
              </a:defRPr>
            </a:pPr>
            <a:r>
              <a:t>video-render</a:t>
            </a:r>
          </a:p>
        </p:txBody>
      </p:sp>
      <p:sp>
        <p:nvSpPr>
          <p:cNvPr id="33" name="Rectangle 32"/>
          <p:cNvSpPr/>
          <p:nvPr/>
        </p:nvSpPr>
        <p:spPr>
          <a:xfrm>
            <a:off x="5197449"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197449"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.agents/skills/</a:t>
            </a:r>
          </a:p>
        </p:txBody>
      </p:sp>
      <p:sp>
        <p:nvSpPr>
          <p:cNvPr id="35" name="Rounded Rectangle 34"/>
          <p:cNvSpPr/>
          <p:nvPr/>
        </p:nvSpPr>
        <p:spPr>
          <a:xfrm>
            <a:off x="7274966"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274966" y="2084831"/>
            <a:ext cx="2095804" cy="68580"/>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7439558" y="2322576"/>
            <a:ext cx="1766620" cy="310896"/>
          </a:xfrm>
          <a:prstGeom prst="roundRect">
            <a:avLst>
              <a:gd name="adj" fmla="val 50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ON AN EVENT</a:t>
            </a:r>
          </a:p>
        </p:txBody>
      </p:sp>
      <p:sp>
        <p:nvSpPr>
          <p:cNvPr id="38" name="TextBox 37"/>
          <p:cNvSpPr txBox="1"/>
          <p:nvPr/>
        </p:nvSpPr>
        <p:spPr>
          <a:xfrm>
            <a:off x="7439558"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Hooks</a:t>
            </a:r>
          </a:p>
        </p:txBody>
      </p:sp>
      <p:sp>
        <p:nvSpPr>
          <p:cNvPr id="39" name="TextBox 38"/>
          <p:cNvSpPr txBox="1"/>
          <p:nvPr/>
        </p:nvSpPr>
        <p:spPr>
          <a:xfrm>
            <a:off x="7439558"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Run every time an event fires — before a tool runs. The model cannot skip them.</a:t>
            </a:r>
          </a:p>
        </p:txBody>
      </p:sp>
      <p:sp>
        <p:nvSpPr>
          <p:cNvPr id="40" name="TextBox 39"/>
          <p:cNvSpPr txBox="1"/>
          <p:nvPr/>
        </p:nvSpPr>
        <p:spPr>
          <a:xfrm>
            <a:off x="7439558"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41" name="TextBox 40"/>
          <p:cNvSpPr txBox="1"/>
          <p:nvPr/>
        </p:nvSpPr>
        <p:spPr>
          <a:xfrm>
            <a:off x="7439558"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PreToolUse:</a:t>
            </a:r>
          </a:p>
          <a:p>
            <a:pPr>
              <a:lnSpc>
                <a:spcPct val="100000"/>
              </a:lnSpc>
              <a:defRPr sz="1050" b="0">
                <a:solidFill>
                  <a:srgbClr val="21201C"/>
                </a:solidFill>
                <a:latin typeface="Courier New"/>
              </a:defRPr>
            </a:pPr>
            <a:r>
              <a:t>gate-hook.mjs</a:t>
            </a:r>
          </a:p>
        </p:txBody>
      </p:sp>
      <p:sp>
        <p:nvSpPr>
          <p:cNvPr id="42" name="Rectangle 41"/>
          <p:cNvSpPr/>
          <p:nvPr/>
        </p:nvSpPr>
        <p:spPr>
          <a:xfrm>
            <a:off x="7439558"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439558"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.codex/hooks.json (trusted)</a:t>
            </a:r>
          </a:p>
        </p:txBody>
      </p:sp>
      <p:sp>
        <p:nvSpPr>
          <p:cNvPr id="44" name="Rounded Rectangle 43"/>
          <p:cNvSpPr/>
          <p:nvPr/>
        </p:nvSpPr>
        <p:spPr>
          <a:xfrm>
            <a:off x="9517075"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517075" y="2084831"/>
            <a:ext cx="2095804" cy="68580"/>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9681667" y="2322576"/>
            <a:ext cx="1766620" cy="310896"/>
          </a:xfrm>
          <a:prstGeom prst="roundRect">
            <a:avLst>
              <a:gd name="adj" fmla="val 50000"/>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ON THE CLOCK</a:t>
            </a:r>
          </a:p>
        </p:txBody>
      </p:sp>
      <p:sp>
        <p:nvSpPr>
          <p:cNvPr id="47" name="TextBox 46"/>
          <p:cNvSpPr txBox="1"/>
          <p:nvPr/>
        </p:nvSpPr>
        <p:spPr>
          <a:xfrm>
            <a:off x="9681667"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Scheduled tasks</a:t>
            </a:r>
          </a:p>
        </p:txBody>
      </p:sp>
      <p:sp>
        <p:nvSpPr>
          <p:cNvPr id="48" name="TextBox 47"/>
          <p:cNvSpPr txBox="1"/>
          <p:nvPr/>
        </p:nvSpPr>
        <p:spPr>
          <a:xfrm>
            <a:off x="9681667"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Run a skill on a schedule and leave the result for a person.</a:t>
            </a:r>
          </a:p>
        </p:txBody>
      </p:sp>
      <p:sp>
        <p:nvSpPr>
          <p:cNvPr id="49" name="TextBox 48"/>
          <p:cNvSpPr txBox="1"/>
          <p:nvPr/>
        </p:nvSpPr>
        <p:spPr>
          <a:xfrm>
            <a:off x="9681667"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50" name="TextBox 49"/>
          <p:cNvSpPr txBox="1"/>
          <p:nvPr/>
        </p:nvSpPr>
        <p:spPr>
          <a:xfrm>
            <a:off x="9681667"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Mondays 8am:</a:t>
            </a:r>
          </a:p>
          <a:p>
            <a:pPr>
              <a:lnSpc>
                <a:spcPct val="100000"/>
              </a:lnSpc>
              <a:defRPr sz="1050" b="0">
                <a:solidFill>
                  <a:srgbClr val="21201C"/>
                </a:solidFill>
                <a:latin typeface="Courier New"/>
              </a:defRPr>
            </a:pPr>
            <a:r>
              <a:t>campaign-report</a:t>
            </a:r>
          </a:p>
        </p:txBody>
      </p:sp>
      <p:sp>
        <p:nvSpPr>
          <p:cNvPr id="51" name="Rectangle 50"/>
          <p:cNvSpPr/>
          <p:nvPr/>
        </p:nvSpPr>
        <p:spPr>
          <a:xfrm>
            <a:off x="9681667"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681667"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ChatGPT Work</a:t>
            </a:r>
          </a:p>
        </p:txBody>
      </p:sp>
      <p:sp>
        <p:nvSpPr>
          <p:cNvPr id="53" name="Rounded Rectangle 52"/>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Who decides?  You: the approval  ·  the model: delegation and skills  ·  the system, every time: hooks and the clock</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WRAP UP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Horizon: One Team, Five Campaigns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Two days, one regulated business — the ChatGPT Edition.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156</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Form</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Lead and five agents: instructions, skills, connectors.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Plan</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Campaign 1, personas, cadence and a calendar.</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Create</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Social week, newsletter + landing page, video.</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Govern</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human gate, least privilege, a playbook.</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Run</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weekly report, on a schedule, as a draft.</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21201C"/>
        </a:solidFill>
      </p:bgPr>
    </p:bg>
    <p:spTree>
      <p:nvGrpSpPr>
        <p:cNvPr id="1" name=""/>
        <p:cNvGrpSpPr/>
        <p:nvPr/>
      </p:nvGrpSpPr>
      <p:grpSpPr/>
      <p:sp>
        <p:nvSpPr>
          <p:cNvPr id="2" name="Shape 0"/>
          <p:cNvSpPr/>
          <p:nvPr/>
        </p:nvSpPr>
        <p:spPr>
          <a:xfrm>
            <a:off x="9692640" y="-1280160"/>
            <a:ext cx="4206240" cy="4206240"/>
          </a:xfrm>
          <a:prstGeom prst="ellipse">
            <a:avLst/>
          </a:prstGeom>
          <a:solidFill>
            <a:srgbClr val="D97757">
              <a:alpha val="17000"/>
            </a:srgbClr>
          </a:solidFill>
          <a:ln/>
        </p:spPr>
        <p:txBody>
          <a:bodyPr/>
          <a:p/>
        </p:txBody>
      </p:sp>
      <p:sp>
        <p:nvSpPr>
          <p:cNvPr id="3" name="Text 1"/>
          <p:cNvSpPr/>
          <p:nvPr/>
        </p:nvSpPr>
        <p:spPr>
          <a:xfrm>
            <a:off x="548640" y="640080"/>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LEARNING MANAGEMENT SYSTEM</a:t>
            </a:r>
            <a:endParaRPr lang="en-US" sz="1200" dirty="0"/>
          </a:p>
        </p:txBody>
      </p:sp>
      <p:sp>
        <p:nvSpPr>
          <p:cNvPr id="4" name="Text 2"/>
          <p:cNvSpPr/>
          <p:nvPr/>
        </p:nvSpPr>
        <p:spPr>
          <a:xfrm>
            <a:off x="548640" y="960120"/>
            <a:ext cx="10972800" cy="73152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Courseware &amp; Assessment on the LMS</a:t>
            </a:r>
            <a:endParaRPr lang="en-US" sz="2800" dirty="0"/>
          </a:p>
        </p:txBody>
      </p:sp>
      <p:sp>
        <p:nvSpPr>
          <p:cNvPr id="5" name="Shape 3"/>
          <p:cNvSpPr/>
          <p:nvPr/>
        </p:nvSpPr>
        <p:spPr>
          <a:xfrm>
            <a:off x="640080" y="210312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2"/>
          <a:stretch>
            <a:fillRect/>
          </a:stretch>
        </p:blipFill>
        <p:spPr>
          <a:xfrm>
            <a:off x="777240" y="2240280"/>
            <a:ext cx="274320" cy="274320"/>
          </a:xfrm>
          <a:prstGeom prst="rect">
            <a:avLst/>
          </a:prstGeom>
        </p:spPr>
      </p:pic>
      <p:sp>
        <p:nvSpPr>
          <p:cNvPr id="7" name="Text 4"/>
          <p:cNvSpPr/>
          <p:nvPr/>
        </p:nvSpPr>
        <p:spPr>
          <a:xfrm>
            <a:off x="1371600" y="205740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Download the courseware</a:t>
            </a:r>
            <a:endParaRPr lang="en-US" sz="1800" dirty="0"/>
          </a:p>
        </p:txBody>
      </p:sp>
      <p:sp>
        <p:nvSpPr>
          <p:cNvPr id="8" name="Text 5"/>
          <p:cNvSpPr/>
          <p:nvPr/>
        </p:nvSpPr>
        <p:spPr>
          <a:xfrm>
            <a:off x="1371600" y="246888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Get the slides and learner guide from the LMS for the open-book assessment.</a:t>
            </a:r>
            <a:endParaRPr lang="en-US" sz="1400" dirty="0"/>
          </a:p>
        </p:txBody>
      </p:sp>
      <p:sp>
        <p:nvSpPr>
          <p:cNvPr id="9" name="Shape 6"/>
          <p:cNvSpPr/>
          <p:nvPr/>
        </p:nvSpPr>
        <p:spPr>
          <a:xfrm>
            <a:off x="640080" y="315468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3"/>
          <a:stretch>
            <a:fillRect/>
          </a:stretch>
        </p:blipFill>
        <p:spPr>
          <a:xfrm>
            <a:off x="777240" y="3291840"/>
            <a:ext cx="274320" cy="274320"/>
          </a:xfrm>
          <a:prstGeom prst="rect">
            <a:avLst/>
          </a:prstGeom>
        </p:spPr>
      </p:pic>
      <p:sp>
        <p:nvSpPr>
          <p:cNvPr id="11" name="Text 7"/>
          <p:cNvSpPr/>
          <p:nvPr/>
        </p:nvSpPr>
        <p:spPr>
          <a:xfrm>
            <a:off x="1371600" y="310896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Take the assessment</a:t>
            </a:r>
            <a:endParaRPr lang="en-US" sz="1800" dirty="0"/>
          </a:p>
        </p:txBody>
      </p:sp>
      <p:sp>
        <p:nvSpPr>
          <p:cNvPr id="12" name="Text 8"/>
          <p:cNvSpPr/>
          <p:nvPr/>
        </p:nvSpPr>
        <p:spPr>
          <a:xfrm>
            <a:off x="1371600" y="352044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Complete the Written Assessment and Practical Performance on the LMS.</a:t>
            </a:r>
            <a:endParaRPr lang="en-US" sz="1400" dirty="0"/>
          </a:p>
        </p:txBody>
      </p:sp>
      <p:sp>
        <p:nvSpPr>
          <p:cNvPr id="13" name="Shape 9"/>
          <p:cNvSpPr/>
          <p:nvPr/>
        </p:nvSpPr>
        <p:spPr>
          <a:xfrm>
            <a:off x="640080" y="420624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4" name="Image 2" descr="preencoded.png">    </p:cNvPr>
          <p:cNvPicPr>
            <a:picLocks noChangeAspect="1"/>
          </p:cNvPicPr>
          <p:nvPr/>
        </p:nvPicPr>
        <p:blipFill>
          <a:blip r:embed="rId4"/>
          <a:stretch>
            <a:fillRect/>
          </a:stretch>
        </p:blipFill>
        <p:spPr>
          <a:xfrm>
            <a:off x="777240" y="4343400"/>
            <a:ext cx="274320" cy="274320"/>
          </a:xfrm>
          <a:prstGeom prst="rect">
            <a:avLst/>
          </a:prstGeom>
        </p:spPr>
      </p:pic>
      <p:sp>
        <p:nvSpPr>
          <p:cNvPr id="15" name="Text 10"/>
          <p:cNvSpPr/>
          <p:nvPr/>
        </p:nvSpPr>
        <p:spPr>
          <a:xfrm>
            <a:off x="1371600" y="416052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Log in</a:t>
            </a:r>
            <a:endParaRPr lang="en-US" sz="1800" dirty="0"/>
          </a:p>
        </p:txBody>
      </p:sp>
      <p:sp>
        <p:nvSpPr>
          <p:cNvPr id="16" name="Text 11"/>
          <p:cNvSpPr/>
          <p:nvPr/>
        </p:nvSpPr>
        <p:spPr>
          <a:xfrm>
            <a:off x="1371600" y="457200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Use your enrolled account to access the course materials and assessment.</a:t>
            </a:r>
            <a:endParaRPr lang="en-US" sz="1400" dirty="0"/>
          </a:p>
        </p:txBody>
      </p:sp>
      <p:sp>
        <p:nvSpPr>
          <p:cNvPr id="17" name="Shape 12"/>
          <p:cNvSpPr/>
          <p:nvPr/>
        </p:nvSpPr>
        <p:spPr>
          <a:xfrm>
            <a:off x="640080" y="5440680"/>
            <a:ext cx="10881360" cy="640080"/>
          </a:xfrm>
          <a:prstGeom prst="roundRect">
            <a:avLst>
              <a:gd name="adj" fmla="val 14286"/>
            </a:avLst>
          </a:prstGeom>
          <a:solidFill>
            <a:srgbClr val="2E2C26"/>
          </a:solidFill>
          <a:ln/>
        </p:spPr>
        <p:txBody>
          <a:bodyPr/>
          <a:p/>
        </p:txBody>
      </p:sp>
      <p:sp>
        <p:nvSpPr>
          <p:cNvPr id="18" name="Text 13">
            <a:hlinkClick r:id="rIdundefined" tooltip=""/>
          </p:cNvPr>
          <p:cNvSpPr/>
          <p:nvPr/>
        </p:nvSpPr>
        <p:spPr>
          <a:xfrm>
            <a:off x="914400" y="5440680"/>
            <a:ext cx="10332720" cy="640080"/>
          </a:xfrm>
          <a:prstGeom prst="rect">
            <a:avLst/>
          </a:prstGeom>
          <a:noFill/>
          <a:ln/>
        </p:spPr>
        <p:txBody>
          <a:bodyPr wrap="square" rtlCol="0" anchor="ctr"/>
          <a:lstStyle/>
          <a:p>
            <a:pPr indent="0" marL="0">
              <a:buNone/>
            </a:pPr>
            <a:r>
              <a:rPr lang="en-US" sz="1600" b="1" u="sng" dirty="0">
                <a:solidFill>
                  <a:srgbClr val="D97757"/>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LMS:  </a:t>
            </a:r>
            <a:pPr indent="0" marL="0">
              <a:buNone/>
            </a:pPr>
            <a:r>
              <a:rPr lang="en-US" sz="1600" u="sng" dirty="0">
                <a:solidFill>
                  <a:srgbClr val="FFFFFF"/>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https://lms-tms.tertiaryinfotech.com/</a:t>
            </a:r>
            <a:endParaRPr lang="en-US" sz="1600" dirty="0"/>
          </a:p>
        </p:txBody>
      </p:sp>
      <p:sp>
        <p:nvSpPr>
          <p:cNvPr id="19" name="Text 14"/>
          <p:cNvSpPr/>
          <p:nvPr/>
        </p:nvSpPr>
        <p:spPr>
          <a:xfrm>
            <a:off x="457200" y="6565392"/>
            <a:ext cx="6400800" cy="228600"/>
          </a:xfrm>
          <a:prstGeom prst="rect">
            <a:avLst/>
          </a:prstGeom>
          <a:noFill/>
          <a:ln/>
        </p:spPr>
        <p:txBody>
          <a:bodyPr wrap="square" rtlCol="0" anchor="ctr"/>
          <a:lstStyle/>
          <a:p>
            <a:pPr indent="0" marL="0">
              <a:buNone/>
            </a:pPr>
            <a:r>
              <a:rPr lang="en-US" sz="800" dirty="0">
                <a:solidFill>
                  <a:srgbClr val="6B6862"/>
                </a:solidFill>
                <a:latin typeface="Calibri" pitchFamily="34" charset="0"/>
                <a:ea typeface="Calibri" pitchFamily="34" charset="-122"/>
                <a:cs typeface="Calibri" pitchFamily="34" charset="-120"/>
              </a:rPr>
              <a:t>© Tertiary Infotech Academy Pte Ltd</a:t>
            </a:r>
            <a:endParaRPr lang="en-US" sz="800" dirty="0"/>
          </a:p>
        </p:txBody>
      </p:sp>
      <p:pic>
        <p:nvPicPr>
          <p:cNvPr id="90" name="LMS Screenshot" descr="lms-tms.tertiaryinfotech.com login page"/>
          <p:cNvPicPr>
            <a:picLocks noChangeAspect="1"/>
          </p:cNvPicPr>
          <p:nvPr/>
        </p:nvPicPr>
        <p:blipFill>
          <a:blip r:embed="rId5"/>
          <a:stretch>
            <a:fillRect/>
          </a:stretch>
        </p:blipFill>
        <p:spPr>
          <a:xfrm>
            <a:off x="8412480" y="1965960"/>
            <a:ext cx="2194560" cy="2700528"/>
          </a:xfrm>
          <a:prstGeom prst="roundRect">
            <a:avLst>
              <a:gd name="adj" fmla="val 3000"/>
            </a:avLst>
          </a:prstGeom>
          <a:effectLst>
            <a:outerShdw sx="100000" sy="100000" kx="0" ky="0" algn="bl" rotWithShape="0" blurRad="127000" dist="50800" dir="5400000">
              <a:srgbClr val="000000">
                <a:alpha val="30000"/>
              </a:srgbClr>
            </a:outerShdw>
          </a:effectLst>
        </p:spPr>
      </p:pic>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FAF9F5"/>
        </a:solidFill>
      </p:bgPr>
    </p:bg>
    <p:spTree>
      <p:nvGrpSpPr>
        <p:cNvPr id="1" name=""/>
        <p:cNvGrpSpPr/>
        <p:nvPr/>
      </p:nvGrpSpPr>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BEFORE YOU GO</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Certification &amp; TRAQOM Survey</a:t>
            </a:r>
            <a:endParaRPr lang="en-US" sz="3000" dirty="0"/>
          </a:p>
        </p:txBody>
      </p:sp>
      <p:sp>
        <p:nvSpPr>
          <p:cNvPr id="4" name="Shape 2"/>
          <p:cNvSpPr/>
          <p:nvPr/>
        </p:nvSpPr>
        <p:spPr>
          <a:xfrm>
            <a:off x="548640" y="1920240"/>
            <a:ext cx="5394960" cy="3108960"/>
          </a:xfrm>
          <a:prstGeom prst="roundRect">
            <a:avLst>
              <a:gd name="adj" fmla="val 235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6868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2"/>
          <a:stretch>
            <a:fillRect/>
          </a:stretch>
        </p:blipFill>
        <p:spPr>
          <a:xfrm>
            <a:off x="1005840" y="2331720"/>
            <a:ext cx="292608" cy="292608"/>
          </a:xfrm>
          <a:prstGeom prst="rect">
            <a:avLst/>
          </a:prstGeom>
        </p:spPr>
      </p:pic>
      <p:sp>
        <p:nvSpPr>
          <p:cNvPr id="7" name="Text 4"/>
          <p:cNvSpPr/>
          <p:nvPr/>
        </p:nvSpPr>
        <p:spPr>
          <a:xfrm>
            <a:off x="1554480" y="2240280"/>
            <a:ext cx="4206240" cy="548640"/>
          </a:xfrm>
          <a:prstGeom prst="rect">
            <a:avLst/>
          </a:prstGeom>
          <a:noFill/>
          <a:ln/>
        </p:spPr>
        <p:txBody>
          <a:bodyPr wrap="square" rtlCol="0" anchor="ctr"/>
          <a:lstStyle/>
          <a:p>
            <a:pPr indent="0" marL="0">
              <a:buNone/>
            </a:pPr>
            <a:r>
              <a:rPr lang="en-US" sz="1700" b="1" dirty="0">
                <a:solidFill>
                  <a:srgbClr val="21201C"/>
                </a:solidFill>
                <a:latin typeface="Cambria" pitchFamily="34" charset="0"/>
                <a:ea typeface="Cambria" pitchFamily="34" charset="-122"/>
                <a:cs typeface="Cambria" pitchFamily="34" charset="-120"/>
              </a:rPr>
              <a:t>TRAQOM Survey (Mandatory)</a:t>
            </a:r>
            <a:endParaRPr lang="en-US" sz="1700" dirty="0"/>
          </a:p>
        </p:txBody>
      </p:sp>
      <p:sp>
        <p:nvSpPr>
          <p:cNvPr id="8" name="Text 5"/>
          <p:cNvSpPr/>
          <p:nvPr/>
        </p:nvSpPr>
        <p:spPr>
          <a:xfrm>
            <a:off x="868680" y="3017520"/>
            <a:ext cx="4754880" cy="182880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Complete the certification &amp; TRAQOM survey to receive your certificate.</a:t>
            </a:r>
            <a:endParaRPr lang="en-US" sz="1400" dirty="0"/>
          </a:p>
          <a:p>
            <a:pPr indent="0" marL="0">
              <a:buNone/>
            </a:pPr>
            <a:endParaRPr lang="en-US" sz="1400" dirty="0"/>
          </a:p>
          <a:p>
            <a:pPr indent="0" marL="0">
              <a:buNone/>
            </a:pPr>
            <a:r>
              <a:rPr lang="en-US" sz="1400" dirty="0">
                <a:solidFill>
                  <a:srgbClr val="21201C"/>
                </a:solidFill>
                <a:latin typeface="Calibri" pitchFamily="34" charset="0"/>
                <a:ea typeface="Calibri" pitchFamily="34" charset="-122"/>
                <a:cs typeface="Calibri" pitchFamily="34" charset="-120"/>
              </a:rPr>
              <a:t>https://lms-tms.tertiaryinfotech.com/</a:t>
            </a:r>
            <a:endParaRPr lang="en-US" sz="1400" dirty="0"/>
          </a:p>
        </p:txBody>
      </p:sp>
      <p:sp>
        <p:nvSpPr>
          <p:cNvPr id="9" name="Shape 6"/>
          <p:cNvSpPr/>
          <p:nvPr/>
        </p:nvSpPr>
        <p:spPr>
          <a:xfrm>
            <a:off x="6217920" y="1920240"/>
            <a:ext cx="5394960" cy="3108960"/>
          </a:xfrm>
          <a:prstGeom prst="roundRect">
            <a:avLst>
              <a:gd name="adj" fmla="val 235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3796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3"/>
          <a:stretch>
            <a:fillRect/>
          </a:stretch>
        </p:blipFill>
        <p:spPr>
          <a:xfrm>
            <a:off x="6675120" y="2331720"/>
            <a:ext cx="292608" cy="292608"/>
          </a:xfrm>
          <a:prstGeom prst="rect">
            <a:avLst/>
          </a:prstGeom>
        </p:spPr>
      </p:pic>
      <p:sp>
        <p:nvSpPr>
          <p:cNvPr id="12" name="Text 8"/>
          <p:cNvSpPr/>
          <p:nvPr/>
        </p:nvSpPr>
        <p:spPr>
          <a:xfrm>
            <a:off x="7223760" y="2240280"/>
            <a:ext cx="4206240" cy="548640"/>
          </a:xfrm>
          <a:prstGeom prst="rect">
            <a:avLst/>
          </a:prstGeom>
          <a:noFill/>
          <a:ln/>
        </p:spPr>
        <p:txBody>
          <a:bodyPr wrap="square"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Digital Attendance</a:t>
            </a:r>
            <a:endParaRPr lang="en-US" sz="1700" dirty="0"/>
          </a:p>
        </p:txBody>
      </p:sp>
      <p:sp>
        <p:nvSpPr>
          <p:cNvPr id="13" name="Text 9"/>
          <p:cNvSpPr/>
          <p:nvPr/>
        </p:nvSpPr>
        <p:spPr>
          <a:xfrm>
            <a:off x="6537960" y="3017520"/>
            <a:ext cx="4754880" cy="18288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Remember to take AM, PM and Assessment digital attendance — required for your funding.</a:t>
            </a:r>
            <a:endParaRPr lang="en-US" sz="14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158</a:t>
            </a:r>
            <a:endParaRPr lang="en-US" sz="900" dirty="0"/>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FAF9F5"/>
        </a:solidFill>
      </p:bgPr>
    </p:bg>
    <p:spTree>
      <p:nvGrpSpPr>
        <p:cNvPr id="1" name=""/>
        <p:cNvGrpSpPr/>
        <p:nvPr/>
      </p:nvGrpSpPr>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Assessment &amp; Funding</a:t>
            </a:r>
            <a:endParaRPr lang="en-US" sz="3000" dirty="0"/>
          </a:p>
        </p:txBody>
      </p:sp>
      <p:sp>
        <p:nvSpPr>
          <p:cNvPr id="4" name="Shape 2"/>
          <p:cNvSpPr/>
          <p:nvPr/>
        </p:nvSpPr>
        <p:spPr>
          <a:xfrm>
            <a:off x="548640" y="1783080"/>
            <a:ext cx="5486400" cy="4023360"/>
          </a:xfrm>
          <a:prstGeom prst="roundRect">
            <a:avLst>
              <a:gd name="adj" fmla="val 1818"/>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2296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2"/>
          <a:stretch>
            <a:fillRect/>
          </a:stretch>
        </p:blipFill>
        <p:spPr>
          <a:xfrm>
            <a:off x="960120" y="2194560"/>
            <a:ext cx="292608" cy="292608"/>
          </a:xfrm>
          <a:prstGeom prst="rect">
            <a:avLst/>
          </a:prstGeom>
        </p:spPr>
      </p:pic>
      <p:sp>
        <p:nvSpPr>
          <p:cNvPr id="7" name="Text 4"/>
          <p:cNvSpPr/>
          <p:nvPr/>
        </p:nvSpPr>
        <p:spPr>
          <a:xfrm>
            <a:off x="1508760" y="2103120"/>
            <a:ext cx="4389120" cy="457200"/>
          </a:xfrm>
          <a:prstGeom prst="rect">
            <a:avLst/>
          </a:prstGeom>
          <a:noFill/>
          <a:ln/>
        </p:spPr>
        <p:txBody>
          <a:bodyPr wrap="square" rtlCol="0" anchor="ctr"/>
          <a:lstStyle/>
          <a:p>
            <a:pPr indent="0" marL="0">
              <a:buNone/>
            </a:pPr>
            <a:r>
              <a:rPr lang="en-US" sz="1900" b="1" dirty="0">
                <a:solidFill>
                  <a:srgbClr val="21201C"/>
                </a:solidFill>
                <a:latin typeface="Cambria" pitchFamily="34" charset="0"/>
                <a:ea typeface="Cambria" pitchFamily="34" charset="-122"/>
                <a:cs typeface="Cambria" pitchFamily="34" charset="-120"/>
              </a:rPr>
              <a:t>Final Assessment</a:t>
            </a:r>
            <a:endParaRPr lang="en-US" sz="1900" dirty="0"/>
          </a:p>
        </p:txBody>
      </p:sp>
      <p:sp>
        <p:nvSpPr>
          <p:cNvPr id="8" name="Text 5"/>
          <p:cNvSpPr/>
          <p:nvPr/>
        </p:nvSpPr>
        <p:spPr>
          <a:xfrm>
            <a:off x="868680" y="2880360"/>
            <a:ext cx="4937760" cy="2743200"/>
          </a:xfrm>
          <a:prstGeom prst="rect">
            <a:avLst/>
          </a:prstGeom>
          <a:noFill/>
          <a:ln/>
        </p:spPr>
        <p:txBody>
          <a:bodyPr wrap="square" rtlCol="0" anchor="ctr"/>
          <a:lstStyle/>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Written Assessment (WA) — 1 hour, starts 4:00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Practical Performance (PP) — 1 hour</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Format: Open book — class ends 6:00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Allowed: slides, learner guide &amp; approved materials only</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Appeal process available</a:t>
            </a:r>
            <a:endParaRPr lang="en-US" sz="1400" dirty="0"/>
          </a:p>
        </p:txBody>
      </p:sp>
      <p:sp>
        <p:nvSpPr>
          <p:cNvPr id="9" name="Shape 6"/>
          <p:cNvSpPr/>
          <p:nvPr/>
        </p:nvSpPr>
        <p:spPr>
          <a:xfrm>
            <a:off x="6309360" y="1783080"/>
            <a:ext cx="5303520" cy="4023360"/>
          </a:xfrm>
          <a:prstGeom prst="roundRect">
            <a:avLst>
              <a:gd name="adj" fmla="val 1818"/>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8368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3"/>
          <a:stretch>
            <a:fillRect/>
          </a:stretch>
        </p:blipFill>
        <p:spPr>
          <a:xfrm>
            <a:off x="6720840" y="2194560"/>
            <a:ext cx="292608" cy="292608"/>
          </a:xfrm>
          <a:prstGeom prst="rect">
            <a:avLst/>
          </a:prstGeom>
        </p:spPr>
      </p:pic>
      <p:sp>
        <p:nvSpPr>
          <p:cNvPr id="12" name="Text 8"/>
          <p:cNvSpPr/>
          <p:nvPr/>
        </p:nvSpPr>
        <p:spPr>
          <a:xfrm>
            <a:off x="7269480" y="2103120"/>
            <a:ext cx="4114800" cy="457200"/>
          </a:xfrm>
          <a:prstGeom prst="rect">
            <a:avLst/>
          </a:prstGeom>
          <a:noFill/>
          <a:ln/>
        </p:spPr>
        <p:txBody>
          <a:bodyPr wrap="square"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Criteria for Funding</a:t>
            </a:r>
            <a:endParaRPr lang="en-US" sz="1900" dirty="0"/>
          </a:p>
        </p:txBody>
      </p:sp>
      <p:sp>
        <p:nvSpPr>
          <p:cNvPr id="13" name="Text 9"/>
          <p:cNvSpPr/>
          <p:nvPr/>
        </p:nvSpPr>
        <p:spPr>
          <a:xfrm>
            <a:off x="6629400" y="2926080"/>
            <a:ext cx="4754880" cy="2743200"/>
          </a:xfrm>
          <a:prstGeom prst="rect">
            <a:avLst/>
          </a:prstGeom>
          <a:noFill/>
          <a:ln/>
        </p:spPr>
        <p:txBody>
          <a:bodyPr wrap="square" rtlCol="0" anchor="ctr"/>
          <a:lstStyle/>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Minimum 75% attendance</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Based on SSG digital attendance records.</a:t>
            </a:r>
            <a:endParaRPr lang="en-US" sz="1500" dirty="0"/>
          </a:p>
          <a:p>
            <a:pPr indent="0" marL="0">
              <a:spcAft>
                <a:spcPts val="600"/>
              </a:spcAft>
              <a:buNone/>
            </a:pPr>
            <a:endParaRPr lang="en-US" sz="1500" dirty="0"/>
          </a:p>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Assessed as ‘Competent’</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Complete and pass both assessment components.</a:t>
            </a:r>
            <a:endParaRPr lang="en-US" sz="15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159</a:t>
            </a:r>
            <a:endParaRPr lang="en-US" sz="900" dirty="0"/>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FAF9F5"/>
        </a:solidFill>
      </p:bgPr>
    </p:bg>
    <p:spTree>
      <p:nvGrpSpPr>
        <p:cNvPr id="1" name=""/>
        <p:cNvGrpSpPr/>
        <p:nvPr/>
      </p:nvGrpSpPr>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Digital Attendance</a:t>
            </a:r>
            <a:endParaRPr lang="en-US" sz="3000" dirty="0"/>
          </a:p>
        </p:txBody>
      </p:sp>
      <p:sp>
        <p:nvSpPr>
          <p:cNvPr id="4" name="Shape 2"/>
          <p:cNvSpPr/>
          <p:nvPr/>
        </p:nvSpPr>
        <p:spPr>
          <a:xfrm>
            <a:off x="548640" y="18288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5" name="Image 0" descr="preencoded.png">    </p:cNvPr>
          <p:cNvPicPr>
            <a:picLocks noChangeAspect="1"/>
          </p:cNvPicPr>
          <p:nvPr/>
        </p:nvPicPr>
        <p:blipFill>
          <a:blip r:embed="rId2"/>
          <a:stretch>
            <a:fillRect/>
          </a:stretch>
        </p:blipFill>
        <p:spPr>
          <a:xfrm>
            <a:off x="685800" y="1965960"/>
            <a:ext cx="292608" cy="292608"/>
          </a:xfrm>
          <a:prstGeom prst="rect">
            <a:avLst/>
          </a:prstGeom>
        </p:spPr>
      </p:pic>
      <p:sp>
        <p:nvSpPr>
          <p:cNvPr id="6" name="Text 3"/>
          <p:cNvSpPr/>
          <p:nvPr/>
        </p:nvSpPr>
        <p:spPr>
          <a:xfrm>
            <a:off x="1371600" y="1874520"/>
            <a:ext cx="6583680" cy="1828800"/>
          </a:xfrm>
          <a:prstGeom prst="rect">
            <a:avLst/>
          </a:prstGeom>
          <a:noFill/>
          <a:ln/>
        </p:spPr>
        <p:txBody>
          <a:bodyPr wrap="square" rtlCol="0" anchor="ctr"/>
          <a:lstStyle/>
          <a:p>
            <a:pPr indent="0" marL="0">
              <a:spcAft>
                <a:spcPts val="1000"/>
              </a:spcAft>
              <a:buNone/>
            </a:pPr>
            <a:r>
              <a:rPr lang="en-US" sz="1700" b="1" dirty="0">
                <a:solidFill>
                  <a:srgbClr val="21201C"/>
                </a:solidFill>
                <a:latin typeface="Calibri" pitchFamily="34" charset="0"/>
                <a:ea typeface="Calibri" pitchFamily="34" charset="-122"/>
                <a:cs typeface="Calibri" pitchFamily="34" charset="-120"/>
              </a:rPr>
              <a:t>Attendance is mandatory for SSG funding.</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Take AM, PM and Assessment digital attendance for every session.</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Use the SSG / TMS QR code provided by your trainer.</a:t>
            </a:r>
            <a:endParaRPr lang="en-US" sz="1700" dirty="0"/>
          </a:p>
        </p:txBody>
      </p:sp>
      <p:sp>
        <p:nvSpPr>
          <p:cNvPr id="7" name="Shape 4"/>
          <p:cNvSpPr/>
          <p:nvPr/>
        </p:nvSpPr>
        <p:spPr>
          <a:xfrm>
            <a:off x="8229600" y="1828800"/>
            <a:ext cx="3383280" cy="2926080"/>
          </a:xfrm>
          <a:prstGeom prst="roundRect">
            <a:avLst>
              <a:gd name="adj" fmla="val 3125"/>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8" name="Text 5"/>
          <p:cNvSpPr/>
          <p:nvPr/>
        </p:nvSpPr>
        <p:spPr>
          <a:xfrm>
            <a:off x="8229600" y="2377440"/>
            <a:ext cx="3383280" cy="1828800"/>
          </a:xfrm>
          <a:prstGeom prst="rect">
            <a:avLst/>
          </a:prstGeom>
          <a:noFill/>
          <a:ln/>
        </p:spPr>
        <p:txBody>
          <a:bodyPr wrap="square" rtlCol="0" anchor="ctr"/>
          <a:lstStyle/>
          <a:p>
            <a:pPr algn="ctr" indent="0" marL="0">
              <a:buNone/>
            </a:pPr>
            <a:r>
              <a:rPr lang="en-US" sz="3000" b="1" dirty="0">
                <a:solidFill>
                  <a:srgbClr val="D97757"/>
                </a:solidFill>
                <a:latin typeface="Cambria" pitchFamily="34" charset="0"/>
                <a:ea typeface="Cambria" pitchFamily="34" charset="-122"/>
                <a:cs typeface="Cambria" pitchFamily="34" charset="-120"/>
              </a:rPr>
              <a:t>Minimum</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75%</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attendance required</a:t>
            </a:r>
            <a:endParaRPr lang="en-US" sz="3000" dirty="0"/>
          </a:p>
        </p:txBody>
      </p:sp>
      <p:sp>
        <p:nvSpPr>
          <p:cNvPr id="9" name="Text 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0" name="Text 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1" name="Text 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161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64</Slides>
  <Notes>64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64</vt:i4>
      </vt:variant>
    </vt:vector>
  </HeadingPairs>
  <TitlesOfParts>
    <vt:vector size="6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 AI Agents Workflow for Content Creation (ChatGPT Edition) (TGS-2023036153)</dc:title>
  <dc:subject>WSQ course slide deck</dc:subject>
  <dc:creator>Tertiary Infotech Academy Pte Ltd</dc:creator>
  <cp:lastModifiedBy>Dr. Alfred Ang</cp:lastModifiedBy>
  <cp:revision>1</cp:revision>
  <dcterms:created xsi:type="dcterms:W3CDTF">2026-06-27T18:49:35Z</dcterms:created>
  <dcterms:modified xsi:type="dcterms:W3CDTF">2026-06-27T18:49:35Z</dcterms:modified>
  <dc:description>Version 3.5 — ChatGPT Edition — 10 October 2026</dc:description>
</cp:coreProperties>
</file>