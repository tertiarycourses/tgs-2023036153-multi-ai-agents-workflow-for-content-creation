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0"/>
    <p:sldId id="265" r:id="rId11"/>
    <p:sldId id="266" r:id="rId12"/>
    <p:sldId id="318" r:id="rId64"/>
    <p:sldId id="326" r:id="rId73"/>
    <p:sldId id="327" r:id="rId60"/>
    <p:sldId id="328" r:id="rId59"/>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317" r:id="rId63"/>
    <p:sldId id="475" r:id="rId223"/>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TGS-2023036153-Multi-AI-Agents-Workflow-for-Content-Creation/"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hatgpt.com/download/"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tertiarycourses.github.io/TGS-2023036153-Multi-AI-Agents-Workflow-for-Content-Creation/"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CHATGPT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3.5  ·  10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ChatGPT and Codex.</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160</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the first blog article. Labs 6–8.</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Lead magnet, social week, newsletter + landing page, video — behind a human gate. Labs 9–12.</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optional demo. Labs 13–15.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Agent team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 content</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week · 11 Newsletter + landing page · 12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Playbook · 15 Optional demo</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14 — the team keeps what it learns.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ChatGPT or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lab says which to use. The rule: ChatGPT to create and schedule; Codex when the agents work on files.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a:t>
            </a:r>
          </a:p>
        </p:txBody>
      </p:sp>
      <p:sp>
        <p:nvSpPr>
          <p:cNvPr id="14" name="TextBox 13"/>
          <p:cNvSpPr txBox="1"/>
          <p:nvPr/>
        </p:nvSpPr>
        <p:spPr>
          <a:xfrm>
            <a:off x="3183940"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8, 9, 15</a:t>
            </a:r>
          </a:p>
        </p:txBody>
      </p:sp>
      <p:sp>
        <p:nvSpPr>
          <p:cNvPr id="15" name="TextBox 14"/>
          <p:cNvSpPr txBox="1"/>
          <p:nvPr/>
        </p:nvSpPr>
        <p:spPr>
          <a:xfrm>
            <a:off x="6060643" y="2560320"/>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One person creating or designing.</a:t>
            </a:r>
          </a:p>
        </p:txBody>
      </p:sp>
      <p:sp>
        <p:nvSpPr>
          <p:cNvPr id="16" name="TextBox 15"/>
          <p:cNvSpPr txBox="1"/>
          <p:nvPr/>
        </p:nvSpPr>
        <p:spPr>
          <a:xfrm>
            <a:off x="749808" y="3084575"/>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3183940"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1, 2, 5, 6, 7, 10, 12, 14</a:t>
            </a:r>
          </a:p>
        </p:txBody>
      </p:sp>
      <p:sp>
        <p:nvSpPr>
          <p:cNvPr id="18" name="TextBox 17"/>
          <p:cNvSpPr txBox="1"/>
          <p:nvPr/>
        </p:nvSpPr>
        <p:spPr>
          <a:xfrm>
            <a:off x="6060643" y="3084575"/>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team's files: role cards, skills, subagents, scripts, the video.</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 then ChatGPT</a:t>
            </a:r>
          </a:p>
        </p:txBody>
      </p:sp>
      <p:sp>
        <p:nvSpPr>
          <p:cNvPr id="21" name="TextBox 20"/>
          <p:cNvSpPr txBox="1"/>
          <p:nvPr/>
        </p:nvSpPr>
        <p:spPr>
          <a:xfrm>
            <a:off x="3183940"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a:t>
            </a:r>
          </a:p>
        </p:txBody>
      </p:sp>
      <p:sp>
        <p:nvSpPr>
          <p:cNvPr id="22" name="TextBox 21"/>
          <p:cNvSpPr txBox="1"/>
          <p:nvPr/>
        </p:nvSpPr>
        <p:spPr>
          <a:xfrm>
            <a:off x="6060643" y="3608831"/>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 in Codex, then share in ChatGPT.</a:t>
            </a:r>
          </a:p>
        </p:txBody>
      </p:sp>
      <p:sp>
        <p:nvSpPr>
          <p:cNvPr id="23" name="TextBox 22"/>
          <p:cNvSpPr txBox="1"/>
          <p:nvPr/>
        </p:nvSpPr>
        <p:spPr>
          <a:xfrm>
            <a:off x="749808" y="4133087"/>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then Codex</a:t>
            </a:r>
          </a:p>
        </p:txBody>
      </p:sp>
      <p:sp>
        <p:nvSpPr>
          <p:cNvPr id="24" name="TextBox 23"/>
          <p:cNvSpPr txBox="1"/>
          <p:nvPr/>
        </p:nvSpPr>
        <p:spPr>
          <a:xfrm>
            <a:off x="3183940"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4</a:t>
            </a:r>
          </a:p>
        </p:txBody>
      </p:sp>
      <p:sp>
        <p:nvSpPr>
          <p:cNvPr id="25" name="TextBox 24"/>
          <p:cNvSpPr txBox="1"/>
          <p:nvPr/>
        </p:nvSpPr>
        <p:spPr>
          <a:xfrm>
            <a:off x="6060643" y="4133087"/>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Install plugins, then test the agents.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 then ChatGPT Work</a:t>
            </a:r>
          </a:p>
        </p:txBody>
      </p:sp>
      <p:sp>
        <p:nvSpPr>
          <p:cNvPr id="28" name="TextBox 27"/>
          <p:cNvSpPr txBox="1"/>
          <p:nvPr/>
        </p:nvSpPr>
        <p:spPr>
          <a:xfrm>
            <a:off x="3183940"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a:t>
            </a:r>
          </a:p>
        </p:txBody>
      </p:sp>
      <p:sp>
        <p:nvSpPr>
          <p:cNvPr id="29" name="TextBox 28"/>
          <p:cNvSpPr txBox="1"/>
          <p:nvPr/>
        </p:nvSpPr>
        <p:spPr>
          <a:xfrm>
            <a:off x="6060643" y="4657344"/>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 in Codex; Gmail drafts in ChatGPT Work.</a:t>
            </a:r>
          </a:p>
        </p:txBody>
      </p:sp>
      <p:sp>
        <p:nvSpPr>
          <p:cNvPr id="30" name="TextBox 29"/>
          <p:cNvSpPr txBox="1"/>
          <p:nvPr/>
        </p:nvSpPr>
        <p:spPr>
          <a:xfrm>
            <a:off x="749808" y="5181599"/>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a:t>
            </a:r>
          </a:p>
        </p:txBody>
      </p:sp>
      <p:sp>
        <p:nvSpPr>
          <p:cNvPr id="31" name="TextBox 30"/>
          <p:cNvSpPr txBox="1"/>
          <p:nvPr/>
        </p:nvSpPr>
        <p:spPr>
          <a:xfrm>
            <a:off x="3183940"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a:t>
            </a:r>
          </a:p>
        </p:txBody>
      </p:sp>
      <p:sp>
        <p:nvSpPr>
          <p:cNvPr id="32" name="TextBox 31"/>
          <p:cNvSpPr txBox="1"/>
          <p:nvPr/>
        </p:nvSpPr>
        <p:spPr>
          <a:xfrm>
            <a:off x="6060643" y="5181599"/>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Scheduled tasks and plugins.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Both work on the same horizon-studio folder, so whatever one makes, the other can open.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9:00–10:40  Topic 3 ·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10:50–12:35  Labs 11–12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13:20–15:00  Topic 4 · Labs 13–14</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15:10–16:00 Demo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agents, the tools, and Horizon's story</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TOOLS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ChatGPT, ChatGPT Work and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desktop app. The toggle above the composer picks Chat or Work; the sidebar holds Codex.</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Codex — the team's home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Lead's chat; role cards; skills in .agents/skills/; subagents by asking; scripts and the video.</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 and Work — the team's apps</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Project for shared files; plugins (Drive, Gmail); skills; scheduled tasks; @Sites.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Dots and workspace agents · optional</a:t>
            </a:r>
          </a:p>
        </p:txBody>
      </p:sp>
      <p:sp>
        <p:nvSpPr>
          <p:cNvPr id="19" name="TextBox 18"/>
          <p:cNvSpPr txBox="1"/>
          <p:nvPr/>
        </p:nvSpPr>
        <p:spPr>
          <a:xfrm>
            <a:off x="8308847"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always-on Lead (Pro, Business Premium) and shared agents (Business). A demo at the end.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PRICING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Plan Has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Features by ChatGPT plan, checked 8 Oct 2026. Prices change — check chatgpt.com/pricing.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4069079"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PLANS</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 THIS COURSE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 Codex</a:t>
            </a:r>
          </a:p>
        </p:txBody>
      </p:sp>
      <p:sp>
        <p:nvSpPr>
          <p:cNvPr id="14" name="TextBox 13"/>
          <p:cNvSpPr txBox="1"/>
          <p:nvPr/>
        </p:nvSpPr>
        <p:spPr>
          <a:xfrm>
            <a:off x="4069079"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Business, Enterprise</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a:t>
            </a:r>
          </a:p>
        </p:txBody>
      </p:sp>
      <p:sp>
        <p:nvSpPr>
          <p:cNvPr id="16" name="TextBox 15"/>
          <p:cNvSpPr txBox="1"/>
          <p:nvPr/>
        </p:nvSpPr>
        <p:spPr>
          <a:xfrm>
            <a:off x="749808" y="3084575"/>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17" name="TextBox 16"/>
          <p:cNvSpPr txBox="1"/>
          <p:nvPr/>
        </p:nvSpPr>
        <p:spPr>
          <a:xfrm>
            <a:off x="4069079"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and workspaces (beta)</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Plugins and skills</a:t>
            </a:r>
          </a:p>
        </p:txBody>
      </p:sp>
      <p:sp>
        <p:nvSpPr>
          <p:cNvPr id="21" name="TextBox 20"/>
          <p:cNvSpPr txBox="1"/>
          <p:nvPr/>
        </p:nvSpPr>
        <p:spPr>
          <a:xfrm>
            <a:off x="4069079"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4, 13</a:t>
            </a:r>
          </a:p>
        </p:txBody>
      </p:sp>
      <p:sp>
        <p:nvSpPr>
          <p:cNvPr id="23" name="TextBox 22"/>
          <p:cNvSpPr txBox="1"/>
          <p:nvPr/>
        </p:nvSpPr>
        <p:spPr>
          <a:xfrm>
            <a:off x="749808" y="4133087"/>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Scheduled tasks</a:t>
            </a:r>
          </a:p>
        </p:txBody>
      </p:sp>
      <p:sp>
        <p:nvSpPr>
          <p:cNvPr id="24" name="TextBox 23"/>
          <p:cNvSpPr txBox="1"/>
          <p:nvPr/>
        </p:nvSpPr>
        <p:spPr>
          <a:xfrm>
            <a:off x="4069079"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 — 5 active on Plus, 15 on Pro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Dots (first one included)</a:t>
            </a:r>
          </a:p>
        </p:txBody>
      </p:sp>
      <p:sp>
        <p:nvSpPr>
          <p:cNvPr id="28" name="TextBox 27"/>
          <p:cNvSpPr txBox="1"/>
          <p:nvPr/>
        </p:nvSpPr>
        <p:spPr>
          <a:xfrm>
            <a:off x="4069079"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Pro, Business Premium</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15 demo</a:t>
            </a:r>
          </a:p>
        </p:txBody>
      </p:sp>
      <p:sp>
        <p:nvSpPr>
          <p:cNvPr id="30" name="TextBox 29"/>
          <p:cNvSpPr txBox="1"/>
          <p:nvPr/>
        </p:nvSpPr>
        <p:spPr>
          <a:xfrm>
            <a:off x="749808" y="5181599"/>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Workspace agents</a:t>
            </a:r>
          </a:p>
        </p:txBody>
      </p:sp>
      <p:sp>
        <p:nvSpPr>
          <p:cNvPr id="31" name="TextBox 30"/>
          <p:cNvSpPr txBox="1"/>
          <p:nvPr/>
        </p:nvSpPr>
        <p:spPr>
          <a:xfrm>
            <a:off x="4069079"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Business, Enterprise, Edu</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15 demo</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This edition builds the team with skills and Codex subagents, so it works on Plus and Pro.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Claude Code and Codex: agents plan, act and check their own work. Results depend on the system around the model.</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Work and Codex subagents; workspace agents and always-on Dots.</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whole system around the model — and now, teams of agents.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Codex and ChatGPT Work in class; also Claude Code, Gemini CLI, Hermes Agent and OpenClaw.</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AGENTS.md,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Codex running a campaign (Labs 1–12).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 Dots (Lab 15).</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GPT</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AGENTS.md and a role card.</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tertiarycourses.github.io/TGS-2023036153-Multi-AI-Agents-Workflow-for-Content-Creation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$imagegen, ffmpeg in Codex</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ChatGPT Edition: ChatGPT, ChatGPT Work and Codex in one app.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Project</a:t>
            </a:r>
          </a:p>
        </p:txBody>
      </p:sp>
      <p:sp>
        <p:nvSpPr>
          <p:cNvPr id="14" name="TextBox 13"/>
          <p:cNvSpPr txBox="1"/>
          <p:nvPr/>
        </p:nvSpPr>
        <p:spPr>
          <a:xfrm>
            <a:off x="3183940" y="2560320"/>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team's shared files and instructions</a:t>
            </a:r>
          </a:p>
        </p:txBody>
      </p:sp>
      <p:sp>
        <p:nvSpPr>
          <p:cNvPr id="15" name="TextBox 14"/>
          <p:cNvSpPr txBox="1"/>
          <p:nvPr/>
        </p:nvSpPr>
        <p:spPr>
          <a:xfrm>
            <a:off x="8494776" y="2560320"/>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a:t>
            </a:r>
          </a:p>
        </p:txBody>
      </p:sp>
      <p:sp>
        <p:nvSpPr>
          <p:cNvPr id="16" name="TextBox 15"/>
          <p:cNvSpPr txBox="1"/>
          <p:nvPr/>
        </p:nvSpPr>
        <p:spPr>
          <a:xfrm>
            <a:off x="749808" y="3189427"/>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3183940" y="3189427"/>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Lead's chat; role cards; skills; subagents; scripts; the video</a:t>
            </a:r>
          </a:p>
        </p:txBody>
      </p:sp>
      <p:sp>
        <p:nvSpPr>
          <p:cNvPr id="18" name="TextBox 17"/>
          <p:cNvSpPr txBox="1"/>
          <p:nvPr/>
        </p:nvSpPr>
        <p:spPr>
          <a:xfrm>
            <a:off x="8494776" y="3189427"/>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1–12, 14</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a:t>
            </a:r>
          </a:p>
        </p:txBody>
      </p:sp>
      <p:sp>
        <p:nvSpPr>
          <p:cNvPr id="21" name="TextBox 20"/>
          <p:cNvSpPr txBox="1"/>
          <p:nvPr/>
        </p:nvSpPr>
        <p:spPr>
          <a:xfrm>
            <a:off x="3183940" y="3818534"/>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Plugins (Drive, Gmail), skills, scheduled tasks</a:t>
            </a:r>
          </a:p>
        </p:txBody>
      </p:sp>
      <p:sp>
        <p:nvSpPr>
          <p:cNvPr id="22" name="TextBox 21"/>
          <p:cNvSpPr txBox="1"/>
          <p:nvPr/>
        </p:nvSpPr>
        <p:spPr>
          <a:xfrm>
            <a:off x="8494776" y="3818534"/>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4, 11, 13</a:t>
            </a:r>
          </a:p>
        </p:txBody>
      </p:sp>
      <p:sp>
        <p:nvSpPr>
          <p:cNvPr id="23" name="TextBox 22"/>
          <p:cNvSpPr txBox="1"/>
          <p:nvPr/>
        </p:nvSpPr>
        <p:spPr>
          <a:xfrm>
            <a:off x="749808" y="4447641"/>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24" name="TextBox 23"/>
          <p:cNvSpPr txBox="1"/>
          <p:nvPr/>
        </p:nvSpPr>
        <p:spPr>
          <a:xfrm>
            <a:off x="3183940" y="4447641"/>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campaign landing page; Horizon's website is given as a public link</a:t>
            </a:r>
          </a:p>
        </p:txBody>
      </p:sp>
      <p:sp>
        <p:nvSpPr>
          <p:cNvPr id="25" name="TextBox 24"/>
          <p:cNvSpPr txBox="1"/>
          <p:nvPr/>
        </p:nvSpPr>
        <p:spPr>
          <a:xfrm>
            <a:off x="8494776" y="4447641"/>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Dots · workspace agents</a:t>
            </a:r>
          </a:p>
        </p:txBody>
      </p:sp>
      <p:sp>
        <p:nvSpPr>
          <p:cNvPr id="28" name="TextBox 27"/>
          <p:cNvSpPr txBox="1"/>
          <p:nvPr/>
        </p:nvSpPr>
        <p:spPr>
          <a:xfrm>
            <a:off x="3183940" y="5076748"/>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Optional demo: an always-on Lead and shared agents</a:t>
            </a:r>
          </a:p>
        </p:txBody>
      </p:sp>
      <p:sp>
        <p:nvSpPr>
          <p:cNvPr id="29" name="TextBox 28"/>
          <p:cNvSpPr txBox="1"/>
          <p:nvPr/>
        </p:nvSpPr>
        <p:spPr>
          <a:xfrm>
            <a:off x="8494776" y="5076748"/>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15 (optional)</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chatgpt.com/download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macOS</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Download for macOS from the page</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Windows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Opens the Microsoft Store listing</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Work, Codex and Sites need a paid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Download and install  </a:t>
            </a:r>
            <a:r>
              <a:rPr sz="1350">
                <a:solidFill>
                  <a:srgbClr val="6B6862"/>
                </a:solidFill>
                <a:latin typeface="Calibri"/>
              </a:rPr>
              <a:t>The new desktop app from chatgpt.com/download, not "ChatGPT Classic".</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a:t>
            </a:r>
            <a:r>
              <a:rPr sz="1350">
                <a:solidFill>
                  <a:srgbClr val="6B6862"/>
                </a:solidFill>
                <a:latin typeface="Calibri"/>
              </a:rPr>
              <a:t>On the plan you will use in class — limits follow the account.</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Find Chat, Work and Codex  </a:t>
            </a:r>
            <a:r>
              <a:rPr sz="1350">
                <a:solidFill>
                  <a:srgbClr val="6B6862"/>
                </a:solidFill>
                <a:latin typeface="Calibri"/>
              </a:rPr>
              <a:t>The toggle above the composer; Codex in the sidebar.</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Node.js 22, Python 3, ffmpeg  </a:t>
            </a:r>
            <a:r>
              <a:rPr sz="1350">
                <a:solidFill>
                  <a:srgbClr val="6B6862"/>
                </a:solidFill>
                <a:latin typeface="Calibri"/>
              </a:rPr>
              <a:t>For the publisher kit and the video (Pillow for Python).</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Project + AGENTS.md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Project files and instructions in ChatGPT; the charter in AGENTS.md for Codex.</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Horizon Marketing project, horizon-studio/ with AGENTS.md, and the public site link in the charter</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Project → Codex</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ChatGPT Project with shared files · AGENTS.md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PUBLIC SITE   </a:t>
            </a:r>
            <a:r>
              <a:rPr sz="1000" b="0">
                <a:solidFill>
                  <a:srgbClr val="21201C"/>
                </a:solidFill>
                <a:latin typeface="Calibri"/>
                <a:hlinkClick r:id="rId2"/>
              </a:rPr>
              <a:t>tertiarycourses.github.io/TGS-2023036153-Multi-AI-Agents-Workflow-for-Content-Creation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the folder  </a:t>
            </a:r>
            <a:r>
              <a:rPr sz="1550">
                <a:solidFill>
                  <a:srgbClr val="6B6862"/>
                </a:solidFill>
                <a:latin typeface="Calibri"/>
              </a:rPr>
              <a:t>In Codex create a local project and choose labs_chatgpt/horizon-studio. It is ready-made — do not create one.</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Make the Project  </a:t>
            </a:r>
            <a:r>
              <a:rPr sz="1550">
                <a:solidFill>
                  <a:srgbClr val="6B6862"/>
                </a:solidFill>
                <a:latin typeface="Calibri"/>
              </a:rPr>
              <a:t>In ChatGPT create the Project "Horizon Marketing" with the charter, brand, facts and compliance files. Copy and paste Prompt A as its instructions.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In Codex, copy and paste Prompt B.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Codex saves data/team-design.md, copy and paste Prompt C. Open AGENTS.md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"Open web/site/index.html in my web browser." This is your own copy of Horizon's website; the public site never changes. Check the calculator shows S$693,138.</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ChatGPT Project: instructions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support Horizon Wealth Planning's AI marketing team. Use the project files: team-charter.md for who does what, brand.md for the voice and look, facts-2026.md for every number, and compliance-checklist.md before anything is shown to a person. Never publish or send anything.</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the charter</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AGENTS.md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In Files, add two lines:</a:t>
            </a:r>
          </a:p>
          <a:p>
            <a:pPr>
              <a:lnSpc>
                <a:spcPct val="110000"/>
              </a:lnSpc>
              <a:defRPr sz="1700" b="0">
                <a:solidFill>
                  <a:srgbClr val="21201C"/>
                </a:solidFill>
                <a:latin typeface="Calibri"/>
              </a:defRPr>
            </a:pPr>
            <a:r>
              <a:t>- Our copy of the site, which we edit and preview:</a:t>
            </a:r>
          </a:p>
          <a:p>
            <a:pPr>
              <a:lnSpc>
                <a:spcPct val="110000"/>
              </a:lnSpc>
              <a:defRPr sz="1700" b="0">
                <a:solidFill>
                  <a:srgbClr val="21201C"/>
                </a:solidFill>
                <a:latin typeface="Calibri"/>
              </a:defRPr>
            </a:pPr>
            <a:r>
              <a:t>  web/site/index.html</a:t>
            </a:r>
          </a:p>
          <a:p>
            <a:pPr>
              <a:lnSpc>
                <a:spcPct val="110000"/>
              </a:lnSpc>
              <a:defRPr sz="1700" b="0">
                <a:solidFill>
                  <a:srgbClr val="21201C"/>
                </a:solidFill>
                <a:latin typeface="Calibri"/>
              </a:defRPr>
            </a:pPr>
            <a:r>
              <a:t>- Public site, the link every post points to (it never changes): https://tertiarycourses.github.io/TGS-2023036153-Multi-AI-Agents-Workflow-for-Content-Creation/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Horizon Marketing project holds the four files and the instructions.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names your copy of the site and the public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own copy of the website opens in your browser; the calculator shows S$693,138.</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role card in agents/. AGENTS.md tells Codex to use one subagent per role, each following its card.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8" name="Rounded Rectangle 7"/>
          <p:cNvSpPr/>
          <p:nvPr/>
        </p:nvSpPr>
        <p:spPr>
          <a:xfrm>
            <a:off x="548640" y="2084831"/>
            <a:ext cx="11064240" cy="4074231"/>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agents/content-creator.md</a:t>
            </a:r>
          </a:p>
        </p:txBody>
      </p:sp>
      <p:sp>
        <p:nvSpPr>
          <p:cNvPr id="11" name="TextBox 10"/>
          <p:cNvSpPr txBox="1"/>
          <p:nvPr/>
        </p:nvSpPr>
        <p:spPr>
          <a:xfrm>
            <a:off x="822959" y="2724911"/>
            <a:ext cx="10515600" cy="3306135"/>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 Content Creator — role card</a:t>
            </a:r>
          </a:p>
          <a:p>
            <a:pPr>
              <a:lnSpc>
                <a:spcPct val="114000"/>
              </a:lnSpc>
              <a:defRPr sz="1300" b="0">
                <a:solidFill>
                  <a:srgbClr val="E8E5DE"/>
                </a:solidFill>
                <a:latin typeface="Courier New"/>
              </a:defRPr>
            </a:pPr>
            <a:r>
              <a:t>You are Horizon Wealth Planning's Content Creator.</a:t>
            </a:r>
          </a:p>
          <a:p>
            <a:pPr>
              <a:lnSpc>
                <a:spcPct val="114000"/>
              </a:lnSpc>
              <a:defRPr sz="1300" b="0">
                <a:solidFill>
                  <a:srgbClr val="E8E5DE"/>
                </a:solidFill>
                <a:latin typeface="Courier New"/>
              </a:defRPr>
            </a:pPr>
            <a:r>
              <a:t>## What you read   the brief, facts-2026.md, brand.md</a:t>
            </a:r>
          </a:p>
          <a:p>
            <a:pPr>
              <a:lnSpc>
                <a:spcPct val="114000"/>
              </a:lnSpc>
              <a:defRPr sz="1300" b="0">
                <a:solidFill>
                  <a:srgbClr val="E8E5DE"/>
                </a:solidFill>
                <a:latin typeface="Courier New"/>
              </a:defRPr>
            </a:pPr>
            <a:r>
              <a:t>## What you deliver   content files, ready for review</a:t>
            </a:r>
          </a:p>
          <a:p>
            <a:pPr>
              <a:lnSpc>
                <a:spcPct val="114000"/>
              </a:lnSpc>
              <a:defRPr sz="1300" b="0">
                <a:solidFill>
                  <a:srgbClr val="E8E5DE"/>
                </a:solidFill>
                <a:latin typeface="Courier New"/>
              </a:defRPr>
            </a:pPr>
            <a:r>
              <a:t>## Skills   sunny-voice, copywriting, channel-formats,</a:t>
            </a:r>
          </a:p>
          <a:p>
            <a:pPr>
              <a:lnSpc>
                <a:spcPct val="114000"/>
              </a:lnSpc>
              <a:defRPr sz="1300" b="0">
                <a:solidFill>
                  <a:srgbClr val="E8E5DE"/>
                </a:solidFill>
                <a:latin typeface="Courier New"/>
              </a:defRPr>
            </a:pPr>
            <a:r>
              <a:t>           linkedin-post, facebook-post, blog-post, newsletter</a:t>
            </a:r>
          </a:p>
          <a:p>
            <a:pPr>
              <a:lnSpc>
                <a:spcPct val="114000"/>
              </a:lnSpc>
              <a:defRPr sz="1300" b="0">
                <a:solidFill>
                  <a:srgbClr val="E8E5DE"/>
                </a:solidFill>
                <a:latin typeface="Courier New"/>
              </a:defRPr>
            </a:pPr>
            <a:r>
              <a:t>## Plugins   @Google Drive (docs), @Gmail (drafts only)</a:t>
            </a:r>
          </a:p>
          <a:p>
            <a:pPr>
              <a:lnSpc>
                <a:spcPct val="114000"/>
              </a:lnSpc>
              <a:defRPr sz="1300" b="0">
                <a:solidFill>
                  <a:srgbClr val="E8E5DE"/>
                </a:solidFill>
                <a:latin typeface="Courier New"/>
              </a:defRPr>
            </a:pPr>
            <a:r>
              <a:t>## Never   add a number not on the facts sheet; send;</a:t>
            </a:r>
          </a:p>
          <a:p>
            <a:pPr>
              <a:lnSpc>
                <a:spcPct val="114000"/>
              </a:lnSpc>
              <a:defRPr sz="1300" b="0">
                <a:solidFill>
                  <a:srgbClr val="E8E5DE"/>
                </a:solidFill>
                <a:latin typeface="Courier New"/>
              </a:defRPr>
            </a:pPr>
            <a:r>
              <a:t>           approve or publish for real</a:t>
            </a:r>
          </a:p>
          <a:p>
            <a:pPr>
              <a:lnSpc>
                <a:spcPct val="114000"/>
              </a:lnSpc>
              <a:defRPr sz="1300" b="0">
                <a:solidFill>
                  <a:srgbClr val="E8E5DE"/>
                </a:solidFill>
                <a:latin typeface="Courier New"/>
              </a:defRPr>
            </a:pPr>
            <a:r>
              <a:t>## Report back   what, where, anything unverified</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 AGENTS.md — The marketing team</a:t>
            </a:r>
          </a:p>
          <a:p>
            <a:pPr>
              <a:lnSpc>
                <a:spcPct val="114000"/>
              </a:lnSpc>
              <a:defRPr sz="1300" b="0">
                <a:solidFill>
                  <a:srgbClr val="E8E5DE"/>
                </a:solidFill>
                <a:latin typeface="Courier New"/>
              </a:defRPr>
            </a:pPr>
            <a:r>
              <a:t>When I ask for the team, use subagents — one per</a:t>
            </a:r>
          </a:p>
          <a:p>
            <a:pPr>
              <a:lnSpc>
                <a:spcPct val="114000"/>
              </a:lnSpc>
              <a:defRPr sz="1300" b="0">
                <a:solidFill>
                  <a:srgbClr val="E8E5DE"/>
                </a:solidFill>
                <a:latin typeface="Courier New"/>
              </a:defRPr>
            </a:pPr>
            <a:r>
              <a:t>role — each following its card in agents/.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card name is how you ask for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agents/: five role cards, and the roster in AGENTS.md</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(role cards,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role cards in agents/ · the roster in AGENTS.md · subagents by asking</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five role cards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role cards in agents/ — growth-strategist.md, content-creator.md, creative-designer.md, website-designer.md and growth-analyst.md. Each has: the job, what it reads, what it delivers, the plugins it may use, what it must never do, and how it reports back. Then add "## The marketing team" to AGENTS.md: one line per agent pointing to its card, and the rule "when I ask for the team, use subagents — one per role — each following its card".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see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role cards in agents/. For each, show the file name, the role and its one-line job, in a table. Then confirm there are five, and that AGENTS.md lists all five under "## The marketing team". If any other card is there, list it and ask me before moving it to _archive/.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 one per role, each following its card in agents/.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card has job, reads, delivers, plugins, never and report sections.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lists the team and the subagent rule.</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.agents/skills/ for Codex; @skill-creator for ChatGPT.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 THEN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.agents/skills/,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($skill-creator) → ChatGPT (@skill-creator)</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THEN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.agents/skills/, copy and paste Prompt B, then C to list every skill. The Lead's two go in AGENTS.md, not a file.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Share with ChatGPT  </a:t>
            </a:r>
            <a:r>
              <a:rPr sz="1300">
                <a:solidFill>
                  <a:srgbClr val="6B6862"/>
                </a:solidFill>
                <a:latin typeface="Calibri"/>
              </a:rPr>
              <a:t>Use @skill-creator in ChatGPT to add sunny-voice, channel-formats and fin-compliance there too.</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$skill-creator Read data/skills-spec.md and create the twenty skills in .agents/skills/&lt;name&gt;/ SKILL.md. Each has a name,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line to each role card in agents/ with its skills from data/skills-spec.md. Add to AGENTS.md that the Lead (this chat) runs fact-check and fin-compliance on everything before showing it to me.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.agents/skills/. Show each skill, its owner (a role card, or the Lead) and its "Use when" line in a table. Confirm there are twenty, that each specialist has the skills the spec gives it, and that fact-check and fin-compliance belong to the Lead (this chat).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(AGENTS.md) short and put procedures in skills.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.agents/skills/, each with a SKILL.md.</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skills also appear in ChatGPT Skills.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Plugins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in Plugins; call them with @. Sites and $imagegen are built 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$imagegen, ffmpeg in Codex</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card lists only the plugins it may call.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 THEN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plugins → Codex</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@Google Drive · @Gmail (drafts) · @Computer Use · $imagegen · @Sites · least privilege per agent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THEN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Start a new chat in the Horizon Marketing project and 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the plugins  </a:t>
            </a:r>
            <a:r>
              <a:rPr sz="1300">
                <a:solidFill>
                  <a:srgbClr val="6B6862"/>
                </a:solidFill>
                <a:latin typeface="Calibri"/>
              </a:rPr>
              <a:t>Plugins: Google Drive, Gmail and Computer Use. Sites and $imagegen are built in.</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Use your own account  </a:t>
            </a:r>
            <a:r>
              <a:rPr sz="1300">
                <a:solidFill>
                  <a:srgbClr val="6B6862"/>
                </a:solidFill>
                <a:latin typeface="Calibri"/>
              </a:rPr>
              <a:t>Connect your personal Google account — never an employer's.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data/ to a Drive folder named Horizon Studio.</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Copy and paste Prompt A — one small job per agent, each on its own plugin.</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limits  </a:t>
            </a:r>
            <a:r>
              <a:rPr sz="1300">
                <a:solidFill>
                  <a:srgbClr val="6B6862"/>
                </a:solidFill>
                <a:latin typeface="Calibri"/>
              </a:rPr>
              <a:t>After the new session opens, copy and paste Prompt B.</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test each agent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one per check, each following its role card:</a:t>
            </a:r>
          </a:p>
          <a:p>
            <a:pPr>
              <a:lnSpc>
                <a:spcPct val="110000"/>
              </a:lnSpc>
              <a:defRPr sz="1700" b="0">
                <a:solidFill>
                  <a:srgbClr val="21201C"/>
                </a:solidFill>
                <a:latin typeface="Calibri"/>
              </a:defRPr>
            </a:pPr>
            <a:r>
              <a:t>1. growth-strategist: web search — one 2026 news item about financial planning in Singapore, cited.</a:t>
            </a:r>
          </a:p>
          <a:p>
            <a:pPr>
              <a:lnSpc>
                <a:spcPct val="110000"/>
              </a:lnSpc>
              <a:defRPr sz="1700" b="0">
                <a:solidFill>
                  <a:srgbClr val="21201C"/>
                </a:solidFill>
                <a:latin typeface="Calibri"/>
              </a:defRPr>
            </a:pPr>
            <a:r>
              <a:t>2. growth-analyst: @Google Drive — read firm-metrics.csv from Horizon Studio; report average monthly enquiries.</a:t>
            </a:r>
          </a:p>
          <a:p>
            <a:pPr>
              <a:lnSpc>
                <a:spcPct val="110000"/>
              </a:lnSpc>
              <a:defRPr sz="1700" b="0">
                <a:solidFill>
                  <a:srgbClr val="21201C"/>
                </a:solidFill>
                <a:latin typeface="Calibri"/>
              </a:defRPr>
            </a:pPr>
            <a:r>
              <a:t>3. content-creator: @Gmail — a DRAFT to me with the subject "Connector test". Do not send.</a:t>
            </a:r>
          </a:p>
          <a:p>
            <a:pPr>
              <a:lnSpc>
                <a:spcPct val="110000"/>
              </a:lnSpc>
              <a:defRPr sz="1700" b="0">
                <a:solidFill>
                  <a:srgbClr val="21201C"/>
                </a:solidFill>
                <a:latin typeface="Calibri"/>
              </a:defRPr>
            </a:pPr>
            <a:r>
              <a:t>4. creative-designer: $imagegen — a 1080x1080 test image in Horizon colours.</a:t>
            </a:r>
          </a:p>
          <a:p>
            <a:pPr>
              <a:lnSpc>
                <a:spcPct val="110000"/>
              </a:lnSpc>
              <a:defRPr sz="1700" b="0">
                <a:solidFill>
                  <a:srgbClr val="21201C"/>
                </a:solidFill>
                <a:latin typeface="Calibri"/>
              </a:defRPr>
            </a:pPr>
            <a:r>
              <a:t>5. website-designer: @Computer Use — open our own copy of the site (web/site/index.html) at mobile width and report any problem. Report each result in one line.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least privilege</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Update the "Plugins" section of each role card in agents/ to match data/connectors-setup.md: what it may use, and that @Gmail is drafts-only. Remove any plugin a role does not need.</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three plugins are installed and connected.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research and ideas</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Show me the top five and stop —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storyboard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Write for a business owner, in plain English: no codes, IDs, file names or line numbers; start with what it means and what I do next. Save a Word copy (.docx) of each result.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(analyst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personas are written,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three analysts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Write for a business owner, in plain English: no codes, IDs, file names or line numbers; start with what it means and what I do next. Save a Word copy (.docx) of each result.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requirements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Show the numbers. Write for a business owner, in plain English: no codes, IDs, file names or line numbers; start with what it means and what I do next. Save a Word copy (.docx) of each result.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strategist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Show a week-by-week summary with hours.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 not Codex</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person making one piece: ChatGPT is enough.</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General help, your rules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Web search and drafting, steered by your skills.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(web search,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a person reads it last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Start a new chat in the Horizon Marketing project and 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Bring the skills  </a:t>
            </a:r>
            <a:r>
              <a:rPr sz="1550">
                <a:solidFill>
                  <a:srgbClr val="6B6862"/>
                </a:solidFill>
                <a:latin typeface="Calibri"/>
              </a:rPr>
              <a:t>Use @skill-creator to add blog-post and fact-check to ChatGPT (sunny-voice and fin-compliance came in Lab 3).</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it  </a:t>
            </a:r>
            <a:r>
              <a:rPr sz="1550">
                <a:solidFill>
                  <a:srgbClr val="6B6862"/>
                </a:solidFill>
                <a:latin typeface="Calibri"/>
              </a:rPr>
              <a:t>Copy and paste the prompt. ChatGPT researches, writes, checks and fixes the article.</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a:t>
            </a:r>
            <a:r>
              <a:rPr sz="1550">
                <a:solidFill>
                  <a:srgbClr val="6B6862"/>
                </a:solidFill>
                <a:latin typeface="Calibri"/>
              </a:rPr>
              <a:t>Read the article and the list of fixes. Say what to change, if anything.</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ChatGPT: a quick blog</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with the blog-post, sunny-voice, fact-check and fin-compliance skills.</a:t>
            </a:r>
          </a:p>
          <a:p>
            <a:pPr>
              <a:lnSpc>
                <a:spcPct val="110000"/>
              </a:lnSpc>
              <a:defRPr sz="1700" b="0">
                <a:solidFill>
                  <a:srgbClr val="21201C"/>
                </a:solidFill>
                <a:latin typeface="Calibri"/>
              </a:defRPr>
            </a:pPr>
            <a:r>
              <a:t>1. Pick one topic from strategy/storyboard.md (upload it) that a Singaporean would search for. Search the web for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facts-2026.md, one call to action (book a free 30-minute chat) and the full disclaimer.</a:t>
            </a:r>
          </a:p>
          <a:p>
            <a:pPr>
              <a:lnSpc>
                <a:spcPct val="110000"/>
              </a:lnSpc>
              <a:defRPr sz="1700" b="0">
                <a:solidFill>
                  <a:srgbClr val="21201C"/>
                </a:solidFill>
                <a:latin typeface="Calibri"/>
              </a:defRPr>
            </a:pPr>
            <a:r>
              <a:t>3. Run fact-check and fin-compliance; fix every issue and list each fix in one line.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and the Lead's review</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lead magnet: a checklist people want, and its emails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ChatGPT: a printable page and a PDF.</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PDF and three welcome emails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(@Gmail drafts,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(PDF) · a three-email welcome sequence · drafts only</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Start a new chat in the Horizon Marketing project and 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Bring the skills  </a:t>
            </a:r>
            <a:r>
              <a:rPr sz="1550">
                <a:solidFill>
                  <a:srgbClr val="6B6862"/>
                </a:solidFill>
                <a:latin typeface="Calibri"/>
              </a:rPr>
              <a:t>Use @skill-creator to add lead-magnet and newsletter to ChatGPT.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ChatGPT lays out the checklist and gives you a PDF; ask in the chat for any change.</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ChatGPT: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give me a PDF to download. Write for a business owner, in plain English: no codes, IDs, file names or line numbers; start with what it means and what I do next. Save a Word copy (.docx) of each result.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ChatGPT: the welcome emails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three welcome emails for people who download the checklist: day 0 (here it is), day 3 (the item most people miss — the retirement number), day 7 (book a free chat). Follow the newsletter and sunny-voice skills → content/email/welcome-sequence.md. Then, using @Gmail, create the three emails as DRAFTS in my Gmail, addressed to me. Send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ChatGPT: check it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in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No files to wire: ask directly, and Codex runs one subagent per role.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directly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"Use subagents — one per role, each following its card in agents/." Codex delegates when you ask.</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Watch the panel</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Subagents panel shows Active and Done. Click one to see its work and summary.</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They inherit your limits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Subagents run with your sandbox and permissions — keep workspace-write.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Parallel, Then Review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Subagents report back to the Lead; the Lead sends fixes back.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reads the brief and splits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Parallel</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Creator and Designer work at the same time.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Combine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pairs each post with its image.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 to the right subagent.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Passed pieces wait in approvals.csv for a person.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Subagents talk to the Lead, not to each other. The Lead's review is what makes parallel work safe.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approve.mjs refuses to run without an interactive terminal — an agent's tool call cannot approve.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PreToolUse hook blocks agents from running approve.mjs or publishing unapproved items — in Codex, you trust it first.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HOOKS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Hook That Holds the Gate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Ask Codex to add it to .codex/hooks.json, then trust it. Exit code 2 blocks the call.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ounded Rectangle 7"/>
          <p:cNvSpPr/>
          <p:nvPr/>
        </p:nvSpPr>
        <p:spPr>
          <a:xfrm>
            <a:off x="548640" y="2084831"/>
            <a:ext cx="11064240" cy="2237262"/>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Ask Codex</a:t>
            </a:r>
          </a:p>
        </p:txBody>
      </p:sp>
      <p:sp>
        <p:nvSpPr>
          <p:cNvPr id="11" name="TextBox 10"/>
          <p:cNvSpPr txBox="1"/>
          <p:nvPr/>
        </p:nvSpPr>
        <p:spPr>
          <a:xfrm>
            <a:off x="822959" y="2724911"/>
            <a:ext cx="10515600" cy="146916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Add a PreToolUse hook in .codex/hooks.json that runs</a:t>
            </a:r>
          </a:p>
          <a:p>
            <a:pPr>
              <a:lnSpc>
                <a:spcPct val="114000"/>
              </a:lnSpc>
              <a:defRPr sz="1300" b="0">
                <a:solidFill>
                  <a:srgbClr val="E8E5DE"/>
                </a:solidFill>
                <a:latin typeface="Courier New"/>
              </a:defRPr>
            </a:pPr>
            <a:r>
              <a:t>  node scripts/gate-hook.mjs</a:t>
            </a:r>
          </a:p>
          <a:p>
            <a:pPr>
              <a:lnSpc>
                <a:spcPct val="114000"/>
              </a:lnSpc>
              <a:defRPr sz="1300" b="0">
                <a:solidFill>
                  <a:srgbClr val="E8E5DE"/>
                </a:solidFill>
                <a:latin typeface="Courier New"/>
              </a:defRPr>
            </a:pPr>
            <a:r>
              <a:t>before every shell command. It must block any</a:t>
            </a:r>
          </a:p>
          <a:p>
            <a:pPr>
              <a:lnSpc>
                <a:spcPct val="114000"/>
              </a:lnSpc>
              <a:defRPr sz="1300" b="0">
                <a:solidFill>
                  <a:srgbClr val="E8E5DE"/>
                </a:solidFill>
                <a:latin typeface="Courier New"/>
              </a:defRPr>
            </a:pPr>
            <a:r>
              <a:t>command that runs approve.mjs, and any</a:t>
            </a:r>
          </a:p>
          <a:p>
            <a:pPr>
              <a:lnSpc>
                <a:spcPct val="114000"/>
              </a:lnSpc>
              <a:defRPr sz="1300" b="0">
                <a:solidFill>
                  <a:srgbClr val="E8E5DE"/>
                </a:solidFill>
                <a:latin typeface="Courier New"/>
              </a:defRPr>
            </a:pPr>
            <a:r>
              <a:t>publish.mjs --live whose item is not approved and</a:t>
            </a:r>
          </a:p>
          <a:p>
            <a:pPr>
              <a:lnSpc>
                <a:spcPct val="114000"/>
              </a:lnSpc>
              <a:defRPr sz="1300" b="0">
                <a:solidFill>
                  <a:srgbClr val="E8E5DE"/>
                </a:solidFill>
                <a:latin typeface="Courier New"/>
              </a:defRPr>
            </a:pPr>
            <a:r>
              <a:t>unchanged. Show me the hook, then ask me to trust it.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in your own terminal; dry run, then go.</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(or dry-run)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 creator and designer subagents in parallel · the Lead's review · human approval → post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10".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the kit  </a:t>
            </a:r>
            <a:r>
              <a:rPr sz="1300">
                <a:solidFill>
                  <a:srgbClr val="6B6862"/>
                </a:solidFill>
                <a:latin typeface="Calibri"/>
              </a:rPr>
              <a:t>Copy publisher-kit/scripts into scripts/. Then ask Codex to add a hook that blocks any command running approve.mjs, and trust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Codex to approve anything. approve.mjs refuses without a person at a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the team  </a:t>
            </a:r>
            <a:r>
              <a:rPr sz="1300">
                <a:solidFill>
                  <a:srgbClr val="6B6862"/>
                </a:solidFill>
                <a:latin typeface="Calibri"/>
              </a:rPr>
              <a:t>Copy and paste Prompt A. Watch the Subagents panel: Active, then Done.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review  </a:t>
            </a:r>
            <a:r>
              <a:rPr sz="1300">
                <a:solidFill>
                  <a:srgbClr val="6B6862"/>
                </a:solidFill>
                <a:latin typeface="Calibri"/>
              </a:rPr>
              <a:t>The Lead's fact-check and fin-compliance table — at least one fix.</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In your own terminal: node scripts/approve.mjs &lt;id&gt; --by "Your Name".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a:t>
            </a:r>
            <a:r>
              <a:rPr sz="1300">
                <a:solidFill>
                  <a:srgbClr val="6B6862"/>
                </a:solidFill>
                <a:latin typeface="Calibri"/>
              </a:rPr>
              <a:t>After you have approved the posts, copy and paste Prompt B. Dry run first; --live only if your accounts are connected.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social team</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Plan Week 1 social from data/social-brief.md and strategy/calendar.csv. Use subagents in parallel, each following its card:</a:t>
            </a:r>
          </a:p>
          <a:p>
            <a:pPr>
              <a:lnSpc>
                <a:spcPct val="110000"/>
              </a:lnSpc>
              <a:defRPr sz="1700" b="0">
                <a:solidFill>
                  <a:srgbClr val="21201C"/>
                </a:solidFill>
                <a:latin typeface="Calibri"/>
              </a:defRPr>
            </a:pPr>
            <a:r>
              <a:t>- content-creator: 1 LinkedIn + 1 Facebook post with linkedin-post, facebook-post and copywriting, one file each in content/social/week-01/, with the frontmatter in data/publishing-spec.md.</a:t>
            </a:r>
          </a:p>
          <a:p>
            <a:pPr>
              <a:lnSpc>
                <a:spcPct val="110000"/>
              </a:lnSpc>
              <a:defRPr sz="1700" b="0">
                <a:solidFill>
                  <a:srgbClr val="21201C"/>
                </a:solidFill>
                <a:latin typeface="Calibri"/>
              </a:defRPr>
            </a:pPr>
            <a:r>
              <a:t>- creative-designer: one image per post with $imagegen and alt text, from the brief. Then run fact-check and fin-compliance on every post and send each fix back to the right subagent. When a post passes, run node scripts/submit.mjs on it.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publish</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every Week 1 post approved in review/approvals.csv, run node scripts/publish.mjs &lt;id&gt; as a dry run and show me each request. Wait for me to say "go" before any --live run.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Parallel subagents are fast; the Lead's review is what makes them safe.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hook (or approve.mjs) stopped the agent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subagents ran in parallel; both reached Done.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Lead sent at least one fix back to a subagent.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alt text, frontmatter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in your own terminal;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Dry runs printed every request; nothing went live unless you said go.</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Sites.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 THEN CHATGPT WORK</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@Sites → ChatGPT Work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THEN CHATGPT WORK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Read the email and the page copy; approve nl-2026-11 in your own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@Sites.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newsletter team</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the November Sunny Sunday email (data/newsletter-brief.md, data/newsletter-spec.md) and its landing page (data/landing-page-brief.md). Use subagents:</a:t>
            </a:r>
          </a:p>
          <a:p>
            <a:pPr>
              <a:lnSpc>
                <a:spcPct val="110000"/>
              </a:lnSpc>
              <a:defRPr sz="1700" b="0">
                <a:solidFill>
                  <a:srgbClr val="21201C"/>
                </a:solidFill>
                <a:latin typeface="Calibri"/>
              </a:defRPr>
            </a:pPr>
            <a:r>
              <a:t>- content-creator: issue.md (id nl-2026-11) with newsletter, and the landing-page copy.</a:t>
            </a:r>
          </a:p>
          <a:p>
            <a:pPr>
              <a:lnSpc>
                <a:spcPct val="110000"/>
              </a:lnSpc>
              <a:defRPr sz="1700" b="0">
                <a:solidFill>
                  <a:srgbClr val="21201C"/>
                </a:solidFill>
                <a:latin typeface="Calibri"/>
              </a:defRPr>
            </a:pPr>
            <a:r>
              <a:t>- website-designer: web/checklist/index.html with lead-magnet, web-design and landing-page; page-qa.</a:t>
            </a:r>
          </a:p>
          <a:p>
            <a:pPr>
              <a:lnSpc>
                <a:spcPct val="110000"/>
              </a:lnSpc>
              <a:defRPr sz="1700" b="0">
                <a:solidFill>
                  <a:srgbClr val="21201C"/>
                </a:solidFill>
                <a:latin typeface="Calibri"/>
              </a:defRPr>
            </a:pPr>
            <a:r>
              <a:t>- growth-analyst: recipients.csv and excluded.csv from data/subscribers.csv. Check everything, then submit nl-2026-11. After I approve, build newsletter.html and .txt, and deploy web/checklist with @Sites (Only those invited). Write for a business owner, in plain English: no codes, IDs, file names or line numbers; start with what it means and what I do next. Save a Word copy (.docx) of each result.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ChatGPT Work: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@Gmail, create a DRAFT of the newsletter in content/newsletter/2026-11/newsletter.html (upload it) for each address in recipients.csv, plus one draft to me only. Send nothing. Report how many drafts and how many people were excluded,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nl-2026-11 in your own terminal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$imagegen,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approve yt-ep01-script in your own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video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YouTube episode 1 (data/youtube-brief.md). Use subagents: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thumbnail with $imagegen, using brand-visuals). Fact-check and fin-compliance the script, then submit it as yt-ep01-script.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Codex: render and upload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 with ffprobe. Do not change approved words.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Run node scripts/publish.mjs yt-ep01 as a dry run. If I say "go", run it with --live: it uploads as PRIVATE. Give me the YouTube Studio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10</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Optional demo: a Dot Team Lead and workspace agents</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Scheduled runs appear in Scheduled; Plus allows 5 active tasks.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 WORK</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Work (skill, scheduled task,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WORK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Start a new ChatGPT Work chat and name it "Lab 13".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campaign-results.csv to the Horizon Studio folder.</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Bring the skill  </a:t>
            </a:r>
            <a:r>
              <a:rPr sz="1300">
                <a:solidFill>
                  <a:srgbClr val="6B6862"/>
                </a:solidFill>
                <a:latin typeface="Calibri"/>
              </a:rPr>
              <a:t>Use @skill-creator to add campaign-report to ChatGPT.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Copy and paste Prompt A. Refine the report until it is right.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After the report is right, copy and paste Prompt B. Runs appear in Scheduled.</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Run the task once and open the Gmail draft.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scheduled task.</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A and B — ChatGPT Work</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A</a:t>
            </a:r>
          </a:p>
          <a:p>
            <a:pPr>
              <a:lnSpc>
                <a:spcPct val="110000"/>
              </a:lnSpc>
              <a:defRPr sz="1700" b="0">
                <a:solidFill>
                  <a:srgbClr val="21201C"/>
                </a:solidFill>
                <a:latin typeface="Calibri"/>
              </a:defRPr>
            </a:pPr>
            <a:r>
              <a:t>Act as Horizon's Growth Analyst. Using @Google Drive, read campaign-results.csv in the Horizon Studio folder. Use the campaign-report skill and weekly-report-brief.md. Leave the report as a @Gmail DRAFT to me, subject "Horizon weekly growth report" and today's date. Send nothing.</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Do this every Monday at 8am, as a scheduled task. Draft only — never send,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campaign-report skill is available in ChatGPT.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approve.mjs (people only), hash, hook</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and the team playbook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In Codex start a new thread in horizon-studio and name it "Lab 14".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Copy and paste Prompt A.</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After the Lead shows the comparison, copy and 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compare</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parallel subagents with a Lead review and the scheduled task — on minutes, tokens, defects caught before a person and human edits. Which pattern pays off for which job? Save reports/agent-comparison.md. Write for a business owner, in plain English: no codes, IDs, file names or line numbers; start with what it means and what I do next. Save a Word copy (.docx) of each result.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playbook</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agents/, its skills, connectors, model and what it may never do; the approval matrix by risk; the rules in data/responsible-ai-checklist.md; and what to do when a wrong post goes out. Then run fin-compliance on it.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 Lead review?</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DOTS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Dots: Always-On Agent Coworkers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Announced at OpenAI DevDay, 29 September 2026. A demo, not assessed.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a Dot is</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persistent agent with its own cloud computer and browser that keeps working after you close the chat.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Kept in check</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Background research is read-only. Custom Rules permit, require approval for, or prohibit actions. Activity View shows its work.</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Who has it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first Dot is included on Pro and Business Premium; Enterprise and Edu can try the beta.</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WORKSPACE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Shared agents for Business, Enterprise and Edu workspaces.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Agents</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Click Agents in the sidebar.</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Describe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Describe the workflow — e.g. the weekly growth report.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Apps</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Add the approved apps it may use.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Trigger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Choose when it runs — e.g. weekly.</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Share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whole team uses the same agent.</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Same rule: draft, a person approves, then publish.</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~20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Optional. Rachel asks whether the Lead could work around the clock. The trainer shows a Dot as an always-on Team Lead and a workspace agent on a weekly trigger.</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demo Dot with Custom Rules that block sending, and one workspace agent (Growth Analyst) on a weekly trigger</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Dots and workspace agents — trainer demo</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Dot as an always-on Team Lead · Custom Rules · Activity View · workspace agents with apps and triggers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plan  </a:t>
            </a:r>
            <a:r>
              <a:rPr sz="1550">
                <a:solidFill>
                  <a:srgbClr val="6B6862"/>
                </a:solidFill>
                <a:latin typeface="Calibri"/>
              </a:rPr>
              <a:t>Dots: the first one is included on Pro and Business Premium. Workspace agents: Business, Enterprise, Edu.</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Make the Dot  </a:t>
            </a:r>
            <a:r>
              <a:rPr sz="1550">
                <a:solidFill>
                  <a:srgbClr val="6B6862"/>
                </a:solidFill>
                <a:latin typeface="Calibri"/>
              </a:rPr>
              <a:t>Give it the Team Lead's instructions and only the apps it needs.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Set Custom Rules  </a:t>
            </a:r>
            <a:r>
              <a:rPr sz="1550">
                <a:solidFill>
                  <a:srgbClr val="6B6862"/>
                </a:solidFill>
                <a:latin typeface="Calibri"/>
              </a:rPr>
              <a:t>Block sending, deleting and posting; require approval for anything account-affecting.</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Give it one job  </a:t>
            </a:r>
            <a:r>
              <a:rPr sz="1550">
                <a:solidFill>
                  <a:srgbClr val="6B6862"/>
                </a:solidFill>
                <a:latin typeface="Calibri"/>
              </a:rPr>
              <a:t>Copy and paste the prompt. Watch the work in Activity View.</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Build a workspace agent  </a:t>
            </a:r>
            <a:r>
              <a:rPr sz="1550">
                <a:solidFill>
                  <a:srgbClr val="6B6862"/>
                </a:solidFill>
                <a:latin typeface="Calibri"/>
              </a:rPr>
              <a:t>Agents in the sidebar → describe the Growth Analyst's weekly report → add apps → choose a trigger.</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the Dot</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Horizon Wealth Planning's Marketing Team Lead. Every Monday, summarise the week's calendar from the Horizon Studio Drive folder, list anything due for review, and draft — never send — a short brief to me. Ask before any action outside reading and drafting.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Optional, not assessed. Always-on agents make the human gate more important, not less.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Dot has the Lead's instructions and only the apps it needs.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Custom Rules block sending and posting.</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Activity View shows what it did.</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workspace agent has apps and a weekly trigger.</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 role cards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AFTER THE WORK</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Lead review</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combines subagent results and sends fixes back before a person sees anything.</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fact-check</a:t>
            </a:r>
          </a:p>
          <a:p>
            <a:pPr>
              <a:lnSpc>
                <a:spcPct val="100000"/>
              </a:lnSpc>
              <a:defRPr sz="1050" b="0">
                <a:solidFill>
                  <a:srgbClr val="21201C"/>
                </a:solidFill>
                <a:latin typeface="Courier New"/>
              </a:defRPr>
            </a:pPr>
            <a:r>
              <a:t>fin-compliance</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AGENTS.md rule</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.codex/hooks.json (trusted)</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ChatGPT Work</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ChatGPT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158</a:t>
            </a:r>
            <a:endParaRPr lang="en-US" sz="900" dirty="0"/>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159</a:t>
            </a:r>
            <a:endParaRPr lang="en-US" sz="900" dirty="0"/>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(ChatGPT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3.5 — ChatGPT Edition — 10 October 2026</dc:description>
</cp:coreProperties>
</file>