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4" r:id="rId10"/>
    <p:sldId id="265" r:id="rId11"/>
    <p:sldId id="266" r:id="rId12"/>
    <p:sldId id="318" r:id="rId64"/>
    <p:sldId id="326" r:id="rId73"/>
    <p:sldId id="327" r:id="rId60"/>
    <p:sldId id="328" r:id="rId59"/>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476" r:id="rId224"/>
    <p:sldId id="477" r:id="rId225"/>
    <p:sldId id="478" r:id="rId226"/>
    <p:sldId id="479" r:id="rId227"/>
    <p:sldId id="480" r:id="rId228"/>
    <p:sldId id="481" r:id="rId229"/>
    <p:sldId id="482" r:id="rId230"/>
    <p:sldId id="317" r:id="rId63"/>
    <p:sldId id="483" r:id="rId231"/>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tertiarycourses.github.io/TGS-2023036153-Multi-AI-Agents-Workflow-for-Content-Creation/"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hatgpt.com/download/"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localhost:8080/" TargetMode="External"/><Relationship Id="rId3" Type="http://schemas.openxmlformats.org/officeDocument/2006/relationships/hyperlink" Target="https://tertiarycourses.github.io/TGS-2023036153-Multi-AI-Agents-Workflow-for-Content-Creation/"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  TGS-2023036153  •  CHATGPT EDITION</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 Workflow</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3.7  ·  11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AI marketing teams of agents with ChatGPT and Codex.</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Workflow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168</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Conceptualise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Conceptualise content ideas that meet marketing objectives, and map them into digital storyboards.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Identify</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Identify content requirements from customer preferences, and decide how often to publish.</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Determine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Determine content types and styles, and the modes and processes for distributing content.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LO4 · Develop</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Develop guidelines for executing the content strategy, with suitable delivery modes and responsible AI practices.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Day 1 forms the team; Day 2 runs its campaigns.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Campaign 1. Labs 1–5.</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the first blog article. Labs 6–8.</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Lead magnet, social week, newsletter + landing page, video — behind a human gate. Labs 9–12.</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the playbook; subagents at work. Labs 13–15.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Fifteen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702807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Agent team · 2 Instructions · 3 Skills · 4 Connectors</a:t>
            </a:r>
          </a:p>
        </p:txBody>
      </p:sp>
      <p:sp>
        <p:nvSpPr>
          <p:cNvPr id="15" name="TextBox 14"/>
          <p:cNvSpPr txBox="1"/>
          <p:nvPr/>
        </p:nvSpPr>
        <p:spPr>
          <a:xfrm>
            <a:off x="9158630" y="2560320"/>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form the team</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9158630" y="3189427"/>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Campaign 1</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 · 8 Blog article</a:t>
            </a:r>
          </a:p>
        </p:txBody>
      </p:sp>
      <p:sp>
        <p:nvSpPr>
          <p:cNvPr id="22" name="TextBox 21"/>
          <p:cNvSpPr txBox="1"/>
          <p:nvPr/>
        </p:nvSpPr>
        <p:spPr>
          <a:xfrm>
            <a:off x="9158630" y="3818534"/>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audience, content</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 Lead magnet · 10 Social week · 11 Newsletter + landing page · 12 Video</a:t>
            </a:r>
          </a:p>
        </p:txBody>
      </p:sp>
      <p:sp>
        <p:nvSpPr>
          <p:cNvPr id="25" name="TextBox 24"/>
          <p:cNvSpPr txBox="1"/>
          <p:nvPr/>
        </p:nvSpPr>
        <p:spPr>
          <a:xfrm>
            <a:off x="9158630" y="4447641"/>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Campaigns 2–4</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 Weekly report · 14 Playbook · 15 Subagents: debate + QA loop</a:t>
            </a:r>
          </a:p>
        </p:txBody>
      </p:sp>
      <p:sp>
        <p:nvSpPr>
          <p:cNvPr id="29" name="TextBox 28"/>
          <p:cNvSpPr txBox="1"/>
          <p:nvPr/>
        </p:nvSpPr>
        <p:spPr>
          <a:xfrm>
            <a:off x="9158630" y="5076748"/>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T4 · Campaign 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15 — the team keeps what it learns.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WHICH APP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ChatGPT or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lab says which to use. The rule: ChatGPT to create and schedule; Codex when the agents work on files.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a:t>
            </a:r>
          </a:p>
        </p:txBody>
      </p:sp>
      <p:sp>
        <p:nvSpPr>
          <p:cNvPr id="10" name="TextBox 9"/>
          <p:cNvSpPr txBox="1"/>
          <p:nvPr/>
        </p:nvSpPr>
        <p:spPr>
          <a:xfrm>
            <a:off x="3183940"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 FOR</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a:t>
            </a:r>
          </a:p>
        </p:txBody>
      </p:sp>
      <p:sp>
        <p:nvSpPr>
          <p:cNvPr id="14" name="TextBox 13"/>
          <p:cNvSpPr txBox="1"/>
          <p:nvPr/>
        </p:nvSpPr>
        <p:spPr>
          <a:xfrm>
            <a:off x="3183940"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8, 9</a:t>
            </a:r>
          </a:p>
        </p:txBody>
      </p:sp>
      <p:sp>
        <p:nvSpPr>
          <p:cNvPr id="15" name="TextBox 14"/>
          <p:cNvSpPr txBox="1"/>
          <p:nvPr/>
        </p:nvSpPr>
        <p:spPr>
          <a:xfrm>
            <a:off x="6060643" y="2560320"/>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One person creating or designing.</a:t>
            </a:r>
          </a:p>
        </p:txBody>
      </p:sp>
      <p:sp>
        <p:nvSpPr>
          <p:cNvPr id="16" name="TextBox 15"/>
          <p:cNvSpPr txBox="1"/>
          <p:nvPr/>
        </p:nvSpPr>
        <p:spPr>
          <a:xfrm>
            <a:off x="749808" y="3084575"/>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a:t>
            </a:r>
          </a:p>
        </p:txBody>
      </p:sp>
      <p:sp>
        <p:nvSpPr>
          <p:cNvPr id="17" name="TextBox 16"/>
          <p:cNvSpPr txBox="1"/>
          <p:nvPr/>
        </p:nvSpPr>
        <p:spPr>
          <a:xfrm>
            <a:off x="3183940"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1, 2, 5, 6, 7, 10, 12, 14, 15</a:t>
            </a:r>
          </a:p>
        </p:txBody>
      </p:sp>
      <p:sp>
        <p:nvSpPr>
          <p:cNvPr id="18" name="TextBox 17"/>
          <p:cNvSpPr txBox="1"/>
          <p:nvPr/>
        </p:nvSpPr>
        <p:spPr>
          <a:xfrm>
            <a:off x="6060643" y="3084575"/>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team's files: role cards, skills, subagents, scripts, the video.</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 then ChatGPT</a:t>
            </a:r>
          </a:p>
        </p:txBody>
      </p:sp>
      <p:sp>
        <p:nvSpPr>
          <p:cNvPr id="21" name="TextBox 20"/>
          <p:cNvSpPr txBox="1"/>
          <p:nvPr/>
        </p:nvSpPr>
        <p:spPr>
          <a:xfrm>
            <a:off x="3183940"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a:t>
            </a:r>
          </a:p>
        </p:txBody>
      </p:sp>
      <p:sp>
        <p:nvSpPr>
          <p:cNvPr id="22" name="TextBox 21"/>
          <p:cNvSpPr txBox="1"/>
          <p:nvPr/>
        </p:nvSpPr>
        <p:spPr>
          <a:xfrm>
            <a:off x="6060643" y="3608831"/>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Build in Codex, then share in ChatGPT.</a:t>
            </a:r>
          </a:p>
        </p:txBody>
      </p:sp>
      <p:sp>
        <p:nvSpPr>
          <p:cNvPr id="23" name="TextBox 22"/>
          <p:cNvSpPr txBox="1"/>
          <p:nvPr/>
        </p:nvSpPr>
        <p:spPr>
          <a:xfrm>
            <a:off x="749808" y="4133087"/>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then Codex</a:t>
            </a:r>
          </a:p>
        </p:txBody>
      </p:sp>
      <p:sp>
        <p:nvSpPr>
          <p:cNvPr id="24" name="TextBox 23"/>
          <p:cNvSpPr txBox="1"/>
          <p:nvPr/>
        </p:nvSpPr>
        <p:spPr>
          <a:xfrm>
            <a:off x="3183940"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4</a:t>
            </a:r>
          </a:p>
        </p:txBody>
      </p:sp>
      <p:sp>
        <p:nvSpPr>
          <p:cNvPr id="25" name="TextBox 24"/>
          <p:cNvSpPr txBox="1"/>
          <p:nvPr/>
        </p:nvSpPr>
        <p:spPr>
          <a:xfrm>
            <a:off x="6060643" y="4133087"/>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Install plugins, then test the agents.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 then ChatGPT Work</a:t>
            </a:r>
          </a:p>
        </p:txBody>
      </p:sp>
      <p:sp>
        <p:nvSpPr>
          <p:cNvPr id="28" name="TextBox 27"/>
          <p:cNvSpPr txBox="1"/>
          <p:nvPr/>
        </p:nvSpPr>
        <p:spPr>
          <a:xfrm>
            <a:off x="3183940"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a:t>
            </a:r>
          </a:p>
        </p:txBody>
      </p:sp>
      <p:sp>
        <p:nvSpPr>
          <p:cNvPr id="29" name="TextBox 28"/>
          <p:cNvSpPr txBox="1"/>
          <p:nvPr/>
        </p:nvSpPr>
        <p:spPr>
          <a:xfrm>
            <a:off x="6060643" y="4657344"/>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Build in Codex; Gmail drafts in ChatGPT Work.</a:t>
            </a:r>
          </a:p>
        </p:txBody>
      </p:sp>
      <p:sp>
        <p:nvSpPr>
          <p:cNvPr id="30" name="TextBox 29"/>
          <p:cNvSpPr txBox="1"/>
          <p:nvPr/>
        </p:nvSpPr>
        <p:spPr>
          <a:xfrm>
            <a:off x="749808" y="5181599"/>
            <a:ext cx="215981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a:t>
            </a:r>
          </a:p>
        </p:txBody>
      </p:sp>
      <p:sp>
        <p:nvSpPr>
          <p:cNvPr id="31" name="TextBox 30"/>
          <p:cNvSpPr txBox="1"/>
          <p:nvPr/>
        </p:nvSpPr>
        <p:spPr>
          <a:xfrm>
            <a:off x="3183940"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a:t>
            </a:r>
          </a:p>
        </p:txBody>
      </p:sp>
      <p:sp>
        <p:nvSpPr>
          <p:cNvPr id="32" name="TextBox 31"/>
          <p:cNvSpPr txBox="1"/>
          <p:nvPr/>
        </p:nvSpPr>
        <p:spPr>
          <a:xfrm>
            <a:off x="6060643" y="5181599"/>
            <a:ext cx="5479084"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Scheduled tasks and plugins.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Both work on the same horizon-studio folder, so whatever one makes, the other can open.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45 min.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THE TEAM</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RUN THE CAMPAIGNS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9:00–10:30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9:00–10:40  Topic 3 · Labs 9–10</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10:40–12:40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10:50–12:35  Labs 11–12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13:25–15:20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13:20–15:00  Topic 4 · Labs 13–14</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15:30–18:00  Topic 2 · Labs 6–8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15:10–16:00 Subagents lab · summary · 16:00–18:00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4:00–5:00 PM, Practical Performance 5:00–6:00 PM.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AI agents, the tools, and Horizon's story</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Why a team of agents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public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1: research, ideas and a storyboard</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OPENAI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OpenAI Suite of Products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OpenAI's products share the same models — they differ in where they run and who they are for.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ChatGPT</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Chat and Work in one app — web, desktop and mobile. Ask, write, analyse; run multi-step tasks with plugins.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Codex</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agentic tool for building: it works on a folder of files. The team's home in this course.</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Sites</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Pages published from a chat with @Sites (beta on Plus, Pro and workspaces).</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Dots</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Persistent agents with their own cloud computer (Pro, Business Premium).</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Workspace agents</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Shared agents with apps and triggers (Business, Enterprise, Edu).</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ChatGPT Space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Shared pages where people, ChatGPT, Codex and Dots work together.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CHATGPT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ChatGPT (Chat + Work)?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desktop app: the toggle above the composer picks Chat or Work, and the sidebar holds Codex.</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Ask, draft, analyse and research; Projects keep shared files and instructions (Lab 1).</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Work</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Launched 9 July 2026: runs multi-step tasks with plugins, such as Google Drive and Gmail.</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Plugins and skills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Plugins bundle apps, skills and app templates; build your own skills with @skill-creator.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Sites and scheduled tasks</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Pages published with @Sites; tasks on a schedule — 5 active on Plus, 15 on Pro.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CODEX</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 agentic tool: describe a goal in plain English and Codex plans, writes, runs and checks the work — editing files and running commands for you.</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Runs where you work</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In the ChatGPT desktop app's sidebar, on a folder on your computer.</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Agentic</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multi-step tasks and acts on them — not just answers or autocompletes.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Tool-using</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Reads and writes files, runs commands in a sandbox, makes images with $imagegen.</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Extensible — the team's home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AGENTS.md, role cards, skills, subagents and hooks. You build Horizon's team here (Labs 1–7, 10–12, 14, 15).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CHATGPT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Dots and 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Always-on agents on the higher plans. Not needed for the labs — good to know.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Dots</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Announced at OpenAI DevDay, 29 September 2026: a persistent agent with its own cloud computer that keeps working after you close the chat. The first Dot is included on Pro and Business Premium.</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Kept in check</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Background research is read-only. Custom Rules permit, require approval for, or prohibit actions; Activity View shows its work.</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Workspace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Business, Enterprise and Edu: Agents in the sidebar → describe a workflow → add apps → choose a trigger.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PRICING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Plan Has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Features by ChatGPT plan, checked 8 Oct 2026. Prices change — check chatgpt.com/pricing.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4069079"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PLANS</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 THIS COURSE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 Codex</a:t>
            </a:r>
          </a:p>
        </p:txBody>
      </p:sp>
      <p:sp>
        <p:nvSpPr>
          <p:cNvPr id="14" name="TextBox 13"/>
          <p:cNvSpPr txBox="1"/>
          <p:nvPr/>
        </p:nvSpPr>
        <p:spPr>
          <a:xfrm>
            <a:off x="4069079"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Plus, Pro, Business, Enterprise</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a:t>
            </a:r>
          </a:p>
        </p:txBody>
      </p:sp>
      <p:sp>
        <p:nvSpPr>
          <p:cNvPr id="16" name="TextBox 15"/>
          <p:cNvSpPr txBox="1"/>
          <p:nvPr/>
        </p:nvSpPr>
        <p:spPr>
          <a:xfrm>
            <a:off x="749808" y="3084575"/>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Sites</a:t>
            </a:r>
          </a:p>
        </p:txBody>
      </p:sp>
      <p:sp>
        <p:nvSpPr>
          <p:cNvPr id="17" name="TextBox 16"/>
          <p:cNvSpPr txBox="1"/>
          <p:nvPr/>
        </p:nvSpPr>
        <p:spPr>
          <a:xfrm>
            <a:off x="4069079"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Plus, Pro and workspaces (beta)</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Plugins and skills</a:t>
            </a:r>
          </a:p>
        </p:txBody>
      </p:sp>
      <p:sp>
        <p:nvSpPr>
          <p:cNvPr id="21" name="TextBox 20"/>
          <p:cNvSpPr txBox="1"/>
          <p:nvPr/>
        </p:nvSpPr>
        <p:spPr>
          <a:xfrm>
            <a:off x="4069079"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Paid plans</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4, 13</a:t>
            </a:r>
          </a:p>
        </p:txBody>
      </p:sp>
      <p:sp>
        <p:nvSpPr>
          <p:cNvPr id="23" name="TextBox 22"/>
          <p:cNvSpPr txBox="1"/>
          <p:nvPr/>
        </p:nvSpPr>
        <p:spPr>
          <a:xfrm>
            <a:off x="749808" y="4133087"/>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Scheduled tasks</a:t>
            </a:r>
          </a:p>
        </p:txBody>
      </p:sp>
      <p:sp>
        <p:nvSpPr>
          <p:cNvPr id="24" name="TextBox 23"/>
          <p:cNvSpPr txBox="1"/>
          <p:nvPr/>
        </p:nvSpPr>
        <p:spPr>
          <a:xfrm>
            <a:off x="4069079"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Paid plans — 5 active on Plus, 15 on Pro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13</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Dots (first one included)</a:t>
            </a:r>
          </a:p>
        </p:txBody>
      </p:sp>
      <p:sp>
        <p:nvSpPr>
          <p:cNvPr id="28" name="TextBox 27"/>
          <p:cNvSpPr txBox="1"/>
          <p:nvPr/>
        </p:nvSpPr>
        <p:spPr>
          <a:xfrm>
            <a:off x="4069079"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Pro, Business Premium</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Good to know</a:t>
            </a:r>
          </a:p>
        </p:txBody>
      </p:sp>
      <p:sp>
        <p:nvSpPr>
          <p:cNvPr id="30" name="TextBox 29"/>
          <p:cNvSpPr txBox="1"/>
          <p:nvPr/>
        </p:nvSpPr>
        <p:spPr>
          <a:xfrm>
            <a:off x="749808" y="5181599"/>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Workspace agents</a:t>
            </a:r>
          </a:p>
        </p:txBody>
      </p:sp>
      <p:sp>
        <p:nvSpPr>
          <p:cNvPr id="31" name="TextBox 30"/>
          <p:cNvSpPr txBox="1"/>
          <p:nvPr/>
        </p:nvSpPr>
        <p:spPr>
          <a:xfrm>
            <a:off x="4069079"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Business, Enterprise, Edu</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Good to know</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This edition builds the team with skills and Codex subagents, so it works on Plus and Pro.</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HISTORY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Brief History of AI, 2023–2026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7" name="Rectangle 6"/>
          <p:cNvSpPr/>
          <p:nvPr/>
        </p:nvSpPr>
        <p:spPr>
          <a:xfrm>
            <a:off x="1931669" y="3657600"/>
            <a:ext cx="8298179"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Prompt Engineering</a:t>
            </a:r>
          </a:p>
        </p:txBody>
      </p:sp>
      <p:sp>
        <p:nvSpPr>
          <p:cNvPr id="9" name="Oval 8"/>
          <p:cNvSpPr/>
          <p:nvPr/>
        </p:nvSpPr>
        <p:spPr>
          <a:xfrm>
            <a:off x="152019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Anthropic launches Claude (March). Results depend on how you word the prompt.</a:t>
            </a:r>
          </a:p>
        </p:txBody>
      </p:sp>
      <p:sp>
        <p:nvSpPr>
          <p:cNvPr id="11" name="TextBox 10"/>
          <p:cNvSpPr txBox="1"/>
          <p:nvPr/>
        </p:nvSpPr>
        <p:spPr>
          <a:xfrm>
            <a:off x="336042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Context Engineering</a:t>
            </a:r>
          </a:p>
        </p:txBody>
      </p:sp>
      <p:sp>
        <p:nvSpPr>
          <p:cNvPr id="12" name="Oval 11"/>
          <p:cNvSpPr/>
          <p:nvPr/>
        </p:nvSpPr>
        <p:spPr>
          <a:xfrm>
            <a:off x="428625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338785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Results depend on what the model can see.</a:t>
            </a:r>
          </a:p>
        </p:txBody>
      </p:sp>
      <p:sp>
        <p:nvSpPr>
          <p:cNvPr id="14" name="TextBox 13"/>
          <p:cNvSpPr txBox="1"/>
          <p:nvPr/>
        </p:nvSpPr>
        <p:spPr>
          <a:xfrm>
            <a:off x="6126479"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Harness Engineering</a:t>
            </a:r>
          </a:p>
        </p:txBody>
      </p:sp>
      <p:sp>
        <p:nvSpPr>
          <p:cNvPr id="15" name="Oval 14"/>
          <p:cNvSpPr/>
          <p:nvPr/>
        </p:nvSpPr>
        <p:spPr>
          <a:xfrm>
            <a:off x="705230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6" name="TextBox 15"/>
          <p:cNvSpPr txBox="1"/>
          <p:nvPr/>
        </p:nvSpPr>
        <p:spPr>
          <a:xfrm>
            <a:off x="615391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E.g. Claude Code and Codex. The system around the model gives rise to agentic AI: task-oriented agents that plan, act and check their work.</a:t>
            </a:r>
          </a:p>
        </p:txBody>
      </p:sp>
      <p:sp>
        <p:nvSpPr>
          <p:cNvPr id="17" name="TextBox 16"/>
          <p:cNvSpPr txBox="1"/>
          <p:nvPr/>
        </p:nvSpPr>
        <p:spPr>
          <a:xfrm>
            <a:off x="889254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AI Agents</a:t>
            </a:r>
          </a:p>
        </p:txBody>
      </p:sp>
      <p:sp>
        <p:nvSpPr>
          <p:cNvPr id="18" name="Oval 17"/>
          <p:cNvSpPr/>
          <p:nvPr/>
        </p:nvSpPr>
        <p:spPr>
          <a:xfrm>
            <a:off x="981836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19" name="TextBox 18"/>
          <p:cNvSpPr txBox="1"/>
          <p:nvPr/>
        </p:nvSpPr>
        <p:spPr>
          <a:xfrm>
            <a:off x="891997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Always-on agents that work 24/7 on their own, e.g. OpenClaw, Hermes Agent and ChatGPT Dots.</a:t>
            </a:r>
          </a:p>
        </p:txBody>
      </p:sp>
      <p:sp>
        <p:nvSpPr>
          <p:cNvPr id="20" name="TextBox 19"/>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From wording one prompt, to curating context, to engineering the system around the model — and now, agents that work around the clock.</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 Harness?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model is the brain. The harness is everything built around it that turns a model into an agent able to finish long tasks.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agentic loop</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acts, checks the result and repeats until the goal is met.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Tools and context</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Files, commands, search and connectors (MCP); instructions, memory and skills loaded at the right moment.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Guardrails and checks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Permission modes, approvals, hooks and tests — what it must ask before it 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Harnesses you will meet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Codex and ChatGPT Work in class; also Claude Code, Gemini CLI, Hermes Agent and OpenClaw.</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AGENTS.md,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tools, skills and memory.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2741371"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 — TASK-ORIENTED</a:t>
            </a:r>
          </a:p>
        </p:txBody>
      </p:sp>
      <p:sp>
        <p:nvSpPr>
          <p:cNvPr id="11" name="TextBox 10"/>
          <p:cNvSpPr txBox="1"/>
          <p:nvPr/>
        </p:nvSpPr>
        <p:spPr>
          <a:xfrm>
            <a:off x="7277709"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 — ALWAYS ON, 24/7</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2741371"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files, search, connectors, subagents.</a:t>
            </a:r>
          </a:p>
        </p:txBody>
      </p:sp>
      <p:sp>
        <p:nvSpPr>
          <p:cNvPr id="15" name="TextBox 14"/>
          <p:cNvSpPr txBox="1"/>
          <p:nvPr/>
        </p:nvSpPr>
        <p:spPr>
          <a:xfrm>
            <a:off x="7277709"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chat apps, the browser and other agents.</a:t>
            </a:r>
          </a:p>
        </p:txBody>
      </p:sp>
      <p:sp>
        <p:nvSpPr>
          <p:cNvPr id="16" name="TextBox 15"/>
          <p:cNvSpPr txBox="1"/>
          <p:nvPr/>
        </p:nvSpPr>
        <p:spPr>
          <a:xfrm>
            <a:off x="749808" y="3084575"/>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2741371"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loads SKILL.md procedures when the task matches.</a:t>
            </a:r>
          </a:p>
        </p:txBody>
      </p:sp>
      <p:sp>
        <p:nvSpPr>
          <p:cNvPr id="18" name="TextBox 17"/>
          <p:cNvSpPr txBox="1"/>
          <p:nvPr/>
        </p:nvSpPr>
        <p:spPr>
          <a:xfrm>
            <a:off x="7277709"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and can write and improve its own skills.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2741371"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the task, plus project memory across sessions.</a:t>
            </a:r>
          </a:p>
        </p:txBody>
      </p:sp>
      <p:sp>
        <p:nvSpPr>
          <p:cNvPr id="22" name="TextBox 21"/>
          <p:cNvSpPr txBox="1"/>
          <p:nvPr/>
        </p:nvSpPr>
        <p:spPr>
          <a:xfrm>
            <a:off x="7277709"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Long-term memory about you and your work.</a:t>
            </a:r>
          </a:p>
        </p:txBody>
      </p:sp>
      <p:sp>
        <p:nvSpPr>
          <p:cNvPr id="23" name="TextBox 22"/>
          <p:cNvSpPr txBox="1"/>
          <p:nvPr/>
        </p:nvSpPr>
        <p:spPr>
          <a:xfrm>
            <a:off x="749808" y="4133087"/>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2741371"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Starts when you give it a task; stops when done.</a:t>
            </a:r>
          </a:p>
        </p:txBody>
      </p:sp>
      <p:sp>
        <p:nvSpPr>
          <p:cNvPr id="25" name="TextBox 24"/>
          <p:cNvSpPr txBox="1"/>
          <p:nvPr/>
        </p:nvSpPr>
        <p:spPr>
          <a:xfrm>
            <a:off x="7277709"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24/7 on a computer or server.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2741371"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277709"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a message or another agent.</a:t>
            </a:r>
          </a:p>
        </p:txBody>
      </p:sp>
      <p:sp>
        <p:nvSpPr>
          <p:cNvPr id="30" name="TextBox 29"/>
          <p:cNvSpPr txBox="1"/>
          <p:nvPr/>
        </p:nvSpPr>
        <p:spPr>
          <a:xfrm>
            <a:off x="749808" y="5181599"/>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2741371"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Codex running a campaign (Labs 1–12).</a:t>
            </a:r>
          </a:p>
        </p:txBody>
      </p:sp>
      <p:sp>
        <p:nvSpPr>
          <p:cNvPr id="32" name="TextBox 31"/>
          <p:cNvSpPr txBox="1"/>
          <p:nvPr/>
        </p:nvSpPr>
        <p:spPr>
          <a:xfrm>
            <a:off x="7277709"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scheduled weekly report (Lab 13); Dots, if your plan has them.</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a job with an end → agentic AI; a job that recurs → an always-on agent.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ANATOMY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an Agent Made Of?</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on its own can only answer. Wrap it with these parts and it can act — and check what it did.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THE AGENT</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GPT</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model</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picks the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Its job and rules — AGENTS.md and a role card.</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read and write files, search, run code, use a connector.</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SKILL.md.</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between sessions: preferences, past fixes.</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Knowledge base</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Trusted sources only: Horizon's facts sheet, brand and compliance rules.</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Permissions, approvals and hooks — what it must ask first.</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You build every one of these for Horizon's six agents in Labs 2–4.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Form the team</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Lead and five specialists: instructions, skills, connectors (Labs 1–4).</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Know the audience</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requirements, cadence (Labs 6–7).</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First content</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blog article and the lead magnet (Labs 8–9).</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Campaigns 2–4</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Social week, newsletter + landing page, video (Labs 10–12).</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5</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Always on: the weekly report; the playbook (13–14).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tertiarycourses.github.io/TGS-2023036153-Multi-AI-Agents-Workflow-for-Content-Creation</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its own skills and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409444"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462229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047988" y="2203703"/>
            <a:ext cx="24917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409444"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462229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047988" y="2560320"/>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409444"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462229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21" name="TextBox 20"/>
          <p:cNvSpPr txBox="1"/>
          <p:nvPr/>
        </p:nvSpPr>
        <p:spPr>
          <a:xfrm>
            <a:off x="9047988" y="3084575"/>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409444"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462229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26" name="TextBox 25"/>
          <p:cNvSpPr txBox="1"/>
          <p:nvPr/>
        </p:nvSpPr>
        <p:spPr>
          <a:xfrm>
            <a:off x="9047988" y="3608831"/>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409444"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462229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047988" y="4133087"/>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$imagegen, ffmpeg in Codex</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409444"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462229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35" name="TextBox 34"/>
          <p:cNvSpPr txBox="1"/>
          <p:nvPr/>
        </p:nvSpPr>
        <p:spPr>
          <a:xfrm>
            <a:off x="9047988" y="4657344"/>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@Sites (publish), @Computer Use (browser check)</a:t>
            </a:r>
          </a:p>
        </p:txBody>
      </p:sp>
      <p:sp>
        <p:nvSpPr>
          <p:cNvPr id="36" name="TextBox 35"/>
          <p:cNvSpPr txBox="1"/>
          <p:nvPr/>
        </p:nvSpPr>
        <p:spPr>
          <a:xfrm>
            <a:off x="749808" y="5181599"/>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409444"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462229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047988" y="5181599"/>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Python in Codex</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for This Edition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ChatGPT Edition: ChatGPT, ChatGPT Work and Codex in one app.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Project</a:t>
            </a:r>
          </a:p>
        </p:txBody>
      </p:sp>
      <p:sp>
        <p:nvSpPr>
          <p:cNvPr id="14" name="TextBox 13"/>
          <p:cNvSpPr txBox="1"/>
          <p:nvPr/>
        </p:nvSpPr>
        <p:spPr>
          <a:xfrm>
            <a:off x="3183940" y="2560320"/>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team's shared files and instructions</a:t>
            </a:r>
          </a:p>
        </p:txBody>
      </p:sp>
      <p:sp>
        <p:nvSpPr>
          <p:cNvPr id="15" name="TextBox 14"/>
          <p:cNvSpPr txBox="1"/>
          <p:nvPr/>
        </p:nvSpPr>
        <p:spPr>
          <a:xfrm>
            <a:off x="8494776" y="2560320"/>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a:t>
            </a:r>
          </a:p>
        </p:txBody>
      </p:sp>
      <p:sp>
        <p:nvSpPr>
          <p:cNvPr id="17" name="TextBox 16"/>
          <p:cNvSpPr txBox="1"/>
          <p:nvPr/>
        </p:nvSpPr>
        <p:spPr>
          <a:xfrm>
            <a:off x="3183940" y="3273552"/>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Lead's chat; role cards; skills; subagents; scripts; the video; the Lab 15 debate and QA loop</a:t>
            </a:r>
          </a:p>
        </p:txBody>
      </p:sp>
      <p:sp>
        <p:nvSpPr>
          <p:cNvPr id="18" name="TextBox 17"/>
          <p:cNvSpPr txBox="1"/>
          <p:nvPr/>
        </p:nvSpPr>
        <p:spPr>
          <a:xfrm>
            <a:off x="8494776" y="3273552"/>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1–12, 14, 15</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a:t>
            </a:r>
          </a:p>
        </p:txBody>
      </p:sp>
      <p:sp>
        <p:nvSpPr>
          <p:cNvPr id="21" name="TextBox 20"/>
          <p:cNvSpPr txBox="1"/>
          <p:nvPr/>
        </p:nvSpPr>
        <p:spPr>
          <a:xfrm>
            <a:off x="3183940" y="3986784"/>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Plugins (Drive, Gmail), skills, scheduled tasks</a:t>
            </a:r>
          </a:p>
        </p:txBody>
      </p:sp>
      <p:sp>
        <p:nvSpPr>
          <p:cNvPr id="22" name="TextBox 21"/>
          <p:cNvSpPr txBox="1"/>
          <p:nvPr/>
        </p:nvSpPr>
        <p:spPr>
          <a:xfrm>
            <a:off x="8494776" y="3986784"/>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4, 11, 13</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@Sites</a:t>
            </a:r>
          </a:p>
        </p:txBody>
      </p:sp>
      <p:sp>
        <p:nvSpPr>
          <p:cNvPr id="24" name="TextBox 23"/>
          <p:cNvSpPr txBox="1"/>
          <p:nvPr/>
        </p:nvSpPr>
        <p:spPr>
          <a:xfrm>
            <a:off x="3183940" y="4700016"/>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campaign landing page; Horizon's website is given as a public link</a:t>
            </a:r>
          </a:p>
        </p:txBody>
      </p:sp>
      <p:sp>
        <p:nvSpPr>
          <p:cNvPr id="25" name="TextBox 24"/>
          <p:cNvSpPr txBox="1"/>
          <p:nvPr/>
        </p:nvSpPr>
        <p:spPr>
          <a:xfrm>
            <a:off x="8494776" y="4700016"/>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chatgpt.com/download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macOS</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Download for macOS from the page</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Windows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Opens the Microsoft Store listing</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Work, Codex and Sites need a paid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Download and install  </a:t>
            </a:r>
            <a:r>
              <a:rPr sz="1350">
                <a:solidFill>
                  <a:srgbClr val="6B6862"/>
                </a:solidFill>
                <a:latin typeface="Calibri"/>
              </a:rPr>
              <a:t>The new desktop app from chatgpt.com/download, not "ChatGPT Classic".</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a:t>
            </a:r>
            <a:r>
              <a:rPr sz="1350">
                <a:solidFill>
                  <a:srgbClr val="6B6862"/>
                </a:solidFill>
                <a:latin typeface="Calibri"/>
              </a:rPr>
              <a:t>On the plan you will use in class — limits follow the account.</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Find Chat, Work and Codex  </a:t>
            </a:r>
            <a:r>
              <a:rPr sz="1350">
                <a:solidFill>
                  <a:srgbClr val="6B6862"/>
                </a:solidFill>
                <a:latin typeface="Calibri"/>
              </a:rPr>
              <a:t>The toggle above the composer; Codex in the sidebar.</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Node.js 22, Python 3, ffmpeg  </a:t>
            </a:r>
            <a:r>
              <a:rPr sz="1350">
                <a:solidFill>
                  <a:srgbClr val="6B6862"/>
                </a:solidFill>
                <a:latin typeface="Calibri"/>
              </a:rPr>
              <a:t>For the publisher kit and the video (Pillow for Python).</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Project + AGENTS.md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Project files and instructions in ChatGPT; the charter in AGENTS.md for Codex.</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each learner opens their own local copy; the public copy is on GitHub Pages.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open your own copy of Horizon's website.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Horizon Marketing project, horizon-studio/ with AGENTS.md, and your own copy of the site running at http://localhost:8080/</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Project → Codex</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 ChatGPT Project with shared files · AGENTS.md · your own copy of Horizon's website</a:t>
            </a:r>
          </a:p>
        </p:txBody>
      </p:sp>
      <p:sp>
        <p:nvSpPr>
          <p:cNvPr id="20" name="TextBox 19"/>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YOUR WEBSITE   </a:t>
            </a:r>
            <a:r>
              <a:rPr sz="1000" b="0">
                <a:solidFill>
                  <a:srgbClr val="21201C"/>
                </a:solidFill>
                <a:latin typeface="Calibri"/>
                <a:hlinkClick r:id="rId2"/>
              </a:rPr>
              <a:t>http://localhost:8080</a:t>
            </a:r>
            <a:r>
              <a:rPr sz="1000" b="1">
                <a:solidFill>
                  <a:srgbClr val="D97757"/>
                </a:solidFill>
                <a:latin typeface="Calibri"/>
              </a:rPr>
              <a:t>      PUBLIC SITE   </a:t>
            </a:r>
            <a:r>
              <a:rPr sz="1000" b="0">
                <a:solidFill>
                  <a:srgbClr val="21201C"/>
                </a:solidFill>
                <a:latin typeface="Calibri"/>
                <a:hlinkClick r:id="rId3"/>
              </a:rPr>
              <a:t>tertiarycourses.github.io/TGS-2023036153-Multi-AI-Agents-Workflow-for-Content-Creation</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Choose the folder  </a:t>
            </a:r>
            <a:r>
              <a:rPr sz="1550">
                <a:solidFill>
                  <a:srgbClr val="6B6862"/>
                </a:solidFill>
                <a:latin typeface="Calibri"/>
              </a:rPr>
              <a:t>In Codex create a local project and choose labs_chatgpt/horizon-studio. It is ready-made — do not create one.</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Make the Project  </a:t>
            </a:r>
            <a:r>
              <a:rPr sz="1550">
                <a:solidFill>
                  <a:srgbClr val="6B6862"/>
                </a:solidFill>
                <a:latin typeface="Calibri"/>
              </a:rPr>
              <a:t>In ChatGPT create the Project "Horizon Marketing" with the charter, brand, facts and compliance files. Copy and paste Prompt A as its instructions.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your team  </a:t>
            </a:r>
            <a:r>
              <a:rPr sz="1550">
                <a:solidFill>
                  <a:srgbClr val="6B6862"/>
                </a:solidFill>
                <a:latin typeface="Calibri"/>
              </a:rPr>
              <a:t>In Codex, copy and paste Prompt B. Answer as Horizon's owner and pick your team — keep the six charter roles. It is a plan only: Lab 2 builds the agents.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charter  </a:t>
            </a:r>
            <a:r>
              <a:rPr sz="1550">
                <a:solidFill>
                  <a:srgbClr val="6B6862"/>
                </a:solidFill>
                <a:latin typeface="Calibri"/>
              </a:rPr>
              <a:t>After Codex saves data/team-design.md, copy and paste Prompt C. Open AGENTS.md — every agent reads it.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Open the website  </a:t>
            </a:r>
            <a:r>
              <a:rPr sz="1550">
                <a:solidFill>
                  <a:srgbClr val="6B6862"/>
                </a:solidFill>
                <a:latin typeface="Calibri"/>
              </a:rPr>
              <a:t>Ask: "Start my website." It opens at http://localhost:8080/ — your own copy of Horizon's website; every post links to it. Check the calculator shows S$693,138.</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ChatGPT Project: instructions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support Horizon Wealth Planning's AI marketing team. Use the project files: team-charter.md for who does what, brand.md for the voice and look, facts-2026.md for every number, and compliance-checklist.md before anything is shown to a person. Never publish or send anything.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plan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plan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 This is a plan only: do not create any agent files yet.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the charter</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AGENTS.md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 (the one exception: a review email to the approver); anything shown to me is in plain English for a business owner, with no codes, IDs, file names or line numbers. In Files, add two lines:</a:t>
            </a:r>
          </a:p>
          <a:p>
            <a:pPr>
              <a:lnSpc>
                <a:spcPct val="110000"/>
              </a:lnSpc>
              <a:defRPr sz="1700" b="0">
                <a:solidFill>
                  <a:srgbClr val="21201C"/>
                </a:solidFill>
                <a:latin typeface="Calibri"/>
              </a:defRPr>
            </a:pPr>
            <a:r>
              <a:t>- Our copy of the site, which we edit: web/site/. "Start my website" runs scripts/serve-site.mjs in the background and opens http://localhost:8080/</a:t>
            </a:r>
          </a:p>
          <a:p>
            <a:pPr>
              <a:lnSpc>
                <a:spcPct val="110000"/>
              </a:lnSpc>
              <a:defRPr sz="1700" b="0">
                <a:solidFill>
                  <a:srgbClr val="21201C"/>
                </a:solidFill>
                <a:latin typeface="Calibri"/>
              </a:defRPr>
            </a:pPr>
            <a:r>
              <a:t>- Every post links to http://localhost:8080/ with UTM tags, never to the public site.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Horizon Marketing project holds the four files and the instructions.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 — and no agent files yet.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names your copy of the site and the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website opens at http://localhost:8080/; the calculator shows S$693,138.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role card in agents/. AGENTS.md tells Codex to use one subagent per role, each following its card.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Rounded Rectangle 7"/>
          <p:cNvSpPr/>
          <p:nvPr/>
        </p:nvSpPr>
        <p:spPr>
          <a:xfrm>
            <a:off x="548640" y="2084831"/>
            <a:ext cx="11064240" cy="4074231"/>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agents/content-creator.md</a:t>
            </a:r>
          </a:p>
        </p:txBody>
      </p:sp>
      <p:sp>
        <p:nvSpPr>
          <p:cNvPr id="11" name="TextBox 10"/>
          <p:cNvSpPr txBox="1"/>
          <p:nvPr/>
        </p:nvSpPr>
        <p:spPr>
          <a:xfrm>
            <a:off x="822959" y="2724911"/>
            <a:ext cx="10515600" cy="3306135"/>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 Content Creator — role card</a:t>
            </a:r>
          </a:p>
          <a:p>
            <a:pPr>
              <a:lnSpc>
                <a:spcPct val="114000"/>
              </a:lnSpc>
              <a:defRPr sz="1300" b="0">
                <a:solidFill>
                  <a:srgbClr val="E8E5DE"/>
                </a:solidFill>
                <a:latin typeface="Courier New"/>
              </a:defRPr>
            </a:pPr>
            <a:r>
              <a:t>You are Horizon Wealth Planning's Content Creator.</a:t>
            </a:r>
          </a:p>
          <a:p>
            <a:pPr>
              <a:lnSpc>
                <a:spcPct val="114000"/>
              </a:lnSpc>
              <a:defRPr sz="1300" b="0">
                <a:solidFill>
                  <a:srgbClr val="E8E5DE"/>
                </a:solidFill>
                <a:latin typeface="Courier New"/>
              </a:defRPr>
            </a:pPr>
            <a:r>
              <a:t>## What you read   the brief, facts-2026.md, brand.md</a:t>
            </a:r>
          </a:p>
          <a:p>
            <a:pPr>
              <a:lnSpc>
                <a:spcPct val="114000"/>
              </a:lnSpc>
              <a:defRPr sz="1300" b="0">
                <a:solidFill>
                  <a:srgbClr val="E8E5DE"/>
                </a:solidFill>
                <a:latin typeface="Courier New"/>
              </a:defRPr>
            </a:pPr>
            <a:r>
              <a:t>## What you deliver   content files, ready for review</a:t>
            </a:r>
          </a:p>
          <a:p>
            <a:pPr>
              <a:lnSpc>
                <a:spcPct val="114000"/>
              </a:lnSpc>
              <a:defRPr sz="1300" b="0">
                <a:solidFill>
                  <a:srgbClr val="E8E5DE"/>
                </a:solidFill>
                <a:latin typeface="Courier New"/>
              </a:defRPr>
            </a:pPr>
            <a:r>
              <a:t>## Skills   sunny-voice, copywriting, channel-formats,</a:t>
            </a:r>
          </a:p>
          <a:p>
            <a:pPr>
              <a:lnSpc>
                <a:spcPct val="114000"/>
              </a:lnSpc>
              <a:defRPr sz="1300" b="0">
                <a:solidFill>
                  <a:srgbClr val="E8E5DE"/>
                </a:solidFill>
                <a:latin typeface="Courier New"/>
              </a:defRPr>
            </a:pPr>
            <a:r>
              <a:t>           linkedin-post, facebook-post, blog-post, newsletter</a:t>
            </a:r>
          </a:p>
          <a:p>
            <a:pPr>
              <a:lnSpc>
                <a:spcPct val="114000"/>
              </a:lnSpc>
              <a:defRPr sz="1300" b="0">
                <a:solidFill>
                  <a:srgbClr val="E8E5DE"/>
                </a:solidFill>
                <a:latin typeface="Courier New"/>
              </a:defRPr>
            </a:pPr>
            <a:r>
              <a:t>## Plugins   @Google Drive (docs), @Gmail (drafts only)</a:t>
            </a:r>
          </a:p>
          <a:p>
            <a:pPr>
              <a:lnSpc>
                <a:spcPct val="114000"/>
              </a:lnSpc>
              <a:defRPr sz="1300" b="0">
                <a:solidFill>
                  <a:srgbClr val="E8E5DE"/>
                </a:solidFill>
                <a:latin typeface="Courier New"/>
              </a:defRPr>
            </a:pPr>
            <a:r>
              <a:t>## Never   add a number not on the facts sheet; send;</a:t>
            </a:r>
          </a:p>
          <a:p>
            <a:pPr>
              <a:lnSpc>
                <a:spcPct val="114000"/>
              </a:lnSpc>
              <a:defRPr sz="1300" b="0">
                <a:solidFill>
                  <a:srgbClr val="E8E5DE"/>
                </a:solidFill>
                <a:latin typeface="Courier New"/>
              </a:defRPr>
            </a:pPr>
            <a:r>
              <a:t>           approve or publish for real</a:t>
            </a:r>
          </a:p>
          <a:p>
            <a:pPr>
              <a:lnSpc>
                <a:spcPct val="114000"/>
              </a:lnSpc>
              <a:defRPr sz="1300" b="0">
                <a:solidFill>
                  <a:srgbClr val="E8E5DE"/>
                </a:solidFill>
                <a:latin typeface="Courier New"/>
              </a:defRPr>
            </a:pPr>
            <a:r>
              <a:t>## Report back   what, where, anything unverified</a:t>
            </a:r>
          </a:p>
          <a:p>
            <a:pPr>
              <a:lnSpc>
                <a:spcPct val="114000"/>
              </a:lnSpc>
              <a:defRPr sz="1300" b="0">
                <a:solidFill>
                  <a:srgbClr val="E8E5DE"/>
                </a:solidFill>
                <a:latin typeface="Courier New"/>
              </a:defRPr>
            </a:pPr>
          </a:p>
          <a:p>
            <a:pPr>
              <a:lnSpc>
                <a:spcPct val="114000"/>
              </a:lnSpc>
              <a:defRPr sz="1300" b="0">
                <a:solidFill>
                  <a:srgbClr val="E8E5DE"/>
                </a:solidFill>
                <a:latin typeface="Courier New"/>
              </a:defRPr>
            </a:pPr>
            <a:r>
              <a:t># AGENTS.md — The marketing team</a:t>
            </a:r>
          </a:p>
          <a:p>
            <a:pPr>
              <a:lnSpc>
                <a:spcPct val="114000"/>
              </a:lnSpc>
              <a:defRPr sz="1300" b="0">
                <a:solidFill>
                  <a:srgbClr val="E8E5DE"/>
                </a:solidFill>
                <a:latin typeface="Courier New"/>
              </a:defRPr>
            </a:pPr>
            <a:r>
              <a:t>When I ask for the team, use subagents — one per</a:t>
            </a:r>
          </a:p>
          <a:p>
            <a:pPr>
              <a:lnSpc>
                <a:spcPct val="114000"/>
              </a:lnSpc>
              <a:defRPr sz="1300" b="0">
                <a:solidFill>
                  <a:srgbClr val="E8E5DE"/>
                </a:solidFill>
                <a:latin typeface="Courier New"/>
              </a:defRPr>
            </a:pPr>
            <a:r>
              <a:t>role — each following its card in agents/.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card name is how you ask for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agents/: five role cards, and the roster in AGENTS.md</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(role cards,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role cards in agents/ · the roster in AGENTS.md · subagents by asking</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roles  </a:t>
            </a:r>
            <a:r>
              <a:rPr sz="1300">
                <a:solidFill>
                  <a:srgbClr val="6B6862"/>
                </a:solidFill>
                <a:latin typeface="Calibri"/>
              </a:rPr>
              <a:t>Open role-specs.md: one Lead and five specialists, each with a job, skills, connectors and limits.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instructions  </a:t>
            </a:r>
            <a:r>
              <a:rPr sz="1300">
                <a:solidFill>
                  <a:srgbClr val="6B6862"/>
                </a:solidFill>
                <a:latin typeface="Calibri"/>
              </a:rPr>
              <a:t>Copy and paste Prompt A. It builds the five specialists from the charter; extra ideas stay in team-design.md.</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See the team  </a:t>
            </a:r>
            <a:r>
              <a:rPr sz="1300">
                <a:solidFill>
                  <a:srgbClr val="6B6862"/>
                </a:solidFill>
                <a:latin typeface="Calibri"/>
              </a:rPr>
              <a:t>After the five files appear in agents/, copy and paste Prompt B. The Lead is not a file — it is you, in this session.</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one closely  </a:t>
            </a:r>
            <a:r>
              <a:rPr sz="1300">
                <a:solidFill>
                  <a:srgbClr val="6B6862"/>
                </a:solidFill>
                <a:latin typeface="Calibri"/>
              </a:rPr>
              <a:t>Open agents/content-creator.md. Is the "Never" section strict enough for a regulated firm?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Meet the team  </a:t>
            </a:r>
            <a:r>
              <a:rPr sz="1300">
                <a:solidFill>
                  <a:srgbClr val="6B6862"/>
                </a:solidFill>
                <a:latin typeface="Calibri"/>
              </a:rPr>
              <a:t>After the list shows five agents, copy and paste Prompt C. Each agent introduces itself in one line — in its own context.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Tighten one  </a:t>
            </a:r>
            <a:r>
              <a:rPr sz="1300">
                <a:solidFill>
                  <a:srgbClr val="6B6862"/>
                </a:solidFill>
                <a:latin typeface="Calibri"/>
              </a:rPr>
              <a:t>Change one instruction you disagree with and save it. It is your team.</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five role cards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role cards in agents/ — growth-strategist.md, content-creator.md, creative-designer.md, website-designer.md and growth-analyst.md. Each has: the job, what it reads, what it delivers, the plugins it may use, what it must never do, and how it reports back. Then add "## The marketing team" to AGENTS.md: one line per agent pointing to its card, and the rule "when I ask for the team, use subagents — one per role — each following its card".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see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role cards in agents/. For each, show the file name, the role and its one-line job, in a table. Then confirm there are five, and that AGENTS.md lists all five under "## The marketing team". If any other card is there, list it and ask me before moving it to _archive/.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subagents — one per role, each following its card in agents/.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card has job, reads, delivers, plugins, never and report sections.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lists the team and the subagent rule.</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Twenty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791321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1" name="Rectangle 10"/>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3" name="TextBox 12"/>
          <p:cNvSpPr txBox="1"/>
          <p:nvPr/>
        </p:nvSpPr>
        <p:spPr>
          <a:xfrm>
            <a:off x="3626510" y="2560320"/>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4" name="TextBox 13"/>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5" name="TextBox 14"/>
          <p:cNvSpPr txBox="1"/>
          <p:nvPr/>
        </p:nvSpPr>
        <p:spPr>
          <a:xfrm>
            <a:off x="3626510" y="3084575"/>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16" name="Rectangle 15"/>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18" name="TextBox 17"/>
          <p:cNvSpPr txBox="1"/>
          <p:nvPr/>
        </p:nvSpPr>
        <p:spPr>
          <a:xfrm>
            <a:off x="3626510" y="3608831"/>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19" name="TextBox 18"/>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0" name="TextBox 19"/>
          <p:cNvSpPr txBox="1"/>
          <p:nvPr/>
        </p:nvSpPr>
        <p:spPr>
          <a:xfrm>
            <a:off x="3626510" y="4133087"/>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21" name="Rectangle 2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3" name="TextBox 22"/>
          <p:cNvSpPr txBox="1"/>
          <p:nvPr/>
        </p:nvSpPr>
        <p:spPr>
          <a:xfrm>
            <a:off x="3626510" y="4657344"/>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24" name="TextBox 23"/>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25" name="TextBox 24"/>
          <p:cNvSpPr txBox="1"/>
          <p:nvPr/>
        </p:nvSpPr>
        <p:spPr>
          <a:xfrm>
            <a:off x="3626510" y="5181599"/>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.agents/skills/ for Codex; @skill-creator for ChatGPT.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.agents/skills/campaign-brief/SKILL.md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 THEN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twenty skills in .agents/skills/, wired to the agents that own them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($skill-creator) → ChatGPT (@skill-creator)</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twenty skills owned by role — research, writing, LinkedIn, Facebook, blog, newsletter, web design, lead magnet, video, analysis and compliance · SKILL.md · the "Use when" trigger · test without naming</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THEN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twenty skills and who owns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Copy and paste Prompt A.</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After the twenty skills appear in .agents/skills/, copy and paste Prompt B, then C to list every skill. The Lead's two go in AGENTS.md, not a file.</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Share with ChatGPT  </a:t>
            </a:r>
            <a:r>
              <a:rPr sz="1300">
                <a:solidFill>
                  <a:srgbClr val="6B6862"/>
                </a:solidFill>
                <a:latin typeface="Calibri"/>
              </a:rPr>
              <a:t>Use @skill-creator in ChatGPT to add sunny-voice, channel-formats and fin-compliance there too.</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twenty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$skill-creator Read data/skills-spec.md and create the twenty skills in .agents/skills/&lt;name&gt;/ SKILL.md. Each has a name,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line to each role card in agents/ with its skills from data/skills-spec.md. Add to AGENTS.md that the Lead (this chat) runs fact-check and fin-compliance on everything before showing it to me.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see the skills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skills in .agents/skills/. Show each skill, its owner (a role card, or the Lead) and its "Use when" line in a table. Confirm there are twenty, that each specialist has the skills the spec gives it, and that fact-check and fin-compliance belong to the Lead (this chat).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(AGENTS.md) short and put procedures in skills.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Twenty folders in .agents/skills/, each with a SKILL.md.</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skills from the spec.</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facebook-post.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skills also appear in ChatGPT Skills.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Plugins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in Plugins; call them with @. Sites and $imagegen are built 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$imagegen, ffmpeg in Codex</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@Sites (publish), @Computer Use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Python in Codex</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card lists only the plugins it may call.</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 THEN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plugins → Codex</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@Google Drive · @Gmail (drafts) · @Computer Use · $imagegen · @Sites · least privilege per agent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THEN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Start a new chat in the Horizon Marketing project and name it "Lab 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Install the plugins  </a:t>
            </a:r>
            <a:r>
              <a:rPr sz="1300">
                <a:solidFill>
                  <a:srgbClr val="6B6862"/>
                </a:solidFill>
                <a:latin typeface="Calibri"/>
              </a:rPr>
              <a:t>Plugins: Google Drive, Gmail and Computer Use. Sites and $imagegen are built in.</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Use your own account  </a:t>
            </a:r>
            <a:r>
              <a:rPr sz="1300">
                <a:solidFill>
                  <a:srgbClr val="6B6862"/>
                </a:solidFill>
                <a:latin typeface="Calibri"/>
              </a:rPr>
              <a:t>Connect your personal Google account — never an employer's.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Upload data/ to a Drive folder named Horizon Studio.</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Open Codex  </a:t>
            </a:r>
            <a:r>
              <a:rPr sz="1300">
                <a:solidFill>
                  <a:srgbClr val="6B6862"/>
                </a:solidFill>
                <a:latin typeface="Calibri"/>
              </a:rPr>
              <a:t>In Codex, start a new thread in horizon-studio named "Lab 4" for the next two prompts.</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Copy and paste Prompt A — one small job per agent, each on its own plugin.</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limits  </a:t>
            </a:r>
            <a:r>
              <a:rPr sz="1300">
                <a:solidFill>
                  <a:srgbClr val="6B6862"/>
                </a:solidFill>
                <a:latin typeface="Calibri"/>
              </a:rPr>
              <a:t>After the five results are reported, copy and paste Prompt B.</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test each agent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subagents, one per check, each following its role card:</a:t>
            </a:r>
          </a:p>
          <a:p>
            <a:pPr>
              <a:lnSpc>
                <a:spcPct val="110000"/>
              </a:lnSpc>
              <a:defRPr sz="1700" b="0">
                <a:solidFill>
                  <a:srgbClr val="21201C"/>
                </a:solidFill>
                <a:latin typeface="Calibri"/>
              </a:defRPr>
            </a:pPr>
            <a:r>
              <a:t>1. growth-strategist: web search — one 2026 news item about financial planning in Singapore, cited.</a:t>
            </a:r>
          </a:p>
          <a:p>
            <a:pPr>
              <a:lnSpc>
                <a:spcPct val="110000"/>
              </a:lnSpc>
              <a:defRPr sz="1700" b="0">
                <a:solidFill>
                  <a:srgbClr val="21201C"/>
                </a:solidFill>
                <a:latin typeface="Calibri"/>
              </a:defRPr>
            </a:pPr>
            <a:r>
              <a:t>2. growth-analyst: @Google Drive — read firm-metrics.csv from Horizon Studio; report average monthly enquiries.</a:t>
            </a:r>
          </a:p>
          <a:p>
            <a:pPr>
              <a:lnSpc>
                <a:spcPct val="110000"/>
              </a:lnSpc>
              <a:defRPr sz="1700" b="0">
                <a:solidFill>
                  <a:srgbClr val="21201C"/>
                </a:solidFill>
                <a:latin typeface="Calibri"/>
              </a:defRPr>
            </a:pPr>
            <a:r>
              <a:t>3. content-creator: @Gmail — a DRAFT to me with the subject "Connector test". Do not send.</a:t>
            </a:r>
          </a:p>
          <a:p>
            <a:pPr>
              <a:lnSpc>
                <a:spcPct val="110000"/>
              </a:lnSpc>
              <a:defRPr sz="1700" b="0">
                <a:solidFill>
                  <a:srgbClr val="21201C"/>
                </a:solidFill>
                <a:latin typeface="Calibri"/>
              </a:defRPr>
            </a:pPr>
            <a:r>
              <a:t>4. creative-designer: $imagegen — a 1080x1080 test image in Horizon colours.</a:t>
            </a:r>
          </a:p>
          <a:p>
            <a:pPr>
              <a:lnSpc>
                <a:spcPct val="110000"/>
              </a:lnSpc>
              <a:defRPr sz="1700" b="0">
                <a:solidFill>
                  <a:srgbClr val="21201C"/>
                </a:solidFill>
                <a:latin typeface="Calibri"/>
              </a:defRPr>
            </a:pPr>
            <a:r>
              <a:t>5. website-designer: @Computer Use — open our own copy of the site (web/site/index.html) at mobile width and report any problem. Report each result in one line.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least privilege</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Update the "Plugins" section of each role card in agents/ to match data/connectors-setup.md: what it may use, and that @Gmail is drafts-only. Remove any plugin a role does not need.</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three plugins are installed and connected.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tools line names only the connectors its job needs.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competitor research, the funnel, nine scored ideas, the campaign brief and a five-beat storyboard with three channel variants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Copy and paste Prompt A. Watch the strategist and the analyst run at the same time.</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The Lead stops for you.</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and note its number and why — the human concept checkpoint.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After you have chosen, copy and paste Prompt B in the chat, replacing &lt;number&gt; and &lt;one line&gt; with your choice.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Rachel  </a:t>
            </a:r>
            <a:r>
              <a:rPr sz="1300">
                <a:solidFill>
                  <a:srgbClr val="6B6862"/>
                </a:solidFill>
                <a:latin typeface="Calibri"/>
              </a:rPr>
              <a:t>After you have read the issues, copy and paste Prompt C. You confirm what is true about Horizon; the team removes or fixes the rest.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research and ideas</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and tagged with a funnel stage (content-marketing) → strategy/ideas.md. Show me the top five and stop — I will choose. Write for a business owner, in plain English: no codes, IDs, file names or line numbers; start with what it means and what I do next. Save a Word copy (.docx) of each result.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storyboard</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 strategy/campaign-brief.md, then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 Write for a business owner, in plain English: no codes, IDs, file names or line numbers; start with what it means and what I do next. Save a Word copy (.docx) of each result.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decide on the issues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confirm "no obligation" and the free checklist — add them to the facts sheet (data/facts-2026.md). Delete any other claim that is not on the facts sheet. Fix all the Medium and Low issues, then show me the updated storyboard.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After Prompt A: Explain this result in three sentences. Which idea would you pick,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does idea &lt;number&gt; score higher than idea &lt;number&gt;?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funnel say is our biggest problem?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B: Explain the issues in plain English. What do I need to decide?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What changed since the last version? Is anything still not ready for Rachel?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competitor analysis and the funnel are done, with sources.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Nine scored ideas, each with its author.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confirmed two claims; after Prompt C no High issue is left.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exists and has run its first campaign. But who exactly is it for — and how often should it publish?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Formed  ·  Labs 1–4</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the public website, six agents with instructions, skills and connectors.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 1  ·  Lab 5</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Evidence about the audience and a cadence the team can deliver. That is Topic 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Growth Analyst: personas from evidence</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calendar the team will run</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evidence-based personas and the content spec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(analyst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6".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CSVs and templates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Analyse in parallel  </a:t>
            </a:r>
            <a:r>
              <a:rPr sz="1300">
                <a:solidFill>
                  <a:srgbClr val="6B6862"/>
                </a:solidFill>
                <a:latin typeface="Calibri"/>
              </a:rPr>
              <a:t>Copy and paste Prompt A — three analyst sub-agents, one per file.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Challenge a claim  </a:t>
            </a:r>
            <a:r>
              <a:rPr sz="1300">
                <a:solidFill>
                  <a:srgbClr val="6B6862"/>
                </a:solidFill>
                <a:latin typeface="Calibri"/>
              </a:rPr>
              <a:t>Pick one persona statement and ask: "which rows show that?"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guides  </a:t>
            </a:r>
            <a:r>
              <a:rPr sz="1300">
                <a:solidFill>
                  <a:srgbClr val="6B6862"/>
                </a:solidFill>
                <a:latin typeface="Calibri"/>
              </a:rPr>
              <a:t>After the personas are written, copy and paste Prompt B: a writing guide for each persona — how to talk to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gaps  </a:t>
            </a:r>
            <a:r>
              <a:rPr sz="1300">
                <a:solidFill>
                  <a:srgbClr val="6B6862"/>
                </a:solidFill>
                <a:latin typeface="Calibri"/>
              </a:rPr>
              <a:t>The 60+ group must be LOW CONFIDENCE.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three analysts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 Write for a business owner, in plain English: no codes, IDs, file names or line numbers; start with what it means and what I do next. Save a Word copy (.docx) of each result.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requirements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a writing guide for each persona (data/content-spec-template.md → strategy/content-spec.md): what they most want to know, where to reach them, what to make and how long, the tone, the proof that convinces them, what we ask them to do next, and what we never say. Back each answer with the data: which file, and how many people.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these personas in three sentences. Which one should we target first,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survey answers show that &lt;a sentence from a persona&gt;?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is the 60+ group marked low confidence?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writing guide answers every question for every persona.</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how often to post on each channel, and a four-week calendar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7".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Find the sweet spot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Question it  </a:t>
            </a:r>
            <a:r>
              <a:rPr sz="1300">
                <a:solidFill>
                  <a:srgbClr val="6B6862"/>
                </a:solidFill>
                <a:latin typeface="Calibri"/>
              </a:rPr>
              <a:t>Why is the newsletter not weekly? The answer is in the unsubscribes.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four weeks  </a:t>
            </a:r>
            <a:r>
              <a:rPr sz="1300">
                <a:solidFill>
                  <a:srgbClr val="6B6862"/>
                </a:solidFill>
                <a:latin typeface="Calibri"/>
              </a:rPr>
              <a:t>After the analyst recommends a cadence, copy and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buffers  </a:t>
            </a:r>
            <a:r>
              <a:rPr sz="1300">
                <a:solidFill>
                  <a:srgbClr val="6B6862"/>
                </a:solidFill>
                <a:latin typeface="Calibri"/>
              </a:rPr>
              <a:t>Every review date is two business days ahead; nothing on a holiday.</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analyst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 strategy/cadence.md. Show the numbers. Write for a business owner, in plain English: no codes, IDs, file names or line numbers; start with what it means and what I do next. Save a Word copy (.docx) of each result.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strategist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Show a week-by-week summary with hours.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Why is the newsletter not weekly? Show me the numbers.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happens if we add a third LinkedIn post a week?</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week is busiest, and does the team have the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cadence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calendar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Storyboard to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the first real piece — a blog article every post can link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ChatGPT, not Codex</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person making one piece: ChatGPT is enough.</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General help, your rules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Web search and drafting, steered by your skills.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Your skills know Horizon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blog-post, sunny-voice, fact-check and fin-compliance.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the storyboard and the personas. Rachel wants the first real piece today: a blog article that people searching for CPF top-ups will find — and that every post can link to.</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500-700-word blog article with dated sources, checked and fixed, with a Word copy</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(web search,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prompt runs the whole job: research · draft · fact-check and fin-compliance · fix · a person reads it last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Start a new chat in the Horizon Marketing project and name it "Lab 8". Run all of this lab's prompts in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Bring the skills  </a:t>
            </a:r>
            <a:r>
              <a:rPr sz="1550">
                <a:solidFill>
                  <a:srgbClr val="6B6862"/>
                </a:solidFill>
                <a:latin typeface="Calibri"/>
              </a:rPr>
              <a:t>Use @skill-creator to add blog-post and fact-check to ChatGPT (sunny-voice and fin-compliance came in Lab 3).</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it  </a:t>
            </a:r>
            <a:r>
              <a:rPr sz="1550">
                <a:solidFill>
                  <a:srgbClr val="6B6862"/>
                </a:solidFill>
                <a:latin typeface="Calibri"/>
              </a:rPr>
              <a:t>Copy and paste the prompt. ChatGPT researches, writes, checks and fixes the article.</a:t>
            </a:r>
          </a:p>
        </p:txBody>
      </p:sp>
      <p:sp>
        <p:nvSpPr>
          <p:cNvPr id="14" name="Oval 13"/>
          <p:cNvSpPr/>
          <p:nvPr/>
        </p:nvSpPr>
        <p:spPr>
          <a:xfrm>
            <a:off x="548640" y="472744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69087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it  </a:t>
            </a:r>
            <a:r>
              <a:rPr sz="1550">
                <a:solidFill>
                  <a:srgbClr val="6B6862"/>
                </a:solidFill>
                <a:latin typeface="Calibri"/>
              </a:rPr>
              <a:t>Read the article and the list of fixes. Say what to change, if anything.</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ChatGPT: a quick blog</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a quick blog article for Horizon with the blog-post, sunny-voice, fact-check and fin-compliance skills.</a:t>
            </a:r>
          </a:p>
          <a:p>
            <a:pPr>
              <a:lnSpc>
                <a:spcPct val="110000"/>
              </a:lnSpc>
              <a:defRPr sz="1700" b="0">
                <a:solidFill>
                  <a:srgbClr val="21201C"/>
                </a:solidFill>
                <a:latin typeface="Calibri"/>
              </a:defRPr>
            </a:pPr>
            <a:r>
              <a:t>1. Pick one topic from strategy/storyboard.md (upload it) that a Singaporean would search for. Search the web for two current sources (CPF Board, MAS or MoneySense), each with its date.</a:t>
            </a:r>
          </a:p>
          <a:p>
            <a:pPr>
              <a:lnSpc>
                <a:spcPct val="110000"/>
              </a:lnSpc>
              <a:defRPr sz="1700" b="0">
                <a:solidFill>
                  <a:srgbClr val="21201C"/>
                </a:solidFill>
                <a:latin typeface="Calibri"/>
              </a:defRPr>
            </a:pPr>
            <a:r>
              <a:t>2. Write 500-700 words: a title under 60 characters, every figure from facts-2026.md, one call to action (book a free 30-minute chat) and the full disclaimer.</a:t>
            </a:r>
          </a:p>
          <a:p>
            <a:pPr>
              <a:lnSpc>
                <a:spcPct val="110000"/>
              </a:lnSpc>
              <a:defRPr sz="1700" b="0">
                <a:solidFill>
                  <a:srgbClr val="21201C"/>
                </a:solidFill>
                <a:latin typeface="Calibri"/>
              </a:defRPr>
            </a:pPr>
            <a:r>
              <a:t>3. Run fact-check and fin-compliance; fix every issue and list each fix in one line. Write for a business owner, in plain English. Save a Word copy (.docx) of the article.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One prompt can run the whole job — research, writing and checks. A person still reads the result before it goes anywhere.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article in three sentences. Who is it for?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did you pick this topic, and who will search for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checks find, and how did you fix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sources, each with a date and a link.</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title is under 60 characters.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is from Horizon's 2026 facts.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fixes are listed; no Critical or High issue is left.</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One call to action and the full disclaimer at the end.</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Home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Shared rules and facts; Horizon's public website (Lab 1).</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Team</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agents: instructions, skills, connectors (Labs 2–4).</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Audience</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and requirements from evidence (Lab 6).</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Plan</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Cadence and a four-week calendar (Lab 7).</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Content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first blog article, checked (Lab 8).</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and the Lead's review</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lead magnet: a checklist people want, and its emails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Campaigns 2–4: social week, newsletter + landing page, video</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LEAD MAGNET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That Earns a Sign-up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the Money Check-up Checklist and the emails that follow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Promise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problem, one promise: know where you stand in 10 minutes.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Design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ChatGPT: a printable page and a PDF.</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Opt-in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required PDPA consent box; the newsletter opt-in separate.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Welcome emails</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Day 0, day 3, day 7 — value first, then a free chat.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Measure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Downloads, then chats booked.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11 builds the landing page that offers it.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Before the campaign weeks start, Rachel wants the thing that turns readers into leads: the Money Check-up Checklist, designed to be downloaded, and the emails that follow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Money Check-up Checklist as a printable A4 PDF and three welcome emails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(@Gmail drafts,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lead-magnet skill · a printable A4 checklist (PDF) · a three-email welcome sequence · drafts only</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Start a new chat in the Horizon Marketing project and name it "Lab 9".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Bring the skills  </a:t>
            </a:r>
            <a:r>
              <a:rPr sz="1550">
                <a:solidFill>
                  <a:srgbClr val="6B6862"/>
                </a:solidFill>
                <a:latin typeface="Calibri"/>
              </a:rPr>
              <a:t>Use @skill-creator to add lead-magnet and newsletter to ChatGPT.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Design it  </a:t>
            </a:r>
            <a:r>
              <a:rPr sz="1550">
                <a:solidFill>
                  <a:srgbClr val="6B6862"/>
                </a:solidFill>
                <a:latin typeface="Calibri"/>
              </a:rPr>
              <a:t>Copy and paste Prompt A. ChatGPT lays out the checklist and gives you a PDF; ask in the chat for any change.</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welcome emails  </a:t>
            </a:r>
            <a:r>
              <a:rPr sz="1550">
                <a:solidFill>
                  <a:srgbClr val="6B6862"/>
                </a:solidFill>
                <a:latin typeface="Calibri"/>
              </a:rPr>
              <a:t>After the checklist looks right, copy and paste Prompt B. The three emails also appear as drafts in your Gmail.</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it  </a:t>
            </a:r>
            <a:r>
              <a:rPr sz="1550">
                <a:solidFill>
                  <a:srgbClr val="6B6862"/>
                </a:solidFill>
                <a:latin typeface="Calibri"/>
              </a:rPr>
              <a:t>After the three emails are saved, copy and paste Prompt C.</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ChatGPT: the checklist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lead-magnet skill. Turn data/checklist-items.md into the "Money Check-up Checklist": a title with one promise, the ten items as tick boxes, one figure from data/facts-2026.md, the next step (book a free chat) and the full disclaimer. Lay it out as a printable A4 page in the colours and fonts in data/brand.md and give me a PDF to download. Write for a business owner, in plain English: no codes, IDs, file names or line numbers; start with what it means and what I do next. Save a Word copy (.docx) of each result.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ChatGPT: the welcome emails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three welcome emails for people who download the checklist: day 0 (here it is), day 3 (the item most people miss — the retirement number), day 7 (book a free chat). Follow the newsletter and sunny-voice skills → content/email/welcome-sequence.md. Then, using @Gmail, create the three emails as DRAFTS in my Gmail, addressed to me. Send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ChatGPT: check it</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fact-check and fin-compliance on the checklist text and the three emails. Show the issues in one table, with a fix for each. Once I agree, make the fixes in the files and in the Gmail drafts.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lead magnet earns an email address. Give real value first; the call to action comes last.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checklist item do people most often miss, and why does it matter?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Read the day 3 email as a 55-year-old. Is anything unclear?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Explain each issue in one line: what is wrong, and the fix.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uses Horizon's colours and all ten items.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makes one promise and ends with the full disclaimer.</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emails, each with a subject under 50 characters, are drafts in your Gmail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email has one call to action, unsubscribe and the disclaimer.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shows no Critical or High issue.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in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No files to wire: ask directly, and Codex runs one subagent per role.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directly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"Use subagents — one per role, each following its card in agents/." Codex delegates when you ask.</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Watch the panel</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Subagents panel shows Active and Done. Click one to see its work and summary.</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They inherit your limits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Subagents run with your sandbox and permissions — keep workspace-write.</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Parallel, Then Review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Subagents report back to the Lead; the Lead sends fixes back.</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reads the brief and splits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Parallel</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Creator and Designer work at the same time.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Combine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pairs each post with its image.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 to the right subagent.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Passed pieces wait in approvals.csv for a person.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Subagents talk to the Lead, not to each other. The Lead's review is what makes parallel work safe.</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Pattern When?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Subagents alone, or subagents with the Lead's review loop.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LEAD REVIEW LOOP</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Talks to</a:t>
            </a:r>
          </a:p>
        </p:txBody>
      </p:sp>
      <p:sp>
        <p:nvSpPr>
          <p:cNvPr id="14" name="TextBox 13"/>
          <p:cNvSpPr txBox="1"/>
          <p:nvPr/>
        </p:nvSpPr>
        <p:spPr>
          <a:xfrm>
            <a:off x="2962656"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Returns a result to the Lead</a:t>
            </a:r>
          </a:p>
        </p:txBody>
      </p:sp>
      <p:sp>
        <p:nvSpPr>
          <p:cNvPr id="15" name="TextBox 14"/>
          <p:cNvSpPr txBox="1"/>
          <p:nvPr/>
        </p:nvSpPr>
        <p:spPr>
          <a:xfrm>
            <a:off x="7388352"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passes fixes back to the subagent</a:t>
            </a:r>
          </a:p>
        </p:txBody>
      </p:sp>
      <p:sp>
        <p:nvSpPr>
          <p:cNvPr id="16" name="TextBox 15"/>
          <p:cNvSpPr txBox="1"/>
          <p:nvPr/>
        </p:nvSpPr>
        <p:spPr>
          <a:xfrm>
            <a:off x="749808" y="3189427"/>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Coordination</a:t>
            </a:r>
          </a:p>
        </p:txBody>
      </p:sp>
      <p:sp>
        <p:nvSpPr>
          <p:cNvPr id="17" name="TextBox 16"/>
          <p:cNvSpPr txBox="1"/>
          <p:nvPr/>
        </p:nvSpPr>
        <p:spPr>
          <a:xfrm>
            <a:off x="2962656"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splits the work</a:t>
            </a:r>
          </a:p>
        </p:txBody>
      </p:sp>
      <p:sp>
        <p:nvSpPr>
          <p:cNvPr id="18" name="TextBox 17"/>
          <p:cNvSpPr txBox="1"/>
          <p:nvPr/>
        </p:nvSpPr>
        <p:spPr>
          <a:xfrm>
            <a:off x="7388352"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reviews, sends back and checks again</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Best for</a:t>
            </a:r>
          </a:p>
        </p:txBody>
      </p:sp>
      <p:sp>
        <p:nvSpPr>
          <p:cNvPr id="21" name="TextBox 20"/>
          <p:cNvSpPr txBox="1"/>
          <p:nvPr/>
        </p:nvSpPr>
        <p:spPr>
          <a:xfrm>
            <a:off x="2962656"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analysis, one-off drafts</a:t>
            </a:r>
          </a:p>
        </p:txBody>
      </p:sp>
      <p:sp>
        <p:nvSpPr>
          <p:cNvPr id="22" name="TextBox 21"/>
          <p:cNvSpPr txBox="1"/>
          <p:nvPr/>
        </p:nvSpPr>
        <p:spPr>
          <a:xfrm>
            <a:off x="7388352"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 ↔ design ↔ review loops</a:t>
            </a:r>
          </a:p>
        </p:txBody>
      </p:sp>
      <p:sp>
        <p:nvSpPr>
          <p:cNvPr id="23" name="TextBox 22"/>
          <p:cNvSpPr txBox="1"/>
          <p:nvPr/>
        </p:nvSpPr>
        <p:spPr>
          <a:xfrm>
            <a:off x="749808" y="4447641"/>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Cost</a:t>
            </a:r>
          </a:p>
        </p:txBody>
      </p:sp>
      <p:sp>
        <p:nvSpPr>
          <p:cNvPr id="24" name="TextBox 23"/>
          <p:cNvSpPr txBox="1"/>
          <p:nvPr/>
        </p:nvSpPr>
        <p:spPr>
          <a:xfrm>
            <a:off x="2962656"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one round of results</a:t>
            </a:r>
          </a:p>
        </p:txBody>
      </p:sp>
      <p:sp>
        <p:nvSpPr>
          <p:cNvPr id="25" name="TextBox 24"/>
          <p:cNvSpPr txBox="1"/>
          <p:nvPr/>
        </p:nvSpPr>
        <p:spPr>
          <a:xfrm>
            <a:off x="7388352"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every fix is another round</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Campaigns</a:t>
            </a:r>
          </a:p>
        </p:txBody>
      </p:sp>
      <p:sp>
        <p:nvSpPr>
          <p:cNvPr id="28" name="TextBox 27"/>
          <p:cNvSpPr txBox="1"/>
          <p:nvPr/>
        </p:nvSpPr>
        <p:spPr>
          <a:xfrm>
            <a:off x="2962656"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5, 6</a:t>
            </a:r>
          </a:p>
        </p:txBody>
      </p:sp>
      <p:sp>
        <p:nvSpPr>
          <p:cNvPr id="29" name="TextBox 28"/>
          <p:cNvSpPr txBox="1"/>
          <p:nvPr/>
        </p:nvSpPr>
        <p:spPr>
          <a:xfrm>
            <a:off x="7388352"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10, 11, 12, 15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Subagents run with your sandbox and permissions. The Lead is the only one who talks to everyone.</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approve.mjs refuses to run without an interactive terminal — an agent's tool call cannot approve.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PreToolUse hook blocks agents from running approve.mjs or publishing unapproved items — in Codex, you trust it first.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HOOKS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Hook That Holds the Gate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Ask Codex to add it to .codex/hooks.json, then trust it. Exit code 2 blocks the call.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8" name="Rounded Rectangle 7"/>
          <p:cNvSpPr/>
          <p:nvPr/>
        </p:nvSpPr>
        <p:spPr>
          <a:xfrm>
            <a:off x="548640" y="2084831"/>
            <a:ext cx="11064240" cy="2237262"/>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Ask Codex</a:t>
            </a:r>
          </a:p>
        </p:txBody>
      </p:sp>
      <p:sp>
        <p:nvSpPr>
          <p:cNvPr id="11" name="TextBox 10"/>
          <p:cNvSpPr txBox="1"/>
          <p:nvPr/>
        </p:nvSpPr>
        <p:spPr>
          <a:xfrm>
            <a:off x="822959" y="2724911"/>
            <a:ext cx="10515600" cy="146916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Add a PreToolUse hook in .codex/hooks.json that runs</a:t>
            </a:r>
          </a:p>
          <a:p>
            <a:pPr>
              <a:lnSpc>
                <a:spcPct val="114000"/>
              </a:lnSpc>
              <a:defRPr sz="1300" b="0">
                <a:solidFill>
                  <a:srgbClr val="E8E5DE"/>
                </a:solidFill>
                <a:latin typeface="Courier New"/>
              </a:defRPr>
            </a:pPr>
            <a:r>
              <a:t>  node scripts/gate-hook.mjs</a:t>
            </a:r>
          </a:p>
          <a:p>
            <a:pPr>
              <a:lnSpc>
                <a:spcPct val="114000"/>
              </a:lnSpc>
              <a:defRPr sz="1300" b="0">
                <a:solidFill>
                  <a:srgbClr val="E8E5DE"/>
                </a:solidFill>
                <a:latin typeface="Courier New"/>
              </a:defRPr>
            </a:pPr>
            <a:r>
              <a:t>before every shell command. It must block any</a:t>
            </a:r>
          </a:p>
          <a:p>
            <a:pPr>
              <a:lnSpc>
                <a:spcPct val="114000"/>
              </a:lnSpc>
              <a:defRPr sz="1300" b="0">
                <a:solidFill>
                  <a:srgbClr val="E8E5DE"/>
                </a:solidFill>
                <a:latin typeface="Courier New"/>
              </a:defRPr>
            </a:pPr>
            <a:r>
              <a:t>command that runs approve.mjs, and any</a:t>
            </a:r>
          </a:p>
          <a:p>
            <a:pPr>
              <a:lnSpc>
                <a:spcPct val="114000"/>
              </a:lnSpc>
              <a:defRPr sz="1300" b="0">
                <a:solidFill>
                  <a:srgbClr val="E8E5DE"/>
                </a:solidFill>
                <a:latin typeface="Courier New"/>
              </a:defRPr>
            </a:pPr>
            <a:r>
              <a:t>publish.mjs --live whose item is not approved and</a:t>
            </a:r>
          </a:p>
          <a:p>
            <a:pPr>
              <a:lnSpc>
                <a:spcPct val="114000"/>
              </a:lnSpc>
              <a:defRPr sz="1300" b="0">
                <a:solidFill>
                  <a:srgbClr val="E8E5DE"/>
                </a:solidFill>
                <a:latin typeface="Courier New"/>
              </a:defRPr>
            </a:pPr>
            <a:r>
              <a:t>unchanged. Show me the hook, then ask me to trust it.</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demo: one LinkedIn and one Facebook post,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in your own terminal; dry run, then go.</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As a demo, one LinkedIn post and one Facebook post, each with a visual — and Rachel's one rule: nothing goes out unless a person approved that exact version.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two posts with images, reviewed, approved by you and posted (or dry-run)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 LinkedIn, Facebook</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 creator and designer subagents in parallel · the Lead's review · human approval → post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10".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Switch on the gate  </a:t>
            </a:r>
            <a:r>
              <a:rPr sz="1300">
                <a:solidFill>
                  <a:srgbClr val="6B6862"/>
                </a:solidFill>
                <a:latin typeface="Calibri"/>
              </a:rPr>
              <a:t>The publisher kit is in your scripts/ folder since Lab 1. Ask Codex: "Add a hook that blocks any command running scripts/approve.mjs." Then trust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the gate  </a:t>
            </a:r>
            <a:r>
              <a:rPr sz="1300">
                <a:solidFill>
                  <a:srgbClr val="6B6862"/>
                </a:solidFill>
                <a:latin typeface="Calibri"/>
              </a:rPr>
              <a:t>Ask Codex to approve anything. approve.mjs refuses without a person at a terminal.</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the team  </a:t>
            </a:r>
            <a:r>
              <a:rPr sz="1300">
                <a:solidFill>
                  <a:srgbClr val="6B6862"/>
                </a:solidFill>
                <a:latin typeface="Calibri"/>
              </a:rPr>
              <a:t>Copy and paste Prompt A. Watch the Subagents panel: Active, then Done.</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review  </a:t>
            </a:r>
            <a:r>
              <a:rPr sz="1300">
                <a:solidFill>
                  <a:srgbClr val="6B6862"/>
                </a:solidFill>
                <a:latin typeface="Calibri"/>
              </a:rPr>
              <a:t>The Lead's fact-check and fin-compliance table — at least one fix.</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In your own terminal: node scripts/approve.mjs &lt;id&gt; --by "Your Name".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a:t>
            </a:r>
            <a:r>
              <a:rPr sz="1300">
                <a:solidFill>
                  <a:srgbClr val="6B6862"/>
                </a:solidFill>
                <a:latin typeface="Calibri"/>
              </a:rPr>
              <a:t>After you have approved the posts, copy and paste Prompt B. A dry run only: it shows what would be sent.</a:t>
            </a:r>
          </a:p>
        </p:txBody>
      </p:sp>
      <p:sp>
        <p:nvSpPr>
          <p:cNvPr id="22" name="Oval 21"/>
          <p:cNvSpPr/>
          <p:nvPr/>
        </p:nvSpPr>
        <p:spPr>
          <a:xfrm>
            <a:off x="621792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23" name="TextBox 22"/>
          <p:cNvSpPr txBox="1"/>
          <p:nvPr/>
        </p:nvSpPr>
        <p:spPr>
          <a:xfrm>
            <a:off x="674827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Optional: post through the apps  </a:t>
            </a:r>
            <a:r>
              <a:rPr sz="1300">
                <a:solidFill>
                  <a:srgbClr val="6B6862"/>
                </a:solidFill>
                <a:latin typeface="Calibri"/>
              </a:rPr>
              <a:t>Follow "Optional: post through LinkedIn and Facebook" in this lab's README.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7" name="Rounded Rectangle 6"/>
          <p:cNvSpPr/>
          <p:nvPr/>
        </p:nvSpPr>
        <p:spPr>
          <a:xfrm>
            <a:off x="548640" y="1783080"/>
            <a:ext cx="11064240" cy="401007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social team</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Plan Week 1 social from data/social-brief.md and strategy/calendar.csv. Use subagents in parallel, each following its card:</a:t>
            </a:r>
          </a:p>
          <a:p>
            <a:pPr>
              <a:lnSpc>
                <a:spcPct val="110000"/>
              </a:lnSpc>
              <a:defRPr sz="1700" b="0">
                <a:solidFill>
                  <a:srgbClr val="21201C"/>
                </a:solidFill>
                <a:latin typeface="Calibri"/>
              </a:defRPr>
            </a:pPr>
            <a:r>
              <a:t>- content-creator: 1 LinkedIn + 1 Facebook post with linkedin-post, facebook-post and copywriting, one file each in content/social/week-01/, with the frontmatter in data/publishing-spec.md. Each post links to my website, http://localhost:8080/, with UTM tags.</a:t>
            </a:r>
          </a:p>
          <a:p>
            <a:pPr>
              <a:lnSpc>
                <a:spcPct val="110000"/>
              </a:lnSpc>
              <a:defRPr sz="1700" b="0">
                <a:solidFill>
                  <a:srgbClr val="21201C"/>
                </a:solidFill>
                <a:latin typeface="Calibri"/>
              </a:defRPr>
            </a:pPr>
            <a:r>
              <a:t>- creative-designer: one image per post with $imagegen and alt text, from the brief. Save each as a PNG beside its post and fill in the post's image and alt lines, so the image is posted with it. Then run fact-check and fin-compliance on every post and send each fix back to the right subagent. When a post passes, run node scripts/submit.mjs on it.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publish</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every Week 1 post approved in review/approvals.csv, run node scripts/publish.mjs &lt;id&gt; as a dry run and show me each request. Wait for me to say "go" before any --live run.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Parallel subagents are fast; the Lead's review is what makes them safe.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post do you expect to do best,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Lead send back to the writer,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Is anything here not ready to post? Explain in plain English.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hook (or approve.mjs) stopped the agent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subagents ran in parallel; both reached Done.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Lead sent at least one fix back to a subagent.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posts with images, alt text, frontmatter and UTM links; each dry run shows its image being uploaded.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in your own terminal;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Dry runs printed every request; nothing went live unless you said go.</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Sites.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 THEN CHATGPT WORK</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November newsletter, its recipient list, the landing page published, and Gmail drafts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 @Sites → ChatGPT Work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THEN CHATGPT WORK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11".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Read the email and the page copy; approve nl-2026-11 in your own terminal.</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@Sites.</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Only people with consent = yes and unsubscribed = no are on the recipient list.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After the page is published and the list checked, copy and paste Prompt B.</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newsletter team</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for the November Sunny Sunday email (data/newsletter-brief.md, data/newsletter-spec.md) and its landing page (data/landing-page-brief.md). Use subagents:</a:t>
            </a:r>
          </a:p>
          <a:p>
            <a:pPr>
              <a:lnSpc>
                <a:spcPct val="110000"/>
              </a:lnSpc>
              <a:defRPr sz="1700" b="0">
                <a:solidFill>
                  <a:srgbClr val="21201C"/>
                </a:solidFill>
                <a:latin typeface="Calibri"/>
              </a:defRPr>
            </a:pPr>
            <a:r>
              <a:t>- content-creator: issue.md (id nl-2026-11) with newsletter, and the landing-page copy.</a:t>
            </a:r>
          </a:p>
          <a:p>
            <a:pPr>
              <a:lnSpc>
                <a:spcPct val="110000"/>
              </a:lnSpc>
              <a:defRPr sz="1700" b="0">
                <a:solidFill>
                  <a:srgbClr val="21201C"/>
                </a:solidFill>
                <a:latin typeface="Calibri"/>
              </a:defRPr>
            </a:pPr>
            <a:r>
              <a:t>- website-designer: web/checklist/index.html with lead-magnet, web-design and landing-page; page-qa.</a:t>
            </a:r>
          </a:p>
          <a:p>
            <a:pPr>
              <a:lnSpc>
                <a:spcPct val="110000"/>
              </a:lnSpc>
              <a:defRPr sz="1700" b="0">
                <a:solidFill>
                  <a:srgbClr val="21201C"/>
                </a:solidFill>
                <a:latin typeface="Calibri"/>
              </a:defRPr>
            </a:pPr>
            <a:r>
              <a:t>- growth-analyst: recipients.csv and excluded.csv from data/subscribers.csv. Check everything, then submit nl-2026-11. After I approve, build newsletter.html and .txt, and deploy web/checklist with @Sites (Only those invited). Write for a business owner, in plain English: no codes, IDs, file names or line numbers; start with what it means and what I do next. Save a Word copy (.docx) of each result.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ChatGPT Work: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@Gmail, create a DRAFT of the newsletter in content/newsletter/2026-11/newsletter.html (upload it) for each address in recipients.csv, plus one draft to me only. Send nothing. Report how many drafts and how many people were excluded,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 email in three sentences. What do we want readers to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was left off the mailing list,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landing-page check look at, and did it pass?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nl-2026-11 in your own terminal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recipient list holds 31 people; 9 are excluded,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script, storyboard and thumbnail, the video, and a private YouTube upload (or dry run)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$imagegen, render, upload)</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the scenes, title and description; approve yt-ep01-script in your own terminal.</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After you approve the script, copy and paste Prompt B. The designer runs video-render.</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Ask the Lead to submit the video, watch ep01.mp4 to the end, then approve yt-ep01.</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After you approve the video, copy and paste Prompt C. It goes up as private.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video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for YouTube episode 1 (data/youtube-brief.md). Use subagents: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thumbnail with $imagegen, using brand-visuals). Fact-check and fin-compliance the script, then submit it as yt-ep01-script.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Codex: render and upload</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 with ffprobe. Do not change approved words.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Run node scripts/publish.mjs yt-ep01 as a dry run. If I say "go", run it with --live: it uploads as PRIVATE. Give me the YouTube Studio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Walk me through the video scene by scene,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figure on screen should I double-check, and against what?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AI disclosure say, and why do we need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Horizon's 2026 facts.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campaigns, every piece checked by the Lead and approved by a person. But the team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10</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stops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Campaigns  ·  Labs 10–12</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week, newsletter + landing page,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works every week on its own — and rules to govern it. That is Topic 4.</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5: always on, with a scheduled task</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for financial content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the patterns; write the team playbook</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at work: argue a strategy, then a QA loop</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Scheduled runs appear in Scheduled; Plus allows 5 active tasks.</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CHATGPT WORK</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Work (skill, scheduled task, @Drive,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CHATGPT WORK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Start a new ChatGPT Work chat and name it "Lab 13".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Bring the skill  </a:t>
            </a:r>
            <a:r>
              <a:rPr sz="1300">
                <a:solidFill>
                  <a:srgbClr val="6B6862"/>
                </a:solidFill>
                <a:latin typeface="Calibri"/>
              </a:rPr>
              <a:t>Use @skill-creator to add campaign-report to ChatGPT.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Do it once  </a:t>
            </a:r>
            <a:r>
              <a:rPr sz="1300">
                <a:solidFill>
                  <a:srgbClr val="6B6862"/>
                </a:solidFill>
                <a:latin typeface="Calibri"/>
              </a:rPr>
              <a:t>Copy and paste Prompt A. Refine the report until it is right.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it  </a:t>
            </a:r>
            <a:r>
              <a:rPr sz="1300">
                <a:solidFill>
                  <a:srgbClr val="6B6862"/>
                </a:solidFill>
                <a:latin typeface="Calibri"/>
              </a:rPr>
              <a:t>After the report is right, copy and paste Prompt B. Runs appear in Scheduled.</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it now  </a:t>
            </a:r>
            <a:r>
              <a:rPr sz="1300">
                <a:solidFill>
                  <a:srgbClr val="6B6862"/>
                </a:solidFill>
                <a:latin typeface="Calibri"/>
              </a:rPr>
              <a:t>Run the task once and open the Gmail draft.</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Pause it  </a:t>
            </a:r>
            <a:r>
              <a:rPr sz="1300">
                <a:solidFill>
                  <a:srgbClr val="6B6862"/>
                </a:solidFill>
                <a:latin typeface="Calibri"/>
              </a:rPr>
              <a:t>After class, pause the scheduled task.</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142</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A and B — ChatGPT Work</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A</a:t>
            </a:r>
          </a:p>
          <a:p>
            <a:pPr>
              <a:lnSpc>
                <a:spcPct val="110000"/>
              </a:lnSpc>
              <a:defRPr sz="1700" b="0">
                <a:solidFill>
                  <a:srgbClr val="21201C"/>
                </a:solidFill>
                <a:latin typeface="Calibri"/>
              </a:defRPr>
            </a:pPr>
            <a:r>
              <a:t>Act as Horizon's Growth Analyst. Using @Google Drive, read campaign-results.csv in the Horizon Studio folder. Use the campaign-report skill and weekly-report-brief.md. Leave the report as a @Gmail DRAFT to me, subject "Horizon weekly growth report" and today's date. Send nothing.</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Do this every Monday at 8am, as a scheduled task. Draft only — never send,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What is the one decision this report asks me to make?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channel gets us a chat most cheaply, and how sure are you?</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would you change in next month's budget,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campaign-report skill is available in ChatGPT.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10–12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10–12</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approve.mjs (people only), hash, hook</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12</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agent-pattern comparison and the team playbook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In Codex start a new thread in horizon-studio and name it "Lab 14".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Compare the patterns  </a:t>
            </a:r>
            <a:r>
              <a:rPr sz="1550">
                <a:solidFill>
                  <a:srgbClr val="6B6862"/>
                </a:solidFill>
                <a:latin typeface="Calibri"/>
              </a:rPr>
              <a:t>Copy and paste Prompt A.</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After the Lead shows the comparison, copy and 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Add one rule of your own and say why.</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compare</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parallel subagents with a Lead review and the scheduled task — on minutes, tokens, defects caught before a person and human edits. Which pattern pays off for which job? Save reports/agent-comparison.md. Write for a business owner, in plain English: no codes, IDs, file names or line numbers; start with what it means and what I do next. Save a Word copy (.docx) of each result.</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150</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playbook</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agents/, its skills, connectors, model and what it may never do; the approval matrix by risk; the rules in data/responsible-ai-checklist.md; and what to do when a wrong post goes out. Then run fin-compliance on it.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In one line each: when should we use one agent, subagents and a Lead review?</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must approve a post that has a CPF figure in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 wrong post went out. What are the first three things we do?</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comparison shows the one-agent baseline caught 0 defects.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SUBAGENTS AT WORK</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in the Middle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Subagents cannot message each other. When agents must talk, the Lead carries every message.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Ask</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gives each subagent its job and card.</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Return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Each subagent reports back to the Lead only.</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Relay</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passes one agent's work to the other.</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rebuttal, or a fix and a new audit — another round.</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Decide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person makes the call and approves.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15 counts how many messages the Lead had to relay.</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Team That Argues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1: test a strategy before Horizon spends on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154</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Advocate · growth-strategist</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FOR the "Turning 55" CPF explainer</a:t>
            </a:r>
          </a:p>
        </p:txBody>
      </p:sp>
      <p:sp>
        <p:nvSpPr>
          <p:cNvPr id="13" name="Rectangle 12"/>
          <p:cNvSpPr/>
          <p:nvPr/>
        </p:nvSpPr>
        <p:spPr>
          <a:xfrm>
            <a:off x="804672" y="3898391"/>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Cites results, personas and the facts sheet</a:t>
            </a:r>
          </a:p>
        </p:txBody>
      </p:sp>
      <p:sp>
        <p:nvSpPr>
          <p:cNvPr id="15" name="Rectangle 14"/>
          <p:cNvSpPr/>
          <p:nvPr/>
        </p:nvSpPr>
        <p:spPr>
          <a:xfrm>
            <a:off x="804672" y="478840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Answers the critic's case — two rebuttals</a:t>
            </a:r>
          </a:p>
        </p:txBody>
      </p:sp>
      <p:sp>
        <p:nvSpPr>
          <p:cNvPr id="17" name="Rounded Rectangle 16"/>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Critic · growth-analyst</a:t>
            </a:r>
          </a:p>
        </p:txBody>
      </p:sp>
      <p:sp>
        <p:nvSpPr>
          <p:cNvPr id="20" name="Rectangle 19"/>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7"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AGAINST it — cost, timing, audience</a:t>
            </a:r>
          </a:p>
        </p:txBody>
      </p:sp>
      <p:sp>
        <p:nvSpPr>
          <p:cNvPr id="22" name="Rectangle 21"/>
          <p:cNvSpPr/>
          <p:nvPr/>
        </p:nvSpPr>
        <p:spPr>
          <a:xfrm>
            <a:off x="6473951" y="3898391"/>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Every point backed by a file, not an opinion</a:t>
            </a:r>
          </a:p>
        </p:txBody>
      </p:sp>
      <p:sp>
        <p:nvSpPr>
          <p:cNvPr id="24" name="Rectangle 23"/>
          <p:cNvSpPr/>
          <p:nvPr/>
        </p:nvSpPr>
        <p:spPr>
          <a:xfrm>
            <a:off x="6473951" y="478840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The Lead judges; a person makes the call</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2: a failed audit goes back to the writer — the Lead passes the lines on and never fixes them itself.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155</a:t>
            </a:r>
          </a:p>
        </p:txBody>
      </p:sp>
      <p:sp>
        <p:nvSpPr>
          <p:cNvPr id="8" name="Rounded Rectangle 7"/>
          <p:cNvSpPr/>
          <p:nvPr/>
        </p:nvSpPr>
        <p:spPr>
          <a:xfrm>
            <a:off x="548640" y="2587752"/>
            <a:ext cx="2606040" cy="1097280"/>
          </a:xfrm>
          <a:prstGeom prst="roundRect">
            <a:avLst>
              <a:gd name="adj" fmla="val 6000"/>
            </a:avLst>
          </a:prstGeom>
          <a:solidFill>
            <a:srgbClr val="FFFFFF"/>
          </a:solidFill>
          <a:ln w="22225">
            <a:solidFill>
              <a:srgbClr val="5B4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87752"/>
            <a:ext cx="2606040"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Writer</a:t>
            </a:r>
          </a:p>
        </p:txBody>
      </p:sp>
      <p:sp>
        <p:nvSpPr>
          <p:cNvPr id="11" name="TextBox 10"/>
          <p:cNvSpPr txBox="1"/>
          <p:nvPr/>
        </p:nvSpPr>
        <p:spPr>
          <a:xfrm>
            <a:off x="71323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content-creator: rewrites the intern's draft into an email and a video script.</a:t>
            </a:r>
          </a:p>
        </p:txBody>
      </p:sp>
      <p:sp>
        <p:nvSpPr>
          <p:cNvPr id="12" name="Rounded Rectangle 11"/>
          <p:cNvSpPr/>
          <p:nvPr/>
        </p:nvSpPr>
        <p:spPr>
          <a:xfrm>
            <a:off x="4160520" y="2587752"/>
            <a:ext cx="2606040" cy="1097280"/>
          </a:xfrm>
          <a:prstGeom prst="roundRect">
            <a:avLst>
              <a:gd name="adj" fmla="val 6000"/>
            </a:avLst>
          </a:prstGeom>
          <a:solidFill>
            <a:srgbClr val="FFFFFF"/>
          </a:solid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2587752"/>
            <a:ext cx="26060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QA Auditor</a:t>
            </a:r>
          </a:p>
        </p:txBody>
      </p:sp>
      <p:sp>
        <p:nvSpPr>
          <p:cNvPr id="15" name="TextBox 14"/>
          <p:cNvSpPr txBox="1"/>
          <p:nvPr/>
        </p:nvSpPr>
        <p:spPr>
          <a:xfrm>
            <a:off x="432511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fact-check + fin-compliance; PASS or FAIL per check, every round logged.</a:t>
            </a:r>
          </a:p>
        </p:txBody>
      </p:sp>
      <p:cxnSp>
        <p:nvCxnSpPr>
          <p:cNvPr id="16" name="Connector 15"/>
          <p:cNvCxnSpPr/>
          <p:nvPr/>
        </p:nvCxnSpPr>
        <p:spPr>
          <a:xfrm>
            <a:off x="3209544" y="2898648"/>
            <a:ext cx="896112" cy="0"/>
          </a:xfrm>
          <a:prstGeom prst="line">
            <a:avLst/>
          </a:prstGeom>
          <a:ln w="2540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54680" y="2624328"/>
            <a:ext cx="1005839" cy="237744"/>
          </a:xfrm>
          <a:prstGeom prst="rect">
            <a:avLst/>
          </a:prstGeom>
          <a:noFill/>
        </p:spPr>
        <p:txBody>
          <a:bodyPr wrap="square" lIns="18288" rIns="18288" tIns="9144" bIns="9144">
            <a:spAutoFit/>
          </a:bodyPr>
          <a:lstStyle/>
          <a:p>
            <a:pPr algn="ctr">
              <a:lnSpc>
                <a:spcPct val="100000"/>
              </a:lnSpc>
              <a:defRPr sz="1050" b="1">
                <a:solidFill>
                  <a:srgbClr val="5B4B8A"/>
                </a:solidFill>
                <a:latin typeface="Calibri"/>
              </a:defRPr>
            </a:pPr>
            <a:r>
              <a:t>draft</a:t>
            </a:r>
          </a:p>
        </p:txBody>
      </p:sp>
      <p:cxnSp>
        <p:nvCxnSpPr>
          <p:cNvPr id="18" name="Connector 17"/>
          <p:cNvCxnSpPr/>
          <p:nvPr/>
        </p:nvCxnSpPr>
        <p:spPr>
          <a:xfrm flipH="1">
            <a:off x="3209544" y="3374136"/>
            <a:ext cx="896112" cy="0"/>
          </a:xfrm>
          <a:prstGeom prst="line">
            <a:avLst/>
          </a:prstGeom>
          <a:ln w="25400">
            <a:solidFill>
              <a:srgbClr val="D97757"/>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54680" y="3410712"/>
            <a:ext cx="1005839"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FAIL → fixes</a:t>
            </a:r>
          </a:p>
        </p:txBody>
      </p:sp>
      <p:cxnSp>
        <p:nvCxnSpPr>
          <p:cNvPr id="20" name="Connector 19"/>
          <p:cNvCxnSpPr/>
          <p:nvPr/>
        </p:nvCxnSpPr>
        <p:spPr>
          <a:xfrm>
            <a:off x="6803136" y="3136392"/>
            <a:ext cx="640080" cy="0"/>
          </a:xfrm>
          <a:prstGeom prst="line">
            <a:avLst/>
          </a:prstGeom>
          <a:ln w="2540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84848" y="2843784"/>
            <a:ext cx="640080" cy="237744"/>
          </a:xfrm>
          <a:prstGeom prst="rect">
            <a:avLst/>
          </a:prstGeom>
          <a:noFill/>
        </p:spPr>
        <p:txBody>
          <a:bodyPr wrap="square" lIns="18288" rIns="18288" tIns="9144" bIns="9144">
            <a:spAutoFit/>
          </a:bodyPr>
          <a:lstStyle/>
          <a:p>
            <a:pPr algn="ctr">
              <a:lnSpc>
                <a:spcPct val="100000"/>
              </a:lnSpc>
              <a:defRPr sz="1050" b="1">
                <a:solidFill>
                  <a:srgbClr val="3A7D7B"/>
                </a:solidFill>
                <a:latin typeface="Calibri"/>
              </a:defRPr>
            </a:pPr>
            <a:r>
              <a:t>PASS</a:t>
            </a:r>
          </a:p>
        </p:txBody>
      </p:sp>
      <p:sp>
        <p:nvSpPr>
          <p:cNvPr id="22" name="Rounded Rectangle 21"/>
          <p:cNvSpPr/>
          <p:nvPr/>
        </p:nvSpPr>
        <p:spPr>
          <a:xfrm>
            <a:off x="7516368"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Designer</a:t>
            </a:r>
          </a:p>
        </p:txBody>
      </p:sp>
      <p:sp>
        <p:nvSpPr>
          <p:cNvPr id="24" name="TextBox 23"/>
          <p:cNvSpPr txBox="1"/>
          <p:nvPr/>
        </p:nvSpPr>
        <p:spPr>
          <a:xfrm>
            <a:off x="7626096"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A thumbnail from the headline, with $imagegen.</a:t>
            </a:r>
          </a:p>
        </p:txBody>
      </p:sp>
      <p:sp>
        <p:nvSpPr>
          <p:cNvPr id="25" name="Rounded Rectangle 24"/>
          <p:cNvSpPr/>
          <p:nvPr/>
        </p:nvSpPr>
        <p:spPr>
          <a:xfrm>
            <a:off x="8924544"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Lead</a:t>
            </a:r>
          </a:p>
        </p:txBody>
      </p:sp>
      <p:sp>
        <p:nvSpPr>
          <p:cNvPr id="27" name="TextBox 26"/>
          <p:cNvSpPr txBox="1"/>
          <p:nvPr/>
        </p:nvSpPr>
        <p:spPr>
          <a:xfrm>
            <a:off x="9034272"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Submits for approval; never rewrites.</a:t>
            </a:r>
          </a:p>
        </p:txBody>
      </p:sp>
      <p:cxnSp>
        <p:nvCxnSpPr>
          <p:cNvPr id="28" name="Connector 27"/>
          <p:cNvCxnSpPr/>
          <p:nvPr/>
        </p:nvCxnSpPr>
        <p:spPr>
          <a:xfrm>
            <a:off x="8805672"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332720" y="2587752"/>
            <a:ext cx="1280159" cy="10972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42448" y="2752344"/>
            <a:ext cx="1060703" cy="310896"/>
          </a:xfrm>
          <a:prstGeom prst="rect">
            <a:avLst/>
          </a:prstGeom>
          <a:noFill/>
        </p:spPr>
        <p:txBody>
          <a:bodyPr wrap="square" lIns="18288" rIns="18288" tIns="9144" bIns="9144">
            <a:spAutoFit/>
          </a:bodyPr>
          <a:lstStyle/>
          <a:p>
            <a:pPr>
              <a:lnSpc>
                <a:spcPct val="100000"/>
              </a:lnSpc>
              <a:defRPr sz="1300" b="1">
                <a:solidFill>
                  <a:srgbClr val="FFFFFF"/>
                </a:solidFill>
                <a:latin typeface="Cambria"/>
              </a:defRPr>
            </a:pPr>
            <a:r>
              <a:t>Person</a:t>
            </a:r>
          </a:p>
        </p:txBody>
      </p:sp>
      <p:sp>
        <p:nvSpPr>
          <p:cNvPr id="31" name="TextBox 30"/>
          <p:cNvSpPr txBox="1"/>
          <p:nvPr/>
        </p:nvSpPr>
        <p:spPr>
          <a:xfrm>
            <a:off x="10442448" y="3099816"/>
            <a:ext cx="1060703" cy="548640"/>
          </a:xfrm>
          <a:prstGeom prst="rect">
            <a:avLst/>
          </a:prstGeom>
          <a:noFill/>
        </p:spPr>
        <p:txBody>
          <a:bodyPr wrap="square" lIns="18288" rIns="18288" tIns="9144" bIns="9144">
            <a:spAutoFit/>
          </a:bodyPr>
          <a:lstStyle/>
          <a:p>
            <a:pPr>
              <a:lnSpc>
                <a:spcPct val="105000"/>
              </a:lnSpc>
              <a:defRPr sz="1050" b="0">
                <a:solidFill>
                  <a:srgbClr val="C9C4B9"/>
                </a:solidFill>
                <a:latin typeface="Calibri"/>
              </a:defRPr>
            </a:pPr>
            <a:r>
              <a:t>Approves the exact version.</a:t>
            </a:r>
          </a:p>
        </p:txBody>
      </p:sp>
      <p:cxnSp>
        <p:nvCxnSpPr>
          <p:cNvPr id="32" name="Connector 31"/>
          <p:cNvCxnSpPr/>
          <p:nvPr/>
        </p:nvCxnSpPr>
        <p:spPr>
          <a:xfrm>
            <a:off x="10213848"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050792"/>
            <a:ext cx="54864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THE AUDIT FAILS WHEN</a:t>
            </a:r>
          </a:p>
        </p:txBody>
      </p:sp>
      <p:sp>
        <p:nvSpPr>
          <p:cNvPr id="34" name="Oval 33"/>
          <p:cNvSpPr/>
          <p:nvPr/>
        </p:nvSpPr>
        <p:spPr>
          <a:xfrm>
            <a:off x="548640"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1</a:t>
            </a:r>
          </a:p>
        </p:txBody>
      </p:sp>
      <p:sp>
        <p:nvSpPr>
          <p:cNvPr id="35" name="TextBox 34"/>
          <p:cNvSpPr txBox="1"/>
          <p:nvPr/>
        </p:nvSpPr>
        <p:spPr>
          <a:xfrm>
            <a:off x="932688"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figure is not in facts-2026.md</a:t>
            </a:r>
          </a:p>
        </p:txBody>
      </p:sp>
      <p:sp>
        <p:nvSpPr>
          <p:cNvPr id="36" name="Oval 35"/>
          <p:cNvSpPr/>
          <p:nvPr/>
        </p:nvSpPr>
        <p:spPr>
          <a:xfrm>
            <a:off x="548640"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2</a:t>
            </a:r>
          </a:p>
        </p:txBody>
      </p:sp>
      <p:sp>
        <p:nvSpPr>
          <p:cNvPr id="37" name="TextBox 36"/>
          <p:cNvSpPr txBox="1"/>
          <p:nvPr/>
        </p:nvSpPr>
        <p:spPr>
          <a:xfrm>
            <a:off x="932688"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promise of savings or returns</a:t>
            </a:r>
          </a:p>
        </p:txBody>
      </p:sp>
      <p:sp>
        <p:nvSpPr>
          <p:cNvPr id="38" name="Oval 37"/>
          <p:cNvSpPr/>
          <p:nvPr/>
        </p:nvSpPr>
        <p:spPr>
          <a:xfrm>
            <a:off x="6126479"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3</a:t>
            </a:r>
          </a:p>
        </p:txBody>
      </p:sp>
      <p:sp>
        <p:nvSpPr>
          <p:cNvPr id="39" name="TextBox 38"/>
          <p:cNvSpPr txBox="1"/>
          <p:nvPr/>
        </p:nvSpPr>
        <p:spPr>
          <a:xfrm>
            <a:off x="6510527"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Advice ("everyone should…")</a:t>
            </a:r>
          </a:p>
        </p:txBody>
      </p:sp>
      <p:sp>
        <p:nvSpPr>
          <p:cNvPr id="40" name="Oval 39"/>
          <p:cNvSpPr/>
          <p:nvPr/>
        </p:nvSpPr>
        <p:spPr>
          <a:xfrm>
            <a:off x="6126479"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4</a:t>
            </a:r>
          </a:p>
        </p:txBody>
      </p:sp>
      <p:sp>
        <p:nvSpPr>
          <p:cNvPr id="41" name="TextBox 40"/>
          <p:cNvSpPr txBox="1"/>
          <p:nvPr/>
        </p:nvSpPr>
        <p:spPr>
          <a:xfrm>
            <a:off x="6510527"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wrong age or a missing disclaimer</a:t>
            </a:r>
          </a:p>
        </p:txBody>
      </p:sp>
      <p:sp>
        <p:nvSpPr>
          <p:cNvPr id="42" name="Rounded Rectangle 4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Three rounds at most — then the Lead escalates to a person.</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at Work: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CODEX</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January is for people turning 55. Before Horizon spends on a CPF explainer for them, Rachel wants it argued both ways — and the intern's draft checked until it passes.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decision (pros, cons, verdict), then an email, a video script and a thumbnail that passed QA, submitted for your approval —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an advocate, a critic, a writer, a QA Auditor and a designer; the Lead relays)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an advocate and a critic argue the pros and cons · the Lead judges · a writer and a QA Auditor loop until PASS · the Lead passes each FAIL back to the writer · human approval</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at Work: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CODEX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In Codex start a new thread in horizon-studio and name it "Lab 15".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1: the debate  </a:t>
            </a:r>
            <a:r>
              <a:rPr sz="1300">
                <a:solidFill>
                  <a:srgbClr val="6B6862"/>
                </a:solidFill>
                <a:latin typeface="Calibri"/>
              </a:rPr>
              <a:t>Copy and paste Prompt A. The advocate and the critic each make their case; the Lead passes each case to the other for a rebuttal.</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t>
            </a:r>
            <a:r>
              <a:rPr sz="1300">
                <a:solidFill>
                  <a:srgbClr val="6B6862"/>
                </a:solidFill>
                <a:latin typeface="Calibri"/>
              </a:rPr>
              <a:t>Read the decision. Reply "go", "go with conditions" or "no-go" — the call is yours.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2: the QA loop  </a:t>
            </a:r>
            <a:r>
              <a:rPr sz="1300">
                <a:solidFill>
                  <a:srgbClr val="6B6862"/>
                </a:solidFill>
                <a:latin typeface="Calibri"/>
              </a:rPr>
              <a:t>After you have made the call, copy and paste Prompt B. The audit fails on round 1; watch the Lead pass the fixes back to the writer.</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Read the pieces and the QA report, then in your own terminal: node scripts/approve.mjs &lt;id&gt; --by "Your Name".</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Compare  </a:t>
            </a:r>
            <a:r>
              <a:rPr sz="1300">
                <a:solidFill>
                  <a:srgbClr val="6B6862"/>
                </a:solidFill>
                <a:latin typeface="Calibri"/>
              </a:rPr>
              <a:t>After you have approved the pieces, copy and paste Prompt C. How many fixes did the Lead have to relay?</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at Work: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158</a:t>
            </a:r>
          </a:p>
        </p:txBody>
      </p:sp>
      <p:sp>
        <p:nvSpPr>
          <p:cNvPr id="7" name="Rounded Rectangle 6"/>
          <p:cNvSpPr/>
          <p:nvPr/>
        </p:nvSpPr>
        <p:spPr>
          <a:xfrm>
            <a:off x="548640" y="1783080"/>
            <a:ext cx="11064240" cy="429981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strategy debate</a:t>
            </a:r>
          </a:p>
        </p:txBody>
      </p:sp>
      <p:sp>
        <p:nvSpPr>
          <p:cNvPr id="9" name="TextBox 8"/>
          <p:cNvSpPr txBox="1"/>
          <p:nvPr/>
        </p:nvSpPr>
        <p:spPr>
          <a:xfrm>
            <a:off x="822960" y="2313432"/>
            <a:ext cx="10515600" cy="355000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Test the strategy in data/turning-55-brief.md before we spend on it. You are the Lead and the judge: do not argue. Use two subagents in parallel:</a:t>
            </a:r>
          </a:p>
          <a:p>
            <a:pPr>
              <a:lnSpc>
                <a:spcPct val="110000"/>
              </a:lnSpc>
              <a:defRPr sz="1700" b="0">
                <a:solidFill>
                  <a:srgbClr val="21201C"/>
                </a:solidFill>
                <a:latin typeface="Calibri"/>
              </a:defRPr>
            </a:pPr>
            <a:r>
              <a:t>- advocate, following agents/growth-strategist.md:</a:t>
            </a:r>
          </a:p>
          <a:p>
            <a:pPr>
              <a:lnSpc>
                <a:spcPct val="110000"/>
              </a:lnSpc>
              <a:defRPr sz="1700" b="0">
                <a:solidFill>
                  <a:srgbClr val="21201C"/>
                </a:solidFill>
                <a:latin typeface="Calibri"/>
              </a:defRPr>
            </a:pPr>
            <a:r>
              <a:t>  argue FOR the strategy.</a:t>
            </a:r>
          </a:p>
          <a:p>
            <a:pPr>
              <a:lnSpc>
                <a:spcPct val="110000"/>
              </a:lnSpc>
              <a:defRPr sz="1700" b="0">
                <a:solidFill>
                  <a:srgbClr val="21201C"/>
                </a:solidFill>
                <a:latin typeface="Calibri"/>
              </a:defRPr>
            </a:pPr>
            <a:r>
              <a:t>- critic, following agents/growth-analyst.md: argue AGAINST it.</a:t>
            </a:r>
          </a:p>
          <a:p>
            <a:pPr>
              <a:lnSpc>
                <a:spcPct val="110000"/>
              </a:lnSpc>
              <a:defRPr sz="1700" b="0">
                <a:solidFill>
                  <a:srgbClr val="21201C"/>
                </a:solidFill>
                <a:latin typeface="Calibri"/>
              </a:defRPr>
            </a:pPr>
            <a:r>
              <a:t>- Both: cite data/campaign-results.csv, strategy/personas.md, data/facts-2026.md or data/compliance-checklist.md for every point. Then give each one the other's case and ask for a rebuttal — two rounds at most. Write strategy/turning-55-decision.md with the pros, the cons, your verdict (go / go with conditions / no-go) and the conditions. Show me the verdict first, the pros and cons side by side, the debate round by round, and what I do next. Then wait for my decision. Write for a business owner, in plain English: no codes, IDs, file names or line numbers; start with what it means and what I do next. Save a Word copy (.docx) of each result.</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at Work: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159</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QA loop</a:t>
            </a:r>
          </a:p>
        </p:txBody>
      </p:sp>
      <p:sp>
        <p:nvSpPr>
          <p:cNvPr id="9" name="TextBox 8"/>
          <p:cNvSpPr txBox="1"/>
          <p:nvPr/>
        </p:nvSpPr>
        <p:spPr>
          <a:xfrm>
            <a:off x="822960" y="2313432"/>
            <a:ext cx="10515600" cy="3784352"/>
          </a:xfrm>
          <a:prstGeom prst="rect">
            <a:avLst/>
          </a:prstGeom>
          <a:noFill/>
        </p:spPr>
        <p:txBody>
          <a:bodyPr wrap="square" lIns="18288" rIns="18288" tIns="9144" bIns="9144">
            <a:spAutoFit/>
          </a:bodyPr>
          <a:lstStyle/>
          <a:p>
            <a:pPr>
              <a:lnSpc>
                <a:spcPct val="110000"/>
              </a:lnSpc>
              <a:defRPr sz="1680" b="0">
                <a:solidFill>
                  <a:srgbClr val="21201C"/>
                </a:solidFill>
                <a:latin typeface="Calibri"/>
              </a:defRPr>
            </a:pPr>
            <a:r>
              <a:t>Run Part 2 of data/turning-55-brief.md, using my decision. Use subagents, each following its card:</a:t>
            </a:r>
          </a:p>
          <a:p>
            <a:pPr>
              <a:lnSpc>
                <a:spcPct val="110000"/>
              </a:lnSpc>
              <a:defRPr sz="1680" b="0">
                <a:solidFill>
                  <a:srgbClr val="21201C"/>
                </a:solidFill>
                <a:latin typeface="Calibri"/>
              </a:defRPr>
            </a:pPr>
            <a:r>
              <a:t>- writer (content-creator): rewrite data/turning-55-draft.md into content/turning-55/email.md and content/turning-55/video-script.md.</a:t>
            </a:r>
          </a:p>
          <a:p>
            <a:pPr>
              <a:lnSpc>
                <a:spcPct val="110000"/>
              </a:lnSpc>
              <a:defRPr sz="1680" b="0">
                <a:solidFill>
                  <a:srgbClr val="21201C"/>
                </a:solidFill>
                <a:latin typeface="Calibri"/>
              </a:defRPr>
            </a:pPr>
            <a:r>
              <a:t>- qa-auditor: audit each piece with fact-check and fin-compliance; write review/turning-55-qa.md, one section per round, PASS or FAIL per check, with the lines to fix.</a:t>
            </a:r>
          </a:p>
          <a:p>
            <a:pPr>
              <a:lnSpc>
                <a:spcPct val="110000"/>
              </a:lnSpc>
              <a:defRPr sz="1680" b="0">
                <a:solidFill>
                  <a:srgbClr val="21201C"/>
                </a:solidFill>
                <a:latin typeface="Calibri"/>
              </a:defRPr>
            </a:pPr>
            <a:r>
              <a:t>- On FAIL, give the auditor's lines to the writer unchanged and audit again. Three rounds at most, then ask me.</a:t>
            </a:r>
          </a:p>
          <a:p>
            <a:pPr>
              <a:lnSpc>
                <a:spcPct val="110000"/>
              </a:lnSpc>
              <a:defRPr sz="1680" b="0">
                <a:solidFill>
                  <a:srgbClr val="21201C"/>
                </a:solidFill>
                <a:latin typeface="Calibri"/>
              </a:defRPr>
            </a:pPr>
            <a:r>
              <a:t>- designer (creative-designer): once a piece passes, make one thumbnail with $imagegen and alt text, from its headline.</a:t>
            </a:r>
          </a:p>
          <a:p>
            <a:pPr>
              <a:lnSpc>
                <a:spcPct val="110000"/>
              </a:lnSpc>
              <a:defRPr sz="1680" b="0">
                <a:solidFill>
                  <a:srgbClr val="21201C"/>
                </a:solidFill>
                <a:latin typeface="Calibri"/>
              </a:defRPr>
            </a:pPr>
            <a:r>
              <a:t>- You, the Lead: never write or fix content. When everything passes, run node scripts/submit.mjs on each piece. Publish nothing. Show me the QA report: one row per round, PASS or FAIL per check. Write for a business owner, in plain English: no codes, IDs, file names or line numbers; start with what it means and what I do next. Save a Word copy (.docx) of each result.</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at Work: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160</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compare</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Count how many fixes you relayed from the qa-auditor to the writer, and how many rounds each piece needed. In three lines: what would change if the writer and the auditor could message each other directly?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Use subagents when only the result matters. When the agents must talk — to argue, or to send work back — the Lead becomes the messenger, and every message costs a turn.</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at Work: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debate: the best point for, the best point against, and your verdict.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failed in the first QA round,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How many rounds did each piece need,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at Work: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advocate and the critic each answered the other's case; every point cites a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decision has pros, cons, a verdict — and you made the call.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Round 1 of the QA report FAILED: the FRS figure, CPF LIFE "from 55", the promised payout, the advice and the missing disclaimer.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Lead passed the fixes to the writer; a later round PASSED.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in your own terminal;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know how many fixes the Lead relayed.</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163</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 role cards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AFTER THE WORK</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Lead review</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combines subagent results and sends fixes back before a person sees anything.</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fact-check</a:t>
            </a:r>
          </a:p>
          <a:p>
            <a:pPr>
              <a:lnSpc>
                <a:spcPct val="100000"/>
              </a:lnSpc>
              <a:defRPr sz="1050" b="0">
                <a:solidFill>
                  <a:srgbClr val="21201C"/>
                </a:solidFill>
                <a:latin typeface="Courier New"/>
              </a:defRPr>
            </a:pPr>
            <a:r>
              <a:t>fin-compliance</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AGENTS.md rule</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.codex/hooks.json (trusted)</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ChatGPT Work</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Five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 the ChatGPT Edition.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agents: instructions, skills, connectors.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 1, personas, cadence and a calendar.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Govern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human gate, least privilege, a playbook.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as a draft.</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166</a:t>
            </a:r>
            <a:endParaRPr lang="en-US" sz="900" dirty="0"/>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167</a:t>
            </a:r>
            <a:endParaRPr lang="en-US" sz="900" dirty="0"/>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Workflow for Content Creation (ChatGPT Edition) (TGS-2023036153)</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3.7 — ChatGPT Edition — 11 October 2026</dc:description>
</cp:coreProperties>
</file>